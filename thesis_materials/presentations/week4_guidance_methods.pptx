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1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Week 4: Guidance Methods for</a:t>
            </a:r>
            <a:br/>
            <a:r>
              <a:t>Legible 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627"/>
                </a:solidFill>
                <a:latin typeface="Calibri"/>
              </a:defRPr>
            </a:pPr>
            <a:r>
              <a:t>Training-Free Steering of Trajectory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Anudeep Gottapu  |  Arizona State University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Guidance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Diffusion models generate via iterative denoising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Calibri"/>
              </a:rPr>
              <a:t>At each step, add gradient info to steer toward desired properties — </a:t>
            </a:r>
            <a:r>
              <a:rPr sz="1600" b="1">
                <a:solidFill>
                  <a:srgbClr val="2D2D2D"/>
                </a:solidFill>
                <a:latin typeface="Calibri"/>
              </a:rPr>
              <a:t>no retraining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5603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Classifier Guidance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Gradient-based, training-free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Best-of-N Reranking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Sample + select, training-free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LegDiff (CFG)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Conditional training required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VLM Text Reranking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VLM as judge, training-free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Method 1: Classifier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1D40"/>
                </a:solidFill>
                <a:latin typeface="Calibri"/>
              </a:defRPr>
            </a:pPr>
            <a:r>
              <a:t>ε̂ = ε_θ − w√(1−α̅_t) ∇ L_score(a_t)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P_prox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Gaussian proximity to goal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P_dir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Velocity alignment toward goal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P_lat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Lateral separation from non-goal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P_speed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Speed commitment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6B6B"/>
                </a:solidFill>
                <a:latin typeface="Calibri"/>
              </a:defRPr>
            </a:pPr>
            <a:r>
              <a:t>Scoring function generated by Gemini from text prompt. Correlation with hand-crafted: r = 0.992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Classifier Guidance: Scale Sweep</a:t>
            </a:r>
          </a:p>
        </p:txBody>
      </p:sp>
      <p:pic>
        <p:nvPicPr>
          <p:cNvPr id="5" name="Picture 4" descr="fig2_guidanc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572000" cy="30902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109728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Scale w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0.906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0.952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1D40"/>
                </a:solidFill>
                <a:latin typeface="Calibri"/>
              </a:defRPr>
            </a:pPr>
            <a:r>
              <a:t>* w=10 optimal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Terminology Correction: NOT DPS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Classifier Guidance (Ours)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True DPS (Chung 2023)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Gradient applied 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Noise prediction ε_θ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Denoised sample x_{t-1}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Our result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100% success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0% success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Step divergence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E2D26"/>
                </a:solidFill>
                <a:latin typeface="Calibri"/>
              </a:defRPr>
            </a:pPr>
            <a:r>
              <a:t>All reported results use classifier guidance (Dhariwal &amp; Nichol, 2021), NOT DPS.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Method 2: Best-of-N Reranking</a:t>
            </a:r>
          </a:p>
        </p:txBody>
      </p:sp>
      <p:pic>
        <p:nvPicPr>
          <p:cNvPr id="5" name="Picture 4" descr="fig3_best_of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572000" cy="347109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0" y="109728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vs N=1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0.779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+6.4%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+8.8%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0.806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+10.1%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6B6B"/>
                </a:solidFill>
                <a:latin typeface="Calibri"/>
              </a:defRPr>
            </a:pPr>
            <a:r>
              <a:t>Simple, gradient-free, diminishing returns above N=16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Method 3: LegDiff (Classifier-Free Guidance)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1D40"/>
                </a:solidFill>
                <a:latin typeface="Calibri"/>
              </a:defRPr>
            </a:pPr>
            <a:r>
              <a:t>ε̂ = ε_θ(a_t, ∅) + w · (ε_θ(a_t, G) − ε_θ(a_t, ∅))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Trains both conditional (goal-aware) and unconditional models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Conv1d backbone with temporal convolutions (kernel=5), w=3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828800" y="292608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0.922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LegDiff (w=3)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0.935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Method 4: VLM Text-Based Reranking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1. Generate K=5 candidates using classifier guidance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2. Render each as video → VLM scores for goal identifiability</a:t>
            </a:r>
          </a:p>
          <a:p>
            <a:pPr>
              <a:spcAft>
                <a:spcPts val="600"/>
              </a:spcAft>
              <a:defRPr sz="1400">
                <a:solidFill>
                  <a:srgbClr val="2D2D2D"/>
                </a:solidFill>
                <a:latin typeface="Calibri"/>
              </a:defRPr>
            </a:pPr>
            <a:r>
              <a:t>3. Execute the trajectory VLM most confidently identifies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743200"/>
          <a:ext cx="6400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Single 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0.946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Oracle rerank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VLM rerank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All Methods Compared</a:t>
            </a:r>
          </a:p>
        </p:txBody>
      </p:sp>
      <p:pic>
        <p:nvPicPr>
          <p:cNvPr id="5" name="Picture 4" descr="fig4_metho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41399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Honest: VLM-Generated Scoring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D2D2D"/>
                </a:solidFill>
                <a:latin typeface="Calibri"/>
              </a:rPr>
              <a:t>Generated by Gemini from </a:t>
            </a:r>
            <a:r>
              <a:rPr sz="1600" b="1">
                <a:solidFill>
                  <a:srgbClr val="2D2D2D"/>
                </a:solidFill>
                <a:latin typeface="Calibri"/>
              </a:rPr>
              <a:t>text-only</a:t>
            </a:r>
            <a:r>
              <a:rPr sz="1600" b="0">
                <a:solidFill>
                  <a:srgbClr val="2D2D2D"/>
                </a:solidFill>
                <a:latin typeface="Calibri"/>
              </a:rPr>
              <a:t> prompt (no visual data)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Single-shot, no iterative refinement (not full EUREKA protocol)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Achieves r=0.992 correlation with hand-crafted 4-criteria function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D2D2D"/>
                </a:solidFill>
                <a:latin typeface="Calibri"/>
              </a:rPr>
              <a:t>Any capable text LLM could produce equivalent output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Claimed as: valid use of LLM code generation, NOT a visual contribution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