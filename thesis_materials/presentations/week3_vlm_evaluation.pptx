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C1D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9144000" cy="73152"/>
          </a:xfrm>
          <a:prstGeom prst="rect">
            <a:avLst/>
          </a:prstGeom>
          <a:solidFill>
            <a:srgbClr val="FFC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Week 3: VLM-Based</a:t>
            </a:r>
            <a:br/>
            <a:r>
              <a:t>Legibility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C627"/>
                </a:solidFill>
                <a:latin typeface="Calibri"/>
              </a:defRPr>
            </a:pPr>
            <a:r>
              <a:t>Using Gemini 2.5 Flash as a Legibility Judge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Anudeep Gottapu  |  Arizona State University  |  Spring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C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The Evaluation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Human studies are gold standard but expensive and slow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Analytical metrics (L_early) assume a specific Bayesian observer model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2D2D2D"/>
                </a:solidFill>
                <a:latin typeface="Calibri"/>
              </a:rPr>
              <a:t>Proposal:</a:t>
            </a:r>
            <a:r>
              <a:rPr sz="1600" b="0">
                <a:solidFill>
                  <a:srgbClr val="2D2D2D"/>
                </a:solidFill>
                <a:latin typeface="Calibri"/>
              </a:rPr>
              <a:t> Use a Vision-Language Model (VLM) as a proxy human observer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VLMs can watch trajectory videos and predict intent — just like a human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2D2D2D"/>
                </a:solidFill>
                <a:latin typeface="Calibri"/>
              </a:rPr>
              <a:t>VLM Onset (VLO):</a:t>
            </a:r>
            <a:r>
              <a:rPr sz="1600" b="0">
                <a:solidFill>
                  <a:srgbClr val="2D2D2D"/>
                </a:solidFill>
                <a:latin typeface="Calibri"/>
              </a:rPr>
              <a:t> First timestep where VLM correctly predicts the robot’s goal.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Lower VLO = more legible.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C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VLM Evaluation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1. Render policy rollout → MP4 video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D2D2D"/>
                </a:solidFill>
                <a:latin typeface="Calibri"/>
              </a:rPr>
              <a:t>2. Extract </a:t>
            </a:r>
            <a:r>
              <a:rPr sz="1500" b="1">
                <a:solidFill>
                  <a:srgbClr val="2D2D2D"/>
                </a:solidFill>
                <a:latin typeface="Calibri"/>
              </a:rPr>
              <a:t>cumulative prefix frames</a:t>
            </a:r>
            <a:r>
              <a:rPr sz="1500" b="0">
                <a:solidFill>
                  <a:srgbClr val="2D2D2D"/>
                </a:solidFill>
                <a:latin typeface="Calibri"/>
              </a:rPr>
              <a:t>: k=6 windows over first 30% of episode</a:t>
            </a:r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3. For each window, send frames to Gemini 2.5 Flash with goal prompt</a:t>
            </a:r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4. VLM returns: {pA, pB, cue, choice} as structured JSON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D2D2D"/>
                </a:solidFill>
                <a:latin typeface="Calibri"/>
              </a:rPr>
              <a:t>5. </a:t>
            </a:r>
            <a:r>
              <a:rPr sz="1500" b="1">
                <a:solidFill>
                  <a:srgbClr val="2D2D2D"/>
                </a:solidFill>
                <a:latin typeface="Calibri"/>
              </a:rPr>
              <a:t>VLO</a:t>
            </a:r>
            <a:r>
              <a:rPr sz="1500" b="0">
                <a:solidFill>
                  <a:srgbClr val="2D2D2D"/>
                </a:solidFill>
                <a:latin typeface="Calibri"/>
              </a:rPr>
              <a:t> = first k where choice matches true goal</a:t>
            </a:r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Cumulative windows (not independent) — VLM sees progressively more context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C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Prompt Engineering: V1 → V2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229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Version</a:t>
                      </a:r>
                    </a:p>
                  </a:txBody>
                  <a:tcPr>
                    <a:solidFill>
                      <a:srgbClr val="8C1D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8C1D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Issue</a:t>
                      </a:r>
                    </a:p>
                  </a:txBody>
                  <a:tcPr>
                    <a:solidFill>
                      <a:srgbClr val="8C1D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V1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World-coordinate confusion, long prompt, high temp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V2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97.5%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Annotated reference frames, image-space reasoning, temp=0.1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256032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Calibri"/>
              </a:defRPr>
            </a:pPr>
            <a:r>
              <a:t>Annotated reference frame with block position markers (visual grounding)</a:t>
            </a: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Calibri"/>
              </a:defRPr>
            </a:pPr>
            <a:r>
              <a:t>Image-space reasoning (“LEFT/RIGHT in image”) instead of world coordinates</a:t>
            </a: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Calibri"/>
              </a:defRPr>
            </a:pPr>
            <a:r>
              <a:t>Short, direct prompt — removed verbose instructions</a:t>
            </a: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Calibri"/>
              </a:defRPr>
            </a:pPr>
            <a:r>
              <a:t>Temperature lowered from default to 0.1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C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Expert Demo Evaluation (Ground Truth)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4114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8C1D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8C1D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Non-C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94.7% (36/38)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C-rate (uncertain)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84.2% of windows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Left arc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95.0%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Right arc accuracy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0" y="1097280"/>
          <a:ext cx="3657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Style</a:t>
                      </a:r>
                    </a:p>
                  </a:txBody>
                  <a:tcPr>
                    <a:solidFill>
                      <a:srgbClr val="8C1D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Mean VLO</a:t>
                      </a:r>
                    </a:p>
                  </a:txBody>
                  <a:tcPr>
                    <a:solidFill>
                      <a:srgbClr val="8C1D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Legible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2.93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Neutral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3.00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Deceptive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3.71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1A354"/>
                </a:solidFill>
                <a:latin typeface="Calibri"/>
              </a:defRPr>
            </a:pPr>
            <a:r>
              <a:t>VLO ordering: legible (2.93) &lt; neutral (3.00) &lt; deceptive (3.71) ✓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C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VLO Distribution by Demo Style</a:t>
            </a:r>
          </a:p>
        </p:txBody>
      </p:sp>
      <p:pic>
        <p:nvPicPr>
          <p:cNvPr id="5" name="Picture 4" descr="fig6_vlo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8229600" cy="29653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C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Base Policy VLM Assessment (42 Episodes)</a:t>
            </a:r>
          </a:p>
        </p:txBody>
      </p:sp>
      <p:pic>
        <p:nvPicPr>
          <p:cNvPr id="5" name="Picture 4" descr="fig7_baseline_v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4389120" cy="331486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0" y="1097280"/>
          <a:ext cx="3657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8C1D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8C1D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Mean VLO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4.57 / 6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Median VLO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6.0 (worst)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Never identified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61.9%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Legible at k=1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9.5%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C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Key Insight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C1D40"/>
                </a:solidFill>
                <a:latin typeface="Calibri"/>
              </a:defRPr>
            </a:pPr>
            <a:r>
              <a:t>The base policy achieves 84% task success</a:t>
            </a:r>
            <a:br/>
            <a:r>
              <a:t>but produces largely illegible trajectories.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Mixed training data averages out trajectory styles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Diffusion policy doesn’t prefer legible modes without explicit steering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D2D2D"/>
                </a:solidFill>
                <a:latin typeface="Calibri"/>
              </a:rPr>
              <a:t>We need </a:t>
            </a:r>
            <a:r>
              <a:rPr sz="1600" b="1">
                <a:solidFill>
                  <a:srgbClr val="2D2D2D"/>
                </a:solidFill>
                <a:latin typeface="Calibri"/>
              </a:rPr>
              <a:t>training-free guidance</a:t>
            </a:r>
            <a:r>
              <a:rPr sz="1600" b="0">
                <a:solidFill>
                  <a:srgbClr val="2D2D2D"/>
                </a:solidFill>
                <a:latin typeface="Calibri"/>
              </a:rPr>
              <a:t> to push toward legible distribution region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C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What VLM Evaluation Does and Does NOT Show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3840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31A354"/>
                </a:solidFill>
                <a:latin typeface="Calibri"/>
              </a:rPr>
              <a:t>Supported:</a:t>
            </a:r>
          </a:p>
          <a:p>
            <a:pPr>
              <a:spcAft>
                <a:spcPts val="600"/>
              </a:spcAft>
              <a:defRPr sz="1400">
                <a:solidFill>
                  <a:srgbClr val="31A354"/>
                </a:solidFill>
                <a:latin typeface="Calibri"/>
              </a:defRPr>
            </a:pPr>
            <a:r>
              <a:t>✓ VLMs accurately predict goals (94.7%)</a:t>
            </a:r>
          </a:p>
          <a:p>
            <a:pPr>
              <a:spcAft>
                <a:spcPts val="600"/>
              </a:spcAft>
              <a:defRPr sz="1400">
                <a:solidFill>
                  <a:srgbClr val="31A354"/>
                </a:solidFill>
                <a:latin typeface="Calibri"/>
              </a:defRPr>
            </a:pPr>
            <a:r>
              <a:t>✓ VLO correctly orders styles</a:t>
            </a:r>
          </a:p>
          <a:p>
            <a:pPr>
              <a:spcAft>
                <a:spcPts val="600"/>
              </a:spcAft>
              <a:defRPr sz="1400">
                <a:solidFill>
                  <a:srgbClr val="31A354"/>
                </a:solidFill>
                <a:latin typeface="Calibri"/>
              </a:defRPr>
            </a:pPr>
            <a:r>
              <a:t>✓ Base policy is mostly illegible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097280"/>
            <a:ext cx="3931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DE2D26"/>
                </a:solidFill>
                <a:latin typeface="Calibri"/>
              </a:rPr>
              <a:t>Limitations:</a:t>
            </a:r>
          </a:p>
          <a:p>
            <a:pPr>
              <a:spcAft>
                <a:spcPts val="600"/>
              </a:spcAft>
              <a:defRPr sz="1400">
                <a:solidFill>
                  <a:srgbClr val="DE2D26"/>
                </a:solidFill>
                <a:latin typeface="Calibri"/>
              </a:defRPr>
            </a:pPr>
            <a:r>
              <a:t>✗ VLM ≠ human observer</a:t>
            </a:r>
          </a:p>
          <a:p>
            <a:pPr>
              <a:spcAft>
                <a:spcPts val="600"/>
              </a:spcAft>
              <a:defRPr sz="1400">
                <a:solidFill>
                  <a:srgbClr val="DE2D26"/>
                </a:solidFill>
                <a:latin typeface="Calibri"/>
              </a:defRPr>
            </a:pPr>
            <a:r>
              <a:t>✗ Post-hoc evaluation, not real-time</a:t>
            </a:r>
          </a:p>
          <a:p>
            <a:pPr>
              <a:spcAft>
                <a:spcPts val="600"/>
              </a:spcAft>
              <a:defRPr sz="1400">
                <a:solidFill>
                  <a:srgbClr val="DE2D26"/>
                </a:solidFill>
                <a:latin typeface="Calibri"/>
              </a:defRPr>
            </a:pPr>
            <a:r>
              <a:t>✗ Only 10 block configs tested</a:t>
            </a:r>
          </a:p>
          <a:p>
            <a:pPr>
              <a:spcAft>
                <a:spcPts val="600"/>
              </a:spcAft>
              <a:defRPr sz="1400">
                <a:solidFill>
                  <a:srgbClr val="DE2D26"/>
                </a:solidFill>
                <a:latin typeface="Calibri"/>
              </a:defRPr>
            </a:pPr>
            <a:r>
              <a:t>✗ VLO is a proxy metric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