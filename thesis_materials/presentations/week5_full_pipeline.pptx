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73152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Week 5: Full Pipeline Integration</a:t>
            </a:r>
            <a:br/>
            <a:r>
              <a:t>&amp; 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From Training to VLM-Guided Legible Diffusion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Anudeep Gottapu  |  Arizona State University  |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The Complete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1. Demo Collection (400 Bézier trajectories, 3 styles)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2. Diffusion Policy Training (DDPM, 100 epochs, 5.5M params)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3. Base Policy: 84% success, VLO=4.57 — illegible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4. Classifier Guidance (w=10): L_early=0.952, 100% success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5. VLM Reranking (K=5): L_early=0.972, 100% success</a:t>
            </a:r>
          </a:p>
          <a:p>
            <a:pPr>
              <a:spcAft>
                <a:spcPts val="600"/>
              </a:spcAft>
              <a:defRPr sz="1600">
                <a:solidFill>
                  <a:srgbClr val="2D2D2D"/>
                </a:solidFill>
                <a:latin typeface="Calibri"/>
              </a:defRPr>
            </a:pPr>
            <a:r>
              <a:t>6. VLM Evaluation (VLO metric, Gemini 2.5 Flash)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Worked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Worked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Mixed-style demos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84%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Bézier gives precise control; 400 demos sufficient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DDPM U-Net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Learns distribution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Suitable for multimodal action data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Classifier guidance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+5.2% L_early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Gradient signal meaningful; w=10 balances task/legibility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evaluation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94.7% accuracy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Prompt engineering (v1→v2) was critical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reranking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Best L_early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as judge catches what metrics miss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What Didn't Work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Attempt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Root Cause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True DPS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0% success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Gradient to x_{t-1} causes divergence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Initial eval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13% success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Checkpoint bug: wrong normalized stats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v1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45%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World-coordinate confusion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Seed eval (10 seeds)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87% failure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Modal collapse in some seeds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Engineering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Video saving bug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reset() cleared _video_frames; fix: guard with flag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Video recording order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record_video() before reset() erased initial frame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Camera convention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Image-left ≠ world-left caused systematic VLM errors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D2D2D"/>
                </a:solidFill>
                <a:latin typeface="Calibri"/>
              </a:rPr>
              <a:t>Normalization stats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Wrong stats in checkpoint → wildly wrong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Full Pipeline: Staged Improvement</a:t>
            </a:r>
          </a:p>
        </p:txBody>
      </p:sp>
      <p:pic>
        <p:nvPicPr>
          <p:cNvPr id="5" name="Picture 4" descr="fig5_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029200" cy="360751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0" y="1097280"/>
          <a:ext cx="3200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L_early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0: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0.898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1: +Guidance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2: +VLM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0.972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C1D40"/>
                </a:solidFill>
                <a:latin typeface="Calibri"/>
              </a:defRPr>
            </a:pPr>
            <a:r>
              <a:t>p = 0.00042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Honest Assessment (6 Issues)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8595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8C1D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Method is classifier guidance, NOT DPS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VLM scoring from text only (not visual)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Single-shot, not full EUREKA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human study to validate VLM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No reverse-steering (w&lt;0)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Same configs for train and eval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Supported vs. Unsupported 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31A354"/>
                </a:solidFill>
                <a:latin typeface="Calibri"/>
              </a:rPr>
              <a:t>CAN Claim (with evidence):</a:t>
            </a:r>
          </a:p>
          <a:p>
            <a:pPr>
              <a:spcAft>
                <a:spcPts val="600"/>
              </a:spcAft>
              <a:defRPr sz="1300">
                <a:solidFill>
                  <a:srgbClr val="31A354"/>
                </a:solidFill>
                <a:latin typeface="Calibri"/>
              </a:defRPr>
            </a:pPr>
            <a:r>
              <a:t>✓ Multi-style learning: 84% success</a:t>
            </a:r>
          </a:p>
          <a:p>
            <a:pPr>
              <a:spcAft>
                <a:spcPts val="600"/>
              </a:spcAft>
              <a:defRPr sz="1300">
                <a:solidFill>
                  <a:srgbClr val="31A354"/>
                </a:solidFill>
                <a:latin typeface="Calibri"/>
              </a:defRPr>
            </a:pPr>
            <a:r>
              <a:t>✓ VLM accuracy: 94.7%</a:t>
            </a:r>
          </a:p>
          <a:p>
            <a:pPr>
              <a:spcAft>
                <a:spcPts val="600"/>
              </a:spcAft>
              <a:defRPr sz="1300">
                <a:solidFill>
                  <a:srgbClr val="31A354"/>
                </a:solidFill>
                <a:latin typeface="Calibri"/>
              </a:defRPr>
            </a:pPr>
            <a:r>
              <a:t>✓ VLO orders styles correctly</a:t>
            </a:r>
          </a:p>
          <a:p>
            <a:pPr>
              <a:spcAft>
                <a:spcPts val="600"/>
              </a:spcAft>
              <a:defRPr sz="1300">
                <a:solidFill>
                  <a:srgbClr val="31A354"/>
                </a:solidFill>
                <a:latin typeface="Calibri"/>
              </a:defRPr>
            </a:pPr>
            <a:r>
              <a:t>✓ Guidance significant: p=0.00042</a:t>
            </a:r>
          </a:p>
          <a:p>
            <a:pPr>
              <a:spcAft>
                <a:spcPts val="600"/>
              </a:spcAft>
              <a:defRPr sz="1300">
                <a:solidFill>
                  <a:srgbClr val="31A354"/>
                </a:solidFill>
                <a:latin typeface="Calibri"/>
              </a:defRPr>
            </a:pPr>
            <a:r>
              <a:t>✓ Pipeline: 0.898 → 0.972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E2D26"/>
                </a:solidFill>
                <a:latin typeface="Calibri"/>
              </a:rPr>
              <a:t>CANNOT Claim:</a:t>
            </a:r>
          </a:p>
          <a:p>
            <a:pPr>
              <a:spcAft>
                <a:spcPts val="600"/>
              </a:spcAft>
              <a:defRPr sz="1300">
                <a:solidFill>
                  <a:srgbClr val="DE2D26"/>
                </a:solidFill>
                <a:latin typeface="Calibri"/>
              </a:defRPr>
            </a:pPr>
            <a:r>
              <a:t>✗ More legible to humans</a:t>
            </a:r>
          </a:p>
          <a:p>
            <a:pPr>
              <a:spcAft>
                <a:spcPts val="600"/>
              </a:spcAft>
              <a:defRPr sz="1300">
                <a:solidFill>
                  <a:srgbClr val="DE2D26"/>
                </a:solidFill>
                <a:latin typeface="Calibri"/>
              </a:defRPr>
            </a:pPr>
            <a:r>
              <a:t>✗ VLM scoring &gt; hand-crafted</a:t>
            </a:r>
          </a:p>
          <a:p>
            <a:pPr>
              <a:spcAft>
                <a:spcPts val="600"/>
              </a:spcAft>
              <a:defRPr sz="1300">
                <a:solidFill>
                  <a:srgbClr val="DE2D26"/>
                </a:solidFill>
                <a:latin typeface="Calibri"/>
              </a:defRPr>
            </a:pPr>
            <a:r>
              <a:t>✗ Generalizes to real robots</a:t>
            </a:r>
          </a:p>
          <a:p>
            <a:pPr>
              <a:spcAft>
                <a:spcPts val="600"/>
              </a:spcAft>
              <a:defRPr sz="1300">
                <a:solidFill>
                  <a:srgbClr val="DE2D26"/>
                </a:solidFill>
                <a:latin typeface="Calibri"/>
              </a:defRPr>
            </a:pPr>
            <a:r>
              <a:t>✗ DPS inherently unsuitable</a:t>
            </a:r>
          </a:p>
          <a:p>
            <a:pPr>
              <a:spcAft>
                <a:spcPts val="600"/>
              </a:spcAft>
              <a:defRPr sz="1300">
                <a:solidFill>
                  <a:srgbClr val="DE2D26"/>
                </a:solidFill>
                <a:latin typeface="Calibri"/>
              </a:defRPr>
            </a:pPr>
            <a:r>
              <a:t>✗ Visual contribution from VLM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1. </a:t>
            </a:r>
            <a:r>
              <a:rPr sz="1500" b="1">
                <a:solidFill>
                  <a:srgbClr val="2D2D2D"/>
                </a:solidFill>
                <a:latin typeface="Calibri"/>
              </a:rPr>
              <a:t>Human validation study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Does VLO correspond to faster human prediction?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2. </a:t>
            </a:r>
            <a:r>
              <a:rPr sz="1500" b="1">
                <a:solidFill>
                  <a:srgbClr val="2D2D2D"/>
                </a:solidFill>
                <a:latin typeface="Calibri"/>
              </a:rPr>
              <a:t>Online VLM guidance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Real-time VLM feedback during execution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3. </a:t>
            </a:r>
            <a:r>
              <a:rPr sz="1500" b="1">
                <a:solidFill>
                  <a:srgbClr val="2D2D2D"/>
                </a:solidFill>
                <a:latin typeface="Calibri"/>
              </a:rPr>
              <a:t>Reverse-steering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Test w &lt; 0 for causal evidence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4. </a:t>
            </a:r>
            <a:r>
              <a:rPr sz="1500" b="1">
                <a:solidFill>
                  <a:srgbClr val="2D2D2D"/>
                </a:solidFill>
                <a:latin typeface="Calibri"/>
              </a:rPr>
              <a:t>Real robot transfer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Franka Panda physical experiments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5. </a:t>
            </a:r>
            <a:r>
              <a:rPr sz="1500" b="1">
                <a:solidFill>
                  <a:srgbClr val="2D2D2D"/>
                </a:solidFill>
                <a:latin typeface="Calibri"/>
              </a:rPr>
              <a:t>Multi-goal settings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3+ objects for richer legibility challenges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D2D2D"/>
                </a:solidFill>
                <a:latin typeface="Calibri"/>
              </a:rPr>
              <a:t>6. </a:t>
            </a:r>
            <a:r>
              <a:rPr sz="1500" b="1">
                <a:solidFill>
                  <a:srgbClr val="2D2D2D"/>
                </a:solidFill>
                <a:latin typeface="Calibri"/>
              </a:rPr>
              <a:t>Full EUREKA loop</a:t>
            </a:r>
            <a:r>
              <a:rPr sz="1500" b="0">
                <a:solidFill>
                  <a:srgbClr val="2D2D2D"/>
                </a:solidFill>
                <a:latin typeface="Calibri"/>
              </a:rPr>
              <a:t> — Iterative refinement with environment feedback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1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C627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