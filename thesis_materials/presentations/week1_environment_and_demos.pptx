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Week 1: Environment Design &amp;</a:t>
            </a:r>
            <a:br/>
            <a:r>
              <a:t>Demonstration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627"/>
                </a:solidFill>
                <a:latin typeface="Calibri"/>
              </a:defRPr>
            </a:pPr>
            <a:r>
              <a:t>TwoBlockPick for Legible Robot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Anudeep Gottapu  |  Arizona State University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In shared workspaces, robots must communicate intent through motion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A human watching a robot reach for one of two objects needs to predict the goal </a:t>
            </a:r>
            <a:r>
              <a:rPr sz="1600" b="1">
                <a:solidFill>
                  <a:srgbClr val="2D2D2D"/>
                </a:solidFill>
                <a:latin typeface="Calibri"/>
              </a:rPr>
              <a:t>early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Ambiguous trajectories → human waits → slower collaboration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Legible trajectories → early prediction → efficient teamwork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Research Question:</a:t>
            </a:r>
            <a:r>
              <a:rPr sz="1600" b="0">
                <a:solidFill>
                  <a:srgbClr val="2D2D2D"/>
                </a:solidFill>
                <a:latin typeface="Calibri"/>
              </a:rPr>
              <a:t> Can we train a generative policy to produce task-successful AND legible trajectories?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TwoBlockPick Environment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Robot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Franka Panda 7-DOF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Physics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PyBullet, dt=1/240s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Two red blocks, 4cm each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Left block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(0.50, +0.07, 0.42)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Right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(0.50, -0.07, 0.42)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Jitter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±0.015m per block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Lift block above z=0.52m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Obs (22-dim):</a:t>
            </a:r>
            <a:r>
              <a:rPr sz="1300" b="0">
                <a:solidFill>
                  <a:srgbClr val="2D2D2D"/>
                </a:solidFill>
                <a:latin typeface="Calibri"/>
              </a:rPr>
              <a:t> ee_pos + ee_quat + grip + block poses  |  </a:t>
            </a:r>
            <a:r>
              <a:rPr sz="1300" b="1">
                <a:solidFill>
                  <a:srgbClr val="2D2D2D"/>
                </a:solidFill>
                <a:latin typeface="Calibri"/>
              </a:rPr>
              <a:t>Act (5-dim):</a:t>
            </a:r>
            <a:r>
              <a:rPr sz="1300" b="0">
                <a:solidFill>
                  <a:srgbClr val="2D2D2D"/>
                </a:solidFill>
                <a:latin typeface="Calibri"/>
              </a:rPr>
              <a:t> Δx, Δy, Δz, Δyaw, grip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Camera Setup (Critical for VLM)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Camera: yaw=135°, pitch=-30°, distance=0.9m, FOV=60°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Image-LEFT = World-RIGHT</a:t>
            </a:r>
            <a:r>
              <a:rPr sz="1600" b="0">
                <a:solidFill>
                  <a:srgbClr val="2D2D2D"/>
                </a:solidFill>
                <a:latin typeface="Calibri"/>
              </a:rPr>
              <a:t> (and vice versa)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Goal A = image-left = world-right block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Goal B = image-right = world-left block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This mapping was initially incorrect and caused evaluation errors.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Getting this right was essential for VLM scoring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Demonstration Collection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1919"/>
                </a:solidFill>
                <a:latin typeface="Calibri"/>
              </a:defRPr>
            </a:pPr>
            <a:r>
              <a:t>400 Expert Demos via Analytical Bézier Curves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Legible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Quadratic Bézier, control point toward goal. Commitment by t≈0.3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Neutral (25%)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Quadratic Bézier, control point at y=0. No lateral signal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Deceptive (25%)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Cubic Bézier, P1 feints wrong side, P2 commits correct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10 block configurations × 40 demos each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20 pick-left + 20 pick-right per configuration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Each demo: full episode (up to 400 steps) of obs-action pairs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 Format: demos_combined.npz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(400, 400, 22)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float32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(400, 400, 5)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float32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(400,)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'left' or 'right'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style_labels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(400,)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0=legible, 1=neutral, 2=deceptive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config_id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(400,)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0-9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Three Trajectory Styles?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Legible demos</a:t>
            </a:r>
            <a:r>
              <a:rPr sz="1600" b="0">
                <a:solidFill>
                  <a:srgbClr val="2D2D2D"/>
                </a:solidFill>
                <a:latin typeface="Calibri"/>
              </a:rPr>
              <a:t> are the target behavior we want the policy to produce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Neutral demos</a:t>
            </a:r>
            <a:r>
              <a:rPr sz="1600" b="0">
                <a:solidFill>
                  <a:srgbClr val="2D2D2D"/>
                </a:solidFill>
                <a:latin typeface="Calibri"/>
              </a:rPr>
              <a:t> represent baseline “shortest path” behavior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Deceptive demos</a:t>
            </a:r>
            <a:r>
              <a:rPr sz="1600" b="0">
                <a:solidFill>
                  <a:srgbClr val="2D2D2D"/>
                </a:solidFill>
                <a:latin typeface="Calibri"/>
              </a:rPr>
              <a:t> are worst case — feinting before committing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Mixed training data lets us evaluate whether the policy learns meaningful style differences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Enables VLM evaluation: does the VLM correctly rank styles by legibility?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Simulation over real robot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Enables 400 demos + reproducible evaluation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Analytical trajectories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Bézier curves give precise control over shape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Symmetric block placement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Legibility comes purely from trajectory shape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3 trajectory styles</a:t>
            </a:r>
            <a:r>
              <a:rPr sz="1600" b="0">
                <a:solidFill>
                  <a:srgbClr val="2D2D2D"/>
                </a:solidFill>
                <a:latin typeface="Calibri"/>
              </a:rPr>
              <a:t> — Ground truth for evaluating VLM discrimination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