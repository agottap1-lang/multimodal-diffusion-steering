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VLM-Guided Diffusion Policies</a:t>
            </a:r>
            <a:br/>
            <a:r>
              <a:t>for Legible Robot Motion</a:t>
            </a:r>
            <a:br/>
            <a:r>
              <a:t>in Multi-Goal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627"/>
                </a:solidFill>
                <a:latin typeface="Calibri"/>
              </a:defRPr>
            </a:pPr>
            <a:r>
              <a:t>Anudeep Gottapu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MS Thesis Defense  |  Arizona State University  |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Committee: [Advisor Name], [Member 2], [Member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Motivation: Legibility in Human-Robot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In shared workspaces, robots must communicate intent through motion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Legible motion</a:t>
            </a:r>
            <a:r>
              <a:rPr sz="1600" b="0">
                <a:solidFill>
                  <a:srgbClr val="2D2D2D"/>
                </a:solidFill>
                <a:latin typeface="Calibri"/>
              </a:rPr>
              <a:t> = observer quickly infers the goal (Dragan et al., 2013)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Ambiguous trajectories → human waits → slower, less safe collaboration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This work:</a:t>
            </a:r>
            <a:r>
              <a:rPr sz="1600" b="0">
                <a:solidFill>
                  <a:srgbClr val="2D2D2D"/>
                </a:solidFill>
                <a:latin typeface="Calibri"/>
              </a:rPr>
              <a:t> Can diffusion policies generate </a:t>
            </a:r>
            <a:r>
              <a:rPr sz="1600" b="1">
                <a:solidFill>
                  <a:srgbClr val="2D2D2D"/>
                </a:solidFill>
                <a:latin typeface="Calibri"/>
              </a:rPr>
              <a:t>both successful AND legible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manipulation trajectories, guided by Vision-Language Model feedback?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1. VLM-based legibility evaluation pipeline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Gemini 2.5 Flash achieves 94.7% accuracy. Defines VLM Onset (VLO) metric.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2. Systematic comparison of 4 training-free guidance methods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Classifier guidance, Best-of-N, Classifier-Free Guidance, VLM reranking.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3. End-to-end pipeline: 0.898 → 0.972 L_early (+7.4pp)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   At 100% task success, p = 0.00042 (statistically significant).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Environment: TwoBlockPick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4572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Robot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Franka Panda 7-DOF (PyBullet)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22-dim (ee + grip + blocks)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5-dim (Δx, Δy, Δz, Δyaw, grip)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Pick either block, lift above z=0.52m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Two red, 4cm, symmetric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1097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1D40"/>
                </a:solidFill>
                <a:latin typeface="Calibri"/>
              </a:defRPr>
            </a:pPr>
            <a:r>
              <a:t>Camera: yaw=135°</a:t>
            </a:r>
            <a:br/>
            <a:r>
              <a:t>Image-left = World-right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400 Expert Demos via Bézier Trajectories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 (%)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200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Control point toward goal. Commitment by t≈0.3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 (25%)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Control point at y=0. No early signal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Deceptive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 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Feint wrong side, then commit to correct goal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10 configurations × 40 demos/config | Purpose: train on diverse styles, evaluate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Diffusion Policy: DDPM U-Net (~5.5M params)</a:t>
            </a:r>
          </a:p>
        </p:txBody>
      </p:sp>
      <p:pic>
        <p:nvPicPr>
          <p:cNvPr id="5" name="Picture 4" descr="fig8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686800" cy="5576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Base Policy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84% (42/50)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Mean Steps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97280"/>
          <a:ext cx="4114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VLM Assessment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Mean VLO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4.57 / 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Median VLO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6.0 (worst)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Never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61.9%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C1D40"/>
                </a:solidFill>
                <a:latin typeface="Calibri"/>
              </a:defRPr>
            </a:pPr>
            <a:r>
              <a:t>Finding: 84% success but mostly illegible. Need guidance.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VLM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1. Render episode → MP4 video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2. Extract k=6 cumulative prefix windows (first 30%)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3. VLM predicts goal: {pA, pB, cue, choice}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4. </a:t>
            </a:r>
            <a:r>
              <a:rPr sz="1400" b="1">
                <a:solidFill>
                  <a:srgbClr val="2D2D2D"/>
                </a:solidFill>
                <a:latin typeface="Calibri"/>
              </a:rPr>
              <a:t>VLO</a:t>
            </a:r>
            <a:r>
              <a:rPr sz="1400" b="0">
                <a:solidFill>
                  <a:srgbClr val="2D2D2D"/>
                </a:solidFill>
                <a:latin typeface="Calibri"/>
              </a:rPr>
              <a:t> = first window with correct prediction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Prompt V1: 45% accuracy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D2D2D"/>
                </a:solidFill>
                <a:latin typeface="Calibri"/>
              </a:rPr>
              <a:t>Prompt </a:t>
            </a:r>
            <a:r>
              <a:rPr sz="1400" b="1">
                <a:solidFill>
                  <a:srgbClr val="2D2D2D"/>
                </a:solidFill>
                <a:latin typeface="Calibri"/>
              </a:rPr>
              <a:t>V2: 97.5% accuracy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097280"/>
          <a:ext cx="2743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VLO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2.93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Deceptive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3.71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1: Classifier Guidance</a:t>
            </a:r>
          </a:p>
        </p:txBody>
      </p:sp>
      <p:pic>
        <p:nvPicPr>
          <p:cNvPr id="5" name="Picture 4" descr="fig2_guida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754880" cy="3213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0972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ε̂ = ε_θ − w√(1−α̅_t) ∇L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D2D2D"/>
                </a:solidFill>
                <a:latin typeface="Calibri"/>
              </a:rPr>
              <a:t>w=10 optimal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100% success, L_early=0.952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Note: This is classifier guidance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(Dhariwal &amp; Nichol, 2021)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NOT DPS. True DPS → 0%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2: Best-of-N Reranking</a:t>
            </a:r>
          </a:p>
        </p:txBody>
      </p:sp>
      <p:pic>
        <p:nvPicPr>
          <p:cNvPr id="5" name="Picture 4" descr="fig3_best_of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754880" cy="360993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1097280"/>
          <a:ext cx="3474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+6.4%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+8.8%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+10.1%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3: LegDiff (Classifier-Free Guidance)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1D40"/>
                </a:solidFill>
                <a:latin typeface="Calibri"/>
              </a:defRPr>
            </a:pPr>
            <a:r>
              <a:t>ε̂ = ε_θ(a_t, ∅) + w · (ε_θ(a_t, G) − ε_θ(a_t, ∅))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8288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LegDiff (w=3)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Conv1d backbone, conditional + unconditional training. Modest but consistent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4: VLM Text Reranking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Generate K=5 candidates with classifier guidance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Render each as video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VLM selects most identifiable trajectory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097280"/>
          <a:ext cx="3657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Oracle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rerank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Full Pipeline: Staged Results</a:t>
            </a:r>
          </a:p>
        </p:txBody>
      </p:sp>
      <p:pic>
        <p:nvPicPr>
          <p:cNvPr id="5" name="Picture 4" descr="fig5_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029200" cy="360751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97280"/>
          <a:ext cx="3200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0: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1: +Guidance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2: +VLM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1D40"/>
                </a:solidFill>
                <a:latin typeface="Calibri"/>
              </a:defRPr>
            </a:pPr>
            <a:r>
              <a:t>Δ = +0.074, p = 0.00042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All Methods Compared</a:t>
            </a:r>
          </a:p>
        </p:txBody>
      </p:sp>
      <p:pic>
        <p:nvPicPr>
          <p:cNvPr id="5" name="Picture 4" descr="fig4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686800" cy="4369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Honest Assessment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Terminology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Method is classifier guidance, NOT DPS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Text-only scoring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never saw visual data; any LLM could produce similar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Not full EUREKA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Single-shot, no iterative refinement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human study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≠ human observer; correlation assumed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reverse-steering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w&lt;0 never tested; no causal proof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Same train/test configs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Generalization not demonstrated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Supported Claims (All Evidence-Backed)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1A354"/>
                </a:solidFill>
                <a:latin typeface="Calibri"/>
              </a:defRPr>
            </a:pPr>
            <a:r>
              <a:t>✓ Diffusion policies learn multi-style trajectories (84% success — Table 5.1)</a:t>
            </a:r>
          </a:p>
          <a:p>
            <a:pPr>
              <a:spcAft>
                <a:spcPts val="600"/>
              </a:spcAft>
              <a:defRPr sz="1500">
                <a:solidFill>
                  <a:srgbClr val="31A354"/>
                </a:solidFill>
                <a:latin typeface="Calibri"/>
              </a:defRPr>
            </a:pPr>
            <a:r>
              <a:t>✓ VLMs accurately evaluate legibility (94.7% accuracy — Table 5.3)</a:t>
            </a:r>
          </a:p>
          <a:p>
            <a:pPr>
              <a:spcAft>
                <a:spcPts val="600"/>
              </a:spcAft>
              <a:defRPr sz="1500">
                <a:solidFill>
                  <a:srgbClr val="31A354"/>
                </a:solidFill>
                <a:latin typeface="Calibri"/>
              </a:defRPr>
            </a:pPr>
            <a:r>
              <a:t>✓ VLO correctly orders styles: legible &lt; neutral &lt; deceptive (Table 5.3)</a:t>
            </a:r>
          </a:p>
          <a:p>
            <a:pPr>
              <a:spcAft>
                <a:spcPts val="600"/>
              </a:spcAft>
              <a:defRPr sz="1500">
                <a:solidFill>
                  <a:srgbClr val="31A354"/>
                </a:solidFill>
                <a:latin typeface="Calibri"/>
              </a:defRPr>
            </a:pPr>
            <a:r>
              <a:t>✓ Classifier guidance improves legibility significantly (p=0.00042 — Table 5.7)</a:t>
            </a:r>
          </a:p>
          <a:p>
            <a:pPr>
              <a:spcAft>
                <a:spcPts val="600"/>
              </a:spcAft>
              <a:defRPr sz="1500">
                <a:solidFill>
                  <a:srgbClr val="31A354"/>
                </a:solidFill>
                <a:latin typeface="Calibri"/>
              </a:defRPr>
            </a:pPr>
            <a:r>
              <a:t>✓ Full pipeline: 0.898 → 0.972 at 100% success (Table 5.7)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1. </a:t>
            </a:r>
            <a:r>
              <a:rPr sz="1500" b="1">
                <a:solidFill>
                  <a:srgbClr val="2D2D2D"/>
                </a:solidFill>
                <a:latin typeface="Calibri"/>
              </a:rPr>
              <a:t>Human study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Validate VLO correlates with human prediction speed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2. </a:t>
            </a:r>
            <a:r>
              <a:rPr sz="1500" b="1">
                <a:solidFill>
                  <a:srgbClr val="2D2D2D"/>
                </a:solidFill>
                <a:latin typeface="Calibri"/>
              </a:rPr>
              <a:t>Online VLM guidance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Real-time VLM feedback during execution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3. </a:t>
            </a:r>
            <a:r>
              <a:rPr sz="1500" b="1">
                <a:solidFill>
                  <a:srgbClr val="2D2D2D"/>
                </a:solidFill>
                <a:latin typeface="Calibri"/>
              </a:rPr>
              <a:t>Reverse-steering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Test w&lt;0 for causal evidence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4. </a:t>
            </a:r>
            <a:r>
              <a:rPr sz="1500" b="1">
                <a:solidFill>
                  <a:srgbClr val="2D2D2D"/>
                </a:solidFill>
                <a:latin typeface="Calibri"/>
              </a:rPr>
              <a:t>Real robot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Franka Panda physical experiments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5. </a:t>
            </a:r>
            <a:r>
              <a:rPr sz="1500" b="1">
                <a:solidFill>
                  <a:srgbClr val="2D2D2D"/>
                </a:solidFill>
                <a:latin typeface="Calibri"/>
              </a:rPr>
              <a:t>Multi-goal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3+ objects for richer legibility challenges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6. </a:t>
            </a:r>
            <a:r>
              <a:rPr sz="1500" b="1">
                <a:solidFill>
                  <a:srgbClr val="2D2D2D"/>
                </a:solidFill>
                <a:latin typeface="Calibri"/>
              </a:rPr>
              <a:t>Full EUREKA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Iterative refinement with environment feedback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C1D40"/>
                </a:solidFill>
                <a:latin typeface="Calibri"/>
              </a:defRPr>
            </a:pPr>
            <a:r>
              <a:t>Training-free guidance over diffusion policies is a viable and effective</a:t>
            </a:r>
            <a:br/>
            <a:r>
              <a:t>approach to legible motion generation in multi-goal manipulation.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VLM evaluation pipeline: 94.7% accuracy, VLO metric validated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Classifier guidance at w=10: 100% success, L_early = 0.952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Full pipeline with VLM reranking: L_early = 0.972 (p=0.00042 vs baseline)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4 guidance methods compared on same task, same evaluation framework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D2D2D"/>
                </a:solidFill>
                <a:latin typeface="Calibri"/>
              </a:rPr>
              <a:t>Honest limitations:</a:t>
            </a:r>
            <a:r>
              <a:rPr sz="1400" b="0">
                <a:solidFill>
                  <a:srgbClr val="2D2D2D"/>
                </a:solidFill>
                <a:latin typeface="Calibri"/>
              </a:rPr>
              <a:t> No human study, same configs, terminology corrections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