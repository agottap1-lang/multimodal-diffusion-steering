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1"/>
  </p:notesMasterIdLst>
  <p:sldIdLst>
    <p:sldId id="256" r:id="rId2"/>
    <p:sldId id="257" r:id="rId3"/>
    <p:sldId id="258" r:id="rId4"/>
    <p:sldId id="259" r:id="rId5"/>
    <p:sldId id="270" r:id="rId6"/>
    <p:sldId id="271" r:id="rId7"/>
    <p:sldId id="272" r:id="rId8"/>
    <p:sldId id="273" r:id="rId9"/>
    <p:sldId id="274" r:id="rId10"/>
    <p:sldId id="275" r:id="rId11"/>
    <p:sldId id="276" r:id="rId12"/>
    <p:sldId id="277" r:id="rId13"/>
    <p:sldId id="279" r:id="rId14"/>
    <p:sldId id="280" r:id="rId15"/>
    <p:sldId id="281" r:id="rId16"/>
    <p:sldId id="282" r:id="rId17"/>
    <p:sldId id="290" r:id="rId18"/>
    <p:sldId id="283" r:id="rId19"/>
    <p:sldId id="289" r:id="rId20"/>
    <p:sldId id="278" r:id="rId21"/>
    <p:sldId id="284" r:id="rId22"/>
    <p:sldId id="291" r:id="rId23"/>
    <p:sldId id="292" r:id="rId24"/>
    <p:sldId id="285" r:id="rId25"/>
    <p:sldId id="293" r:id="rId26"/>
    <p:sldId id="294" r:id="rId27"/>
    <p:sldId id="295" r:id="rId28"/>
    <p:sldId id="296" r:id="rId29"/>
    <p:sldId id="297" r:id="rId30"/>
    <p:sldId id="298" r:id="rId31"/>
    <p:sldId id="303" r:id="rId32"/>
    <p:sldId id="304" r:id="rId33"/>
    <p:sldId id="305" r:id="rId34"/>
    <p:sldId id="306" r:id="rId35"/>
    <p:sldId id="299" r:id="rId36"/>
    <p:sldId id="300" r:id="rId37"/>
    <p:sldId id="301" r:id="rId38"/>
    <p:sldId id="302" r:id="rId39"/>
    <p:sldId id="286" r:id="rId40"/>
    <p:sldId id="260" r:id="rId41"/>
    <p:sldId id="263" r:id="rId42"/>
    <p:sldId id="264" r:id="rId43"/>
    <p:sldId id="265" r:id="rId44"/>
    <p:sldId id="266" r:id="rId45"/>
    <p:sldId id="267" r:id="rId46"/>
    <p:sldId id="268" r:id="rId47"/>
    <p:sldId id="269" r:id="rId48"/>
    <p:sldId id="287" r:id="rId49"/>
    <p:sldId id="288" r:id="rId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3" d="100"/>
          <a:sy n="83" d="100"/>
        </p:scale>
        <p:origin x="408"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5EBFDDF-06B7-4F7C-97FA-896C090336F1}" type="datetimeFigureOut">
              <a:rPr lang="en-US" smtClean="0"/>
              <a:t>4/6/2026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984EBFD-65B8-4978-AD84-0450665B4F57}" type="slidenum">
              <a:rPr lang="en-US" smtClean="0"/>
              <a:t>‹#›</a:t>
            </a:fld>
            <a:endParaRPr lang="en-US"/>
          </a:p>
        </p:txBody>
      </p:sp>
    </p:spTree>
    <p:extLst>
      <p:ext uri="{BB962C8B-B14F-4D97-AF65-F5344CB8AC3E}">
        <p14:creationId xmlns:p14="http://schemas.microsoft.com/office/powerpoint/2010/main" val="21050318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a:latin typeface="Aptos" panose="020B0004020202020204" pitchFamily="34" charset="0"/>
              </a:rPr>
              <a:t>Legibility refers to how easily an observer can infer a robot's intent from its motion. In this thesis, the challenge is not only whether the robot succeeds, but when the goal becomes readable. Human-subject studies are the standard way to evaluate this, but they are slow and resource intensive when we want to test many candidate policies. So the core question is whether a vision-language model can approximate human judgment well enough to serve as a scalable evaluator.</a:t>
            </a:r>
          </a:p>
        </p:txBody>
      </p:sp>
      <p:sp>
        <p:nvSpPr>
          <p:cNvPr id="4" name="Slide Number Placeholder 3"/>
          <p:cNvSpPr>
            <a:spLocks noGrp="1"/>
          </p:cNvSpPr>
          <p:nvPr>
            <p:ph type="sldNum" sz="quarter" idx="5"/>
          </p:nvPr>
        </p:nvSpPr>
        <p:spPr/>
        <p:txBody>
          <a:bodyPr/>
          <a:lstStyle/>
          <a:p>
            <a:fld id="{5984EBFD-65B8-4978-AD84-0450665B4F57}" type="slidenum">
              <a:rPr lang="en-US" smtClean="0"/>
              <a:t>2</a:t>
            </a:fld>
            <a:endParaRPr lang="en-US"/>
          </a:p>
        </p:txBody>
      </p:sp>
    </p:spTree>
    <p:extLst>
      <p:ext uri="{BB962C8B-B14F-4D97-AF65-F5344CB8AC3E}">
        <p14:creationId xmlns:p14="http://schemas.microsoft.com/office/powerpoint/2010/main" val="37590997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a:latin typeface="Aptos" panose="020B0004020202020204" pitchFamily="34" charset="0"/>
              </a:rPr>
              <a:t>We compare humans and Gemini 2.5 Flash on the same robot videos. Instead of showing the full trajectory at once, we reveal cumulative prefix frames at selected timepoints. Both the human observer and the model infer the intended goal from that partial evidence. This setup lets us study not only what goal is predicted, but how early the goal becomes legible.</a:t>
            </a:r>
          </a:p>
        </p:txBody>
      </p:sp>
      <p:sp>
        <p:nvSpPr>
          <p:cNvPr id="4" name="Slide Number Placeholder 3"/>
          <p:cNvSpPr>
            <a:spLocks noGrp="1"/>
          </p:cNvSpPr>
          <p:nvPr>
            <p:ph type="sldNum" sz="quarter" idx="5"/>
          </p:nvPr>
        </p:nvSpPr>
        <p:spPr/>
        <p:txBody>
          <a:bodyPr/>
          <a:lstStyle/>
          <a:p>
            <a:fld id="{5984EBFD-65B8-4978-AD84-0450665B4F57}" type="slidenum">
              <a:rPr lang="en-US" smtClean="0"/>
              <a:t>3</a:t>
            </a:fld>
            <a:endParaRPr lang="en-US"/>
          </a:p>
        </p:txBody>
      </p:sp>
    </p:spTree>
    <p:extLst>
      <p:ext uri="{BB962C8B-B14F-4D97-AF65-F5344CB8AC3E}">
        <p14:creationId xmlns:p14="http://schemas.microsoft.com/office/powerpoint/2010/main" val="23699023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a:latin typeface="Aptos" panose="020B0004020202020204" pitchFamily="34" charset="0"/>
              </a:rPr>
              <a:t>We evaluate the proxy using accuracy, agreement, and time-to-legibility. The results show that Gemini captures meaningful aspects of human goal inference from partial robot motion, although human observers remain more reliable overall. That means VLMs are not a full replacement for people, but they are promising scalable proxies for legibility evaluation. This also motivates using VLM-based judgments later in the pipeline to help select more legible trajectories.</a:t>
            </a:r>
          </a:p>
        </p:txBody>
      </p:sp>
      <p:sp>
        <p:nvSpPr>
          <p:cNvPr id="4" name="Slide Number Placeholder 3"/>
          <p:cNvSpPr>
            <a:spLocks noGrp="1"/>
          </p:cNvSpPr>
          <p:nvPr>
            <p:ph type="sldNum" sz="quarter" idx="5"/>
          </p:nvPr>
        </p:nvSpPr>
        <p:spPr/>
        <p:txBody>
          <a:bodyPr/>
          <a:lstStyle/>
          <a:p>
            <a:fld id="{5984EBFD-65B8-4978-AD84-0450665B4F57}" type="slidenum">
              <a:rPr lang="en-US" smtClean="0"/>
              <a:t>4</a:t>
            </a:fld>
            <a:endParaRPr lang="en-US"/>
          </a:p>
        </p:txBody>
      </p:sp>
    </p:spTree>
    <p:extLst>
      <p:ext uri="{BB962C8B-B14F-4D97-AF65-F5344CB8AC3E}">
        <p14:creationId xmlns:p14="http://schemas.microsoft.com/office/powerpoint/2010/main" val="13643510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a:latin typeface="Aptos" panose="020B0004020202020204" pitchFamily="34" charset="0"/>
              </a:rPr>
              <a:t>Robots are increasingly being deployed in shared workspaces where they operate close to humans. In these settings, collaboration depends not only on successful task completion, but also on how clearly the robot's motion communicates its intended goal during execution. Humans observe partial motion and infer intent before the action is complete, so motion itself becomes a communication channel. This is the motivation for studying legibility in human-robot interaction.</a:t>
            </a:r>
          </a:p>
        </p:txBody>
      </p:sp>
      <p:sp>
        <p:nvSpPr>
          <p:cNvPr id="4" name="Slide Number Placeholder 3"/>
          <p:cNvSpPr>
            <a:spLocks noGrp="1"/>
          </p:cNvSpPr>
          <p:nvPr>
            <p:ph type="sldNum" sz="quarter" idx="5"/>
          </p:nvPr>
        </p:nvSpPr>
        <p:spPr/>
        <p:txBody>
          <a:bodyPr/>
          <a:lstStyle/>
          <a:p>
            <a:fld id="{5984EBFD-65B8-4978-AD84-0450665B4F57}" type="slidenum">
              <a:rPr lang="en-US" smtClean="0"/>
              <a:t>5</a:t>
            </a:fld>
            <a:endParaRPr lang="en-US"/>
          </a:p>
        </p:txBody>
      </p:sp>
    </p:spTree>
    <p:extLst>
      <p:ext uri="{BB962C8B-B14F-4D97-AF65-F5344CB8AC3E}">
        <p14:creationId xmlns:p14="http://schemas.microsoft.com/office/powerpoint/2010/main" val="33611650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a:latin typeface="Aptos" panose="020B0004020202020204" pitchFamily="34" charset="0"/>
              </a:rPr>
              <a:t>Although legibility is important in human-robot interaction, evaluating it in practice remains difficult. Existing approaches often rely on human-subject studies to determine whether the intended goal can be inferred from partial motion, but such studies are costly, time-consuming, and difficult to scale across many trajectories and task settings. This thesis examines whether a multimodal vision-language model, specifically Gemini 2.5 Flash, can serve as a practical proxy for human judgment when both humans and the model are given the same cumulative visual evidence.</a:t>
            </a:r>
          </a:p>
        </p:txBody>
      </p:sp>
      <p:sp>
        <p:nvSpPr>
          <p:cNvPr id="4" name="Slide Number Placeholder 3"/>
          <p:cNvSpPr>
            <a:spLocks noGrp="1"/>
          </p:cNvSpPr>
          <p:nvPr>
            <p:ph type="sldNum" sz="quarter" idx="5"/>
          </p:nvPr>
        </p:nvSpPr>
        <p:spPr/>
        <p:txBody>
          <a:bodyPr/>
          <a:lstStyle/>
          <a:p>
            <a:fld id="{5984EBFD-65B8-4978-AD84-0450665B4F57}" type="slidenum">
              <a:rPr lang="en-US" smtClean="0"/>
              <a:t>6</a:t>
            </a:fld>
            <a:endParaRPr lang="en-US"/>
          </a:p>
        </p:txBody>
      </p:sp>
    </p:spTree>
    <p:extLst>
      <p:ext uri="{BB962C8B-B14F-4D97-AF65-F5344CB8AC3E}">
        <p14:creationId xmlns:p14="http://schemas.microsoft.com/office/powerpoint/2010/main" val="34388947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a:latin typeface="Aptos" panose="020B0004020202020204" pitchFamily="34" charset="0"/>
              </a:rPr>
              <a:t>The thesis is guided by three research questions. First, can a multimodal vision-language model predict robot intent from partial motion in a way that is similar to human judgment? Second, to what extent do Gemini predictions align with human judgments when evaluating motion legibility? Third, can such multimodal models provide a practical signal for scalable legibility evaluation in robot manipulation tasks?</a:t>
            </a:r>
          </a:p>
        </p:txBody>
      </p:sp>
      <p:sp>
        <p:nvSpPr>
          <p:cNvPr id="4" name="Slide Number Placeholder 3"/>
          <p:cNvSpPr>
            <a:spLocks noGrp="1"/>
          </p:cNvSpPr>
          <p:nvPr>
            <p:ph type="sldNum" sz="quarter" idx="5"/>
          </p:nvPr>
        </p:nvSpPr>
        <p:spPr/>
        <p:txBody>
          <a:bodyPr/>
          <a:lstStyle/>
          <a:p>
            <a:fld id="{5984EBFD-65B8-4978-AD84-0450665B4F57}" type="slidenum">
              <a:rPr lang="en-US" smtClean="0"/>
              <a:t>7</a:t>
            </a:fld>
            <a:endParaRPr lang="en-US"/>
          </a:p>
        </p:txBody>
      </p:sp>
    </p:spTree>
    <p:extLst>
      <p:ext uri="{BB962C8B-B14F-4D97-AF65-F5344CB8AC3E}">
        <p14:creationId xmlns:p14="http://schemas.microsoft.com/office/powerpoint/2010/main" val="26595518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a:latin typeface="Aptos" panose="020B0004020202020204" pitchFamily="34" charset="0"/>
              </a:rPr>
              <a:t>This thesis makes five main contributions. It develops a web-based human-subject study for goal inference from both selected image frames and full videos. It implements a Gemini 2.5 Flash evaluation pipeline over cumulative frame sequences. It establishes a matched human-model comparison setup using corresponding visual evidence. It analyzes performance with metrics such as accuracy, agreement, intersection-over-union, and time-to-legibility. Finally, it provides evidence that multimodal vision-language models can serve as useful proxies for human judgment in robot motion legibility evaluation, while also identifying their limits.</a:t>
            </a:r>
          </a:p>
        </p:txBody>
      </p:sp>
      <p:sp>
        <p:nvSpPr>
          <p:cNvPr id="4" name="Slide Number Placeholder 3"/>
          <p:cNvSpPr>
            <a:spLocks noGrp="1"/>
          </p:cNvSpPr>
          <p:nvPr>
            <p:ph type="sldNum" sz="quarter" idx="5"/>
          </p:nvPr>
        </p:nvSpPr>
        <p:spPr/>
        <p:txBody>
          <a:bodyPr/>
          <a:lstStyle/>
          <a:p>
            <a:fld id="{5984EBFD-65B8-4978-AD84-0450665B4F57}" type="slidenum">
              <a:rPr lang="en-US" smtClean="0"/>
              <a:t>8</a:t>
            </a:fld>
            <a:endParaRPr lang="en-US"/>
          </a:p>
        </p:txBody>
      </p:sp>
    </p:spTree>
    <p:extLst>
      <p:ext uri="{BB962C8B-B14F-4D97-AF65-F5344CB8AC3E}">
        <p14:creationId xmlns:p14="http://schemas.microsoft.com/office/powerpoint/2010/main" val="27889614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a:latin typeface="Aptos" panose="020B0004020202020204" pitchFamily="34" charset="0"/>
              </a:rPr>
              <a:t>Prior work in human-robot interaction defines legible motion as motion that enables an observer to infer the correct goal quickly and confidently from a partial trajectory. A key contribution from Dragan and collaborators is the distinction between legibility and predictability. Predictable motion matches what an observer expects when the goal is already known, while legible motion helps reveal the goal from the motion itself. This observer-centered view is the foundation for this thesis.</a:t>
            </a:r>
          </a:p>
        </p:txBody>
      </p:sp>
      <p:sp>
        <p:nvSpPr>
          <p:cNvPr id="4" name="Slide Number Placeholder 3"/>
          <p:cNvSpPr>
            <a:spLocks noGrp="1"/>
          </p:cNvSpPr>
          <p:nvPr>
            <p:ph type="sldNum" sz="quarter" idx="5"/>
          </p:nvPr>
        </p:nvSpPr>
        <p:spPr/>
        <p:txBody>
          <a:bodyPr/>
          <a:lstStyle/>
          <a:p>
            <a:fld id="{5984EBFD-65B8-4978-AD84-0450665B4F57}" type="slidenum">
              <a:rPr lang="en-US" smtClean="0"/>
              <a:t>9</a:t>
            </a:fld>
            <a:endParaRPr lang="en-US"/>
          </a:p>
        </p:txBody>
      </p:sp>
    </p:spTree>
    <p:extLst>
      <p:ext uri="{BB962C8B-B14F-4D97-AF65-F5344CB8AC3E}">
        <p14:creationId xmlns:p14="http://schemas.microsoft.com/office/powerpoint/2010/main" val="8729456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a:latin typeface="Aptos" panose="020B0004020202020204" pitchFamily="34" charset="0"/>
              </a:rPr>
              <a:t>Human goal inference is central to legibility because people continuously observe robot motion and form judgments about the robot's intended action. This inference happens from partial motion, not only after completion, so timing matters. For that reason, prior work often evaluates legibility through human-subject studies that measure how accurately and how early observers identify the intended goal. These studies are valuable, but they are difficult to scale across many motions and conditions.</a:t>
            </a:r>
          </a:p>
        </p:txBody>
      </p:sp>
      <p:sp>
        <p:nvSpPr>
          <p:cNvPr id="4" name="Slide Number Placeholder 3"/>
          <p:cNvSpPr>
            <a:spLocks noGrp="1"/>
          </p:cNvSpPr>
          <p:nvPr>
            <p:ph type="sldNum" sz="quarter" idx="5"/>
          </p:nvPr>
        </p:nvSpPr>
        <p:spPr/>
        <p:txBody>
          <a:bodyPr/>
          <a:lstStyle/>
          <a:p>
            <a:fld id="{5984EBFD-65B8-4978-AD84-0450665B4F57}" type="slidenum">
              <a:rPr lang="en-US" smtClean="0"/>
              <a:t>10</a:t>
            </a:fld>
            <a:endParaRPr lang="en-US"/>
          </a:p>
        </p:txBody>
      </p:sp>
    </p:spTree>
    <p:extLst>
      <p:ext uri="{BB962C8B-B14F-4D97-AF65-F5344CB8AC3E}">
        <p14:creationId xmlns:p14="http://schemas.microsoft.com/office/powerpoint/2010/main" val="8434246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a:latin typeface="Aptos" panose="020B0004020202020204" pitchFamily="34" charset="0"/>
              </a:rPr>
              <a:t>Vision-language models combine visual and textual information and have recently shown strong capabilities in reasoning over images and visual sequences. In this thesis, the question is not full open-ended video understanding, but whether a VLM can support goal inference from visual evidence of robot motion. The model is given cumulative frames over time, which matches the observer-centered view of legibility. At the same time, the thesis treats the VLM as a candidate proxy, not as a direct replacement for people.</a:t>
            </a:r>
          </a:p>
        </p:txBody>
      </p:sp>
      <p:sp>
        <p:nvSpPr>
          <p:cNvPr id="4" name="Slide Number Placeholder 3"/>
          <p:cNvSpPr>
            <a:spLocks noGrp="1"/>
          </p:cNvSpPr>
          <p:nvPr>
            <p:ph type="sldNum" sz="quarter" idx="5"/>
          </p:nvPr>
        </p:nvSpPr>
        <p:spPr/>
        <p:txBody>
          <a:bodyPr/>
          <a:lstStyle/>
          <a:p>
            <a:fld id="{5984EBFD-65B8-4978-AD84-0450665B4F57}" type="slidenum">
              <a:rPr lang="en-US" smtClean="0"/>
              <a:t>11</a:t>
            </a:fld>
            <a:endParaRPr lang="en-US"/>
          </a:p>
        </p:txBody>
      </p:sp>
    </p:spTree>
    <p:extLst>
      <p:ext uri="{BB962C8B-B14F-4D97-AF65-F5344CB8AC3E}">
        <p14:creationId xmlns:p14="http://schemas.microsoft.com/office/powerpoint/2010/main" val="16143234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a:latin typeface="Aptos" panose="020B0004020202020204" pitchFamily="34" charset="0"/>
              </a:rPr>
              <a:t>Diffusion policies are promising for robot learning because they model distributions over possible actions and can represent multiple valid ways to solve a task. Inference-time steering lets us bias sampling toward desired properties without retraining. Recent work has begun to explore intent-expressive and legible motion with diffusion models. The gap addressed by this thesis is different: before using an evaluator inside such a policy loop, we first need to know whether a vision-language model aligns with human goal inference well enough to be trusted as a scalable evaluation signal.</a:t>
            </a:r>
          </a:p>
        </p:txBody>
      </p:sp>
      <p:sp>
        <p:nvSpPr>
          <p:cNvPr id="4" name="Slide Number Placeholder 3"/>
          <p:cNvSpPr>
            <a:spLocks noGrp="1"/>
          </p:cNvSpPr>
          <p:nvPr>
            <p:ph type="sldNum" sz="quarter" idx="5"/>
          </p:nvPr>
        </p:nvSpPr>
        <p:spPr/>
        <p:txBody>
          <a:bodyPr/>
          <a:lstStyle/>
          <a:p>
            <a:fld id="{5984EBFD-65B8-4978-AD84-0450665B4F57}" type="slidenum">
              <a:rPr lang="en-US" smtClean="0"/>
              <a:t>12</a:t>
            </a:fld>
            <a:endParaRPr lang="en-US"/>
          </a:p>
        </p:txBody>
      </p:sp>
    </p:spTree>
    <p:extLst>
      <p:ext uri="{BB962C8B-B14F-4D97-AF65-F5344CB8AC3E}">
        <p14:creationId xmlns:p14="http://schemas.microsoft.com/office/powerpoint/2010/main" val="20883049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a:latin typeface="Aptos" panose="020B0004020202020204" pitchFamily="34" charset="0"/>
              </a:rPr>
              <a:t>The methodology has two linked parts. The same robot task videos are converted into cumulative visual observations at selected timepoints. One branch sends those observations into the Gemini evaluation pipeline to obtain structured goal predictions over time. The other branch runs a pilot study in which human participants infer the robot's goal from corresponding partial observations. By comparing the two outputs, the thesis evaluates how closely the model aligns with human goal inference.</a:t>
            </a:r>
          </a:p>
        </p:txBody>
      </p:sp>
      <p:sp>
        <p:nvSpPr>
          <p:cNvPr id="4" name="Slide Number Placeholder 3"/>
          <p:cNvSpPr>
            <a:spLocks noGrp="1"/>
          </p:cNvSpPr>
          <p:nvPr>
            <p:ph type="sldNum" sz="quarter" idx="5"/>
          </p:nvPr>
        </p:nvSpPr>
        <p:spPr/>
        <p:txBody>
          <a:bodyPr/>
          <a:lstStyle/>
          <a:p>
            <a:fld id="{5984EBFD-65B8-4978-AD84-0450665B4F57}" type="slidenum">
              <a:rPr lang="en-US" smtClean="0"/>
              <a:t>13</a:t>
            </a:fld>
            <a:endParaRPr lang="en-US"/>
          </a:p>
        </p:txBody>
      </p:sp>
    </p:spTree>
    <p:extLst>
      <p:ext uri="{BB962C8B-B14F-4D97-AF65-F5344CB8AC3E}">
        <p14:creationId xmlns:p14="http://schemas.microsoft.com/office/powerpoint/2010/main" val="10382945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a:latin typeface="Aptos" panose="020B0004020202020204" pitchFamily="34" charset="0"/>
              </a:rPr>
              <a:t>The task setup uses robot manipulation scenarios where the goal must be inferred from motion because more than one goal is plausible. The two task families are block picking and drawer closing in a tabletop setup with a Franka robot arm. For block picking, the robot targets either the left or right block. For the drawer task, it targets the upper or lower drawer. Both legible and ambiguous trajectories are included, for a total of eight videos. Each video is evaluated at selected timepoints using cumulative frames.</a:t>
            </a:r>
          </a:p>
        </p:txBody>
      </p:sp>
      <p:sp>
        <p:nvSpPr>
          <p:cNvPr id="4" name="Slide Number Placeholder 3"/>
          <p:cNvSpPr>
            <a:spLocks noGrp="1"/>
          </p:cNvSpPr>
          <p:nvPr>
            <p:ph type="sldNum" sz="quarter" idx="5"/>
          </p:nvPr>
        </p:nvSpPr>
        <p:spPr/>
        <p:txBody>
          <a:bodyPr/>
          <a:lstStyle/>
          <a:p>
            <a:fld id="{5984EBFD-65B8-4978-AD84-0450665B4F57}" type="slidenum">
              <a:rPr lang="en-US" smtClean="0"/>
              <a:t>14</a:t>
            </a:fld>
            <a:endParaRPr lang="en-US"/>
          </a:p>
        </p:txBody>
      </p:sp>
    </p:spTree>
    <p:extLst>
      <p:ext uri="{BB962C8B-B14F-4D97-AF65-F5344CB8AC3E}">
        <p14:creationId xmlns:p14="http://schemas.microsoft.com/office/powerpoint/2010/main" val="17685606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a:latin typeface="Aptos" panose="020B0004020202020204" pitchFamily="34" charset="0"/>
              </a:rPr>
              <a:t>The pilot study was designed to compare human goal inference with model-based goal predictions on the same robot motions. Across the study, 312 total observation points were collected from eight participants on eight videos. Participants interacted with two input formats: a frame-based setting using cumulative frames at selected timepoints, and a video-based setting where they watched the motion unfold and reported when the goal became identifiable. In addition to goal choice, they provided confidence and cue information.</a:t>
            </a:r>
          </a:p>
        </p:txBody>
      </p:sp>
      <p:sp>
        <p:nvSpPr>
          <p:cNvPr id="4" name="Slide Number Placeholder 3"/>
          <p:cNvSpPr>
            <a:spLocks noGrp="1"/>
          </p:cNvSpPr>
          <p:nvPr>
            <p:ph type="sldNum" sz="quarter" idx="5"/>
          </p:nvPr>
        </p:nvSpPr>
        <p:spPr/>
        <p:txBody>
          <a:bodyPr/>
          <a:lstStyle/>
          <a:p>
            <a:fld id="{5984EBFD-65B8-4978-AD84-0450665B4F57}" type="slidenum">
              <a:rPr lang="en-US" smtClean="0"/>
              <a:t>15</a:t>
            </a:fld>
            <a:endParaRPr lang="en-US"/>
          </a:p>
        </p:txBody>
      </p:sp>
    </p:spTree>
    <p:extLst>
      <p:ext uri="{BB962C8B-B14F-4D97-AF65-F5344CB8AC3E}">
        <p14:creationId xmlns:p14="http://schemas.microsoft.com/office/powerpoint/2010/main" val="387413479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a:latin typeface="Aptos" panose="020B0004020202020204" pitchFamily="34" charset="0"/>
              </a:rPr>
              <a:t>The Gemini evaluation pipeline uses the same videos as the pilot study. Each video is converted into ordered frames, and cumulative frame sequences are created at selected timepoints so that the model sees progressively more of the trajectory over time. At each timepoint, Gemini receives a structured prompt asking it to evaluate candidate goals and return structured outputs. Those outputs are processed into predicted goal and confidence values for comparison with human responses. Four timepoints are used to capture how goal inference changes as more motion becomes visible.</a:t>
            </a:r>
          </a:p>
        </p:txBody>
      </p:sp>
      <p:sp>
        <p:nvSpPr>
          <p:cNvPr id="4" name="Slide Number Placeholder 3"/>
          <p:cNvSpPr>
            <a:spLocks noGrp="1"/>
          </p:cNvSpPr>
          <p:nvPr>
            <p:ph type="sldNum" sz="quarter" idx="5"/>
          </p:nvPr>
        </p:nvSpPr>
        <p:spPr/>
        <p:txBody>
          <a:bodyPr/>
          <a:lstStyle/>
          <a:p>
            <a:fld id="{5984EBFD-65B8-4978-AD84-0450665B4F57}" type="slidenum">
              <a:rPr lang="en-US" smtClean="0"/>
              <a:t>16</a:t>
            </a:fld>
            <a:endParaRPr lang="en-US"/>
          </a:p>
        </p:txBody>
      </p:sp>
    </p:spTree>
    <p:extLst>
      <p:ext uri="{BB962C8B-B14F-4D97-AF65-F5344CB8AC3E}">
        <p14:creationId xmlns:p14="http://schemas.microsoft.com/office/powerpoint/2010/main" val="2802614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a:latin typeface="Aptos" panose="020B0004020202020204" pitchFamily="34" charset="0"/>
              </a:rPr>
              <a:t>This figure shows the full VLM evaluation pipeline with the actual cumulative frame input. A robot video is sampled at selected timepoints, frames are accumulated from the start up to the current time, and Gemini uses that growing visual evidence to make a goal prediction.</a:t>
            </a:r>
          </a:p>
        </p:txBody>
      </p:sp>
      <p:sp>
        <p:nvSpPr>
          <p:cNvPr id="4" name="Slide Number Placeholder 3"/>
          <p:cNvSpPr>
            <a:spLocks noGrp="1"/>
          </p:cNvSpPr>
          <p:nvPr>
            <p:ph type="sldNum" sz="quarter" idx="5"/>
          </p:nvPr>
        </p:nvSpPr>
        <p:spPr/>
        <p:txBody>
          <a:bodyPr/>
          <a:lstStyle/>
          <a:p>
            <a:fld id="{5984EBFD-65B8-4978-AD84-0450665B4F57}" type="slidenum">
              <a:rPr lang="en-US" smtClean="0"/>
              <a:t>17</a:t>
            </a:fld>
            <a:endParaRPr lang="en-US"/>
          </a:p>
        </p:txBody>
      </p:sp>
    </p:spTree>
    <p:extLst>
      <p:ext uri="{BB962C8B-B14F-4D97-AF65-F5344CB8AC3E}">
        <p14:creationId xmlns:p14="http://schemas.microsoft.com/office/powerpoint/2010/main" val="39746048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a:latin typeface="Aptos" panose="020B0004020202020204" pitchFamily="34" charset="0"/>
              </a:rPr>
              <a:t>This slide shows the exact prompt logic used in the Gemini evaluation code. The opening context depends on the evaluation mode: single_frame uses only the current frame, while prefix_frames tells the model that it is seeing an ordered sequence from time zero up to the current time. The rest of the prompt stays fixed and forces structured output in JSON.</a:t>
            </a:r>
          </a:p>
        </p:txBody>
      </p:sp>
      <p:sp>
        <p:nvSpPr>
          <p:cNvPr id="4" name="Slide Number Placeholder 3"/>
          <p:cNvSpPr>
            <a:spLocks noGrp="1"/>
          </p:cNvSpPr>
          <p:nvPr>
            <p:ph type="sldNum" sz="quarter" idx="5"/>
          </p:nvPr>
        </p:nvSpPr>
        <p:spPr/>
        <p:txBody>
          <a:bodyPr/>
          <a:lstStyle/>
          <a:p>
            <a:fld id="{5984EBFD-65B8-4978-AD84-0450665B4F57}" type="slidenum">
              <a:rPr lang="en-US" smtClean="0"/>
              <a:t>18</a:t>
            </a:fld>
            <a:endParaRPr lang="en-US"/>
          </a:p>
        </p:txBody>
      </p:sp>
    </p:spTree>
    <p:extLst>
      <p:ext uri="{BB962C8B-B14F-4D97-AF65-F5344CB8AC3E}">
        <p14:creationId xmlns:p14="http://schemas.microsoft.com/office/powerpoint/2010/main" val="268121709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a:latin typeface="Aptos" panose="020B0004020202020204" pitchFamily="34" charset="0"/>
              </a:rPr>
              <a:t>The manifest is the dataset-level control file for the evaluation pipeline. Each row tells the pipeline which video to open, what the two candidate goals are, what the ground-truth goal is, and which task family and trajectory type the video belongs to. In the code, eval_dataset.py loads each row into a ManifestEntry, extracts frames, and passes the entry into GeminiClient.evaluate_frame. That client then calls get_instruction_prompt using goal_A, goal_B, t_sec, video_id, and mode. The manifest matters because each video has different goals, so the prompt cannot be hardcoded once for the whole dataset.</a:t>
            </a:r>
          </a:p>
        </p:txBody>
      </p:sp>
      <p:sp>
        <p:nvSpPr>
          <p:cNvPr id="4" name="Slide Number Placeholder 3"/>
          <p:cNvSpPr>
            <a:spLocks noGrp="1"/>
          </p:cNvSpPr>
          <p:nvPr>
            <p:ph type="sldNum" sz="quarter" idx="5"/>
          </p:nvPr>
        </p:nvSpPr>
        <p:spPr/>
        <p:txBody>
          <a:bodyPr/>
          <a:lstStyle/>
          <a:p>
            <a:fld id="{5984EBFD-65B8-4978-AD84-0450665B4F57}" type="slidenum">
              <a:rPr lang="en-US" smtClean="0"/>
              <a:t>19</a:t>
            </a:fld>
            <a:endParaRPr lang="en-US"/>
          </a:p>
        </p:txBody>
      </p:sp>
    </p:spTree>
    <p:extLst>
      <p:ext uri="{BB962C8B-B14F-4D97-AF65-F5344CB8AC3E}">
        <p14:creationId xmlns:p14="http://schemas.microsoft.com/office/powerpoint/2010/main" val="245519995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a:latin typeface="Aptos" panose="020B0004020202020204" pitchFamily="34" charset="0"/>
              </a:rPr>
              <a:t>This slide compares the two Gemini input modes used in the evaluation. In the single-frame mode, the model only sees the current frame at that timepoint. In the prefix-frames mode, the model sees all frames from the start up to that timepoint, which better matches cumulative human observation of motion.</a:t>
            </a:r>
          </a:p>
        </p:txBody>
      </p:sp>
      <p:sp>
        <p:nvSpPr>
          <p:cNvPr id="4" name="Slide Number Placeholder 3"/>
          <p:cNvSpPr>
            <a:spLocks noGrp="1"/>
          </p:cNvSpPr>
          <p:nvPr>
            <p:ph type="sldNum" sz="quarter" idx="5"/>
          </p:nvPr>
        </p:nvSpPr>
        <p:spPr/>
        <p:txBody>
          <a:bodyPr/>
          <a:lstStyle/>
          <a:p>
            <a:fld id="{5984EBFD-65B8-4978-AD84-0450665B4F57}" type="slidenum">
              <a:rPr lang="en-US" smtClean="0"/>
              <a:t>20</a:t>
            </a:fld>
            <a:endParaRPr lang="en-US"/>
          </a:p>
        </p:txBody>
      </p:sp>
    </p:spTree>
    <p:extLst>
      <p:ext uri="{BB962C8B-B14F-4D97-AF65-F5344CB8AC3E}">
        <p14:creationId xmlns:p14="http://schemas.microsoft.com/office/powerpoint/2010/main" val="98367525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a:latin typeface="Aptos" panose="020B0004020202020204" pitchFamily="34" charset="0"/>
              </a:rPr>
              <a:t>This slide summarizes the main quantitative comparison. It shows overall accuracy, per-video accuracy, and overall human-VLM agreement measured with intersection-over-union.</a:t>
            </a:r>
          </a:p>
        </p:txBody>
      </p:sp>
      <p:sp>
        <p:nvSpPr>
          <p:cNvPr id="4" name="Slide Number Placeholder 3"/>
          <p:cNvSpPr>
            <a:spLocks noGrp="1"/>
          </p:cNvSpPr>
          <p:nvPr>
            <p:ph type="sldNum" sz="quarter" idx="5"/>
          </p:nvPr>
        </p:nvSpPr>
        <p:spPr/>
        <p:txBody>
          <a:bodyPr/>
          <a:lstStyle/>
          <a:p>
            <a:fld id="{5984EBFD-65B8-4978-AD84-0450665B4F57}" type="slidenum">
              <a:rPr lang="en-US" smtClean="0"/>
              <a:t>21</a:t>
            </a:fld>
            <a:endParaRPr lang="en-US"/>
          </a:p>
        </p:txBody>
      </p:sp>
    </p:spTree>
    <p:extLst>
      <p:ext uri="{BB962C8B-B14F-4D97-AF65-F5344CB8AC3E}">
        <p14:creationId xmlns:p14="http://schemas.microsoft.com/office/powerpoint/2010/main" val="45532292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a:latin typeface="Aptos" panose="020B0004020202020204" pitchFamily="34" charset="0"/>
              </a:rPr>
              <a:t>This slide breaks the agreement down by video, showing which motion trajectories aligned strongly with human judgment and which cases were harder for the VLM.</a:t>
            </a:r>
          </a:p>
        </p:txBody>
      </p:sp>
      <p:sp>
        <p:nvSpPr>
          <p:cNvPr id="4" name="Slide Number Placeholder 3"/>
          <p:cNvSpPr>
            <a:spLocks noGrp="1"/>
          </p:cNvSpPr>
          <p:nvPr>
            <p:ph type="sldNum" sz="quarter" idx="5"/>
          </p:nvPr>
        </p:nvSpPr>
        <p:spPr/>
        <p:txBody>
          <a:bodyPr/>
          <a:lstStyle/>
          <a:p>
            <a:fld id="{5984EBFD-65B8-4978-AD84-0450665B4F57}" type="slidenum">
              <a:rPr lang="en-US" smtClean="0"/>
              <a:t>22</a:t>
            </a:fld>
            <a:endParaRPr lang="en-US"/>
          </a:p>
        </p:txBody>
      </p:sp>
    </p:spTree>
    <p:extLst>
      <p:ext uri="{BB962C8B-B14F-4D97-AF65-F5344CB8AC3E}">
        <p14:creationId xmlns:p14="http://schemas.microsoft.com/office/powerpoint/2010/main" val="256724296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a:latin typeface="Aptos" panose="020B0004020202020204" pitchFamily="34" charset="0"/>
              </a:rPr>
              <a:t>This slide shows agreement between each participant and the VLM, which helps us see whether the model tracks only an average trend or aligns reasonably across multiple individual observers.</a:t>
            </a:r>
          </a:p>
        </p:txBody>
      </p:sp>
      <p:sp>
        <p:nvSpPr>
          <p:cNvPr id="4" name="Slide Number Placeholder 3"/>
          <p:cNvSpPr>
            <a:spLocks noGrp="1"/>
          </p:cNvSpPr>
          <p:nvPr>
            <p:ph type="sldNum" sz="quarter" idx="5"/>
          </p:nvPr>
        </p:nvSpPr>
        <p:spPr/>
        <p:txBody>
          <a:bodyPr/>
          <a:lstStyle/>
          <a:p>
            <a:fld id="{5984EBFD-65B8-4978-AD84-0450665B4F57}" type="slidenum">
              <a:rPr lang="en-US" smtClean="0"/>
              <a:t>23</a:t>
            </a:fld>
            <a:endParaRPr lang="en-US"/>
          </a:p>
        </p:txBody>
      </p:sp>
    </p:spTree>
    <p:extLst>
      <p:ext uri="{BB962C8B-B14F-4D97-AF65-F5344CB8AC3E}">
        <p14:creationId xmlns:p14="http://schemas.microsoft.com/office/powerpoint/2010/main" val="344265551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a:latin typeface="Aptos" panose="020B0004020202020204" pitchFamily="34" charset="0"/>
              </a:rPr>
              <a:t>This slide is the bottom layer of the steering stack. The environment takes a 5-D normalized action, scales the position deltas by 5 centimeters and yaw by 15 degrees, solves inverse kinematics for the Franka arm, runs 20 PyBullet substeps, and returns a 22-D raw state observation. One subtle implementation detail is that the base environment defaults to 200 steps, but all three collection scripts override it to 400-step episodes for slower, more legible trajectories.</a:t>
            </a:r>
          </a:p>
        </p:txBody>
      </p:sp>
      <p:sp>
        <p:nvSpPr>
          <p:cNvPr id="4" name="Slide Number Placeholder 3"/>
          <p:cNvSpPr>
            <a:spLocks noGrp="1"/>
          </p:cNvSpPr>
          <p:nvPr>
            <p:ph type="sldNum" sz="quarter" idx="5"/>
          </p:nvPr>
        </p:nvSpPr>
        <p:spPr/>
        <p:txBody>
          <a:bodyPr/>
          <a:lstStyle/>
          <a:p>
            <a:fld id="{5984EBFD-65B8-4978-AD84-0450665B4F57}" type="slidenum">
              <a:rPr lang="en-US" smtClean="0"/>
              <a:t>24</a:t>
            </a:fld>
            <a:endParaRPr lang="en-US"/>
          </a:p>
        </p:txBody>
      </p:sp>
    </p:spTree>
    <p:extLst>
      <p:ext uri="{BB962C8B-B14F-4D97-AF65-F5344CB8AC3E}">
        <p14:creationId xmlns:p14="http://schemas.microsoft.com/office/powerpoint/2010/main" val="410360780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a:latin typeface="Aptos" panose="020B0004020202020204" pitchFamily="34" charset="0"/>
              </a:rPr>
              <a:t>This is the simplest collection layer. The script builds 10 block-position configurations, pairs every arc variation with both left and right goals, rolls out a waypoint-based scripted expert, retries until the pick succeeds, and stores full observation and action tensors. The saved file is demos.npz, and a matching demo video is exported for every episode.</a:t>
            </a:r>
          </a:p>
        </p:txBody>
      </p:sp>
      <p:sp>
        <p:nvSpPr>
          <p:cNvPr id="4" name="Slide Number Placeholder 3"/>
          <p:cNvSpPr>
            <a:spLocks noGrp="1"/>
          </p:cNvSpPr>
          <p:nvPr>
            <p:ph type="sldNum" sz="quarter" idx="5"/>
          </p:nvPr>
        </p:nvSpPr>
        <p:spPr/>
        <p:txBody>
          <a:bodyPr/>
          <a:lstStyle/>
          <a:p>
            <a:fld id="{5984EBFD-65B8-4978-AD84-0450665B4F57}" type="slidenum">
              <a:rPr lang="en-US" smtClean="0"/>
              <a:t>25</a:t>
            </a:fld>
            <a:endParaRPr lang="en-US"/>
          </a:p>
        </p:txBody>
      </p:sp>
    </p:spTree>
    <p:extLst>
      <p:ext uri="{BB962C8B-B14F-4D97-AF65-F5344CB8AC3E}">
        <p14:creationId xmlns:p14="http://schemas.microsoft.com/office/powerpoint/2010/main" val="429298512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a:latin typeface="Aptos" panose="020B0004020202020204" pitchFamily="34" charset="0"/>
              </a:rPr>
              <a:t>This dataset is where steering starts to matter. Instead of only legible arcs, the collector mixes three motion styles: legible, neutral, and deceptive. It saves both the target label and the style label, which makes it useful for evaluating whether a learned model can preserve task success while changing how early the motion communicates intent.</a:t>
            </a:r>
          </a:p>
        </p:txBody>
      </p:sp>
      <p:sp>
        <p:nvSpPr>
          <p:cNvPr id="4" name="Slide Number Placeholder 3"/>
          <p:cNvSpPr>
            <a:spLocks noGrp="1"/>
          </p:cNvSpPr>
          <p:nvPr>
            <p:ph type="sldNum" sz="quarter" idx="5"/>
          </p:nvPr>
        </p:nvSpPr>
        <p:spPr/>
        <p:txBody>
          <a:bodyPr/>
          <a:lstStyle/>
          <a:p>
            <a:fld id="{5984EBFD-65B8-4978-AD84-0450665B4F57}" type="slidenum">
              <a:rPr lang="en-US" smtClean="0"/>
              <a:t>26</a:t>
            </a:fld>
            <a:endParaRPr lang="en-US"/>
          </a:p>
        </p:txBody>
      </p:sp>
    </p:spTree>
    <p:extLst>
      <p:ext uri="{BB962C8B-B14F-4D97-AF65-F5344CB8AC3E}">
        <p14:creationId xmlns:p14="http://schemas.microsoft.com/office/powerpoint/2010/main" val="245532848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a:latin typeface="Aptos" panose="020B0004020202020204" pitchFamily="34" charset="0"/>
              </a:rPr>
              <a:t>The V2 collector is the conditioning-ready version of the dataset. It appends a context vector and behavior mode to the original 22-D observation, then mixes legible, predictable, safety, and grounding scenarios. One important correction from the copied summary is that the saved file uses five type labels, and the final count can be slightly below 500 because the script skips episodes that still fail after repeated retries.</a:t>
            </a:r>
          </a:p>
        </p:txBody>
      </p:sp>
      <p:sp>
        <p:nvSpPr>
          <p:cNvPr id="4" name="Slide Number Placeholder 3"/>
          <p:cNvSpPr>
            <a:spLocks noGrp="1"/>
          </p:cNvSpPr>
          <p:nvPr>
            <p:ph type="sldNum" sz="quarter" idx="5"/>
          </p:nvPr>
        </p:nvSpPr>
        <p:spPr/>
        <p:txBody>
          <a:bodyPr/>
          <a:lstStyle/>
          <a:p>
            <a:fld id="{5984EBFD-65B8-4978-AD84-0450665B4F57}" type="slidenum">
              <a:rPr lang="en-US" smtClean="0"/>
              <a:t>27</a:t>
            </a:fld>
            <a:endParaRPr lang="en-US"/>
          </a:p>
        </p:txBody>
      </p:sp>
    </p:spTree>
    <p:extLst>
      <p:ext uri="{BB962C8B-B14F-4D97-AF65-F5344CB8AC3E}">
        <p14:creationId xmlns:p14="http://schemas.microsoft.com/office/powerpoint/2010/main" val="27975070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a:latin typeface="Aptos" panose="020B0004020202020204" pitchFamily="34" charset="0"/>
              </a:rPr>
              <a:t>This slide shows that demos.npz is diverse in geometry and trajectory size, but not in behavior type. The collector changes block layout and arc magnitude, yet every path is still a legible trajectory that curves toward the correct goal. So this dataset is best thought of as a clean legibility-only base set.</a:t>
            </a:r>
          </a:p>
        </p:txBody>
      </p:sp>
      <p:sp>
        <p:nvSpPr>
          <p:cNvPr id="4" name="Slide Number Placeholder 3"/>
          <p:cNvSpPr>
            <a:spLocks noGrp="1"/>
          </p:cNvSpPr>
          <p:nvPr>
            <p:ph type="sldNum" sz="quarter" idx="5"/>
          </p:nvPr>
        </p:nvSpPr>
        <p:spPr/>
        <p:txBody>
          <a:bodyPr/>
          <a:lstStyle/>
          <a:p>
            <a:fld id="{5984EBFD-65B8-4978-AD84-0450665B4F57}" type="slidenum">
              <a:rPr lang="en-US" smtClean="0"/>
              <a:t>28</a:t>
            </a:fld>
            <a:endParaRPr lang="en-US"/>
          </a:p>
        </p:txBody>
      </p:sp>
    </p:spTree>
    <p:extLst>
      <p:ext uri="{BB962C8B-B14F-4D97-AF65-F5344CB8AC3E}">
        <p14:creationId xmlns:p14="http://schemas.microsoft.com/office/powerpoint/2010/main" val="373599890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a:latin typeface="Aptos" panose="020B0004020202020204" pitchFamily="34" charset="0"/>
              </a:rPr>
              <a:t>This dataset adds the key dimension missing from demos.npz: motion style. It still spans left/right targets and block configurations, but now the same task can be expressed as legible, neutral, or deceptive. That makes it much more useful for steering and style-aware evaluation.</a:t>
            </a:r>
          </a:p>
        </p:txBody>
      </p:sp>
      <p:sp>
        <p:nvSpPr>
          <p:cNvPr id="4" name="Slide Number Placeholder 3"/>
          <p:cNvSpPr>
            <a:spLocks noGrp="1"/>
          </p:cNvSpPr>
          <p:nvPr>
            <p:ph type="sldNum" sz="quarter" idx="5"/>
          </p:nvPr>
        </p:nvSpPr>
        <p:spPr/>
        <p:txBody>
          <a:bodyPr/>
          <a:lstStyle/>
          <a:p>
            <a:fld id="{5984EBFD-65B8-4978-AD84-0450665B4F57}" type="slidenum">
              <a:rPr lang="en-US" smtClean="0"/>
              <a:t>29</a:t>
            </a:fld>
            <a:endParaRPr lang="en-US"/>
          </a:p>
        </p:txBody>
      </p:sp>
    </p:spTree>
    <p:extLst>
      <p:ext uri="{BB962C8B-B14F-4D97-AF65-F5344CB8AC3E}">
        <p14:creationId xmlns:p14="http://schemas.microsoft.com/office/powerpoint/2010/main" val="122562033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a:latin typeface="Aptos" panose="020B0004020202020204" pitchFamily="34" charset="0"/>
              </a:rPr>
              <a:t>The V2 set is the most expressive one. It keeps the task diversity from the earlier datasets, but now adds predictable, safety-reactive, and grounding behaviors, plus a context vector and behavior-mode value inside the observation itself. That makes it the strongest candidate for conditioning-aware diffusion policy experiments.</a:t>
            </a:r>
          </a:p>
        </p:txBody>
      </p:sp>
      <p:sp>
        <p:nvSpPr>
          <p:cNvPr id="4" name="Slide Number Placeholder 3"/>
          <p:cNvSpPr>
            <a:spLocks noGrp="1"/>
          </p:cNvSpPr>
          <p:nvPr>
            <p:ph type="sldNum" sz="quarter" idx="5"/>
          </p:nvPr>
        </p:nvSpPr>
        <p:spPr/>
        <p:txBody>
          <a:bodyPr/>
          <a:lstStyle/>
          <a:p>
            <a:fld id="{5984EBFD-65B8-4978-AD84-0450665B4F57}" type="slidenum">
              <a:rPr lang="en-US" smtClean="0"/>
              <a:t>30</a:t>
            </a:fld>
            <a:endParaRPr lang="en-US"/>
          </a:p>
        </p:txBody>
      </p:sp>
    </p:spTree>
    <p:extLst>
      <p:ext uri="{BB962C8B-B14F-4D97-AF65-F5344CB8AC3E}">
        <p14:creationId xmlns:p14="http://schemas.microsoft.com/office/powerpoint/2010/main" val="418065598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a:latin typeface="Aptos" panose="020B0004020202020204" pitchFamily="34" charset="0"/>
              </a:rPr>
              <a:t>This slide should make the training data story feel simple. The training script does not use whole episodes directly. It converts them into overlapping horizon-length action chunks, pairs each chunk with the observation at the chunk start, and z-score normalizes both observations and actions. Those normalization statistics are saved in the checkpoint and reused during evaluation.</a:t>
            </a:r>
          </a:p>
        </p:txBody>
      </p:sp>
      <p:sp>
        <p:nvSpPr>
          <p:cNvPr id="4" name="Slide Number Placeholder 3"/>
          <p:cNvSpPr>
            <a:spLocks noGrp="1"/>
          </p:cNvSpPr>
          <p:nvPr>
            <p:ph type="sldNum" sz="quarter" idx="5"/>
          </p:nvPr>
        </p:nvSpPr>
        <p:spPr/>
        <p:txBody>
          <a:bodyPr/>
          <a:lstStyle/>
          <a:p>
            <a:fld id="{5984EBFD-65B8-4978-AD84-0450665B4F57}" type="slidenum">
              <a:rPr lang="en-US" smtClean="0"/>
              <a:t>35</a:t>
            </a:fld>
            <a:endParaRPr lang="en-US"/>
          </a:p>
        </p:txBody>
      </p:sp>
    </p:spTree>
    <p:extLst>
      <p:ext uri="{BB962C8B-B14F-4D97-AF65-F5344CB8AC3E}">
        <p14:creationId xmlns:p14="http://schemas.microsoft.com/office/powerpoint/2010/main" val="15048807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a:latin typeface="Aptos" panose="020B0004020202020204" pitchFamily="34" charset="0"/>
              </a:rPr>
              <a:t>This is the core diffusion slide. The clean way to explain it is: we corrupt a future action plan with Gaussian noise, and the policy learns to predict the noise that was added. The observation and timestep tell the network what state the robot is in and how far along the noising process this sample is. The script also maintains an EMA model, and that EMA version is what gets saved for evaluation.</a:t>
            </a:r>
          </a:p>
        </p:txBody>
      </p:sp>
      <p:sp>
        <p:nvSpPr>
          <p:cNvPr id="4" name="Slide Number Placeholder 3"/>
          <p:cNvSpPr>
            <a:spLocks noGrp="1"/>
          </p:cNvSpPr>
          <p:nvPr>
            <p:ph type="sldNum" sz="quarter" idx="5"/>
          </p:nvPr>
        </p:nvSpPr>
        <p:spPr/>
        <p:txBody>
          <a:bodyPr/>
          <a:lstStyle/>
          <a:p>
            <a:fld id="{5984EBFD-65B8-4978-AD84-0450665B4F57}" type="slidenum">
              <a:rPr lang="en-US" smtClean="0"/>
              <a:t>36</a:t>
            </a:fld>
            <a:endParaRPr lang="en-US"/>
          </a:p>
        </p:txBody>
      </p:sp>
    </p:spTree>
    <p:extLst>
      <p:ext uri="{BB962C8B-B14F-4D97-AF65-F5344CB8AC3E}">
        <p14:creationId xmlns:p14="http://schemas.microsoft.com/office/powerpoint/2010/main" val="373100601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a:latin typeface="Aptos" panose="020B0004020202020204" pitchFamily="34" charset="0"/>
              </a:rPr>
              <a:t>This slide is the easiest way to explain test-time inference. The checkpoint provides both the EMA weights and the normalization statistics. The evaluator normalizes the current observation, samples a full action horizon from Gaussian noise using DDIM, denormalizes the actions back to the robot's action scale, and executes them from a queue. When the queue runs out, it replans from the latest observation.</a:t>
            </a:r>
          </a:p>
        </p:txBody>
      </p:sp>
      <p:sp>
        <p:nvSpPr>
          <p:cNvPr id="4" name="Slide Number Placeholder 3"/>
          <p:cNvSpPr>
            <a:spLocks noGrp="1"/>
          </p:cNvSpPr>
          <p:nvPr>
            <p:ph type="sldNum" sz="quarter" idx="5"/>
          </p:nvPr>
        </p:nvSpPr>
        <p:spPr/>
        <p:txBody>
          <a:bodyPr/>
          <a:lstStyle/>
          <a:p>
            <a:fld id="{5984EBFD-65B8-4978-AD84-0450665B4F57}" type="slidenum">
              <a:rPr lang="en-US" smtClean="0"/>
              <a:t>37</a:t>
            </a:fld>
            <a:endParaRPr lang="en-US"/>
          </a:p>
        </p:txBody>
      </p:sp>
    </p:spTree>
    <p:extLst>
      <p:ext uri="{BB962C8B-B14F-4D97-AF65-F5344CB8AC3E}">
        <p14:creationId xmlns:p14="http://schemas.microsoft.com/office/powerpoint/2010/main" val="404436854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a:latin typeface="Aptos" panose="020B0004020202020204" pitchFamily="34" charset="0"/>
              </a:rPr>
              <a:t>This final slide should connect the script back to the thesis goal. The evaluation script is valuable because it does not only compute summary numbers. It records every rollout, including failures, and stores episode-level metadata. That makes it possible to compare not only task success but also visible motion quality and failure modes.</a:t>
            </a:r>
          </a:p>
        </p:txBody>
      </p:sp>
      <p:sp>
        <p:nvSpPr>
          <p:cNvPr id="4" name="Slide Number Placeholder 3"/>
          <p:cNvSpPr>
            <a:spLocks noGrp="1"/>
          </p:cNvSpPr>
          <p:nvPr>
            <p:ph type="sldNum" sz="quarter" idx="5"/>
          </p:nvPr>
        </p:nvSpPr>
        <p:spPr/>
        <p:txBody>
          <a:bodyPr/>
          <a:lstStyle/>
          <a:p>
            <a:fld id="{5984EBFD-65B8-4978-AD84-0450665B4F57}" type="slidenum">
              <a:rPr lang="en-US" smtClean="0"/>
              <a:t>38</a:t>
            </a:fld>
            <a:endParaRPr lang="en-US"/>
          </a:p>
        </p:txBody>
      </p:sp>
    </p:spTree>
    <p:extLst>
      <p:ext uri="{BB962C8B-B14F-4D97-AF65-F5344CB8AC3E}">
        <p14:creationId xmlns:p14="http://schemas.microsoft.com/office/powerpoint/2010/main" val="389310455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a:latin typeface="Aptos" panose="020B0004020202020204" pitchFamily="34" charset="0"/>
              </a:rPr>
              <a:t>Placeholder slide reserved for final implementation details.</a:t>
            </a:r>
          </a:p>
        </p:txBody>
      </p:sp>
      <p:sp>
        <p:nvSpPr>
          <p:cNvPr id="4" name="Slide Number Placeholder 3"/>
          <p:cNvSpPr>
            <a:spLocks noGrp="1"/>
          </p:cNvSpPr>
          <p:nvPr>
            <p:ph type="sldNum" sz="quarter" idx="5"/>
          </p:nvPr>
        </p:nvSpPr>
        <p:spPr/>
        <p:txBody>
          <a:bodyPr/>
          <a:lstStyle/>
          <a:p>
            <a:fld id="{5984EBFD-65B8-4978-AD84-0450665B4F57}" type="slidenum">
              <a:rPr lang="en-US" smtClean="0"/>
              <a:t>39</a:t>
            </a:fld>
            <a:endParaRPr lang="en-US"/>
          </a:p>
        </p:txBody>
      </p:sp>
    </p:spTree>
    <p:extLst>
      <p:ext uri="{BB962C8B-B14F-4D97-AF65-F5344CB8AC3E}">
        <p14:creationId xmlns:p14="http://schemas.microsoft.com/office/powerpoint/2010/main" val="18989790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A2FFC-7483-E5FF-AC6A-4B81C8D49E7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A305640-2D28-D7F8-2F41-7C048805BC5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6C3806D-46A5-B1E7-29E0-F39DC9FC2BFB}"/>
              </a:ext>
            </a:extLst>
          </p:cNvPr>
          <p:cNvSpPr>
            <a:spLocks noGrp="1"/>
          </p:cNvSpPr>
          <p:nvPr>
            <p:ph type="dt" sz="half" idx="10"/>
          </p:nvPr>
        </p:nvSpPr>
        <p:spPr/>
        <p:txBody>
          <a:bodyPr/>
          <a:lstStyle/>
          <a:p>
            <a:fld id="{A76B9F4E-D705-48A8-BCCF-022A96CB2BFC}" type="datetimeFigureOut">
              <a:rPr lang="en-US" smtClean="0"/>
              <a:t>4/6/2026</a:t>
            </a:fld>
            <a:endParaRPr lang="en-US"/>
          </a:p>
        </p:txBody>
      </p:sp>
      <p:sp>
        <p:nvSpPr>
          <p:cNvPr id="5" name="Footer Placeholder 4">
            <a:extLst>
              <a:ext uri="{FF2B5EF4-FFF2-40B4-BE49-F238E27FC236}">
                <a16:creationId xmlns:a16="http://schemas.microsoft.com/office/drawing/2014/main" id="{7A272153-BA14-095E-4F74-23C41B3437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463D5E-8AFC-D663-64F9-45EDF40C3A6E}"/>
              </a:ext>
            </a:extLst>
          </p:cNvPr>
          <p:cNvSpPr>
            <a:spLocks noGrp="1"/>
          </p:cNvSpPr>
          <p:nvPr>
            <p:ph type="sldNum" sz="quarter" idx="12"/>
          </p:nvPr>
        </p:nvSpPr>
        <p:spPr/>
        <p:txBody>
          <a:bodyPr/>
          <a:lstStyle/>
          <a:p>
            <a:fld id="{68D5D94F-9401-43E0-9D54-C073EFA1D4F3}" type="slidenum">
              <a:rPr lang="en-US" smtClean="0"/>
              <a:t>‹#›</a:t>
            </a:fld>
            <a:endParaRPr lang="en-US"/>
          </a:p>
        </p:txBody>
      </p:sp>
    </p:spTree>
    <p:extLst>
      <p:ext uri="{BB962C8B-B14F-4D97-AF65-F5344CB8AC3E}">
        <p14:creationId xmlns:p14="http://schemas.microsoft.com/office/powerpoint/2010/main" val="6520214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D626F7-7128-29BA-7061-8E7323C3583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F371D38-C9CC-2DE1-E950-74E14D3A1C1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D322900-B70B-14F6-BAB6-E34A31BBF7C8}"/>
              </a:ext>
            </a:extLst>
          </p:cNvPr>
          <p:cNvSpPr>
            <a:spLocks noGrp="1"/>
          </p:cNvSpPr>
          <p:nvPr>
            <p:ph type="dt" sz="half" idx="10"/>
          </p:nvPr>
        </p:nvSpPr>
        <p:spPr/>
        <p:txBody>
          <a:bodyPr/>
          <a:lstStyle/>
          <a:p>
            <a:fld id="{A76B9F4E-D705-48A8-BCCF-022A96CB2BFC}" type="datetimeFigureOut">
              <a:rPr lang="en-US" smtClean="0"/>
              <a:t>4/6/2026</a:t>
            </a:fld>
            <a:endParaRPr lang="en-US"/>
          </a:p>
        </p:txBody>
      </p:sp>
      <p:sp>
        <p:nvSpPr>
          <p:cNvPr id="5" name="Footer Placeholder 4">
            <a:extLst>
              <a:ext uri="{FF2B5EF4-FFF2-40B4-BE49-F238E27FC236}">
                <a16:creationId xmlns:a16="http://schemas.microsoft.com/office/drawing/2014/main" id="{E6BD4FF9-440E-6CE5-D00B-F2463EC04F9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11E7327-25A1-DF80-9DD3-0B42EC1EE923}"/>
              </a:ext>
            </a:extLst>
          </p:cNvPr>
          <p:cNvSpPr>
            <a:spLocks noGrp="1"/>
          </p:cNvSpPr>
          <p:nvPr>
            <p:ph type="sldNum" sz="quarter" idx="12"/>
          </p:nvPr>
        </p:nvSpPr>
        <p:spPr/>
        <p:txBody>
          <a:bodyPr/>
          <a:lstStyle/>
          <a:p>
            <a:fld id="{68D5D94F-9401-43E0-9D54-C073EFA1D4F3}" type="slidenum">
              <a:rPr lang="en-US" smtClean="0"/>
              <a:t>‹#›</a:t>
            </a:fld>
            <a:endParaRPr lang="en-US"/>
          </a:p>
        </p:txBody>
      </p:sp>
    </p:spTree>
    <p:extLst>
      <p:ext uri="{BB962C8B-B14F-4D97-AF65-F5344CB8AC3E}">
        <p14:creationId xmlns:p14="http://schemas.microsoft.com/office/powerpoint/2010/main" val="22408137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A52420-A04F-A9C4-71F6-6F5B35C5245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A88C517-DCC2-0411-B17E-5ABBCF1B236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D5119ED-0BC6-5823-7A82-9567393EE45F}"/>
              </a:ext>
            </a:extLst>
          </p:cNvPr>
          <p:cNvSpPr>
            <a:spLocks noGrp="1"/>
          </p:cNvSpPr>
          <p:nvPr>
            <p:ph type="dt" sz="half" idx="10"/>
          </p:nvPr>
        </p:nvSpPr>
        <p:spPr/>
        <p:txBody>
          <a:bodyPr/>
          <a:lstStyle/>
          <a:p>
            <a:fld id="{A76B9F4E-D705-48A8-BCCF-022A96CB2BFC}" type="datetimeFigureOut">
              <a:rPr lang="en-US" smtClean="0"/>
              <a:t>4/6/2026</a:t>
            </a:fld>
            <a:endParaRPr lang="en-US"/>
          </a:p>
        </p:txBody>
      </p:sp>
      <p:sp>
        <p:nvSpPr>
          <p:cNvPr id="5" name="Footer Placeholder 4">
            <a:extLst>
              <a:ext uri="{FF2B5EF4-FFF2-40B4-BE49-F238E27FC236}">
                <a16:creationId xmlns:a16="http://schemas.microsoft.com/office/drawing/2014/main" id="{99BED5A0-306D-568C-92B2-C5C82B9AF08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BE3A023-B9C2-DAA6-6275-95459992C457}"/>
              </a:ext>
            </a:extLst>
          </p:cNvPr>
          <p:cNvSpPr>
            <a:spLocks noGrp="1"/>
          </p:cNvSpPr>
          <p:nvPr>
            <p:ph type="sldNum" sz="quarter" idx="12"/>
          </p:nvPr>
        </p:nvSpPr>
        <p:spPr/>
        <p:txBody>
          <a:bodyPr/>
          <a:lstStyle/>
          <a:p>
            <a:fld id="{68D5D94F-9401-43E0-9D54-C073EFA1D4F3}" type="slidenum">
              <a:rPr lang="en-US" smtClean="0"/>
              <a:t>‹#›</a:t>
            </a:fld>
            <a:endParaRPr lang="en-US"/>
          </a:p>
        </p:txBody>
      </p:sp>
    </p:spTree>
    <p:extLst>
      <p:ext uri="{BB962C8B-B14F-4D97-AF65-F5344CB8AC3E}">
        <p14:creationId xmlns:p14="http://schemas.microsoft.com/office/powerpoint/2010/main" val="21478988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162FAF-1829-BC76-6689-F83148E5CBC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8B759A4-EBC5-47CD-2E8B-ACCDA15F39D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E0730DA-D700-5CC6-69C5-68DE7D5B9F5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4E36C1D-45AE-80BB-CC4D-4537E7446398}"/>
              </a:ext>
            </a:extLst>
          </p:cNvPr>
          <p:cNvSpPr>
            <a:spLocks noGrp="1"/>
          </p:cNvSpPr>
          <p:nvPr>
            <p:ph type="dt" sz="half" idx="10"/>
          </p:nvPr>
        </p:nvSpPr>
        <p:spPr/>
        <p:txBody>
          <a:bodyPr/>
          <a:lstStyle/>
          <a:p>
            <a:fld id="{A76B9F4E-D705-48A8-BCCF-022A96CB2BFC}" type="datetimeFigureOut">
              <a:rPr lang="en-US" smtClean="0"/>
              <a:t>4/6/2026</a:t>
            </a:fld>
            <a:endParaRPr lang="en-US"/>
          </a:p>
        </p:txBody>
      </p:sp>
      <p:sp>
        <p:nvSpPr>
          <p:cNvPr id="6" name="Footer Placeholder 5">
            <a:extLst>
              <a:ext uri="{FF2B5EF4-FFF2-40B4-BE49-F238E27FC236}">
                <a16:creationId xmlns:a16="http://schemas.microsoft.com/office/drawing/2014/main" id="{6AB01545-E8AD-EBA7-444A-BAFF1EDB56D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6BFEE1D-5A69-769D-8852-26797623D350}"/>
              </a:ext>
            </a:extLst>
          </p:cNvPr>
          <p:cNvSpPr>
            <a:spLocks noGrp="1"/>
          </p:cNvSpPr>
          <p:nvPr>
            <p:ph type="sldNum" sz="quarter" idx="12"/>
          </p:nvPr>
        </p:nvSpPr>
        <p:spPr/>
        <p:txBody>
          <a:bodyPr/>
          <a:lstStyle/>
          <a:p>
            <a:fld id="{68D5D94F-9401-43E0-9D54-C073EFA1D4F3}" type="slidenum">
              <a:rPr lang="en-US" smtClean="0"/>
              <a:t>‹#›</a:t>
            </a:fld>
            <a:endParaRPr lang="en-US"/>
          </a:p>
        </p:txBody>
      </p:sp>
    </p:spTree>
    <p:extLst>
      <p:ext uri="{BB962C8B-B14F-4D97-AF65-F5344CB8AC3E}">
        <p14:creationId xmlns:p14="http://schemas.microsoft.com/office/powerpoint/2010/main" val="30785768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8463D2-7963-928D-4E0F-96C6901658C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3D3390B-9986-6A15-2949-5362ADB4F05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2D7D75A-DB1F-81A0-8201-E8DD8D9E90F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41074E0-8D31-2FBB-8759-138AF42A616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949A122-C52C-0CE1-BFE4-E7E9129D48A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26B820B-38B9-6898-27EC-148308028A7C}"/>
              </a:ext>
            </a:extLst>
          </p:cNvPr>
          <p:cNvSpPr>
            <a:spLocks noGrp="1"/>
          </p:cNvSpPr>
          <p:nvPr>
            <p:ph type="dt" sz="half" idx="10"/>
          </p:nvPr>
        </p:nvSpPr>
        <p:spPr/>
        <p:txBody>
          <a:bodyPr/>
          <a:lstStyle/>
          <a:p>
            <a:fld id="{A76B9F4E-D705-48A8-BCCF-022A96CB2BFC}" type="datetimeFigureOut">
              <a:rPr lang="en-US" smtClean="0"/>
              <a:t>4/6/2026</a:t>
            </a:fld>
            <a:endParaRPr lang="en-US"/>
          </a:p>
        </p:txBody>
      </p:sp>
      <p:sp>
        <p:nvSpPr>
          <p:cNvPr id="8" name="Footer Placeholder 7">
            <a:extLst>
              <a:ext uri="{FF2B5EF4-FFF2-40B4-BE49-F238E27FC236}">
                <a16:creationId xmlns:a16="http://schemas.microsoft.com/office/drawing/2014/main" id="{1733B107-A26E-7334-A841-F1707F6883D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DAED71F-12DE-8D28-70CD-BD34EE9B460C}"/>
              </a:ext>
            </a:extLst>
          </p:cNvPr>
          <p:cNvSpPr>
            <a:spLocks noGrp="1"/>
          </p:cNvSpPr>
          <p:nvPr>
            <p:ph type="sldNum" sz="quarter" idx="12"/>
          </p:nvPr>
        </p:nvSpPr>
        <p:spPr/>
        <p:txBody>
          <a:bodyPr/>
          <a:lstStyle/>
          <a:p>
            <a:fld id="{68D5D94F-9401-43E0-9D54-C073EFA1D4F3}" type="slidenum">
              <a:rPr lang="en-US" smtClean="0"/>
              <a:t>‹#›</a:t>
            </a:fld>
            <a:endParaRPr lang="en-US"/>
          </a:p>
        </p:txBody>
      </p:sp>
    </p:spTree>
    <p:extLst>
      <p:ext uri="{BB962C8B-B14F-4D97-AF65-F5344CB8AC3E}">
        <p14:creationId xmlns:p14="http://schemas.microsoft.com/office/powerpoint/2010/main" val="37627084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0E8A05-2171-CE4E-00DE-3CDD0705A30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DA978C4-7898-C461-0CD5-96C435E9BDE7}"/>
              </a:ext>
            </a:extLst>
          </p:cNvPr>
          <p:cNvSpPr>
            <a:spLocks noGrp="1"/>
          </p:cNvSpPr>
          <p:nvPr>
            <p:ph type="dt" sz="half" idx="10"/>
          </p:nvPr>
        </p:nvSpPr>
        <p:spPr/>
        <p:txBody>
          <a:bodyPr/>
          <a:lstStyle/>
          <a:p>
            <a:fld id="{A76B9F4E-D705-48A8-BCCF-022A96CB2BFC}" type="datetimeFigureOut">
              <a:rPr lang="en-US" smtClean="0"/>
              <a:t>4/6/2026</a:t>
            </a:fld>
            <a:endParaRPr lang="en-US"/>
          </a:p>
        </p:txBody>
      </p:sp>
      <p:sp>
        <p:nvSpPr>
          <p:cNvPr id="4" name="Footer Placeholder 3">
            <a:extLst>
              <a:ext uri="{FF2B5EF4-FFF2-40B4-BE49-F238E27FC236}">
                <a16:creationId xmlns:a16="http://schemas.microsoft.com/office/drawing/2014/main" id="{57CE6D8E-0A8A-8447-D3B4-E2A78A2C844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3FB2FB0-0134-AC70-AC04-B7FF9492B7E1}"/>
              </a:ext>
            </a:extLst>
          </p:cNvPr>
          <p:cNvSpPr>
            <a:spLocks noGrp="1"/>
          </p:cNvSpPr>
          <p:nvPr>
            <p:ph type="sldNum" sz="quarter" idx="12"/>
          </p:nvPr>
        </p:nvSpPr>
        <p:spPr/>
        <p:txBody>
          <a:bodyPr/>
          <a:lstStyle/>
          <a:p>
            <a:fld id="{68D5D94F-9401-43E0-9D54-C073EFA1D4F3}" type="slidenum">
              <a:rPr lang="en-US" smtClean="0"/>
              <a:t>‹#›</a:t>
            </a:fld>
            <a:endParaRPr lang="en-US"/>
          </a:p>
        </p:txBody>
      </p:sp>
    </p:spTree>
    <p:extLst>
      <p:ext uri="{BB962C8B-B14F-4D97-AF65-F5344CB8AC3E}">
        <p14:creationId xmlns:p14="http://schemas.microsoft.com/office/powerpoint/2010/main" val="9640663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07FE18D-5C00-FEC5-BA89-63F23168D4A5}"/>
              </a:ext>
            </a:extLst>
          </p:cNvPr>
          <p:cNvSpPr>
            <a:spLocks noGrp="1"/>
          </p:cNvSpPr>
          <p:nvPr>
            <p:ph type="dt" sz="half" idx="10"/>
          </p:nvPr>
        </p:nvSpPr>
        <p:spPr/>
        <p:txBody>
          <a:bodyPr/>
          <a:lstStyle/>
          <a:p>
            <a:fld id="{A76B9F4E-D705-48A8-BCCF-022A96CB2BFC}" type="datetimeFigureOut">
              <a:rPr lang="en-US" smtClean="0"/>
              <a:t>4/6/2026</a:t>
            </a:fld>
            <a:endParaRPr lang="en-US"/>
          </a:p>
        </p:txBody>
      </p:sp>
      <p:sp>
        <p:nvSpPr>
          <p:cNvPr id="3" name="Footer Placeholder 2">
            <a:extLst>
              <a:ext uri="{FF2B5EF4-FFF2-40B4-BE49-F238E27FC236}">
                <a16:creationId xmlns:a16="http://schemas.microsoft.com/office/drawing/2014/main" id="{783E772E-706E-CF55-1A4F-61D8D7C110B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3465D48-99B0-CFFD-8691-6FCE7555F31B}"/>
              </a:ext>
            </a:extLst>
          </p:cNvPr>
          <p:cNvSpPr>
            <a:spLocks noGrp="1"/>
          </p:cNvSpPr>
          <p:nvPr>
            <p:ph type="sldNum" sz="quarter" idx="12"/>
          </p:nvPr>
        </p:nvSpPr>
        <p:spPr/>
        <p:txBody>
          <a:bodyPr/>
          <a:lstStyle/>
          <a:p>
            <a:fld id="{68D5D94F-9401-43E0-9D54-C073EFA1D4F3}" type="slidenum">
              <a:rPr lang="en-US" smtClean="0"/>
              <a:t>‹#›</a:t>
            </a:fld>
            <a:endParaRPr lang="en-US"/>
          </a:p>
        </p:txBody>
      </p:sp>
    </p:spTree>
    <p:extLst>
      <p:ext uri="{BB962C8B-B14F-4D97-AF65-F5344CB8AC3E}">
        <p14:creationId xmlns:p14="http://schemas.microsoft.com/office/powerpoint/2010/main" val="5298803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942A04-9665-EB21-4454-63BCF5AAA16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C21FE41-B78A-7934-FAD8-41402A9318B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7DF6B61-1C5C-95A9-4E78-D1B485E4993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83A4AFC-6F86-2ED9-A7D6-1266C9719687}"/>
              </a:ext>
            </a:extLst>
          </p:cNvPr>
          <p:cNvSpPr>
            <a:spLocks noGrp="1"/>
          </p:cNvSpPr>
          <p:nvPr>
            <p:ph type="dt" sz="half" idx="10"/>
          </p:nvPr>
        </p:nvSpPr>
        <p:spPr/>
        <p:txBody>
          <a:bodyPr/>
          <a:lstStyle/>
          <a:p>
            <a:fld id="{A76B9F4E-D705-48A8-BCCF-022A96CB2BFC}" type="datetimeFigureOut">
              <a:rPr lang="en-US" smtClean="0"/>
              <a:t>4/6/2026</a:t>
            </a:fld>
            <a:endParaRPr lang="en-US"/>
          </a:p>
        </p:txBody>
      </p:sp>
      <p:sp>
        <p:nvSpPr>
          <p:cNvPr id="6" name="Footer Placeholder 5">
            <a:extLst>
              <a:ext uri="{FF2B5EF4-FFF2-40B4-BE49-F238E27FC236}">
                <a16:creationId xmlns:a16="http://schemas.microsoft.com/office/drawing/2014/main" id="{9A90E109-596D-6918-724C-AD268E2E367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E3EAFDF-0FDD-08B0-C891-77292570ABDA}"/>
              </a:ext>
            </a:extLst>
          </p:cNvPr>
          <p:cNvSpPr>
            <a:spLocks noGrp="1"/>
          </p:cNvSpPr>
          <p:nvPr>
            <p:ph type="sldNum" sz="quarter" idx="12"/>
          </p:nvPr>
        </p:nvSpPr>
        <p:spPr/>
        <p:txBody>
          <a:bodyPr/>
          <a:lstStyle/>
          <a:p>
            <a:fld id="{68D5D94F-9401-43E0-9D54-C073EFA1D4F3}" type="slidenum">
              <a:rPr lang="en-US" smtClean="0"/>
              <a:t>‹#›</a:t>
            </a:fld>
            <a:endParaRPr lang="en-US"/>
          </a:p>
        </p:txBody>
      </p:sp>
    </p:spTree>
    <p:extLst>
      <p:ext uri="{BB962C8B-B14F-4D97-AF65-F5344CB8AC3E}">
        <p14:creationId xmlns:p14="http://schemas.microsoft.com/office/powerpoint/2010/main" val="15366637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81EF9-4086-F784-170C-6609BCD97D0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04632E6-59B9-2477-8C24-DF6B6743E67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01AF3E8-7EA9-471C-E863-9F743BB6CC5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2D7794-6799-1F01-3D88-467929791B01}"/>
              </a:ext>
            </a:extLst>
          </p:cNvPr>
          <p:cNvSpPr>
            <a:spLocks noGrp="1"/>
          </p:cNvSpPr>
          <p:nvPr>
            <p:ph type="dt" sz="half" idx="10"/>
          </p:nvPr>
        </p:nvSpPr>
        <p:spPr/>
        <p:txBody>
          <a:bodyPr/>
          <a:lstStyle/>
          <a:p>
            <a:fld id="{A76B9F4E-D705-48A8-BCCF-022A96CB2BFC}" type="datetimeFigureOut">
              <a:rPr lang="en-US" smtClean="0"/>
              <a:t>4/6/2026</a:t>
            </a:fld>
            <a:endParaRPr lang="en-US"/>
          </a:p>
        </p:txBody>
      </p:sp>
      <p:sp>
        <p:nvSpPr>
          <p:cNvPr id="6" name="Footer Placeholder 5">
            <a:extLst>
              <a:ext uri="{FF2B5EF4-FFF2-40B4-BE49-F238E27FC236}">
                <a16:creationId xmlns:a16="http://schemas.microsoft.com/office/drawing/2014/main" id="{C0181F41-98BB-179B-9841-CA6F5DFCE98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3E09CBC-A97D-7068-8785-9FC22E92A40E}"/>
              </a:ext>
            </a:extLst>
          </p:cNvPr>
          <p:cNvSpPr>
            <a:spLocks noGrp="1"/>
          </p:cNvSpPr>
          <p:nvPr>
            <p:ph type="sldNum" sz="quarter" idx="12"/>
          </p:nvPr>
        </p:nvSpPr>
        <p:spPr/>
        <p:txBody>
          <a:bodyPr/>
          <a:lstStyle/>
          <a:p>
            <a:fld id="{68D5D94F-9401-43E0-9D54-C073EFA1D4F3}" type="slidenum">
              <a:rPr lang="en-US" smtClean="0"/>
              <a:t>‹#›</a:t>
            </a:fld>
            <a:endParaRPr lang="en-US"/>
          </a:p>
        </p:txBody>
      </p:sp>
    </p:spTree>
    <p:extLst>
      <p:ext uri="{BB962C8B-B14F-4D97-AF65-F5344CB8AC3E}">
        <p14:creationId xmlns:p14="http://schemas.microsoft.com/office/powerpoint/2010/main" val="16583049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09E799-D12F-3AF6-EB56-5C6F1EDB2C0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8B86908-D753-66C3-7388-56D396E91FD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3B9705-C55D-361A-3F40-DD33B30647B7}"/>
              </a:ext>
            </a:extLst>
          </p:cNvPr>
          <p:cNvSpPr>
            <a:spLocks noGrp="1"/>
          </p:cNvSpPr>
          <p:nvPr>
            <p:ph type="dt" sz="half" idx="10"/>
          </p:nvPr>
        </p:nvSpPr>
        <p:spPr/>
        <p:txBody>
          <a:bodyPr/>
          <a:lstStyle/>
          <a:p>
            <a:fld id="{A76B9F4E-D705-48A8-BCCF-022A96CB2BFC}" type="datetimeFigureOut">
              <a:rPr lang="en-US" smtClean="0"/>
              <a:t>4/6/2026</a:t>
            </a:fld>
            <a:endParaRPr lang="en-US"/>
          </a:p>
        </p:txBody>
      </p:sp>
      <p:sp>
        <p:nvSpPr>
          <p:cNvPr id="5" name="Footer Placeholder 4">
            <a:extLst>
              <a:ext uri="{FF2B5EF4-FFF2-40B4-BE49-F238E27FC236}">
                <a16:creationId xmlns:a16="http://schemas.microsoft.com/office/drawing/2014/main" id="{D5C0A61C-F2DA-78EC-AEBD-103ACFD3E8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3D0963-B113-DCFE-F050-383340692C4D}"/>
              </a:ext>
            </a:extLst>
          </p:cNvPr>
          <p:cNvSpPr>
            <a:spLocks noGrp="1"/>
          </p:cNvSpPr>
          <p:nvPr>
            <p:ph type="sldNum" sz="quarter" idx="12"/>
          </p:nvPr>
        </p:nvSpPr>
        <p:spPr/>
        <p:txBody>
          <a:bodyPr/>
          <a:lstStyle/>
          <a:p>
            <a:fld id="{68D5D94F-9401-43E0-9D54-C073EFA1D4F3}" type="slidenum">
              <a:rPr lang="en-US" smtClean="0"/>
              <a:t>‹#›</a:t>
            </a:fld>
            <a:endParaRPr lang="en-US"/>
          </a:p>
        </p:txBody>
      </p:sp>
    </p:spTree>
    <p:extLst>
      <p:ext uri="{BB962C8B-B14F-4D97-AF65-F5344CB8AC3E}">
        <p14:creationId xmlns:p14="http://schemas.microsoft.com/office/powerpoint/2010/main" val="29354578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66C77B6-06A8-23A9-5A55-8FD6570EE2D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A7923B4-4CAA-18EC-06D3-127B79F1E92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2F8A10E-0560-E113-F487-5425B8866B89}"/>
              </a:ext>
            </a:extLst>
          </p:cNvPr>
          <p:cNvSpPr>
            <a:spLocks noGrp="1"/>
          </p:cNvSpPr>
          <p:nvPr>
            <p:ph type="dt" sz="half" idx="10"/>
          </p:nvPr>
        </p:nvSpPr>
        <p:spPr/>
        <p:txBody>
          <a:bodyPr/>
          <a:lstStyle/>
          <a:p>
            <a:fld id="{A76B9F4E-D705-48A8-BCCF-022A96CB2BFC}" type="datetimeFigureOut">
              <a:rPr lang="en-US" smtClean="0"/>
              <a:t>4/6/2026</a:t>
            </a:fld>
            <a:endParaRPr lang="en-US"/>
          </a:p>
        </p:txBody>
      </p:sp>
      <p:sp>
        <p:nvSpPr>
          <p:cNvPr id="5" name="Footer Placeholder 4">
            <a:extLst>
              <a:ext uri="{FF2B5EF4-FFF2-40B4-BE49-F238E27FC236}">
                <a16:creationId xmlns:a16="http://schemas.microsoft.com/office/drawing/2014/main" id="{12132502-8C86-8B9D-A5F4-F9C5B3B137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FDB7E4-7030-6894-56C4-90503925403C}"/>
              </a:ext>
            </a:extLst>
          </p:cNvPr>
          <p:cNvSpPr>
            <a:spLocks noGrp="1"/>
          </p:cNvSpPr>
          <p:nvPr>
            <p:ph type="sldNum" sz="quarter" idx="12"/>
          </p:nvPr>
        </p:nvSpPr>
        <p:spPr/>
        <p:txBody>
          <a:bodyPr/>
          <a:lstStyle/>
          <a:p>
            <a:fld id="{68D5D94F-9401-43E0-9D54-C073EFA1D4F3}" type="slidenum">
              <a:rPr lang="en-US" smtClean="0"/>
              <a:t>‹#›</a:t>
            </a:fld>
            <a:endParaRPr lang="en-US"/>
          </a:p>
        </p:txBody>
      </p:sp>
    </p:spTree>
    <p:extLst>
      <p:ext uri="{BB962C8B-B14F-4D97-AF65-F5344CB8AC3E}">
        <p14:creationId xmlns:p14="http://schemas.microsoft.com/office/powerpoint/2010/main" val="20197842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011B4B2-81EA-EFD1-433F-17E2A13A8C6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B7C1203-E319-2597-2210-54C82A2CDBF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7E7206-D2A5-1D16-06AE-F88779CC3F3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76B9F4E-D705-48A8-BCCF-022A96CB2BFC}" type="datetimeFigureOut">
              <a:rPr lang="en-US" smtClean="0"/>
              <a:t>4/6/2026</a:t>
            </a:fld>
            <a:endParaRPr lang="en-US"/>
          </a:p>
        </p:txBody>
      </p:sp>
      <p:sp>
        <p:nvSpPr>
          <p:cNvPr id="5" name="Footer Placeholder 4">
            <a:extLst>
              <a:ext uri="{FF2B5EF4-FFF2-40B4-BE49-F238E27FC236}">
                <a16:creationId xmlns:a16="http://schemas.microsoft.com/office/drawing/2014/main" id="{FB4C04F8-71C3-9FE0-AB96-D67D82E2CFF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76C00DC-30B0-89E3-2A50-2AD5B5F45B0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8D5D94F-9401-43E0-9D54-C073EFA1D4F3}" type="slidenum">
              <a:rPr lang="en-US" smtClean="0"/>
              <a:t>‹#›</a:t>
            </a:fld>
            <a:endParaRPr lang="en-US"/>
          </a:p>
        </p:txBody>
      </p:sp>
    </p:spTree>
    <p:extLst>
      <p:ext uri="{BB962C8B-B14F-4D97-AF65-F5344CB8AC3E}">
        <p14:creationId xmlns:p14="http://schemas.microsoft.com/office/powerpoint/2010/main" val="39668451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hyperlink" Target="https://6976add6d5f1ae5921bd14f7--astonishing-macaron-b778b2.netlify.app/" TargetMode="External"/><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microsoft.com/office/2007/relationships/media" Target="../media/media2.mp4"/><Relationship Id="rId7" Type="http://schemas.openxmlformats.org/officeDocument/2006/relationships/image" Target="../media/image7.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6.png"/><Relationship Id="rId5" Type="http://schemas.openxmlformats.org/officeDocument/2006/relationships/slideLayout" Target="../slideLayouts/slideLayout7.xml"/><Relationship Id="rId4" Type="http://schemas.openxmlformats.org/officeDocument/2006/relationships/video" Target="../media/media2.mp4"/></Relationships>
</file>

<file path=ppt/slides/_rels/slide32.xml.rels><?xml version="1.0" encoding="UTF-8" standalone="yes"?>
<Relationships xmlns="http://schemas.openxmlformats.org/package/2006/relationships"><Relationship Id="rId3" Type="http://schemas.microsoft.com/office/2007/relationships/media" Target="../media/media4.mp4"/><Relationship Id="rId7" Type="http://schemas.openxmlformats.org/officeDocument/2006/relationships/image" Target="../media/image9.png"/><Relationship Id="rId2" Type="http://schemas.openxmlformats.org/officeDocument/2006/relationships/video" Target="../media/media3.mp4"/><Relationship Id="rId1" Type="http://schemas.microsoft.com/office/2007/relationships/media" Target="../media/media3.mp4"/><Relationship Id="rId6" Type="http://schemas.openxmlformats.org/officeDocument/2006/relationships/image" Target="../media/image8.png"/><Relationship Id="rId5" Type="http://schemas.openxmlformats.org/officeDocument/2006/relationships/slideLayout" Target="../slideLayouts/slideLayout7.xml"/><Relationship Id="rId4" Type="http://schemas.openxmlformats.org/officeDocument/2006/relationships/video" Target="../media/media4.mp4"/></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5.mp4"/><Relationship Id="rId1" Type="http://schemas.microsoft.com/office/2007/relationships/media" Target="../media/media5.mp4"/><Relationship Id="rId4" Type="http://schemas.openxmlformats.org/officeDocument/2006/relationships/image" Target="../media/image10.png"/></Relationships>
</file>

<file path=ppt/slides/_rels/slide34.xml.rels><?xml version="1.0" encoding="UTF-8" standalone="yes"?>
<Relationships xmlns="http://schemas.openxmlformats.org/package/2006/relationships"><Relationship Id="rId3" Type="http://schemas.microsoft.com/office/2007/relationships/media" Target="../media/media7.mp4"/><Relationship Id="rId7" Type="http://schemas.openxmlformats.org/officeDocument/2006/relationships/image" Target="../media/image12.png"/><Relationship Id="rId2" Type="http://schemas.openxmlformats.org/officeDocument/2006/relationships/video" Target="../media/media6.mp4"/><Relationship Id="rId1" Type="http://schemas.microsoft.com/office/2007/relationships/media" Target="../media/media6.mp4"/><Relationship Id="rId6" Type="http://schemas.openxmlformats.org/officeDocument/2006/relationships/image" Target="../media/image11.png"/><Relationship Id="rId5" Type="http://schemas.openxmlformats.org/officeDocument/2006/relationships/slideLayout" Target="../slideLayouts/slideLayout7.xml"/><Relationship Id="rId4" Type="http://schemas.openxmlformats.org/officeDocument/2006/relationships/video" Target="../media/media7.mp4"/></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DD9CB25-138D-0C14-D367-658F6498FE67}"/>
              </a:ext>
            </a:extLst>
          </p:cNvPr>
          <p:cNvSpPr txBox="1"/>
          <p:nvPr/>
        </p:nvSpPr>
        <p:spPr>
          <a:xfrm>
            <a:off x="685800" y="406400"/>
            <a:ext cx="10820400" cy="830997"/>
          </a:xfrm>
          <a:prstGeom prst="rect">
            <a:avLst/>
          </a:prstGeom>
          <a:noFill/>
        </p:spPr>
        <p:txBody>
          <a:bodyPr vert="horz" rtlCol="0" anchor="t">
            <a:spAutoFit/>
          </a:bodyPr>
          <a:lstStyle/>
          <a:p>
            <a:pPr algn="ctr"/>
            <a:r>
              <a:rPr lang="en-US" sz="2400" b="1">
                <a:solidFill>
                  <a:srgbClr val="000000"/>
                </a:solidFill>
                <a:latin typeface="Times New Roman" panose="02020603050405020304" pitchFamily="18" charset="0"/>
              </a:rPr>
              <a:t>Vision-Language Models as Proxies for Human Judgment of Robot Motion Legibility</a:t>
            </a:r>
          </a:p>
        </p:txBody>
      </p:sp>
      <p:sp>
        <p:nvSpPr>
          <p:cNvPr id="3" name="TextBox 2">
            <a:extLst>
              <a:ext uri="{FF2B5EF4-FFF2-40B4-BE49-F238E27FC236}">
                <a16:creationId xmlns:a16="http://schemas.microsoft.com/office/drawing/2014/main" id="{A8A6991A-A1EE-3771-631E-6E350432F311}"/>
              </a:ext>
            </a:extLst>
          </p:cNvPr>
          <p:cNvSpPr txBox="1"/>
          <p:nvPr/>
        </p:nvSpPr>
        <p:spPr>
          <a:xfrm>
            <a:off x="685800" y="1930400"/>
            <a:ext cx="10820400" cy="646331"/>
          </a:xfrm>
          <a:prstGeom prst="rect">
            <a:avLst/>
          </a:prstGeom>
          <a:noFill/>
        </p:spPr>
        <p:txBody>
          <a:bodyPr vert="horz" rtlCol="0" anchor="t">
            <a:spAutoFit/>
          </a:bodyPr>
          <a:lstStyle/>
          <a:p>
            <a:pPr algn="ctr"/>
            <a:r>
              <a:rPr lang="en-US">
                <a:solidFill>
                  <a:srgbClr val="000000"/>
                </a:solidFill>
                <a:latin typeface="Times New Roman" panose="02020603050405020304" pitchFamily="18" charset="0"/>
              </a:rPr>
              <a:t>by</a:t>
            </a:r>
          </a:p>
          <a:p>
            <a:pPr algn="ctr"/>
            <a:r>
              <a:rPr lang="en-US">
                <a:solidFill>
                  <a:srgbClr val="000000"/>
                </a:solidFill>
                <a:latin typeface="Times New Roman" panose="02020603050405020304" pitchFamily="18" charset="0"/>
              </a:rPr>
              <a:t>Anudeep Sai Gottapu</a:t>
            </a:r>
          </a:p>
        </p:txBody>
      </p:sp>
      <p:sp>
        <p:nvSpPr>
          <p:cNvPr id="4" name="TextBox 3">
            <a:extLst>
              <a:ext uri="{FF2B5EF4-FFF2-40B4-BE49-F238E27FC236}">
                <a16:creationId xmlns:a16="http://schemas.microsoft.com/office/drawing/2014/main" id="{A6460187-7CAF-4CA1-4A51-4C27DEB73FEA}"/>
              </a:ext>
            </a:extLst>
          </p:cNvPr>
          <p:cNvSpPr txBox="1"/>
          <p:nvPr/>
        </p:nvSpPr>
        <p:spPr>
          <a:xfrm>
            <a:off x="685800" y="2997200"/>
            <a:ext cx="10820400" cy="1015663"/>
          </a:xfrm>
          <a:prstGeom prst="rect">
            <a:avLst/>
          </a:prstGeom>
          <a:noFill/>
        </p:spPr>
        <p:txBody>
          <a:bodyPr vert="horz" rtlCol="0" anchor="t">
            <a:spAutoFit/>
          </a:bodyPr>
          <a:lstStyle/>
          <a:p>
            <a:pPr algn="ctr"/>
            <a:r>
              <a:rPr lang="en-US" sz="1500">
                <a:solidFill>
                  <a:srgbClr val="000000"/>
                </a:solidFill>
                <a:latin typeface="Times New Roman" panose="02020603050405020304" pitchFamily="18" charset="0"/>
              </a:rPr>
              <a:t>A Thesis</a:t>
            </a:r>
          </a:p>
          <a:p>
            <a:pPr algn="ctr"/>
            <a:r>
              <a:rPr lang="en-US" sz="1500">
                <a:solidFill>
                  <a:srgbClr val="000000"/>
                </a:solidFill>
                <a:latin typeface="Times New Roman" panose="02020603050405020304" pitchFamily="18" charset="0"/>
              </a:rPr>
              <a:t>Presented in Partial Fulfillment</a:t>
            </a:r>
          </a:p>
          <a:p>
            <a:pPr algn="ctr"/>
            <a:r>
              <a:rPr lang="en-US" sz="1500">
                <a:solidFill>
                  <a:srgbClr val="000000"/>
                </a:solidFill>
                <a:latin typeface="Times New Roman" panose="02020603050405020304" pitchFamily="18" charset="0"/>
              </a:rPr>
              <a:t>of the Requirements for the Degree</a:t>
            </a:r>
          </a:p>
          <a:p>
            <a:pPr algn="ctr"/>
            <a:r>
              <a:rPr lang="en-US" sz="1500">
                <a:solidFill>
                  <a:srgbClr val="000000"/>
                </a:solidFill>
                <a:latin typeface="Times New Roman" panose="02020603050405020304" pitchFamily="18" charset="0"/>
              </a:rPr>
              <a:t>Master of Science</a:t>
            </a:r>
          </a:p>
        </p:txBody>
      </p:sp>
      <p:sp>
        <p:nvSpPr>
          <p:cNvPr id="5" name="TextBox 4">
            <a:extLst>
              <a:ext uri="{FF2B5EF4-FFF2-40B4-BE49-F238E27FC236}">
                <a16:creationId xmlns:a16="http://schemas.microsoft.com/office/drawing/2014/main" id="{A5056353-C6BE-0AF7-8589-62C73F560933}"/>
              </a:ext>
            </a:extLst>
          </p:cNvPr>
          <p:cNvSpPr txBox="1"/>
          <p:nvPr/>
        </p:nvSpPr>
        <p:spPr>
          <a:xfrm>
            <a:off x="685800" y="4597400"/>
            <a:ext cx="10820400" cy="1169551"/>
          </a:xfrm>
          <a:prstGeom prst="rect">
            <a:avLst/>
          </a:prstGeom>
          <a:noFill/>
        </p:spPr>
        <p:txBody>
          <a:bodyPr vert="horz" rtlCol="0" anchor="t">
            <a:spAutoFit/>
          </a:bodyPr>
          <a:lstStyle/>
          <a:p>
            <a:pPr algn="ctr"/>
            <a:r>
              <a:rPr lang="en-US" sz="1400">
                <a:solidFill>
                  <a:srgbClr val="000000"/>
                </a:solidFill>
                <a:latin typeface="Times New Roman" panose="02020603050405020304" pitchFamily="18" charset="0"/>
              </a:rPr>
              <a:t>Approved April 2026 by the</a:t>
            </a:r>
          </a:p>
          <a:p>
            <a:pPr algn="ctr"/>
            <a:r>
              <a:rPr lang="en-US" sz="1400">
                <a:solidFill>
                  <a:srgbClr val="000000"/>
                </a:solidFill>
                <a:latin typeface="Times New Roman" panose="02020603050405020304" pitchFamily="18" charset="0"/>
              </a:rPr>
              <a:t>Graduate Supervisory Committee</a:t>
            </a:r>
          </a:p>
          <a:p>
            <a:pPr algn="ctr"/>
            <a:r>
              <a:rPr lang="en-US" sz="1400">
                <a:solidFill>
                  <a:srgbClr val="000000"/>
                </a:solidFill>
                <a:latin typeface="Times New Roman" panose="02020603050405020304" pitchFamily="18" charset="0"/>
              </a:rPr>
              <a:t>Nakul Gopalan, Chair</a:t>
            </a:r>
          </a:p>
          <a:p>
            <a:pPr algn="ctr"/>
            <a:r>
              <a:rPr lang="en-US" sz="1400">
                <a:solidFill>
                  <a:srgbClr val="000000"/>
                </a:solidFill>
                <a:latin typeface="Times New Roman" panose="02020603050405020304" pitchFamily="18" charset="0"/>
              </a:rPr>
              <a:t>Hani ben Amor</a:t>
            </a:r>
          </a:p>
          <a:p>
            <a:pPr algn="ctr"/>
            <a:r>
              <a:rPr lang="en-US" sz="1400">
                <a:solidFill>
                  <a:srgbClr val="000000"/>
                </a:solidFill>
                <a:latin typeface="Times New Roman" panose="02020603050405020304" pitchFamily="18" charset="0"/>
              </a:rPr>
              <a:t>Kunal Garg</a:t>
            </a:r>
          </a:p>
        </p:txBody>
      </p:sp>
    </p:spTree>
    <p:extLst>
      <p:ext uri="{BB962C8B-B14F-4D97-AF65-F5344CB8AC3E}">
        <p14:creationId xmlns:p14="http://schemas.microsoft.com/office/powerpoint/2010/main" val="21484781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BF8F2"/>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23815BD-C0DF-B7E6-2933-7A71DB000E1C}"/>
              </a:ext>
            </a:extLst>
          </p:cNvPr>
          <p:cNvSpPr txBox="1"/>
          <p:nvPr/>
        </p:nvSpPr>
        <p:spPr>
          <a:xfrm>
            <a:off x="508000" y="228600"/>
            <a:ext cx="10414000" cy="482183"/>
          </a:xfrm>
          <a:prstGeom prst="rect">
            <a:avLst/>
          </a:prstGeom>
          <a:noFill/>
        </p:spPr>
        <p:txBody>
          <a:bodyPr vert="horz" wrap="square" lIns="25400" tIns="25400" rIns="25400" bIns="25400" rtlCol="0" anchor="t">
            <a:spAutoFit/>
          </a:bodyPr>
          <a:lstStyle/>
          <a:p>
            <a:r>
              <a:rPr lang="en-US" sz="2800" b="1">
                <a:solidFill>
                  <a:srgbClr val="212121"/>
                </a:solidFill>
                <a:latin typeface="Aptos" panose="020B0004020202020204" pitchFamily="34" charset="0"/>
              </a:rPr>
              <a:t>Abstract</a:t>
            </a:r>
          </a:p>
        </p:txBody>
      </p:sp>
      <p:sp>
        <p:nvSpPr>
          <p:cNvPr id="7" name="Rectangle 6">
            <a:extLst>
              <a:ext uri="{FF2B5EF4-FFF2-40B4-BE49-F238E27FC236}">
                <a16:creationId xmlns:a16="http://schemas.microsoft.com/office/drawing/2014/main" id="{6B07E0FE-F5EA-5256-4526-1FFEE37D625E}"/>
              </a:ext>
            </a:extLst>
          </p:cNvPr>
          <p:cNvSpPr/>
          <p:nvPr/>
        </p:nvSpPr>
        <p:spPr>
          <a:xfrm>
            <a:off x="508000" y="1206500"/>
            <a:ext cx="11176000" cy="50800"/>
          </a:xfrm>
          <a:prstGeom prst="rect">
            <a:avLst/>
          </a:prstGeom>
          <a:solidFill>
            <a:srgbClr val="F6BF20"/>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0BE674B5-1EC4-500D-CC24-E14C1FA6184B}"/>
              </a:ext>
            </a:extLst>
          </p:cNvPr>
          <p:cNvSpPr txBox="1"/>
          <p:nvPr/>
        </p:nvSpPr>
        <p:spPr>
          <a:xfrm>
            <a:off x="11430000" y="228600"/>
            <a:ext cx="304800" cy="205184"/>
          </a:xfrm>
          <a:prstGeom prst="rect">
            <a:avLst/>
          </a:prstGeom>
          <a:noFill/>
        </p:spPr>
        <p:txBody>
          <a:bodyPr vert="horz" wrap="square" lIns="25400" tIns="25400" rIns="25400" bIns="25400" rtlCol="0" anchor="t">
            <a:spAutoFit/>
          </a:bodyPr>
          <a:lstStyle/>
          <a:p>
            <a:pPr algn="r"/>
            <a:r>
              <a:rPr lang="en-US" sz="1000">
                <a:solidFill>
                  <a:srgbClr val="5C5C5C"/>
                </a:solidFill>
                <a:latin typeface="Aptos" panose="020B0004020202020204" pitchFamily="34" charset="0"/>
              </a:rPr>
              <a:t>2</a:t>
            </a:r>
          </a:p>
        </p:txBody>
      </p:sp>
      <p:sp>
        <p:nvSpPr>
          <p:cNvPr id="9" name="TextBox 8">
            <a:extLst>
              <a:ext uri="{FF2B5EF4-FFF2-40B4-BE49-F238E27FC236}">
                <a16:creationId xmlns:a16="http://schemas.microsoft.com/office/drawing/2014/main" id="{6A4E90D0-684F-8777-6892-F2BD5F90B04F}"/>
              </a:ext>
            </a:extLst>
          </p:cNvPr>
          <p:cNvSpPr txBox="1"/>
          <p:nvPr/>
        </p:nvSpPr>
        <p:spPr>
          <a:xfrm>
            <a:off x="736600" y="1549400"/>
            <a:ext cx="10744200" cy="3539430"/>
          </a:xfrm>
          <a:prstGeom prst="rect">
            <a:avLst/>
          </a:prstGeom>
          <a:noFill/>
        </p:spPr>
        <p:txBody>
          <a:bodyPr vert="horz" wrap="square" lIns="25400" tIns="25400" rIns="25400" bIns="25400" rtlCol="0" anchor="t">
            <a:spAutoFit/>
          </a:bodyPr>
          <a:lstStyle/>
          <a:p>
            <a:r>
              <a:rPr lang="en-US" sz="1600">
                <a:solidFill>
                  <a:srgbClr val="212121"/>
                </a:solidFill>
                <a:latin typeface="Aptos" panose="020B0004020202020204" pitchFamily="34" charset="0"/>
              </a:rPr>
              <a:t>Legibility in robot motion refers to how easily an observer infers a robot’s intent from its movement. Evaluating robot's motion legibility often requires human-subject studies, which are time-consuming and resource-intensive. To address this limitation, this work examines whether a vision-language model can serve as a proxy for human judgment in evaluating robot motion legibility. Gemini 2.5 Flash is used to analyze video frames of a robot performing a task and infer the robot’s intended goal.
Human evaluation pilot data and Gemini-based predictions on videos of robot manipulation tasks with cumulative frame observations at selected timepoints are compared.For each timepoint, cumulative (prefix) frames are provided, starting from a single initial frame and progressively increasing to include more of the trajectory, allowing both human participants and the model to infer the robot’s intended goal. 
The resulting predictions are analyzed using human and vlm agreement based metrics and per task metrics, including accuracy, intersection-over-union, and time-to-legibility. The results suggest that multimodal vision-language models can capture meaningful aspects of human goal inference from partial robot motion, although human observers remain more reliable overall.</a:t>
            </a:r>
          </a:p>
        </p:txBody>
      </p:sp>
    </p:spTree>
    <p:extLst>
      <p:ext uri="{BB962C8B-B14F-4D97-AF65-F5344CB8AC3E}">
        <p14:creationId xmlns:p14="http://schemas.microsoft.com/office/powerpoint/2010/main" val="24149511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BF8F2"/>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4E41191B-333F-882C-3FE7-830AA810229B}"/>
              </a:ext>
            </a:extLst>
          </p:cNvPr>
          <p:cNvSpPr txBox="1"/>
          <p:nvPr/>
        </p:nvSpPr>
        <p:spPr>
          <a:xfrm>
            <a:off x="508000" y="228600"/>
            <a:ext cx="10414000" cy="482183"/>
          </a:xfrm>
          <a:prstGeom prst="rect">
            <a:avLst/>
          </a:prstGeom>
          <a:noFill/>
        </p:spPr>
        <p:txBody>
          <a:bodyPr vert="horz" wrap="square" lIns="25400" tIns="25400" rIns="25400" bIns="25400" rtlCol="0" anchor="t">
            <a:spAutoFit/>
          </a:bodyPr>
          <a:lstStyle/>
          <a:p>
            <a:r>
              <a:rPr lang="en-US" sz="2800" b="1">
                <a:solidFill>
                  <a:srgbClr val="212121"/>
                </a:solidFill>
                <a:latin typeface="Aptos" panose="020B0004020202020204" pitchFamily="34" charset="0"/>
              </a:rPr>
              <a:t>Abstract</a:t>
            </a:r>
          </a:p>
        </p:txBody>
      </p:sp>
      <p:sp>
        <p:nvSpPr>
          <p:cNvPr id="7" name="Rectangle 6">
            <a:extLst>
              <a:ext uri="{FF2B5EF4-FFF2-40B4-BE49-F238E27FC236}">
                <a16:creationId xmlns:a16="http://schemas.microsoft.com/office/drawing/2014/main" id="{7EF3127E-5F2B-F811-FACD-2D97C7860088}"/>
              </a:ext>
            </a:extLst>
          </p:cNvPr>
          <p:cNvSpPr/>
          <p:nvPr/>
        </p:nvSpPr>
        <p:spPr>
          <a:xfrm>
            <a:off x="508000" y="1206500"/>
            <a:ext cx="11176000" cy="50800"/>
          </a:xfrm>
          <a:prstGeom prst="rect">
            <a:avLst/>
          </a:prstGeom>
          <a:solidFill>
            <a:srgbClr val="F6BF20"/>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6944FD4F-C037-EF5E-2BFD-50B3DD0FC6F3}"/>
              </a:ext>
            </a:extLst>
          </p:cNvPr>
          <p:cNvSpPr txBox="1"/>
          <p:nvPr/>
        </p:nvSpPr>
        <p:spPr>
          <a:xfrm>
            <a:off x="11430000" y="228600"/>
            <a:ext cx="304800" cy="205184"/>
          </a:xfrm>
          <a:prstGeom prst="rect">
            <a:avLst/>
          </a:prstGeom>
          <a:noFill/>
        </p:spPr>
        <p:txBody>
          <a:bodyPr vert="horz" wrap="square" lIns="25400" tIns="25400" rIns="25400" bIns="25400" rtlCol="0" anchor="t">
            <a:spAutoFit/>
          </a:bodyPr>
          <a:lstStyle/>
          <a:p>
            <a:pPr algn="r"/>
            <a:r>
              <a:rPr lang="en-US" sz="1000">
                <a:solidFill>
                  <a:srgbClr val="5C5C5C"/>
                </a:solidFill>
                <a:latin typeface="Aptos" panose="020B0004020202020204" pitchFamily="34" charset="0"/>
              </a:rPr>
              <a:t>3</a:t>
            </a:r>
          </a:p>
        </p:txBody>
      </p:sp>
      <p:sp>
        <p:nvSpPr>
          <p:cNvPr id="9" name="TextBox 8">
            <a:extLst>
              <a:ext uri="{FF2B5EF4-FFF2-40B4-BE49-F238E27FC236}">
                <a16:creationId xmlns:a16="http://schemas.microsoft.com/office/drawing/2014/main" id="{BD906592-6329-B63D-8FB5-161729FD94ED}"/>
              </a:ext>
            </a:extLst>
          </p:cNvPr>
          <p:cNvSpPr txBox="1"/>
          <p:nvPr/>
        </p:nvSpPr>
        <p:spPr>
          <a:xfrm>
            <a:off x="736600" y="1549400"/>
            <a:ext cx="10744200" cy="1923604"/>
          </a:xfrm>
          <a:prstGeom prst="rect">
            <a:avLst/>
          </a:prstGeom>
          <a:noFill/>
        </p:spPr>
        <p:txBody>
          <a:bodyPr vert="horz" wrap="square" lIns="25400" tIns="25400" rIns="25400" bIns="25400" rtlCol="0" anchor="t">
            <a:spAutoFit/>
          </a:bodyPr>
          <a:lstStyle/>
          <a:p>
            <a:r>
              <a:rPr lang="en-US" sz="1700">
                <a:solidFill>
                  <a:srgbClr val="212121"/>
                </a:solidFill>
                <a:latin typeface="Aptos" panose="020B0004020202020204" pitchFamily="34" charset="0"/>
              </a:rPr>
              <a:t>These findings indicate that vision-language models can serve as scalable proxies for evaluating robot motion legibility, reducing reliance on costly human-subject studies.This work highlights the potential of integrating such models into robot learning pipelines and motivates future approaches for generating more legible robot motion.
The study also explores how VLM-based goal inference can be incorporated into a diffusion-policy framework trained on demonstrations to guide the selection of more legible robot trajectories. Together, these results support the use of multimodal language-vision models as practical tools for evaluating robot motion and motivate future methods for generating more interpretable, human-aligned behavior.</a:t>
            </a:r>
          </a:p>
        </p:txBody>
      </p:sp>
    </p:spTree>
    <p:extLst>
      <p:ext uri="{BB962C8B-B14F-4D97-AF65-F5344CB8AC3E}">
        <p14:creationId xmlns:p14="http://schemas.microsoft.com/office/powerpoint/2010/main" val="33157694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BF8F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0A4FFEA-43CD-1339-43B8-8872CA58DD16}"/>
              </a:ext>
            </a:extLst>
          </p:cNvPr>
          <p:cNvSpPr txBox="1"/>
          <p:nvPr/>
        </p:nvSpPr>
        <p:spPr>
          <a:xfrm>
            <a:off x="508000" y="228600"/>
            <a:ext cx="10160000" cy="430887"/>
          </a:xfrm>
          <a:prstGeom prst="rect">
            <a:avLst/>
          </a:prstGeom>
          <a:noFill/>
        </p:spPr>
        <p:txBody>
          <a:bodyPr vert="horz" wrap="square" lIns="0" tIns="0" rIns="0" bIns="0" rtlCol="0" anchor="t">
            <a:spAutoFit/>
          </a:bodyPr>
          <a:lstStyle/>
          <a:p>
            <a:r>
              <a:rPr lang="en-US" sz="2800" b="1">
                <a:solidFill>
                  <a:srgbClr val="212121"/>
                </a:solidFill>
                <a:latin typeface="Aptos" panose="020B0004020202020204" pitchFamily="34" charset="0"/>
              </a:rPr>
              <a:t>What We Measure And What We Found</a:t>
            </a:r>
          </a:p>
        </p:txBody>
      </p:sp>
      <p:sp>
        <p:nvSpPr>
          <p:cNvPr id="3" name="TextBox 2">
            <a:extLst>
              <a:ext uri="{FF2B5EF4-FFF2-40B4-BE49-F238E27FC236}">
                <a16:creationId xmlns:a16="http://schemas.microsoft.com/office/drawing/2014/main" id="{C55D0D09-019A-A93F-BA7D-F659A297AA46}"/>
              </a:ext>
            </a:extLst>
          </p:cNvPr>
          <p:cNvSpPr txBox="1"/>
          <p:nvPr/>
        </p:nvSpPr>
        <p:spPr>
          <a:xfrm>
            <a:off x="508000" y="787400"/>
            <a:ext cx="10414000" cy="169277"/>
          </a:xfrm>
          <a:prstGeom prst="rect">
            <a:avLst/>
          </a:prstGeom>
          <a:noFill/>
        </p:spPr>
        <p:txBody>
          <a:bodyPr vert="horz" wrap="square" lIns="0" tIns="0" rIns="0" bIns="0" rtlCol="0" anchor="t">
            <a:spAutoFit/>
          </a:bodyPr>
          <a:lstStyle/>
          <a:p>
            <a:r>
              <a:rPr lang="en-US" sz="1100">
                <a:solidFill>
                  <a:srgbClr val="707070"/>
                </a:solidFill>
                <a:latin typeface="Aptos" panose="020B0004020202020204" pitchFamily="34" charset="0"/>
              </a:rPr>
              <a:t>The goal is human alignment over time, not only final-goal prediction</a:t>
            </a:r>
          </a:p>
        </p:txBody>
      </p:sp>
      <p:sp>
        <p:nvSpPr>
          <p:cNvPr id="4" name="Rectangle 3">
            <a:extLst>
              <a:ext uri="{FF2B5EF4-FFF2-40B4-BE49-F238E27FC236}">
                <a16:creationId xmlns:a16="http://schemas.microsoft.com/office/drawing/2014/main" id="{A2AEBEBD-A584-826B-B760-82589E1BAEAF}"/>
              </a:ext>
            </a:extLst>
          </p:cNvPr>
          <p:cNvSpPr/>
          <p:nvPr/>
        </p:nvSpPr>
        <p:spPr>
          <a:xfrm>
            <a:off x="508000" y="1206500"/>
            <a:ext cx="11176000" cy="50800"/>
          </a:xfrm>
          <a:prstGeom prst="rect">
            <a:avLst/>
          </a:prstGeom>
          <a:solidFill>
            <a:srgbClr val="F6BF20"/>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86B4302-D3BE-C425-E576-29848D74D190}"/>
              </a:ext>
            </a:extLst>
          </p:cNvPr>
          <p:cNvSpPr txBox="1"/>
          <p:nvPr/>
        </p:nvSpPr>
        <p:spPr>
          <a:xfrm>
            <a:off x="11430000" y="228600"/>
            <a:ext cx="304800" cy="153888"/>
          </a:xfrm>
          <a:prstGeom prst="rect">
            <a:avLst/>
          </a:prstGeom>
          <a:noFill/>
        </p:spPr>
        <p:txBody>
          <a:bodyPr vert="horz" wrap="square" lIns="0" tIns="0" rIns="0" bIns="0" rtlCol="0" anchor="t">
            <a:spAutoFit/>
          </a:bodyPr>
          <a:lstStyle/>
          <a:p>
            <a:pPr algn="r"/>
            <a:r>
              <a:rPr lang="en-US" sz="1000">
                <a:solidFill>
                  <a:srgbClr val="5C5C5C"/>
                </a:solidFill>
                <a:latin typeface="Aptos" panose="020B0004020202020204" pitchFamily="34" charset="0"/>
              </a:rPr>
              <a:t>4</a:t>
            </a:r>
          </a:p>
        </p:txBody>
      </p:sp>
      <p:sp>
        <p:nvSpPr>
          <p:cNvPr id="6" name="Rectangle: Rounded Corners 5">
            <a:extLst>
              <a:ext uri="{FF2B5EF4-FFF2-40B4-BE49-F238E27FC236}">
                <a16:creationId xmlns:a16="http://schemas.microsoft.com/office/drawing/2014/main" id="{78F82871-802E-5F4C-6D92-D69D70DFCF16}"/>
              </a:ext>
            </a:extLst>
          </p:cNvPr>
          <p:cNvSpPr/>
          <p:nvPr/>
        </p:nvSpPr>
        <p:spPr>
          <a:xfrm>
            <a:off x="914400" y="1981200"/>
            <a:ext cx="3048000" cy="1498600"/>
          </a:xfrm>
          <a:prstGeom prst="roundRect">
            <a:avLst/>
          </a:prstGeom>
          <a:solidFill>
            <a:srgbClr val="EAF3FC"/>
          </a:solidFill>
          <a:ln w="19050">
            <a:solidFill>
              <a:srgbClr val="5390D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3E64A3DC-22DD-66A4-1604-01FFBD2E20BC}"/>
              </a:ext>
            </a:extLst>
          </p:cNvPr>
          <p:cNvSpPr txBox="1"/>
          <p:nvPr/>
        </p:nvSpPr>
        <p:spPr>
          <a:xfrm>
            <a:off x="1117600" y="2159000"/>
            <a:ext cx="2641600" cy="276999"/>
          </a:xfrm>
          <a:prstGeom prst="rect">
            <a:avLst/>
          </a:prstGeom>
          <a:noFill/>
        </p:spPr>
        <p:txBody>
          <a:bodyPr vert="horz" wrap="square" lIns="0" tIns="0" rIns="0" bIns="0" rtlCol="0" anchor="t">
            <a:spAutoFit/>
          </a:bodyPr>
          <a:lstStyle/>
          <a:p>
            <a:r>
              <a:rPr lang="en-US" b="1">
                <a:solidFill>
                  <a:srgbClr val="212121"/>
                </a:solidFill>
                <a:latin typeface="Aptos" panose="020B0004020202020204" pitchFamily="34" charset="0"/>
              </a:rPr>
              <a:t>Accuracy</a:t>
            </a:r>
          </a:p>
        </p:txBody>
      </p:sp>
      <p:sp>
        <p:nvSpPr>
          <p:cNvPr id="8" name="TextBox 7">
            <a:extLst>
              <a:ext uri="{FF2B5EF4-FFF2-40B4-BE49-F238E27FC236}">
                <a16:creationId xmlns:a16="http://schemas.microsoft.com/office/drawing/2014/main" id="{AB63FB7A-F1B3-2048-C418-D4B54CC6AF7F}"/>
              </a:ext>
            </a:extLst>
          </p:cNvPr>
          <p:cNvSpPr txBox="1"/>
          <p:nvPr/>
        </p:nvSpPr>
        <p:spPr>
          <a:xfrm>
            <a:off x="1117600" y="2590800"/>
            <a:ext cx="2641600" cy="338554"/>
          </a:xfrm>
          <a:prstGeom prst="rect">
            <a:avLst/>
          </a:prstGeom>
          <a:noFill/>
        </p:spPr>
        <p:txBody>
          <a:bodyPr vert="horz" wrap="square" lIns="0" tIns="0" rIns="0" bIns="0" rtlCol="0" anchor="t">
            <a:spAutoFit/>
          </a:bodyPr>
          <a:lstStyle/>
          <a:p>
            <a:r>
              <a:rPr lang="en-US" sz="1100">
                <a:solidFill>
                  <a:srgbClr val="212121"/>
                </a:solidFill>
                <a:latin typeface="Aptos" panose="020B0004020202020204" pitchFamily="34" charset="0"/>
              </a:rPr>
              <a:t>How often the predicted goal matches the true goal at each timepoint.</a:t>
            </a:r>
          </a:p>
        </p:txBody>
      </p:sp>
      <p:sp>
        <p:nvSpPr>
          <p:cNvPr id="9" name="Rectangle: Rounded Corners 8">
            <a:extLst>
              <a:ext uri="{FF2B5EF4-FFF2-40B4-BE49-F238E27FC236}">
                <a16:creationId xmlns:a16="http://schemas.microsoft.com/office/drawing/2014/main" id="{6B60C21F-5F23-A58C-C319-CA15C4BCE878}"/>
              </a:ext>
            </a:extLst>
          </p:cNvPr>
          <p:cNvSpPr/>
          <p:nvPr/>
        </p:nvSpPr>
        <p:spPr>
          <a:xfrm>
            <a:off x="4572000" y="1981200"/>
            <a:ext cx="3048000" cy="1498600"/>
          </a:xfrm>
          <a:prstGeom prst="roundRect">
            <a:avLst/>
          </a:prstGeom>
          <a:solidFill>
            <a:srgbClr val="F7EFF3"/>
          </a:solidFill>
          <a:ln w="19050">
            <a:solidFill>
              <a:srgbClr val="A63E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BD8B7573-8514-87A1-1312-641E3ABFBDC9}"/>
              </a:ext>
            </a:extLst>
          </p:cNvPr>
          <p:cNvSpPr txBox="1"/>
          <p:nvPr/>
        </p:nvSpPr>
        <p:spPr>
          <a:xfrm>
            <a:off x="4775200" y="2159000"/>
            <a:ext cx="2641600" cy="261610"/>
          </a:xfrm>
          <a:prstGeom prst="rect">
            <a:avLst/>
          </a:prstGeom>
          <a:noFill/>
        </p:spPr>
        <p:txBody>
          <a:bodyPr vert="horz" wrap="square" lIns="0" tIns="0" rIns="0" bIns="0" rtlCol="0" anchor="t">
            <a:spAutoFit/>
          </a:bodyPr>
          <a:lstStyle/>
          <a:p>
            <a:r>
              <a:rPr lang="en-US" sz="1700" b="1">
                <a:solidFill>
                  <a:srgbClr val="212121"/>
                </a:solidFill>
                <a:latin typeface="Aptos" panose="020B0004020202020204" pitchFamily="34" charset="0"/>
              </a:rPr>
              <a:t>Agreement (IoU)</a:t>
            </a:r>
          </a:p>
        </p:txBody>
      </p:sp>
      <p:sp>
        <p:nvSpPr>
          <p:cNvPr id="11" name="TextBox 10">
            <a:extLst>
              <a:ext uri="{FF2B5EF4-FFF2-40B4-BE49-F238E27FC236}">
                <a16:creationId xmlns:a16="http://schemas.microsoft.com/office/drawing/2014/main" id="{A6B2591D-0DF2-E88B-2715-696DF4F7BB8A}"/>
              </a:ext>
            </a:extLst>
          </p:cNvPr>
          <p:cNvSpPr txBox="1"/>
          <p:nvPr/>
        </p:nvSpPr>
        <p:spPr>
          <a:xfrm>
            <a:off x="4775200" y="2590800"/>
            <a:ext cx="2641600" cy="338554"/>
          </a:xfrm>
          <a:prstGeom prst="rect">
            <a:avLst/>
          </a:prstGeom>
          <a:noFill/>
        </p:spPr>
        <p:txBody>
          <a:bodyPr vert="horz" wrap="square" lIns="0" tIns="0" rIns="0" bIns="0" rtlCol="0" anchor="t">
            <a:spAutoFit/>
          </a:bodyPr>
          <a:lstStyle/>
          <a:p>
            <a:r>
              <a:rPr lang="en-US" sz="1100">
                <a:solidFill>
                  <a:srgbClr val="212121"/>
                </a:solidFill>
                <a:latin typeface="Aptos" panose="020B0004020202020204" pitchFamily="34" charset="0"/>
              </a:rPr>
              <a:t>How closely human and model judgments overlap on matched evidence.</a:t>
            </a:r>
          </a:p>
        </p:txBody>
      </p:sp>
      <p:sp>
        <p:nvSpPr>
          <p:cNvPr id="12" name="Rectangle: Rounded Corners 11">
            <a:extLst>
              <a:ext uri="{FF2B5EF4-FFF2-40B4-BE49-F238E27FC236}">
                <a16:creationId xmlns:a16="http://schemas.microsoft.com/office/drawing/2014/main" id="{F01AEA9A-1C6D-A611-21FD-48F6CFC89537}"/>
              </a:ext>
            </a:extLst>
          </p:cNvPr>
          <p:cNvSpPr/>
          <p:nvPr/>
        </p:nvSpPr>
        <p:spPr>
          <a:xfrm>
            <a:off x="8229600" y="1981200"/>
            <a:ext cx="3048000" cy="1498600"/>
          </a:xfrm>
          <a:prstGeom prst="roundRect">
            <a:avLst/>
          </a:prstGeom>
          <a:solidFill>
            <a:srgbClr val="FFF8E6"/>
          </a:solidFill>
          <a:ln w="19050">
            <a:solidFill>
              <a:srgbClr val="F6BF2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A5A4812F-083A-10B1-9133-6F9EA60FB3B7}"/>
              </a:ext>
            </a:extLst>
          </p:cNvPr>
          <p:cNvSpPr txBox="1"/>
          <p:nvPr/>
        </p:nvSpPr>
        <p:spPr>
          <a:xfrm>
            <a:off x="8432800" y="2159000"/>
            <a:ext cx="2641600" cy="261610"/>
          </a:xfrm>
          <a:prstGeom prst="rect">
            <a:avLst/>
          </a:prstGeom>
          <a:noFill/>
        </p:spPr>
        <p:txBody>
          <a:bodyPr vert="horz" wrap="square" lIns="0" tIns="0" rIns="0" bIns="0" rtlCol="0" anchor="t">
            <a:spAutoFit/>
          </a:bodyPr>
          <a:lstStyle/>
          <a:p>
            <a:r>
              <a:rPr lang="en-US" sz="1700" b="1">
                <a:solidFill>
                  <a:srgbClr val="212121"/>
                </a:solidFill>
                <a:latin typeface="Aptos" panose="020B0004020202020204" pitchFamily="34" charset="0"/>
              </a:rPr>
              <a:t>Time-to-legibility</a:t>
            </a:r>
          </a:p>
        </p:txBody>
      </p:sp>
      <p:sp>
        <p:nvSpPr>
          <p:cNvPr id="14" name="TextBox 13">
            <a:extLst>
              <a:ext uri="{FF2B5EF4-FFF2-40B4-BE49-F238E27FC236}">
                <a16:creationId xmlns:a16="http://schemas.microsoft.com/office/drawing/2014/main" id="{0C883067-656D-33A7-FB91-9BE57F92131C}"/>
              </a:ext>
            </a:extLst>
          </p:cNvPr>
          <p:cNvSpPr txBox="1"/>
          <p:nvPr/>
        </p:nvSpPr>
        <p:spPr>
          <a:xfrm>
            <a:off x="8432800" y="2590800"/>
            <a:ext cx="2641600" cy="338554"/>
          </a:xfrm>
          <a:prstGeom prst="rect">
            <a:avLst/>
          </a:prstGeom>
          <a:noFill/>
        </p:spPr>
        <p:txBody>
          <a:bodyPr vert="horz" wrap="square" lIns="0" tIns="0" rIns="0" bIns="0" rtlCol="0" anchor="t">
            <a:spAutoFit/>
          </a:bodyPr>
          <a:lstStyle/>
          <a:p>
            <a:r>
              <a:rPr lang="en-US" sz="1100">
                <a:solidFill>
                  <a:srgbClr val="212121"/>
                </a:solidFill>
                <a:latin typeface="Aptos" panose="020B0004020202020204" pitchFamily="34" charset="0"/>
              </a:rPr>
              <a:t>How early the intended goal becomes readable from partial motion.</a:t>
            </a:r>
          </a:p>
        </p:txBody>
      </p:sp>
      <p:sp>
        <p:nvSpPr>
          <p:cNvPr id="15" name="Rectangle: Rounded Corners 14">
            <a:extLst>
              <a:ext uri="{FF2B5EF4-FFF2-40B4-BE49-F238E27FC236}">
                <a16:creationId xmlns:a16="http://schemas.microsoft.com/office/drawing/2014/main" id="{689B386D-AA51-7C76-1776-5F7AD4DFA4E4}"/>
              </a:ext>
            </a:extLst>
          </p:cNvPr>
          <p:cNvSpPr/>
          <p:nvPr/>
        </p:nvSpPr>
        <p:spPr>
          <a:xfrm>
            <a:off x="914400" y="4038600"/>
            <a:ext cx="10363200" cy="1752600"/>
          </a:xfrm>
          <a:prstGeom prst="roundRect">
            <a:avLst/>
          </a:prstGeom>
          <a:solidFill>
            <a:srgbClr val="FFFFFF"/>
          </a:solidFill>
          <a:ln w="19050">
            <a:solidFill>
              <a:srgbClr val="A63E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1378000B-4728-0933-EDDD-417B57BD39B0}"/>
              </a:ext>
            </a:extLst>
          </p:cNvPr>
          <p:cNvSpPr txBox="1"/>
          <p:nvPr/>
        </p:nvSpPr>
        <p:spPr>
          <a:xfrm>
            <a:off x="1143000" y="4241800"/>
            <a:ext cx="9906000" cy="184666"/>
          </a:xfrm>
          <a:prstGeom prst="rect">
            <a:avLst/>
          </a:prstGeom>
          <a:noFill/>
        </p:spPr>
        <p:txBody>
          <a:bodyPr vert="horz" wrap="square" lIns="0" tIns="0" rIns="0" bIns="0" rtlCol="0" anchor="t">
            <a:spAutoFit/>
          </a:bodyPr>
          <a:lstStyle/>
          <a:p>
            <a:r>
              <a:rPr lang="en-US" sz="1200" b="1">
                <a:solidFill>
                  <a:srgbClr val="A63E5E"/>
                </a:solidFill>
                <a:latin typeface="Aptos" panose="020B0004020202020204" pitchFamily="34" charset="0"/>
              </a:rPr>
              <a:t>Abstract takeaway</a:t>
            </a:r>
          </a:p>
        </p:txBody>
      </p:sp>
      <p:sp>
        <p:nvSpPr>
          <p:cNvPr id="17" name="TextBox 16">
            <a:extLst>
              <a:ext uri="{FF2B5EF4-FFF2-40B4-BE49-F238E27FC236}">
                <a16:creationId xmlns:a16="http://schemas.microsoft.com/office/drawing/2014/main" id="{0ED1AF81-3C3D-2F05-24CE-23FEA1AEA212}"/>
              </a:ext>
            </a:extLst>
          </p:cNvPr>
          <p:cNvSpPr txBox="1"/>
          <p:nvPr/>
        </p:nvSpPr>
        <p:spPr>
          <a:xfrm>
            <a:off x="1143000" y="4648200"/>
            <a:ext cx="9906000" cy="507831"/>
          </a:xfrm>
          <a:prstGeom prst="rect">
            <a:avLst/>
          </a:prstGeom>
          <a:noFill/>
        </p:spPr>
        <p:txBody>
          <a:bodyPr vert="horz" wrap="square" lIns="0" tIns="0" rIns="0" bIns="0" rtlCol="0" anchor="t">
            <a:spAutoFit/>
          </a:bodyPr>
          <a:lstStyle/>
          <a:p>
            <a:r>
              <a:rPr lang="en-US" sz="1100">
                <a:solidFill>
                  <a:srgbClr val="212121"/>
                </a:solidFill>
                <a:latin typeface="Aptos" panose="020B0004020202020204" pitchFamily="34" charset="0"/>
              </a:rPr>
              <a:t>- Gemini tracks meaningful parts of human goal inference from partial robot motion.</a:t>
            </a:r>
          </a:p>
          <a:p>
            <a:r>
              <a:rPr lang="en-US" sz="1100">
                <a:solidFill>
                  <a:srgbClr val="212121"/>
                </a:solidFill>
                <a:latin typeface="Aptos" panose="020B0004020202020204" pitchFamily="34" charset="0"/>
              </a:rPr>
              <a:t>- Human observers are still more reliable overall.</a:t>
            </a:r>
          </a:p>
          <a:p>
            <a:r>
              <a:rPr lang="en-US" sz="1100">
                <a:solidFill>
                  <a:srgbClr val="212121"/>
                </a:solidFill>
                <a:latin typeface="Aptos" panose="020B0004020202020204" pitchFamily="34" charset="0"/>
              </a:rPr>
              <a:t>- VLMs can scale evaluation and later help select more legible trajectories.</a:t>
            </a:r>
          </a:p>
        </p:txBody>
      </p:sp>
      <p:sp>
        <p:nvSpPr>
          <p:cNvPr id="18" name="TextBox 17">
            <a:extLst>
              <a:ext uri="{FF2B5EF4-FFF2-40B4-BE49-F238E27FC236}">
                <a16:creationId xmlns:a16="http://schemas.microsoft.com/office/drawing/2014/main" id="{EF07104B-C50B-2169-9646-0FADC2F70C99}"/>
              </a:ext>
            </a:extLst>
          </p:cNvPr>
          <p:cNvSpPr txBox="1"/>
          <p:nvPr/>
        </p:nvSpPr>
        <p:spPr>
          <a:xfrm>
            <a:off x="762000" y="6350000"/>
            <a:ext cx="8255000" cy="123111"/>
          </a:xfrm>
          <a:prstGeom prst="rect">
            <a:avLst/>
          </a:prstGeom>
          <a:noFill/>
        </p:spPr>
        <p:txBody>
          <a:bodyPr vert="horz" wrap="square" lIns="0" tIns="0" rIns="0" bIns="0" rtlCol="0" anchor="t">
            <a:spAutoFit/>
          </a:bodyPr>
          <a:lstStyle/>
          <a:p>
            <a:r>
              <a:rPr lang="en-US" sz="800">
                <a:solidFill>
                  <a:srgbClr val="707070"/>
                </a:solidFill>
                <a:latin typeface="Aptos" panose="020B0004020202020204" pitchFamily="34" charset="0"/>
              </a:rPr>
              <a:t>This defense focuses on validating the evaluator before using it inside a policy-improvement loop.</a:t>
            </a:r>
          </a:p>
        </p:txBody>
      </p:sp>
    </p:spTree>
    <p:extLst>
      <p:ext uri="{BB962C8B-B14F-4D97-AF65-F5344CB8AC3E}">
        <p14:creationId xmlns:p14="http://schemas.microsoft.com/office/powerpoint/2010/main" val="19652400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BF8F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1341B12-357E-99F6-7ED4-E64FE83B2460}"/>
              </a:ext>
            </a:extLst>
          </p:cNvPr>
          <p:cNvSpPr txBox="1"/>
          <p:nvPr/>
        </p:nvSpPr>
        <p:spPr>
          <a:xfrm>
            <a:off x="508000" y="228600"/>
            <a:ext cx="10414000" cy="430887"/>
          </a:xfrm>
          <a:prstGeom prst="rect">
            <a:avLst/>
          </a:prstGeom>
          <a:noFill/>
        </p:spPr>
        <p:txBody>
          <a:bodyPr vert="horz" wrap="square" lIns="0" tIns="0" rIns="0" bIns="0" rtlCol="0" anchor="t">
            <a:spAutoFit/>
          </a:bodyPr>
          <a:lstStyle/>
          <a:p>
            <a:r>
              <a:rPr lang="en-US" sz="2800" b="1">
                <a:solidFill>
                  <a:srgbClr val="212121"/>
                </a:solidFill>
                <a:latin typeface="Aptos" panose="020B0004020202020204" pitchFamily="34" charset="0"/>
              </a:rPr>
              <a:t>Motivation And Context</a:t>
            </a:r>
          </a:p>
        </p:txBody>
      </p:sp>
      <p:sp>
        <p:nvSpPr>
          <p:cNvPr id="3" name="TextBox 2">
            <a:extLst>
              <a:ext uri="{FF2B5EF4-FFF2-40B4-BE49-F238E27FC236}">
                <a16:creationId xmlns:a16="http://schemas.microsoft.com/office/drawing/2014/main" id="{4B3EEEB4-BE6B-138E-B678-3F232E3DE26A}"/>
              </a:ext>
            </a:extLst>
          </p:cNvPr>
          <p:cNvSpPr txBox="1"/>
          <p:nvPr/>
        </p:nvSpPr>
        <p:spPr>
          <a:xfrm>
            <a:off x="508000" y="787400"/>
            <a:ext cx="10668000" cy="169277"/>
          </a:xfrm>
          <a:prstGeom prst="rect">
            <a:avLst/>
          </a:prstGeom>
          <a:noFill/>
        </p:spPr>
        <p:txBody>
          <a:bodyPr vert="horz" wrap="square" lIns="0" tIns="0" rIns="0" bIns="0" rtlCol="0" anchor="t">
            <a:spAutoFit/>
          </a:bodyPr>
          <a:lstStyle/>
          <a:p>
            <a:r>
              <a:rPr lang="en-US" sz="1100">
                <a:solidFill>
                  <a:srgbClr val="707070"/>
                </a:solidFill>
                <a:latin typeface="Aptos" panose="020B0004020202020204" pitchFamily="34" charset="0"/>
              </a:rPr>
              <a:t>In shared workspaces, robot motion is also a communication signal</a:t>
            </a:r>
          </a:p>
        </p:txBody>
      </p:sp>
      <p:sp>
        <p:nvSpPr>
          <p:cNvPr id="4" name="Rectangle 3">
            <a:extLst>
              <a:ext uri="{FF2B5EF4-FFF2-40B4-BE49-F238E27FC236}">
                <a16:creationId xmlns:a16="http://schemas.microsoft.com/office/drawing/2014/main" id="{125A426B-08D1-C97E-3207-53A329F7DCB8}"/>
              </a:ext>
            </a:extLst>
          </p:cNvPr>
          <p:cNvSpPr/>
          <p:nvPr/>
        </p:nvSpPr>
        <p:spPr>
          <a:xfrm>
            <a:off x="508000" y="1206500"/>
            <a:ext cx="11176000" cy="50800"/>
          </a:xfrm>
          <a:prstGeom prst="rect">
            <a:avLst/>
          </a:prstGeom>
          <a:solidFill>
            <a:srgbClr val="F6BF20"/>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46817479-2EA9-A3F9-A5C3-957C1CF97927}"/>
              </a:ext>
            </a:extLst>
          </p:cNvPr>
          <p:cNvSpPr txBox="1"/>
          <p:nvPr/>
        </p:nvSpPr>
        <p:spPr>
          <a:xfrm>
            <a:off x="11430000" y="228600"/>
            <a:ext cx="304800" cy="153888"/>
          </a:xfrm>
          <a:prstGeom prst="rect">
            <a:avLst/>
          </a:prstGeom>
          <a:noFill/>
        </p:spPr>
        <p:txBody>
          <a:bodyPr vert="horz" wrap="square" lIns="0" tIns="0" rIns="0" bIns="0" rtlCol="0" anchor="t">
            <a:spAutoFit/>
          </a:bodyPr>
          <a:lstStyle/>
          <a:p>
            <a:pPr algn="r"/>
            <a:r>
              <a:rPr lang="en-US" sz="1000">
                <a:solidFill>
                  <a:srgbClr val="5C5C5C"/>
                </a:solidFill>
                <a:latin typeface="Aptos" panose="020B0004020202020204" pitchFamily="34" charset="0"/>
              </a:rPr>
              <a:t>5</a:t>
            </a:r>
          </a:p>
        </p:txBody>
      </p:sp>
      <p:sp>
        <p:nvSpPr>
          <p:cNvPr id="6" name="Rectangle: Rounded Corners 5">
            <a:extLst>
              <a:ext uri="{FF2B5EF4-FFF2-40B4-BE49-F238E27FC236}">
                <a16:creationId xmlns:a16="http://schemas.microsoft.com/office/drawing/2014/main" id="{55323F5E-0D29-9CC4-AAA9-15EB10F479ED}"/>
              </a:ext>
            </a:extLst>
          </p:cNvPr>
          <p:cNvSpPr/>
          <p:nvPr/>
        </p:nvSpPr>
        <p:spPr>
          <a:xfrm>
            <a:off x="914400" y="1727200"/>
            <a:ext cx="10363200" cy="1168400"/>
          </a:xfrm>
          <a:prstGeom prst="roundRect">
            <a:avLst/>
          </a:prstGeom>
          <a:solidFill>
            <a:srgbClr val="FFFFFF"/>
          </a:solidFill>
          <a:ln w="19050">
            <a:solidFill>
              <a:srgbClr val="A63E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15779134-C8A1-250C-18F1-F16CBC28C18E}"/>
              </a:ext>
            </a:extLst>
          </p:cNvPr>
          <p:cNvSpPr txBox="1"/>
          <p:nvPr/>
        </p:nvSpPr>
        <p:spPr>
          <a:xfrm>
            <a:off x="1143000" y="1905000"/>
            <a:ext cx="9906000" cy="184666"/>
          </a:xfrm>
          <a:prstGeom prst="rect">
            <a:avLst/>
          </a:prstGeom>
          <a:noFill/>
        </p:spPr>
        <p:txBody>
          <a:bodyPr vert="horz" wrap="square" lIns="0" tIns="0" rIns="0" bIns="0" rtlCol="0" anchor="t">
            <a:spAutoFit/>
          </a:bodyPr>
          <a:lstStyle/>
          <a:p>
            <a:r>
              <a:rPr lang="en-US" sz="1200" b="1">
                <a:solidFill>
                  <a:srgbClr val="A63E5E"/>
                </a:solidFill>
                <a:latin typeface="Aptos" panose="020B0004020202020204" pitchFamily="34" charset="0"/>
              </a:rPr>
              <a:t>Core idea</a:t>
            </a:r>
          </a:p>
        </p:txBody>
      </p:sp>
      <p:sp>
        <p:nvSpPr>
          <p:cNvPr id="8" name="TextBox 7">
            <a:extLst>
              <a:ext uri="{FF2B5EF4-FFF2-40B4-BE49-F238E27FC236}">
                <a16:creationId xmlns:a16="http://schemas.microsoft.com/office/drawing/2014/main" id="{B3C0CBDD-2DE8-0034-DE76-7F81AE5E2AE1}"/>
              </a:ext>
            </a:extLst>
          </p:cNvPr>
          <p:cNvSpPr txBox="1"/>
          <p:nvPr/>
        </p:nvSpPr>
        <p:spPr>
          <a:xfrm>
            <a:off x="1143000" y="2311400"/>
            <a:ext cx="9906000" cy="215444"/>
          </a:xfrm>
          <a:prstGeom prst="rect">
            <a:avLst/>
          </a:prstGeom>
          <a:noFill/>
        </p:spPr>
        <p:txBody>
          <a:bodyPr vert="horz" wrap="square" lIns="0" tIns="0" rIns="0" bIns="0" rtlCol="0" anchor="t">
            <a:spAutoFit/>
          </a:bodyPr>
          <a:lstStyle/>
          <a:p>
            <a:r>
              <a:rPr lang="en-US" sz="1400">
                <a:solidFill>
                  <a:srgbClr val="212121"/>
                </a:solidFill>
                <a:latin typeface="Aptos" panose="020B0004020202020204" pitchFamily="34" charset="0"/>
              </a:rPr>
              <a:t>People do not wait for the robot to finish. They watch partial motion and infer the intended goal early.</a:t>
            </a:r>
          </a:p>
        </p:txBody>
      </p:sp>
      <p:sp>
        <p:nvSpPr>
          <p:cNvPr id="9" name="Rectangle: Rounded Corners 8">
            <a:extLst>
              <a:ext uri="{FF2B5EF4-FFF2-40B4-BE49-F238E27FC236}">
                <a16:creationId xmlns:a16="http://schemas.microsoft.com/office/drawing/2014/main" id="{234B7A72-1F65-B3A3-3EAB-FD6625C87A4A}"/>
              </a:ext>
            </a:extLst>
          </p:cNvPr>
          <p:cNvSpPr/>
          <p:nvPr/>
        </p:nvSpPr>
        <p:spPr>
          <a:xfrm>
            <a:off x="965200" y="3378200"/>
            <a:ext cx="3048000" cy="1981200"/>
          </a:xfrm>
          <a:prstGeom prst="roundRect">
            <a:avLst/>
          </a:prstGeom>
          <a:solidFill>
            <a:srgbClr val="FFFFFF"/>
          </a:solidFill>
          <a:ln w="19050">
            <a:solidFill>
              <a:srgbClr val="D5CEC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1EF4905E-765C-E153-8678-60DF79459526}"/>
              </a:ext>
            </a:extLst>
          </p:cNvPr>
          <p:cNvSpPr txBox="1"/>
          <p:nvPr/>
        </p:nvSpPr>
        <p:spPr>
          <a:xfrm>
            <a:off x="1168400" y="3556000"/>
            <a:ext cx="2641600" cy="246221"/>
          </a:xfrm>
          <a:prstGeom prst="rect">
            <a:avLst/>
          </a:prstGeom>
          <a:noFill/>
        </p:spPr>
        <p:txBody>
          <a:bodyPr vert="horz" wrap="square" lIns="0" tIns="0" rIns="0" bIns="0" rtlCol="0" anchor="t">
            <a:spAutoFit/>
          </a:bodyPr>
          <a:lstStyle/>
          <a:p>
            <a:r>
              <a:rPr lang="en-US" sz="1600" b="1">
                <a:solidFill>
                  <a:srgbClr val="212121"/>
                </a:solidFill>
                <a:latin typeface="Aptos" panose="020B0004020202020204" pitchFamily="34" charset="0"/>
              </a:rPr>
              <a:t>Shared workspaces</a:t>
            </a:r>
          </a:p>
        </p:txBody>
      </p:sp>
      <p:sp>
        <p:nvSpPr>
          <p:cNvPr id="11" name="TextBox 10">
            <a:extLst>
              <a:ext uri="{FF2B5EF4-FFF2-40B4-BE49-F238E27FC236}">
                <a16:creationId xmlns:a16="http://schemas.microsoft.com/office/drawing/2014/main" id="{878B17C2-A188-0A62-406C-C1541F7D41F8}"/>
              </a:ext>
            </a:extLst>
          </p:cNvPr>
          <p:cNvSpPr txBox="1"/>
          <p:nvPr/>
        </p:nvSpPr>
        <p:spPr>
          <a:xfrm>
            <a:off x="1168400" y="3987800"/>
            <a:ext cx="2641600" cy="553998"/>
          </a:xfrm>
          <a:prstGeom prst="rect">
            <a:avLst/>
          </a:prstGeom>
          <a:noFill/>
        </p:spPr>
        <p:txBody>
          <a:bodyPr vert="horz" wrap="square" lIns="0" tIns="0" rIns="0" bIns="0" rtlCol="0" anchor="t">
            <a:spAutoFit/>
          </a:bodyPr>
          <a:lstStyle/>
          <a:p>
            <a:r>
              <a:rPr lang="en-US" sz="1200">
                <a:solidFill>
                  <a:srgbClr val="212121"/>
                </a:solidFill>
                <a:latin typeface="Aptos" panose="020B0004020202020204" pitchFamily="34" charset="0"/>
              </a:rPr>
              <a:t>Humans and robots act close to one another, so intent must be easy to read during execution.</a:t>
            </a:r>
          </a:p>
        </p:txBody>
      </p:sp>
      <p:sp>
        <p:nvSpPr>
          <p:cNvPr id="12" name="Rectangle: Rounded Corners 11">
            <a:extLst>
              <a:ext uri="{FF2B5EF4-FFF2-40B4-BE49-F238E27FC236}">
                <a16:creationId xmlns:a16="http://schemas.microsoft.com/office/drawing/2014/main" id="{8D54F4B0-9FF3-F58D-FE24-69B5FAF1E1C3}"/>
              </a:ext>
            </a:extLst>
          </p:cNvPr>
          <p:cNvSpPr/>
          <p:nvPr/>
        </p:nvSpPr>
        <p:spPr>
          <a:xfrm>
            <a:off x="4572000" y="3378200"/>
            <a:ext cx="3048000" cy="1981200"/>
          </a:xfrm>
          <a:prstGeom prst="roundRect">
            <a:avLst/>
          </a:prstGeom>
          <a:solidFill>
            <a:srgbClr val="EAF3FC"/>
          </a:solidFill>
          <a:ln w="19050">
            <a:solidFill>
              <a:srgbClr val="5390D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D5A0C9C0-E39A-FB4A-92B1-52ABC4CD39D1}"/>
              </a:ext>
            </a:extLst>
          </p:cNvPr>
          <p:cNvSpPr txBox="1"/>
          <p:nvPr/>
        </p:nvSpPr>
        <p:spPr>
          <a:xfrm>
            <a:off x="4775200" y="3556000"/>
            <a:ext cx="2641600" cy="246221"/>
          </a:xfrm>
          <a:prstGeom prst="rect">
            <a:avLst/>
          </a:prstGeom>
          <a:noFill/>
        </p:spPr>
        <p:txBody>
          <a:bodyPr vert="horz" wrap="square" lIns="0" tIns="0" rIns="0" bIns="0" rtlCol="0" anchor="t">
            <a:spAutoFit/>
          </a:bodyPr>
          <a:lstStyle/>
          <a:p>
            <a:r>
              <a:rPr lang="en-US" sz="1600" b="1">
                <a:solidFill>
                  <a:srgbClr val="212121"/>
                </a:solidFill>
                <a:latin typeface="Aptos" panose="020B0004020202020204" pitchFamily="34" charset="0"/>
              </a:rPr>
              <a:t>Legibility</a:t>
            </a:r>
          </a:p>
        </p:txBody>
      </p:sp>
      <p:sp>
        <p:nvSpPr>
          <p:cNvPr id="14" name="TextBox 13">
            <a:extLst>
              <a:ext uri="{FF2B5EF4-FFF2-40B4-BE49-F238E27FC236}">
                <a16:creationId xmlns:a16="http://schemas.microsoft.com/office/drawing/2014/main" id="{9792836E-CE7A-CFC4-87A8-2B39DF8EE813}"/>
              </a:ext>
            </a:extLst>
          </p:cNvPr>
          <p:cNvSpPr txBox="1"/>
          <p:nvPr/>
        </p:nvSpPr>
        <p:spPr>
          <a:xfrm>
            <a:off x="4775200" y="3987800"/>
            <a:ext cx="2641600" cy="553998"/>
          </a:xfrm>
          <a:prstGeom prst="rect">
            <a:avLst/>
          </a:prstGeom>
          <a:noFill/>
        </p:spPr>
        <p:txBody>
          <a:bodyPr vert="horz" wrap="square" lIns="0" tIns="0" rIns="0" bIns="0" rtlCol="0" anchor="t">
            <a:spAutoFit/>
          </a:bodyPr>
          <a:lstStyle/>
          <a:p>
            <a:r>
              <a:rPr lang="en-US" sz="1200">
                <a:solidFill>
                  <a:srgbClr val="212121"/>
                </a:solidFill>
                <a:latin typeface="Aptos" panose="020B0004020202020204" pitchFamily="34" charset="0"/>
              </a:rPr>
              <a:t>A motion is legible when an observer can infer the goal from the trajectory, not just the final outcome.</a:t>
            </a:r>
          </a:p>
        </p:txBody>
      </p:sp>
      <p:sp>
        <p:nvSpPr>
          <p:cNvPr id="15" name="Rectangle: Rounded Corners 14">
            <a:extLst>
              <a:ext uri="{FF2B5EF4-FFF2-40B4-BE49-F238E27FC236}">
                <a16:creationId xmlns:a16="http://schemas.microsoft.com/office/drawing/2014/main" id="{7D6178DD-ACDB-184D-90A9-369B840367D4}"/>
              </a:ext>
            </a:extLst>
          </p:cNvPr>
          <p:cNvSpPr/>
          <p:nvPr/>
        </p:nvSpPr>
        <p:spPr>
          <a:xfrm>
            <a:off x="8178800" y="3378200"/>
            <a:ext cx="3048000" cy="1981200"/>
          </a:xfrm>
          <a:prstGeom prst="roundRect">
            <a:avLst/>
          </a:prstGeom>
          <a:solidFill>
            <a:srgbClr val="FFF8E6"/>
          </a:solidFill>
          <a:ln w="19050">
            <a:solidFill>
              <a:srgbClr val="F6BF2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2961BF81-1B0C-4FB3-631A-60D2156A912B}"/>
              </a:ext>
            </a:extLst>
          </p:cNvPr>
          <p:cNvSpPr txBox="1"/>
          <p:nvPr/>
        </p:nvSpPr>
        <p:spPr>
          <a:xfrm>
            <a:off x="8382000" y="3556000"/>
            <a:ext cx="2641600" cy="246221"/>
          </a:xfrm>
          <a:prstGeom prst="rect">
            <a:avLst/>
          </a:prstGeom>
          <a:noFill/>
        </p:spPr>
        <p:txBody>
          <a:bodyPr vert="horz" wrap="square" lIns="0" tIns="0" rIns="0" bIns="0" rtlCol="0" anchor="t">
            <a:spAutoFit/>
          </a:bodyPr>
          <a:lstStyle/>
          <a:p>
            <a:r>
              <a:rPr lang="en-US" sz="1600" b="1">
                <a:solidFill>
                  <a:srgbClr val="212121"/>
                </a:solidFill>
                <a:latin typeface="Aptos" panose="020B0004020202020204" pitchFamily="34" charset="0"/>
              </a:rPr>
              <a:t>Why this thesis</a:t>
            </a:r>
          </a:p>
        </p:txBody>
      </p:sp>
      <p:sp>
        <p:nvSpPr>
          <p:cNvPr id="17" name="TextBox 16">
            <a:extLst>
              <a:ext uri="{FF2B5EF4-FFF2-40B4-BE49-F238E27FC236}">
                <a16:creationId xmlns:a16="http://schemas.microsoft.com/office/drawing/2014/main" id="{EEDA1B80-F2FB-FC7C-F566-7391F829C593}"/>
              </a:ext>
            </a:extLst>
          </p:cNvPr>
          <p:cNvSpPr txBox="1"/>
          <p:nvPr/>
        </p:nvSpPr>
        <p:spPr>
          <a:xfrm>
            <a:off x="8382000" y="3987800"/>
            <a:ext cx="2641600" cy="553998"/>
          </a:xfrm>
          <a:prstGeom prst="rect">
            <a:avLst/>
          </a:prstGeom>
          <a:noFill/>
        </p:spPr>
        <p:txBody>
          <a:bodyPr vert="horz" wrap="square" lIns="0" tIns="0" rIns="0" bIns="0" rtlCol="0" anchor="t">
            <a:spAutoFit/>
          </a:bodyPr>
          <a:lstStyle/>
          <a:p>
            <a:r>
              <a:rPr lang="en-US" sz="1200">
                <a:solidFill>
                  <a:srgbClr val="212121"/>
                </a:solidFill>
                <a:latin typeface="Aptos" panose="020B0004020202020204" pitchFamily="34" charset="0"/>
              </a:rPr>
              <a:t>If we can evaluate legibility faster, we can study more trajectories and improve robot behavior at scale.</a:t>
            </a:r>
          </a:p>
        </p:txBody>
      </p:sp>
      <p:sp>
        <p:nvSpPr>
          <p:cNvPr id="18" name="TextBox 17">
            <a:extLst>
              <a:ext uri="{FF2B5EF4-FFF2-40B4-BE49-F238E27FC236}">
                <a16:creationId xmlns:a16="http://schemas.microsoft.com/office/drawing/2014/main" id="{90F2D30D-06E9-FD73-E8E6-F6B23A41626E}"/>
              </a:ext>
            </a:extLst>
          </p:cNvPr>
          <p:cNvSpPr txBox="1"/>
          <p:nvPr/>
        </p:nvSpPr>
        <p:spPr>
          <a:xfrm>
            <a:off x="762000" y="6350000"/>
            <a:ext cx="7620000" cy="123111"/>
          </a:xfrm>
          <a:prstGeom prst="rect">
            <a:avLst/>
          </a:prstGeom>
          <a:noFill/>
        </p:spPr>
        <p:txBody>
          <a:bodyPr vert="horz" wrap="square" lIns="0" tIns="0" rIns="0" bIns="0" rtlCol="0" anchor="t">
            <a:spAutoFit/>
          </a:bodyPr>
          <a:lstStyle/>
          <a:p>
            <a:r>
              <a:rPr lang="en-US" sz="800">
                <a:solidFill>
                  <a:srgbClr val="707070"/>
                </a:solidFill>
                <a:latin typeface="Aptos" panose="020B0004020202020204" pitchFamily="34" charset="0"/>
              </a:rPr>
              <a:t>The key HRI question is whether intent becomes readable early enough for coordination.</a:t>
            </a:r>
          </a:p>
        </p:txBody>
      </p:sp>
    </p:spTree>
    <p:extLst>
      <p:ext uri="{BB962C8B-B14F-4D97-AF65-F5344CB8AC3E}">
        <p14:creationId xmlns:p14="http://schemas.microsoft.com/office/powerpoint/2010/main" val="15664698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BF8F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7ABFC96-CBC2-872F-5D7C-9C4FD99D0F40}"/>
              </a:ext>
            </a:extLst>
          </p:cNvPr>
          <p:cNvSpPr txBox="1"/>
          <p:nvPr/>
        </p:nvSpPr>
        <p:spPr>
          <a:xfrm>
            <a:off x="508000" y="228600"/>
            <a:ext cx="10414000" cy="430887"/>
          </a:xfrm>
          <a:prstGeom prst="rect">
            <a:avLst/>
          </a:prstGeom>
          <a:noFill/>
        </p:spPr>
        <p:txBody>
          <a:bodyPr vert="horz" wrap="square" lIns="0" tIns="0" rIns="0" bIns="0" rtlCol="0" anchor="t">
            <a:spAutoFit/>
          </a:bodyPr>
          <a:lstStyle/>
          <a:p>
            <a:r>
              <a:rPr lang="en-US" sz="2800" b="1">
                <a:solidFill>
                  <a:srgbClr val="212121"/>
                </a:solidFill>
                <a:latin typeface="Aptos" panose="020B0004020202020204" pitchFamily="34" charset="0"/>
              </a:rPr>
              <a:t>Problem Statement</a:t>
            </a:r>
          </a:p>
        </p:txBody>
      </p:sp>
      <p:sp>
        <p:nvSpPr>
          <p:cNvPr id="3" name="TextBox 2">
            <a:extLst>
              <a:ext uri="{FF2B5EF4-FFF2-40B4-BE49-F238E27FC236}">
                <a16:creationId xmlns:a16="http://schemas.microsoft.com/office/drawing/2014/main" id="{FB793E00-4FE2-46CF-7704-BA93A6936485}"/>
              </a:ext>
            </a:extLst>
          </p:cNvPr>
          <p:cNvSpPr txBox="1"/>
          <p:nvPr/>
        </p:nvSpPr>
        <p:spPr>
          <a:xfrm>
            <a:off x="508000" y="787400"/>
            <a:ext cx="10668000" cy="169277"/>
          </a:xfrm>
          <a:prstGeom prst="rect">
            <a:avLst/>
          </a:prstGeom>
          <a:noFill/>
        </p:spPr>
        <p:txBody>
          <a:bodyPr vert="horz" wrap="square" lIns="0" tIns="0" rIns="0" bIns="0" rtlCol="0" anchor="t">
            <a:spAutoFit/>
          </a:bodyPr>
          <a:lstStyle/>
          <a:p>
            <a:r>
              <a:rPr lang="en-US" sz="1100">
                <a:solidFill>
                  <a:srgbClr val="707070"/>
                </a:solidFill>
                <a:latin typeface="Aptos" panose="020B0004020202020204" pitchFamily="34" charset="0"/>
              </a:rPr>
              <a:t>Human evaluation is valuable, but it is hard to scale across many robot motions</a:t>
            </a:r>
          </a:p>
        </p:txBody>
      </p:sp>
      <p:sp>
        <p:nvSpPr>
          <p:cNvPr id="4" name="Rectangle 3">
            <a:extLst>
              <a:ext uri="{FF2B5EF4-FFF2-40B4-BE49-F238E27FC236}">
                <a16:creationId xmlns:a16="http://schemas.microsoft.com/office/drawing/2014/main" id="{BBDFEE76-3FF0-D4AC-87A8-BE1290207734}"/>
              </a:ext>
            </a:extLst>
          </p:cNvPr>
          <p:cNvSpPr/>
          <p:nvPr/>
        </p:nvSpPr>
        <p:spPr>
          <a:xfrm>
            <a:off x="508000" y="1206500"/>
            <a:ext cx="11176000" cy="50800"/>
          </a:xfrm>
          <a:prstGeom prst="rect">
            <a:avLst/>
          </a:prstGeom>
          <a:solidFill>
            <a:srgbClr val="F6BF20"/>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FCF937C1-00F0-D083-02CA-4C42EBCB6DA3}"/>
              </a:ext>
            </a:extLst>
          </p:cNvPr>
          <p:cNvSpPr txBox="1"/>
          <p:nvPr/>
        </p:nvSpPr>
        <p:spPr>
          <a:xfrm>
            <a:off x="11430000" y="228600"/>
            <a:ext cx="304800" cy="153888"/>
          </a:xfrm>
          <a:prstGeom prst="rect">
            <a:avLst/>
          </a:prstGeom>
          <a:noFill/>
        </p:spPr>
        <p:txBody>
          <a:bodyPr vert="horz" wrap="square" lIns="0" tIns="0" rIns="0" bIns="0" rtlCol="0" anchor="t">
            <a:spAutoFit/>
          </a:bodyPr>
          <a:lstStyle/>
          <a:p>
            <a:pPr algn="r"/>
            <a:r>
              <a:rPr lang="en-US" sz="1000">
                <a:solidFill>
                  <a:srgbClr val="5C5C5C"/>
                </a:solidFill>
                <a:latin typeface="Aptos" panose="020B0004020202020204" pitchFamily="34" charset="0"/>
              </a:rPr>
              <a:t>6</a:t>
            </a:r>
          </a:p>
        </p:txBody>
      </p:sp>
      <p:sp>
        <p:nvSpPr>
          <p:cNvPr id="6" name="Rectangle: Rounded Corners 5">
            <a:extLst>
              <a:ext uri="{FF2B5EF4-FFF2-40B4-BE49-F238E27FC236}">
                <a16:creationId xmlns:a16="http://schemas.microsoft.com/office/drawing/2014/main" id="{C13E3037-5871-986A-8AB9-27DE81FB31CA}"/>
              </a:ext>
            </a:extLst>
          </p:cNvPr>
          <p:cNvSpPr/>
          <p:nvPr/>
        </p:nvSpPr>
        <p:spPr>
          <a:xfrm>
            <a:off x="863600" y="1701800"/>
            <a:ext cx="10464800" cy="1193800"/>
          </a:xfrm>
          <a:prstGeom prst="roundRect">
            <a:avLst/>
          </a:prstGeom>
          <a:solidFill>
            <a:srgbClr val="FFFFFF"/>
          </a:solidFill>
          <a:ln w="19050">
            <a:solidFill>
              <a:srgbClr val="A63E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3C7B8168-42E8-50E8-0446-9DA83AB1A3BF}"/>
              </a:ext>
            </a:extLst>
          </p:cNvPr>
          <p:cNvSpPr txBox="1"/>
          <p:nvPr/>
        </p:nvSpPr>
        <p:spPr>
          <a:xfrm>
            <a:off x="1092200" y="1879600"/>
            <a:ext cx="10007600" cy="184666"/>
          </a:xfrm>
          <a:prstGeom prst="rect">
            <a:avLst/>
          </a:prstGeom>
          <a:noFill/>
        </p:spPr>
        <p:txBody>
          <a:bodyPr vert="horz" wrap="square" lIns="0" tIns="0" rIns="0" bIns="0" rtlCol="0" anchor="t">
            <a:spAutoFit/>
          </a:bodyPr>
          <a:lstStyle/>
          <a:p>
            <a:r>
              <a:rPr lang="en-US" sz="1200" b="1">
                <a:solidFill>
                  <a:srgbClr val="A63E5E"/>
                </a:solidFill>
                <a:latin typeface="Aptos" panose="020B0004020202020204" pitchFamily="34" charset="0"/>
              </a:rPr>
              <a:t>Current bottleneck</a:t>
            </a:r>
          </a:p>
        </p:txBody>
      </p:sp>
      <p:sp>
        <p:nvSpPr>
          <p:cNvPr id="8" name="TextBox 7">
            <a:extLst>
              <a:ext uri="{FF2B5EF4-FFF2-40B4-BE49-F238E27FC236}">
                <a16:creationId xmlns:a16="http://schemas.microsoft.com/office/drawing/2014/main" id="{AB69B271-37D5-1022-D44C-63015259AA97}"/>
              </a:ext>
            </a:extLst>
          </p:cNvPr>
          <p:cNvSpPr txBox="1"/>
          <p:nvPr/>
        </p:nvSpPr>
        <p:spPr>
          <a:xfrm>
            <a:off x="1092200" y="2286000"/>
            <a:ext cx="10007600" cy="215444"/>
          </a:xfrm>
          <a:prstGeom prst="rect">
            <a:avLst/>
          </a:prstGeom>
          <a:noFill/>
        </p:spPr>
        <p:txBody>
          <a:bodyPr vert="horz" wrap="square" lIns="0" tIns="0" rIns="0" bIns="0" rtlCol="0" anchor="t">
            <a:spAutoFit/>
          </a:bodyPr>
          <a:lstStyle/>
          <a:p>
            <a:r>
              <a:rPr lang="en-US" sz="1400">
                <a:solidFill>
                  <a:srgbClr val="212121"/>
                </a:solidFill>
                <a:latin typeface="Aptos" panose="020B0004020202020204" pitchFamily="34" charset="0"/>
              </a:rPr>
              <a:t>Legibility is usually evaluated with human-subject studies on partial motion, but those studies are costly, slow, and hard to repeat.</a:t>
            </a:r>
          </a:p>
        </p:txBody>
      </p:sp>
      <p:sp>
        <p:nvSpPr>
          <p:cNvPr id="9" name="Rectangle: Rounded Corners 8">
            <a:extLst>
              <a:ext uri="{FF2B5EF4-FFF2-40B4-BE49-F238E27FC236}">
                <a16:creationId xmlns:a16="http://schemas.microsoft.com/office/drawing/2014/main" id="{AE0293B4-2C97-0D81-4842-5017E130D69C}"/>
              </a:ext>
            </a:extLst>
          </p:cNvPr>
          <p:cNvSpPr/>
          <p:nvPr/>
        </p:nvSpPr>
        <p:spPr>
          <a:xfrm>
            <a:off x="965200" y="3352800"/>
            <a:ext cx="3175000" cy="1752600"/>
          </a:xfrm>
          <a:prstGeom prst="roundRect">
            <a:avLst/>
          </a:prstGeom>
          <a:solidFill>
            <a:srgbClr val="FFFFFF"/>
          </a:solidFill>
          <a:ln w="19050">
            <a:solidFill>
              <a:srgbClr val="D5CEC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2D232B28-CFC9-7DC0-AE38-D8E0FBABC48B}"/>
              </a:ext>
            </a:extLst>
          </p:cNvPr>
          <p:cNvSpPr txBox="1"/>
          <p:nvPr/>
        </p:nvSpPr>
        <p:spPr>
          <a:xfrm>
            <a:off x="1168400" y="3530600"/>
            <a:ext cx="2768600" cy="246221"/>
          </a:xfrm>
          <a:prstGeom prst="rect">
            <a:avLst/>
          </a:prstGeom>
          <a:noFill/>
        </p:spPr>
        <p:txBody>
          <a:bodyPr vert="horz" wrap="square" lIns="0" tIns="0" rIns="0" bIns="0" rtlCol="0" anchor="t">
            <a:spAutoFit/>
          </a:bodyPr>
          <a:lstStyle/>
          <a:p>
            <a:r>
              <a:rPr lang="en-US" sz="1600" b="1">
                <a:solidFill>
                  <a:srgbClr val="212121"/>
                </a:solidFill>
                <a:latin typeface="Aptos" panose="020B0004020202020204" pitchFamily="34" charset="0"/>
              </a:rPr>
              <a:t>What we need</a:t>
            </a:r>
          </a:p>
        </p:txBody>
      </p:sp>
      <p:sp>
        <p:nvSpPr>
          <p:cNvPr id="11" name="TextBox 10">
            <a:extLst>
              <a:ext uri="{FF2B5EF4-FFF2-40B4-BE49-F238E27FC236}">
                <a16:creationId xmlns:a16="http://schemas.microsoft.com/office/drawing/2014/main" id="{65377E87-4CD2-6C29-2630-8BEB5D40D73F}"/>
              </a:ext>
            </a:extLst>
          </p:cNvPr>
          <p:cNvSpPr txBox="1"/>
          <p:nvPr/>
        </p:nvSpPr>
        <p:spPr>
          <a:xfrm>
            <a:off x="1168400" y="3962400"/>
            <a:ext cx="2768600" cy="553998"/>
          </a:xfrm>
          <a:prstGeom prst="rect">
            <a:avLst/>
          </a:prstGeom>
          <a:noFill/>
        </p:spPr>
        <p:txBody>
          <a:bodyPr vert="horz" wrap="square" lIns="0" tIns="0" rIns="0" bIns="0" rtlCol="0" anchor="t">
            <a:spAutoFit/>
          </a:bodyPr>
          <a:lstStyle/>
          <a:p>
            <a:r>
              <a:rPr lang="en-US" sz="1200">
                <a:solidFill>
                  <a:srgbClr val="212121"/>
                </a:solidFill>
                <a:latin typeface="Aptos" panose="020B0004020202020204" pitchFamily="34" charset="0"/>
              </a:rPr>
              <a:t>A practical way to estimate human goal inference across tasks, trajectories, and model variants.</a:t>
            </a:r>
          </a:p>
        </p:txBody>
      </p:sp>
      <p:sp>
        <p:nvSpPr>
          <p:cNvPr id="12" name="Rectangle: Rounded Corners 11">
            <a:extLst>
              <a:ext uri="{FF2B5EF4-FFF2-40B4-BE49-F238E27FC236}">
                <a16:creationId xmlns:a16="http://schemas.microsoft.com/office/drawing/2014/main" id="{474E0A24-D5A4-6E7F-427D-536264C16E0F}"/>
              </a:ext>
            </a:extLst>
          </p:cNvPr>
          <p:cNvSpPr/>
          <p:nvPr/>
        </p:nvSpPr>
        <p:spPr>
          <a:xfrm>
            <a:off x="4521200" y="3352800"/>
            <a:ext cx="3175000" cy="1752600"/>
          </a:xfrm>
          <a:prstGeom prst="roundRect">
            <a:avLst/>
          </a:prstGeom>
          <a:solidFill>
            <a:srgbClr val="EAF3FC"/>
          </a:solidFill>
          <a:ln w="19050">
            <a:solidFill>
              <a:srgbClr val="5390D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F8407BE7-7CBF-CC20-1468-9ADA7C02F9B0}"/>
              </a:ext>
            </a:extLst>
          </p:cNvPr>
          <p:cNvSpPr txBox="1"/>
          <p:nvPr/>
        </p:nvSpPr>
        <p:spPr>
          <a:xfrm>
            <a:off x="4724400" y="3530600"/>
            <a:ext cx="2768600" cy="246221"/>
          </a:xfrm>
          <a:prstGeom prst="rect">
            <a:avLst/>
          </a:prstGeom>
          <a:noFill/>
        </p:spPr>
        <p:txBody>
          <a:bodyPr vert="horz" wrap="square" lIns="0" tIns="0" rIns="0" bIns="0" rtlCol="0" anchor="t">
            <a:spAutoFit/>
          </a:bodyPr>
          <a:lstStyle/>
          <a:p>
            <a:r>
              <a:rPr lang="en-US" sz="1600" b="1">
                <a:solidFill>
                  <a:srgbClr val="212121"/>
                </a:solidFill>
                <a:latin typeface="Aptos" panose="020B0004020202020204" pitchFamily="34" charset="0"/>
              </a:rPr>
              <a:t>What this thesis tests</a:t>
            </a:r>
          </a:p>
        </p:txBody>
      </p:sp>
      <p:sp>
        <p:nvSpPr>
          <p:cNvPr id="14" name="TextBox 13">
            <a:extLst>
              <a:ext uri="{FF2B5EF4-FFF2-40B4-BE49-F238E27FC236}">
                <a16:creationId xmlns:a16="http://schemas.microsoft.com/office/drawing/2014/main" id="{37AF7723-47B4-34DC-EB0F-3BDFAA00655E}"/>
              </a:ext>
            </a:extLst>
          </p:cNvPr>
          <p:cNvSpPr txBox="1"/>
          <p:nvPr/>
        </p:nvSpPr>
        <p:spPr>
          <a:xfrm>
            <a:off x="4724400" y="3962400"/>
            <a:ext cx="2768600" cy="553998"/>
          </a:xfrm>
          <a:prstGeom prst="rect">
            <a:avLst/>
          </a:prstGeom>
          <a:noFill/>
        </p:spPr>
        <p:txBody>
          <a:bodyPr vert="horz" wrap="square" lIns="0" tIns="0" rIns="0" bIns="0" rtlCol="0" anchor="t">
            <a:spAutoFit/>
          </a:bodyPr>
          <a:lstStyle/>
          <a:p>
            <a:r>
              <a:rPr lang="en-US" sz="1200">
                <a:solidFill>
                  <a:srgbClr val="212121"/>
                </a:solidFill>
                <a:latin typeface="Aptos" panose="020B0004020202020204" pitchFamily="34" charset="0"/>
              </a:rPr>
              <a:t>Whether Gemini 2.5 Flash can act as a proxy for human judgment when both see the same cumulative frames.</a:t>
            </a:r>
          </a:p>
        </p:txBody>
      </p:sp>
      <p:sp>
        <p:nvSpPr>
          <p:cNvPr id="15" name="Rectangle: Rounded Corners 14">
            <a:extLst>
              <a:ext uri="{FF2B5EF4-FFF2-40B4-BE49-F238E27FC236}">
                <a16:creationId xmlns:a16="http://schemas.microsoft.com/office/drawing/2014/main" id="{F967CDF1-EF5E-2491-3DED-FC391B82F16C}"/>
              </a:ext>
            </a:extLst>
          </p:cNvPr>
          <p:cNvSpPr/>
          <p:nvPr/>
        </p:nvSpPr>
        <p:spPr>
          <a:xfrm>
            <a:off x="8077200" y="3352800"/>
            <a:ext cx="3175000" cy="1752600"/>
          </a:xfrm>
          <a:prstGeom prst="roundRect">
            <a:avLst/>
          </a:prstGeom>
          <a:solidFill>
            <a:srgbClr val="FFF8E6"/>
          </a:solidFill>
          <a:ln w="19050">
            <a:solidFill>
              <a:srgbClr val="F6BF2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96B2B792-EDC4-BF05-F9FA-4C92CD4CB60A}"/>
              </a:ext>
            </a:extLst>
          </p:cNvPr>
          <p:cNvSpPr txBox="1"/>
          <p:nvPr/>
        </p:nvSpPr>
        <p:spPr>
          <a:xfrm>
            <a:off x="8280400" y="3530600"/>
            <a:ext cx="2768600" cy="246221"/>
          </a:xfrm>
          <a:prstGeom prst="rect">
            <a:avLst/>
          </a:prstGeom>
          <a:noFill/>
        </p:spPr>
        <p:txBody>
          <a:bodyPr vert="horz" wrap="square" lIns="0" tIns="0" rIns="0" bIns="0" rtlCol="0" anchor="t">
            <a:spAutoFit/>
          </a:bodyPr>
          <a:lstStyle/>
          <a:p>
            <a:r>
              <a:rPr lang="en-US" sz="1600" b="1">
                <a:solidFill>
                  <a:srgbClr val="212121"/>
                </a:solidFill>
                <a:latin typeface="Aptos" panose="020B0004020202020204" pitchFamily="34" charset="0"/>
              </a:rPr>
              <a:t>Working expectation</a:t>
            </a:r>
          </a:p>
        </p:txBody>
      </p:sp>
      <p:sp>
        <p:nvSpPr>
          <p:cNvPr id="17" name="TextBox 16">
            <a:extLst>
              <a:ext uri="{FF2B5EF4-FFF2-40B4-BE49-F238E27FC236}">
                <a16:creationId xmlns:a16="http://schemas.microsoft.com/office/drawing/2014/main" id="{852700C4-7E74-AC32-1341-D5F445C9C265}"/>
              </a:ext>
            </a:extLst>
          </p:cNvPr>
          <p:cNvSpPr txBox="1"/>
          <p:nvPr/>
        </p:nvSpPr>
        <p:spPr>
          <a:xfrm>
            <a:off x="8280400" y="3962400"/>
            <a:ext cx="2768600" cy="553998"/>
          </a:xfrm>
          <a:prstGeom prst="rect">
            <a:avLst/>
          </a:prstGeom>
          <a:noFill/>
        </p:spPr>
        <p:txBody>
          <a:bodyPr vert="horz" wrap="square" lIns="0" tIns="0" rIns="0" bIns="0" rtlCol="0" anchor="t">
            <a:spAutoFit/>
          </a:bodyPr>
          <a:lstStyle/>
          <a:p>
            <a:r>
              <a:rPr lang="en-US" sz="1200">
                <a:solidFill>
                  <a:srgbClr val="212121"/>
                </a:solidFill>
                <a:latin typeface="Aptos" panose="020B0004020202020204" pitchFamily="34" charset="0"/>
              </a:rPr>
              <a:t>The model may capture meaningful human-like signals, even if it does not fully replace human evaluation.</a:t>
            </a:r>
          </a:p>
        </p:txBody>
      </p:sp>
      <p:sp>
        <p:nvSpPr>
          <p:cNvPr id="18" name="Rectangle: Rounded Corners 17">
            <a:extLst>
              <a:ext uri="{FF2B5EF4-FFF2-40B4-BE49-F238E27FC236}">
                <a16:creationId xmlns:a16="http://schemas.microsoft.com/office/drawing/2014/main" id="{224AE84D-7610-3CB8-573E-F7E3B63C49A9}"/>
              </a:ext>
            </a:extLst>
          </p:cNvPr>
          <p:cNvSpPr/>
          <p:nvPr/>
        </p:nvSpPr>
        <p:spPr>
          <a:xfrm>
            <a:off x="1168400" y="5207000"/>
            <a:ext cx="9855200" cy="990600"/>
          </a:xfrm>
          <a:prstGeom prst="roundRect">
            <a:avLst/>
          </a:prstGeom>
          <a:solidFill>
            <a:srgbClr val="FFFFFF"/>
          </a:solidFill>
          <a:ln w="19050">
            <a:solidFill>
              <a:srgbClr val="5390D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CBC1E8DD-86CE-E6C3-08CD-6643A33D110C}"/>
              </a:ext>
            </a:extLst>
          </p:cNvPr>
          <p:cNvSpPr txBox="1"/>
          <p:nvPr/>
        </p:nvSpPr>
        <p:spPr>
          <a:xfrm>
            <a:off x="1397000" y="5384800"/>
            <a:ext cx="9398000" cy="169277"/>
          </a:xfrm>
          <a:prstGeom prst="rect">
            <a:avLst/>
          </a:prstGeom>
          <a:noFill/>
        </p:spPr>
        <p:txBody>
          <a:bodyPr vert="horz" wrap="square" lIns="0" tIns="0" rIns="0" bIns="0" rtlCol="0" anchor="t">
            <a:spAutoFit/>
          </a:bodyPr>
          <a:lstStyle/>
          <a:p>
            <a:r>
              <a:rPr lang="en-US" sz="1100" b="1">
                <a:solidFill>
                  <a:srgbClr val="5390DE"/>
                </a:solidFill>
                <a:latin typeface="Aptos" panose="020B0004020202020204" pitchFamily="34" charset="0"/>
              </a:rPr>
              <a:t>Thesis stance</a:t>
            </a:r>
          </a:p>
        </p:txBody>
      </p:sp>
      <p:sp>
        <p:nvSpPr>
          <p:cNvPr id="20" name="TextBox 19">
            <a:extLst>
              <a:ext uri="{FF2B5EF4-FFF2-40B4-BE49-F238E27FC236}">
                <a16:creationId xmlns:a16="http://schemas.microsoft.com/office/drawing/2014/main" id="{6C0DF2CF-6447-FFB2-3C65-BC03BFC0F3D7}"/>
              </a:ext>
            </a:extLst>
          </p:cNvPr>
          <p:cNvSpPr txBox="1"/>
          <p:nvPr/>
        </p:nvSpPr>
        <p:spPr>
          <a:xfrm>
            <a:off x="1397000" y="5791200"/>
            <a:ext cx="9398000" cy="169277"/>
          </a:xfrm>
          <a:prstGeom prst="rect">
            <a:avLst/>
          </a:prstGeom>
          <a:noFill/>
        </p:spPr>
        <p:txBody>
          <a:bodyPr vert="horz" wrap="square" lIns="0" tIns="0" rIns="0" bIns="0" rtlCol="0" anchor="t">
            <a:spAutoFit/>
          </a:bodyPr>
          <a:lstStyle/>
          <a:p>
            <a:r>
              <a:rPr lang="en-US" sz="1100">
                <a:solidFill>
                  <a:srgbClr val="212121"/>
                </a:solidFill>
                <a:latin typeface="Aptos" panose="020B0004020202020204" pitchFamily="34" charset="0"/>
              </a:rPr>
              <a:t>This thesis treats VLMs as scalable evaluators to validate against humans first, then use inside future motion-generation pipelines.</a:t>
            </a:r>
          </a:p>
        </p:txBody>
      </p:sp>
    </p:spTree>
    <p:extLst>
      <p:ext uri="{BB962C8B-B14F-4D97-AF65-F5344CB8AC3E}">
        <p14:creationId xmlns:p14="http://schemas.microsoft.com/office/powerpoint/2010/main" val="12405662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BF8F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79F0CA3-EF1A-4A13-7FC2-5A06A3454C2D}"/>
              </a:ext>
            </a:extLst>
          </p:cNvPr>
          <p:cNvSpPr txBox="1"/>
          <p:nvPr/>
        </p:nvSpPr>
        <p:spPr>
          <a:xfrm>
            <a:off x="508000" y="228600"/>
            <a:ext cx="10414000" cy="430887"/>
          </a:xfrm>
          <a:prstGeom prst="rect">
            <a:avLst/>
          </a:prstGeom>
          <a:noFill/>
        </p:spPr>
        <p:txBody>
          <a:bodyPr vert="horz" wrap="square" lIns="0" tIns="0" rIns="0" bIns="0" rtlCol="0" anchor="t">
            <a:spAutoFit/>
          </a:bodyPr>
          <a:lstStyle/>
          <a:p>
            <a:r>
              <a:rPr lang="en-US" sz="2800" b="1">
                <a:solidFill>
                  <a:srgbClr val="212121"/>
                </a:solidFill>
                <a:latin typeface="Aptos" panose="020B0004020202020204" pitchFamily="34" charset="0"/>
              </a:rPr>
              <a:t>Research Questions</a:t>
            </a:r>
          </a:p>
        </p:txBody>
      </p:sp>
      <p:sp>
        <p:nvSpPr>
          <p:cNvPr id="3" name="TextBox 2">
            <a:extLst>
              <a:ext uri="{FF2B5EF4-FFF2-40B4-BE49-F238E27FC236}">
                <a16:creationId xmlns:a16="http://schemas.microsoft.com/office/drawing/2014/main" id="{C6F0A244-02D6-9DE5-7AE5-DFE2CA065971}"/>
              </a:ext>
            </a:extLst>
          </p:cNvPr>
          <p:cNvSpPr txBox="1"/>
          <p:nvPr/>
        </p:nvSpPr>
        <p:spPr>
          <a:xfrm>
            <a:off x="508000" y="787400"/>
            <a:ext cx="10668000" cy="169277"/>
          </a:xfrm>
          <a:prstGeom prst="rect">
            <a:avLst/>
          </a:prstGeom>
          <a:noFill/>
        </p:spPr>
        <p:txBody>
          <a:bodyPr vert="horz" wrap="square" lIns="0" tIns="0" rIns="0" bIns="0" rtlCol="0" anchor="t">
            <a:spAutoFit/>
          </a:bodyPr>
          <a:lstStyle/>
          <a:p>
            <a:r>
              <a:rPr lang="en-US" sz="1100">
                <a:solidFill>
                  <a:srgbClr val="707070"/>
                </a:solidFill>
                <a:latin typeface="Aptos" panose="020B0004020202020204" pitchFamily="34" charset="0"/>
              </a:rPr>
              <a:t>The thesis moves from model capability to alignment with humans to practical usefulness</a:t>
            </a:r>
          </a:p>
        </p:txBody>
      </p:sp>
      <p:sp>
        <p:nvSpPr>
          <p:cNvPr id="4" name="Rectangle 3">
            <a:extLst>
              <a:ext uri="{FF2B5EF4-FFF2-40B4-BE49-F238E27FC236}">
                <a16:creationId xmlns:a16="http://schemas.microsoft.com/office/drawing/2014/main" id="{0B797F71-CBBF-747B-0D31-D5B022151F5B}"/>
              </a:ext>
            </a:extLst>
          </p:cNvPr>
          <p:cNvSpPr/>
          <p:nvPr/>
        </p:nvSpPr>
        <p:spPr>
          <a:xfrm>
            <a:off x="508000" y="1206500"/>
            <a:ext cx="11176000" cy="50800"/>
          </a:xfrm>
          <a:prstGeom prst="rect">
            <a:avLst/>
          </a:prstGeom>
          <a:solidFill>
            <a:srgbClr val="F6BF20"/>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72B58F40-E107-C6EC-F98C-906230A10191}"/>
              </a:ext>
            </a:extLst>
          </p:cNvPr>
          <p:cNvSpPr txBox="1"/>
          <p:nvPr/>
        </p:nvSpPr>
        <p:spPr>
          <a:xfrm>
            <a:off x="11430000" y="228600"/>
            <a:ext cx="304800" cy="153888"/>
          </a:xfrm>
          <a:prstGeom prst="rect">
            <a:avLst/>
          </a:prstGeom>
          <a:noFill/>
        </p:spPr>
        <p:txBody>
          <a:bodyPr vert="horz" wrap="square" lIns="0" tIns="0" rIns="0" bIns="0" rtlCol="0" anchor="t">
            <a:spAutoFit/>
          </a:bodyPr>
          <a:lstStyle/>
          <a:p>
            <a:pPr algn="r"/>
            <a:r>
              <a:rPr lang="en-US" sz="1000">
                <a:solidFill>
                  <a:srgbClr val="5C5C5C"/>
                </a:solidFill>
                <a:latin typeface="Aptos" panose="020B0004020202020204" pitchFamily="34" charset="0"/>
              </a:rPr>
              <a:t>7</a:t>
            </a:r>
          </a:p>
        </p:txBody>
      </p:sp>
      <p:sp>
        <p:nvSpPr>
          <p:cNvPr id="6" name="Rectangle: Rounded Corners 5">
            <a:extLst>
              <a:ext uri="{FF2B5EF4-FFF2-40B4-BE49-F238E27FC236}">
                <a16:creationId xmlns:a16="http://schemas.microsoft.com/office/drawing/2014/main" id="{DC4C2267-8D55-A326-6064-71DD01789D0D}"/>
              </a:ext>
            </a:extLst>
          </p:cNvPr>
          <p:cNvSpPr/>
          <p:nvPr/>
        </p:nvSpPr>
        <p:spPr>
          <a:xfrm>
            <a:off x="1168400" y="1854200"/>
            <a:ext cx="9855200" cy="1066800"/>
          </a:xfrm>
          <a:prstGeom prst="roundRect">
            <a:avLst/>
          </a:prstGeom>
          <a:solidFill>
            <a:srgbClr val="F7EFF3"/>
          </a:solidFill>
          <a:ln w="19050">
            <a:solidFill>
              <a:srgbClr val="A63E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57428593-781C-4C55-6D28-DA088E530915}"/>
              </a:ext>
            </a:extLst>
          </p:cNvPr>
          <p:cNvSpPr/>
          <p:nvPr/>
        </p:nvSpPr>
        <p:spPr>
          <a:xfrm>
            <a:off x="1473200" y="2133600"/>
            <a:ext cx="508000" cy="508000"/>
          </a:xfrm>
          <a:prstGeom prst="rect">
            <a:avLst/>
          </a:prstGeom>
          <a:solidFill>
            <a:srgbClr val="A63E5E"/>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C9285929-F1B5-B201-CDC0-203F9A20E468}"/>
              </a:ext>
            </a:extLst>
          </p:cNvPr>
          <p:cNvSpPr txBox="1"/>
          <p:nvPr/>
        </p:nvSpPr>
        <p:spPr>
          <a:xfrm>
            <a:off x="1473200" y="2159000"/>
            <a:ext cx="508000" cy="276999"/>
          </a:xfrm>
          <a:prstGeom prst="rect">
            <a:avLst/>
          </a:prstGeom>
          <a:noFill/>
        </p:spPr>
        <p:txBody>
          <a:bodyPr vert="horz" wrap="square" lIns="0" tIns="0" rIns="0" bIns="0" rtlCol="0" anchor="ctr">
            <a:spAutoFit/>
          </a:bodyPr>
          <a:lstStyle/>
          <a:p>
            <a:pPr algn="ctr"/>
            <a:r>
              <a:rPr lang="en-US" b="1">
                <a:solidFill>
                  <a:srgbClr val="FFFFFF"/>
                </a:solidFill>
                <a:latin typeface="Aptos" panose="020B0004020202020204" pitchFamily="34" charset="0"/>
              </a:rPr>
              <a:t>1</a:t>
            </a:r>
          </a:p>
        </p:txBody>
      </p:sp>
      <p:sp>
        <p:nvSpPr>
          <p:cNvPr id="9" name="TextBox 8">
            <a:extLst>
              <a:ext uri="{FF2B5EF4-FFF2-40B4-BE49-F238E27FC236}">
                <a16:creationId xmlns:a16="http://schemas.microsoft.com/office/drawing/2014/main" id="{D44BAFD1-2B70-E205-59C7-AA473462EB6C}"/>
              </a:ext>
            </a:extLst>
          </p:cNvPr>
          <p:cNvSpPr txBox="1"/>
          <p:nvPr/>
        </p:nvSpPr>
        <p:spPr>
          <a:xfrm>
            <a:off x="2286000" y="2082800"/>
            <a:ext cx="8255000" cy="523220"/>
          </a:xfrm>
          <a:prstGeom prst="rect">
            <a:avLst/>
          </a:prstGeom>
          <a:noFill/>
        </p:spPr>
        <p:txBody>
          <a:bodyPr vert="horz" wrap="square" lIns="0" tIns="0" rIns="0" bIns="0" rtlCol="0" anchor="ctr">
            <a:spAutoFit/>
          </a:bodyPr>
          <a:lstStyle/>
          <a:p>
            <a:r>
              <a:rPr lang="en-US" sz="1700" b="1">
                <a:solidFill>
                  <a:srgbClr val="212121"/>
                </a:solidFill>
                <a:latin typeface="Aptos" panose="020B0004020202020204" pitchFamily="34" charset="0"/>
              </a:rPr>
              <a:t>Can a multimodal vision-language model infer robot goals from partial motion similarly to humans?</a:t>
            </a:r>
          </a:p>
        </p:txBody>
      </p:sp>
      <p:sp>
        <p:nvSpPr>
          <p:cNvPr id="10" name="Rectangle: Rounded Corners 9">
            <a:extLst>
              <a:ext uri="{FF2B5EF4-FFF2-40B4-BE49-F238E27FC236}">
                <a16:creationId xmlns:a16="http://schemas.microsoft.com/office/drawing/2014/main" id="{2758D8B7-6C35-1530-02FF-6E2984A83D73}"/>
              </a:ext>
            </a:extLst>
          </p:cNvPr>
          <p:cNvSpPr/>
          <p:nvPr/>
        </p:nvSpPr>
        <p:spPr>
          <a:xfrm>
            <a:off x="1168400" y="3225800"/>
            <a:ext cx="9855200" cy="1066800"/>
          </a:xfrm>
          <a:prstGeom prst="roundRect">
            <a:avLst/>
          </a:prstGeom>
          <a:solidFill>
            <a:srgbClr val="EAF3FC"/>
          </a:solidFill>
          <a:ln w="19050">
            <a:solidFill>
              <a:srgbClr val="5390D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DD8B946B-6159-7E4F-7D12-82D4BA91F009}"/>
              </a:ext>
            </a:extLst>
          </p:cNvPr>
          <p:cNvSpPr/>
          <p:nvPr/>
        </p:nvSpPr>
        <p:spPr>
          <a:xfrm>
            <a:off x="1473200" y="3505200"/>
            <a:ext cx="508000" cy="508000"/>
          </a:xfrm>
          <a:prstGeom prst="rect">
            <a:avLst/>
          </a:prstGeom>
          <a:solidFill>
            <a:srgbClr val="5390DE"/>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EC613C4F-0D50-A505-9651-34AA49CA1980}"/>
              </a:ext>
            </a:extLst>
          </p:cNvPr>
          <p:cNvSpPr txBox="1"/>
          <p:nvPr/>
        </p:nvSpPr>
        <p:spPr>
          <a:xfrm>
            <a:off x="1473200" y="3530600"/>
            <a:ext cx="508000" cy="276999"/>
          </a:xfrm>
          <a:prstGeom prst="rect">
            <a:avLst/>
          </a:prstGeom>
          <a:noFill/>
        </p:spPr>
        <p:txBody>
          <a:bodyPr vert="horz" wrap="square" lIns="0" tIns="0" rIns="0" bIns="0" rtlCol="0" anchor="ctr">
            <a:spAutoFit/>
          </a:bodyPr>
          <a:lstStyle/>
          <a:p>
            <a:pPr algn="ctr"/>
            <a:r>
              <a:rPr lang="en-US" b="1">
                <a:solidFill>
                  <a:srgbClr val="FFFFFF"/>
                </a:solidFill>
                <a:latin typeface="Aptos" panose="020B0004020202020204" pitchFamily="34" charset="0"/>
              </a:rPr>
              <a:t>2</a:t>
            </a:r>
          </a:p>
        </p:txBody>
      </p:sp>
      <p:sp>
        <p:nvSpPr>
          <p:cNvPr id="13" name="TextBox 12">
            <a:extLst>
              <a:ext uri="{FF2B5EF4-FFF2-40B4-BE49-F238E27FC236}">
                <a16:creationId xmlns:a16="http://schemas.microsoft.com/office/drawing/2014/main" id="{50643251-8876-9059-778C-138E6692C8C5}"/>
              </a:ext>
            </a:extLst>
          </p:cNvPr>
          <p:cNvSpPr txBox="1"/>
          <p:nvPr/>
        </p:nvSpPr>
        <p:spPr>
          <a:xfrm>
            <a:off x="2286000" y="3454400"/>
            <a:ext cx="8255000" cy="523220"/>
          </a:xfrm>
          <a:prstGeom prst="rect">
            <a:avLst/>
          </a:prstGeom>
          <a:noFill/>
        </p:spPr>
        <p:txBody>
          <a:bodyPr vert="horz" wrap="square" lIns="0" tIns="0" rIns="0" bIns="0" rtlCol="0" anchor="ctr">
            <a:spAutoFit/>
          </a:bodyPr>
          <a:lstStyle/>
          <a:p>
            <a:r>
              <a:rPr lang="en-US" sz="1700" b="1">
                <a:solidFill>
                  <a:srgbClr val="212121"/>
                </a:solidFill>
                <a:latin typeface="Aptos" panose="020B0004020202020204" pitchFamily="34" charset="0"/>
              </a:rPr>
              <a:t>How closely do Gemini predictions align with human judgments of robot motion legibility?</a:t>
            </a:r>
          </a:p>
        </p:txBody>
      </p:sp>
      <p:sp>
        <p:nvSpPr>
          <p:cNvPr id="14" name="Rectangle: Rounded Corners 13">
            <a:extLst>
              <a:ext uri="{FF2B5EF4-FFF2-40B4-BE49-F238E27FC236}">
                <a16:creationId xmlns:a16="http://schemas.microsoft.com/office/drawing/2014/main" id="{55118ABB-F02A-2BCB-7EA0-24829DF883C2}"/>
              </a:ext>
            </a:extLst>
          </p:cNvPr>
          <p:cNvSpPr/>
          <p:nvPr/>
        </p:nvSpPr>
        <p:spPr>
          <a:xfrm>
            <a:off x="1168400" y="4597400"/>
            <a:ext cx="9855200" cy="1066800"/>
          </a:xfrm>
          <a:prstGeom prst="roundRect">
            <a:avLst/>
          </a:prstGeom>
          <a:solidFill>
            <a:srgbClr val="FFF8E6"/>
          </a:solidFill>
          <a:ln w="19050">
            <a:solidFill>
              <a:srgbClr val="F6BF2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9EF2B2F8-DD6A-0192-F085-66CE4FDBE87A}"/>
              </a:ext>
            </a:extLst>
          </p:cNvPr>
          <p:cNvSpPr/>
          <p:nvPr/>
        </p:nvSpPr>
        <p:spPr>
          <a:xfrm>
            <a:off x="1473200" y="4876800"/>
            <a:ext cx="508000" cy="508000"/>
          </a:xfrm>
          <a:prstGeom prst="rect">
            <a:avLst/>
          </a:prstGeom>
          <a:solidFill>
            <a:srgbClr val="F6BF20"/>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2A01D58A-4CD2-2FE9-DF92-FCDB69964937}"/>
              </a:ext>
            </a:extLst>
          </p:cNvPr>
          <p:cNvSpPr txBox="1"/>
          <p:nvPr/>
        </p:nvSpPr>
        <p:spPr>
          <a:xfrm>
            <a:off x="1473200" y="4902200"/>
            <a:ext cx="508000" cy="276999"/>
          </a:xfrm>
          <a:prstGeom prst="rect">
            <a:avLst/>
          </a:prstGeom>
          <a:noFill/>
        </p:spPr>
        <p:txBody>
          <a:bodyPr vert="horz" wrap="square" lIns="0" tIns="0" rIns="0" bIns="0" rtlCol="0" anchor="ctr">
            <a:spAutoFit/>
          </a:bodyPr>
          <a:lstStyle/>
          <a:p>
            <a:pPr algn="ctr"/>
            <a:r>
              <a:rPr lang="en-US" b="1">
                <a:solidFill>
                  <a:srgbClr val="FFFFFF"/>
                </a:solidFill>
                <a:latin typeface="Aptos" panose="020B0004020202020204" pitchFamily="34" charset="0"/>
              </a:rPr>
              <a:t>3</a:t>
            </a:r>
          </a:p>
        </p:txBody>
      </p:sp>
      <p:sp>
        <p:nvSpPr>
          <p:cNvPr id="17" name="TextBox 16">
            <a:extLst>
              <a:ext uri="{FF2B5EF4-FFF2-40B4-BE49-F238E27FC236}">
                <a16:creationId xmlns:a16="http://schemas.microsoft.com/office/drawing/2014/main" id="{6574D471-B355-5260-24C5-6F96E9F45B78}"/>
              </a:ext>
            </a:extLst>
          </p:cNvPr>
          <p:cNvSpPr txBox="1"/>
          <p:nvPr/>
        </p:nvSpPr>
        <p:spPr>
          <a:xfrm>
            <a:off x="2286000" y="4826000"/>
            <a:ext cx="8255000" cy="523220"/>
          </a:xfrm>
          <a:prstGeom prst="rect">
            <a:avLst/>
          </a:prstGeom>
          <a:noFill/>
        </p:spPr>
        <p:txBody>
          <a:bodyPr vert="horz" wrap="square" lIns="0" tIns="0" rIns="0" bIns="0" rtlCol="0" anchor="ctr">
            <a:spAutoFit/>
          </a:bodyPr>
          <a:lstStyle/>
          <a:p>
            <a:r>
              <a:rPr lang="en-US" sz="1700" b="1">
                <a:solidFill>
                  <a:srgbClr val="212121"/>
                </a:solidFill>
                <a:latin typeface="Aptos" panose="020B0004020202020204" pitchFamily="34" charset="0"/>
              </a:rPr>
              <a:t>Can VLM judgments provide a practical, scalable signal for legibility evaluation in robot manipulation?</a:t>
            </a:r>
          </a:p>
        </p:txBody>
      </p:sp>
      <p:sp>
        <p:nvSpPr>
          <p:cNvPr id="18" name="TextBox 17">
            <a:extLst>
              <a:ext uri="{FF2B5EF4-FFF2-40B4-BE49-F238E27FC236}">
                <a16:creationId xmlns:a16="http://schemas.microsoft.com/office/drawing/2014/main" id="{A8D54F20-1AB1-D58B-D59C-2FDC0C073A94}"/>
              </a:ext>
            </a:extLst>
          </p:cNvPr>
          <p:cNvSpPr txBox="1"/>
          <p:nvPr/>
        </p:nvSpPr>
        <p:spPr>
          <a:xfrm>
            <a:off x="1016000" y="6223000"/>
            <a:ext cx="9652000" cy="138499"/>
          </a:xfrm>
          <a:prstGeom prst="rect">
            <a:avLst/>
          </a:prstGeom>
          <a:noFill/>
        </p:spPr>
        <p:txBody>
          <a:bodyPr vert="horz" wrap="square" lIns="0" tIns="0" rIns="0" bIns="0" rtlCol="0" anchor="t">
            <a:spAutoFit/>
          </a:bodyPr>
          <a:lstStyle/>
          <a:p>
            <a:pPr algn="ctr"/>
            <a:r>
              <a:rPr lang="en-US" sz="900">
                <a:solidFill>
                  <a:srgbClr val="707070"/>
                </a:solidFill>
                <a:latin typeface="Aptos" panose="020B0004020202020204" pitchFamily="34" charset="0"/>
              </a:rPr>
              <a:t>These questions ask whether the model is capable, aligned, and useful.</a:t>
            </a:r>
          </a:p>
        </p:txBody>
      </p:sp>
    </p:spTree>
    <p:extLst>
      <p:ext uri="{BB962C8B-B14F-4D97-AF65-F5344CB8AC3E}">
        <p14:creationId xmlns:p14="http://schemas.microsoft.com/office/powerpoint/2010/main" val="26396088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BF8F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19B5DAB-8E9D-EC7F-8E78-4E0D03A0602A}"/>
              </a:ext>
            </a:extLst>
          </p:cNvPr>
          <p:cNvSpPr txBox="1"/>
          <p:nvPr/>
        </p:nvSpPr>
        <p:spPr>
          <a:xfrm>
            <a:off x="508000" y="228600"/>
            <a:ext cx="10414000" cy="430887"/>
          </a:xfrm>
          <a:prstGeom prst="rect">
            <a:avLst/>
          </a:prstGeom>
          <a:noFill/>
        </p:spPr>
        <p:txBody>
          <a:bodyPr vert="horz" wrap="square" lIns="0" tIns="0" rIns="0" bIns="0" rtlCol="0" anchor="t">
            <a:spAutoFit/>
          </a:bodyPr>
          <a:lstStyle/>
          <a:p>
            <a:r>
              <a:rPr lang="en-US" sz="2800" b="1">
                <a:solidFill>
                  <a:srgbClr val="212121"/>
                </a:solidFill>
                <a:latin typeface="Aptos" panose="020B0004020202020204" pitchFamily="34" charset="0"/>
              </a:rPr>
              <a:t>Thesis Contributions</a:t>
            </a:r>
          </a:p>
        </p:txBody>
      </p:sp>
      <p:sp>
        <p:nvSpPr>
          <p:cNvPr id="3" name="TextBox 2">
            <a:extLst>
              <a:ext uri="{FF2B5EF4-FFF2-40B4-BE49-F238E27FC236}">
                <a16:creationId xmlns:a16="http://schemas.microsoft.com/office/drawing/2014/main" id="{3526727A-D350-127C-FCA7-945285D22D83}"/>
              </a:ext>
            </a:extLst>
          </p:cNvPr>
          <p:cNvSpPr txBox="1"/>
          <p:nvPr/>
        </p:nvSpPr>
        <p:spPr>
          <a:xfrm>
            <a:off x="508000" y="787400"/>
            <a:ext cx="10668000" cy="169277"/>
          </a:xfrm>
          <a:prstGeom prst="rect">
            <a:avLst/>
          </a:prstGeom>
          <a:noFill/>
        </p:spPr>
        <p:txBody>
          <a:bodyPr vert="horz" wrap="square" lIns="0" tIns="0" rIns="0" bIns="0" rtlCol="0" anchor="t">
            <a:spAutoFit/>
          </a:bodyPr>
          <a:lstStyle/>
          <a:p>
            <a:r>
              <a:rPr lang="en-US" sz="1100">
                <a:solidFill>
                  <a:srgbClr val="707070"/>
                </a:solidFill>
                <a:latin typeface="Aptos" panose="020B0004020202020204" pitchFamily="34" charset="0"/>
              </a:rPr>
              <a:t>The work contributes a study design, an evaluator pipeline, a comparison framework, and evidence</a:t>
            </a:r>
          </a:p>
        </p:txBody>
      </p:sp>
      <p:sp>
        <p:nvSpPr>
          <p:cNvPr id="4" name="Rectangle 3">
            <a:extLst>
              <a:ext uri="{FF2B5EF4-FFF2-40B4-BE49-F238E27FC236}">
                <a16:creationId xmlns:a16="http://schemas.microsoft.com/office/drawing/2014/main" id="{D33EB4D5-025F-0027-A3F7-F921456B5EF7}"/>
              </a:ext>
            </a:extLst>
          </p:cNvPr>
          <p:cNvSpPr/>
          <p:nvPr/>
        </p:nvSpPr>
        <p:spPr>
          <a:xfrm>
            <a:off x="508000" y="1206500"/>
            <a:ext cx="11176000" cy="50800"/>
          </a:xfrm>
          <a:prstGeom prst="rect">
            <a:avLst/>
          </a:prstGeom>
          <a:solidFill>
            <a:srgbClr val="F6BF20"/>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C0BE1CBF-782E-CB85-FAAF-C37B6A937E93}"/>
              </a:ext>
            </a:extLst>
          </p:cNvPr>
          <p:cNvSpPr txBox="1"/>
          <p:nvPr/>
        </p:nvSpPr>
        <p:spPr>
          <a:xfrm>
            <a:off x="11430000" y="228600"/>
            <a:ext cx="304800" cy="153888"/>
          </a:xfrm>
          <a:prstGeom prst="rect">
            <a:avLst/>
          </a:prstGeom>
          <a:noFill/>
        </p:spPr>
        <p:txBody>
          <a:bodyPr vert="horz" wrap="square" lIns="0" tIns="0" rIns="0" bIns="0" rtlCol="0" anchor="t">
            <a:spAutoFit/>
          </a:bodyPr>
          <a:lstStyle/>
          <a:p>
            <a:pPr algn="r"/>
            <a:r>
              <a:rPr lang="en-US" sz="1000">
                <a:solidFill>
                  <a:srgbClr val="5C5C5C"/>
                </a:solidFill>
                <a:latin typeface="Aptos" panose="020B0004020202020204" pitchFamily="34" charset="0"/>
              </a:rPr>
              <a:t>8</a:t>
            </a:r>
          </a:p>
        </p:txBody>
      </p:sp>
      <p:sp>
        <p:nvSpPr>
          <p:cNvPr id="6" name="Rectangle: Rounded Corners 5">
            <a:extLst>
              <a:ext uri="{FF2B5EF4-FFF2-40B4-BE49-F238E27FC236}">
                <a16:creationId xmlns:a16="http://schemas.microsoft.com/office/drawing/2014/main" id="{BBA3DF44-64B7-6D62-2EB1-74F32803A223}"/>
              </a:ext>
            </a:extLst>
          </p:cNvPr>
          <p:cNvSpPr/>
          <p:nvPr/>
        </p:nvSpPr>
        <p:spPr>
          <a:xfrm>
            <a:off x="965200" y="1752600"/>
            <a:ext cx="10261600" cy="635000"/>
          </a:xfrm>
          <a:prstGeom prst="roundRect">
            <a:avLst/>
          </a:prstGeom>
          <a:solidFill>
            <a:srgbClr val="F7EFF3"/>
          </a:solidFill>
          <a:ln w="19050">
            <a:solidFill>
              <a:srgbClr val="A63E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EE49DE2E-200E-D21A-4BA8-46E7B64D597E}"/>
              </a:ext>
            </a:extLst>
          </p:cNvPr>
          <p:cNvSpPr/>
          <p:nvPr/>
        </p:nvSpPr>
        <p:spPr>
          <a:xfrm>
            <a:off x="1168400" y="1854200"/>
            <a:ext cx="685800" cy="431800"/>
          </a:xfrm>
          <a:prstGeom prst="roundRect">
            <a:avLst/>
          </a:prstGeom>
          <a:solidFill>
            <a:srgbClr val="A63E5E"/>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15BE7C1B-FF21-F63D-4FE0-D8DDC7B00300}"/>
              </a:ext>
            </a:extLst>
          </p:cNvPr>
          <p:cNvSpPr txBox="1"/>
          <p:nvPr/>
        </p:nvSpPr>
        <p:spPr>
          <a:xfrm>
            <a:off x="1168400" y="1866900"/>
            <a:ext cx="685800" cy="215444"/>
          </a:xfrm>
          <a:prstGeom prst="rect">
            <a:avLst/>
          </a:prstGeom>
          <a:noFill/>
        </p:spPr>
        <p:txBody>
          <a:bodyPr vert="horz" wrap="square" lIns="0" tIns="0" rIns="0" bIns="0" rtlCol="0" anchor="ctr">
            <a:spAutoFit/>
          </a:bodyPr>
          <a:lstStyle/>
          <a:p>
            <a:pPr algn="ctr"/>
            <a:r>
              <a:rPr lang="en-US" sz="1400" b="1">
                <a:solidFill>
                  <a:srgbClr val="FFFFFF"/>
                </a:solidFill>
                <a:latin typeface="Aptos" panose="020B0004020202020204" pitchFamily="34" charset="0"/>
              </a:rPr>
              <a:t>C1</a:t>
            </a:r>
          </a:p>
        </p:txBody>
      </p:sp>
      <p:sp>
        <p:nvSpPr>
          <p:cNvPr id="9" name="TextBox 8">
            <a:extLst>
              <a:ext uri="{FF2B5EF4-FFF2-40B4-BE49-F238E27FC236}">
                <a16:creationId xmlns:a16="http://schemas.microsoft.com/office/drawing/2014/main" id="{586017B4-AA1C-BC66-EDDF-88CA46F11AD4}"/>
              </a:ext>
            </a:extLst>
          </p:cNvPr>
          <p:cNvSpPr txBox="1"/>
          <p:nvPr/>
        </p:nvSpPr>
        <p:spPr>
          <a:xfrm>
            <a:off x="2133600" y="1866900"/>
            <a:ext cx="8737600" cy="200055"/>
          </a:xfrm>
          <a:prstGeom prst="rect">
            <a:avLst/>
          </a:prstGeom>
          <a:noFill/>
        </p:spPr>
        <p:txBody>
          <a:bodyPr vert="horz" wrap="square" lIns="0" tIns="0" rIns="0" bIns="0" rtlCol="0" anchor="ctr">
            <a:spAutoFit/>
          </a:bodyPr>
          <a:lstStyle/>
          <a:p>
            <a:r>
              <a:rPr lang="en-US" sz="1300">
                <a:solidFill>
                  <a:srgbClr val="212121"/>
                </a:solidFill>
                <a:latin typeface="Aptos" panose="020B0004020202020204" pitchFamily="34" charset="0"/>
              </a:rPr>
              <a:t>Built a web-based human study for goal inference from frame-based and video-based robot observations.</a:t>
            </a:r>
          </a:p>
        </p:txBody>
      </p:sp>
      <p:sp>
        <p:nvSpPr>
          <p:cNvPr id="10" name="Rectangle: Rounded Corners 9">
            <a:extLst>
              <a:ext uri="{FF2B5EF4-FFF2-40B4-BE49-F238E27FC236}">
                <a16:creationId xmlns:a16="http://schemas.microsoft.com/office/drawing/2014/main" id="{F23A116E-4E64-298E-E7A9-98D6AB88B733}"/>
              </a:ext>
            </a:extLst>
          </p:cNvPr>
          <p:cNvSpPr/>
          <p:nvPr/>
        </p:nvSpPr>
        <p:spPr>
          <a:xfrm>
            <a:off x="965200" y="2514600"/>
            <a:ext cx="10261600" cy="635000"/>
          </a:xfrm>
          <a:prstGeom prst="roundRect">
            <a:avLst/>
          </a:prstGeom>
          <a:solidFill>
            <a:srgbClr val="EAF3FC"/>
          </a:solidFill>
          <a:ln w="19050">
            <a:solidFill>
              <a:srgbClr val="5390D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B11D5046-7620-CA0F-D644-604402258C53}"/>
              </a:ext>
            </a:extLst>
          </p:cNvPr>
          <p:cNvSpPr/>
          <p:nvPr/>
        </p:nvSpPr>
        <p:spPr>
          <a:xfrm>
            <a:off x="1168400" y="2616200"/>
            <a:ext cx="685800" cy="431800"/>
          </a:xfrm>
          <a:prstGeom prst="roundRect">
            <a:avLst/>
          </a:prstGeom>
          <a:solidFill>
            <a:srgbClr val="5390DE"/>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3A0EC90B-A9E8-4CE3-D0C2-FC6B81B47F56}"/>
              </a:ext>
            </a:extLst>
          </p:cNvPr>
          <p:cNvSpPr txBox="1"/>
          <p:nvPr/>
        </p:nvSpPr>
        <p:spPr>
          <a:xfrm>
            <a:off x="1168400" y="2628900"/>
            <a:ext cx="685800" cy="215444"/>
          </a:xfrm>
          <a:prstGeom prst="rect">
            <a:avLst/>
          </a:prstGeom>
          <a:noFill/>
        </p:spPr>
        <p:txBody>
          <a:bodyPr vert="horz" wrap="square" lIns="0" tIns="0" rIns="0" bIns="0" rtlCol="0" anchor="ctr">
            <a:spAutoFit/>
          </a:bodyPr>
          <a:lstStyle/>
          <a:p>
            <a:pPr algn="ctr"/>
            <a:r>
              <a:rPr lang="en-US" sz="1400" b="1">
                <a:solidFill>
                  <a:srgbClr val="FFFFFF"/>
                </a:solidFill>
                <a:latin typeface="Aptos" panose="020B0004020202020204" pitchFamily="34" charset="0"/>
              </a:rPr>
              <a:t>C2</a:t>
            </a:r>
          </a:p>
        </p:txBody>
      </p:sp>
      <p:sp>
        <p:nvSpPr>
          <p:cNvPr id="13" name="TextBox 12">
            <a:extLst>
              <a:ext uri="{FF2B5EF4-FFF2-40B4-BE49-F238E27FC236}">
                <a16:creationId xmlns:a16="http://schemas.microsoft.com/office/drawing/2014/main" id="{A7186081-A662-CC86-75CD-96A446F48E75}"/>
              </a:ext>
            </a:extLst>
          </p:cNvPr>
          <p:cNvSpPr txBox="1"/>
          <p:nvPr/>
        </p:nvSpPr>
        <p:spPr>
          <a:xfrm>
            <a:off x="2133600" y="2628900"/>
            <a:ext cx="8737600" cy="200055"/>
          </a:xfrm>
          <a:prstGeom prst="rect">
            <a:avLst/>
          </a:prstGeom>
          <a:noFill/>
        </p:spPr>
        <p:txBody>
          <a:bodyPr vert="horz" wrap="square" lIns="0" tIns="0" rIns="0" bIns="0" rtlCol="0" anchor="ctr">
            <a:spAutoFit/>
          </a:bodyPr>
          <a:lstStyle/>
          <a:p>
            <a:r>
              <a:rPr lang="en-US" sz="1300">
                <a:solidFill>
                  <a:srgbClr val="212121"/>
                </a:solidFill>
                <a:latin typeface="Aptos" panose="020B0004020202020204" pitchFamily="34" charset="0"/>
              </a:rPr>
              <a:t>Implemented a Gemini 2.5 Flash pipeline using cumulative frame sequences at selected timepoints.</a:t>
            </a:r>
          </a:p>
        </p:txBody>
      </p:sp>
      <p:sp>
        <p:nvSpPr>
          <p:cNvPr id="14" name="Rectangle: Rounded Corners 13">
            <a:extLst>
              <a:ext uri="{FF2B5EF4-FFF2-40B4-BE49-F238E27FC236}">
                <a16:creationId xmlns:a16="http://schemas.microsoft.com/office/drawing/2014/main" id="{3DF1BC38-F1F8-6C69-B8C3-F942A8E3509B}"/>
              </a:ext>
            </a:extLst>
          </p:cNvPr>
          <p:cNvSpPr/>
          <p:nvPr/>
        </p:nvSpPr>
        <p:spPr>
          <a:xfrm>
            <a:off x="965200" y="3276600"/>
            <a:ext cx="10261600" cy="635000"/>
          </a:xfrm>
          <a:prstGeom prst="roundRect">
            <a:avLst/>
          </a:prstGeom>
          <a:solidFill>
            <a:srgbClr val="FFF8E6"/>
          </a:solidFill>
          <a:ln w="19050">
            <a:solidFill>
              <a:srgbClr val="F6BF2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Rounded Corners 14">
            <a:extLst>
              <a:ext uri="{FF2B5EF4-FFF2-40B4-BE49-F238E27FC236}">
                <a16:creationId xmlns:a16="http://schemas.microsoft.com/office/drawing/2014/main" id="{83C235D7-1F12-2557-FCE8-871358DDD2F7}"/>
              </a:ext>
            </a:extLst>
          </p:cNvPr>
          <p:cNvSpPr/>
          <p:nvPr/>
        </p:nvSpPr>
        <p:spPr>
          <a:xfrm>
            <a:off x="1168400" y="3378200"/>
            <a:ext cx="685800" cy="431800"/>
          </a:xfrm>
          <a:prstGeom prst="roundRect">
            <a:avLst/>
          </a:prstGeom>
          <a:solidFill>
            <a:srgbClr val="F6BF20"/>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F3F7878C-225F-E990-F0D3-CA4D05A8685C}"/>
              </a:ext>
            </a:extLst>
          </p:cNvPr>
          <p:cNvSpPr txBox="1"/>
          <p:nvPr/>
        </p:nvSpPr>
        <p:spPr>
          <a:xfrm>
            <a:off x="1168400" y="3390900"/>
            <a:ext cx="685800" cy="215444"/>
          </a:xfrm>
          <a:prstGeom prst="rect">
            <a:avLst/>
          </a:prstGeom>
          <a:noFill/>
        </p:spPr>
        <p:txBody>
          <a:bodyPr vert="horz" wrap="square" lIns="0" tIns="0" rIns="0" bIns="0" rtlCol="0" anchor="ctr">
            <a:spAutoFit/>
          </a:bodyPr>
          <a:lstStyle/>
          <a:p>
            <a:pPr algn="ctr"/>
            <a:r>
              <a:rPr lang="en-US" sz="1400" b="1">
                <a:solidFill>
                  <a:srgbClr val="FFFFFF"/>
                </a:solidFill>
                <a:latin typeface="Aptos" panose="020B0004020202020204" pitchFamily="34" charset="0"/>
              </a:rPr>
              <a:t>C3</a:t>
            </a:r>
          </a:p>
        </p:txBody>
      </p:sp>
      <p:sp>
        <p:nvSpPr>
          <p:cNvPr id="17" name="TextBox 16">
            <a:extLst>
              <a:ext uri="{FF2B5EF4-FFF2-40B4-BE49-F238E27FC236}">
                <a16:creationId xmlns:a16="http://schemas.microsoft.com/office/drawing/2014/main" id="{610DB57D-9784-360C-61EF-356013E92B5B}"/>
              </a:ext>
            </a:extLst>
          </p:cNvPr>
          <p:cNvSpPr txBox="1"/>
          <p:nvPr/>
        </p:nvSpPr>
        <p:spPr>
          <a:xfrm>
            <a:off x="2133600" y="3390900"/>
            <a:ext cx="8737600" cy="200055"/>
          </a:xfrm>
          <a:prstGeom prst="rect">
            <a:avLst/>
          </a:prstGeom>
          <a:noFill/>
        </p:spPr>
        <p:txBody>
          <a:bodyPr vert="horz" wrap="square" lIns="0" tIns="0" rIns="0" bIns="0" rtlCol="0" anchor="ctr">
            <a:spAutoFit/>
          </a:bodyPr>
          <a:lstStyle/>
          <a:p>
            <a:r>
              <a:rPr lang="en-US" sz="1300">
                <a:solidFill>
                  <a:srgbClr val="212121"/>
                </a:solidFill>
                <a:latin typeface="Aptos" panose="020B0004020202020204" pitchFamily="34" charset="0"/>
              </a:rPr>
              <a:t>Created a matched human-model evaluation setup where both receive corresponding visual evidence.</a:t>
            </a:r>
          </a:p>
        </p:txBody>
      </p:sp>
      <p:sp>
        <p:nvSpPr>
          <p:cNvPr id="18" name="Rectangle: Rounded Corners 17">
            <a:extLst>
              <a:ext uri="{FF2B5EF4-FFF2-40B4-BE49-F238E27FC236}">
                <a16:creationId xmlns:a16="http://schemas.microsoft.com/office/drawing/2014/main" id="{7DDE138A-F24B-0FC1-2F6B-BFD138534AE0}"/>
              </a:ext>
            </a:extLst>
          </p:cNvPr>
          <p:cNvSpPr/>
          <p:nvPr/>
        </p:nvSpPr>
        <p:spPr>
          <a:xfrm>
            <a:off x="965200" y="4038600"/>
            <a:ext cx="10261600" cy="635000"/>
          </a:xfrm>
          <a:prstGeom prst="roundRect">
            <a:avLst/>
          </a:prstGeom>
          <a:solidFill>
            <a:srgbClr val="F7EFF3"/>
          </a:solidFill>
          <a:ln w="19050">
            <a:solidFill>
              <a:srgbClr val="A63E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Rounded Corners 18">
            <a:extLst>
              <a:ext uri="{FF2B5EF4-FFF2-40B4-BE49-F238E27FC236}">
                <a16:creationId xmlns:a16="http://schemas.microsoft.com/office/drawing/2014/main" id="{5D57B0AC-2F48-AB0F-173C-FCB0EFC5E5F3}"/>
              </a:ext>
            </a:extLst>
          </p:cNvPr>
          <p:cNvSpPr/>
          <p:nvPr/>
        </p:nvSpPr>
        <p:spPr>
          <a:xfrm>
            <a:off x="1168400" y="4140200"/>
            <a:ext cx="685800" cy="431800"/>
          </a:xfrm>
          <a:prstGeom prst="roundRect">
            <a:avLst/>
          </a:prstGeom>
          <a:solidFill>
            <a:srgbClr val="A63E5E"/>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47ED16A3-3F72-1EB4-2EE9-C4C1FF7A6DAA}"/>
              </a:ext>
            </a:extLst>
          </p:cNvPr>
          <p:cNvSpPr txBox="1"/>
          <p:nvPr/>
        </p:nvSpPr>
        <p:spPr>
          <a:xfrm>
            <a:off x="1168400" y="4152900"/>
            <a:ext cx="685800" cy="215444"/>
          </a:xfrm>
          <a:prstGeom prst="rect">
            <a:avLst/>
          </a:prstGeom>
          <a:noFill/>
        </p:spPr>
        <p:txBody>
          <a:bodyPr vert="horz" wrap="square" lIns="0" tIns="0" rIns="0" bIns="0" rtlCol="0" anchor="ctr">
            <a:spAutoFit/>
          </a:bodyPr>
          <a:lstStyle/>
          <a:p>
            <a:pPr algn="ctr"/>
            <a:r>
              <a:rPr lang="en-US" sz="1400" b="1">
                <a:solidFill>
                  <a:srgbClr val="FFFFFF"/>
                </a:solidFill>
                <a:latin typeface="Aptos" panose="020B0004020202020204" pitchFamily="34" charset="0"/>
              </a:rPr>
              <a:t>C4</a:t>
            </a:r>
          </a:p>
        </p:txBody>
      </p:sp>
      <p:sp>
        <p:nvSpPr>
          <p:cNvPr id="21" name="TextBox 20">
            <a:extLst>
              <a:ext uri="{FF2B5EF4-FFF2-40B4-BE49-F238E27FC236}">
                <a16:creationId xmlns:a16="http://schemas.microsoft.com/office/drawing/2014/main" id="{2739CD2F-A850-04B1-F35E-EE7B7706F955}"/>
              </a:ext>
            </a:extLst>
          </p:cNvPr>
          <p:cNvSpPr txBox="1"/>
          <p:nvPr/>
        </p:nvSpPr>
        <p:spPr>
          <a:xfrm>
            <a:off x="2133600" y="4152900"/>
            <a:ext cx="8737600" cy="200055"/>
          </a:xfrm>
          <a:prstGeom prst="rect">
            <a:avLst/>
          </a:prstGeom>
          <a:noFill/>
        </p:spPr>
        <p:txBody>
          <a:bodyPr vert="horz" wrap="square" lIns="0" tIns="0" rIns="0" bIns="0" rtlCol="0" anchor="ctr">
            <a:spAutoFit/>
          </a:bodyPr>
          <a:lstStyle/>
          <a:p>
            <a:r>
              <a:rPr lang="en-US" sz="1300">
                <a:solidFill>
                  <a:srgbClr val="212121"/>
                </a:solidFill>
                <a:latin typeface="Aptos" panose="020B0004020202020204" pitchFamily="34" charset="0"/>
              </a:rPr>
              <a:t>Analyzed performance with accuracy, agreement, intersection-over-union, and time-to-legibility.</a:t>
            </a:r>
          </a:p>
        </p:txBody>
      </p:sp>
      <p:sp>
        <p:nvSpPr>
          <p:cNvPr id="22" name="Rectangle: Rounded Corners 21">
            <a:extLst>
              <a:ext uri="{FF2B5EF4-FFF2-40B4-BE49-F238E27FC236}">
                <a16:creationId xmlns:a16="http://schemas.microsoft.com/office/drawing/2014/main" id="{F7FDDF5D-A759-E8A8-704C-285681B71048}"/>
              </a:ext>
            </a:extLst>
          </p:cNvPr>
          <p:cNvSpPr/>
          <p:nvPr/>
        </p:nvSpPr>
        <p:spPr>
          <a:xfrm>
            <a:off x="965200" y="4800600"/>
            <a:ext cx="10261600" cy="635000"/>
          </a:xfrm>
          <a:prstGeom prst="roundRect">
            <a:avLst/>
          </a:prstGeom>
          <a:solidFill>
            <a:srgbClr val="EAF3FC"/>
          </a:solidFill>
          <a:ln w="19050">
            <a:solidFill>
              <a:srgbClr val="5390D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Rounded Corners 22">
            <a:extLst>
              <a:ext uri="{FF2B5EF4-FFF2-40B4-BE49-F238E27FC236}">
                <a16:creationId xmlns:a16="http://schemas.microsoft.com/office/drawing/2014/main" id="{A2F30B48-4C33-F48C-9AFA-6B29AE7022F4}"/>
              </a:ext>
            </a:extLst>
          </p:cNvPr>
          <p:cNvSpPr/>
          <p:nvPr/>
        </p:nvSpPr>
        <p:spPr>
          <a:xfrm>
            <a:off x="1168400" y="4902200"/>
            <a:ext cx="685800" cy="431800"/>
          </a:xfrm>
          <a:prstGeom prst="roundRect">
            <a:avLst/>
          </a:prstGeom>
          <a:solidFill>
            <a:srgbClr val="5390DE"/>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A385822D-34F5-6116-570B-DAF1A8D8F77A}"/>
              </a:ext>
            </a:extLst>
          </p:cNvPr>
          <p:cNvSpPr txBox="1"/>
          <p:nvPr/>
        </p:nvSpPr>
        <p:spPr>
          <a:xfrm>
            <a:off x="1168400" y="4914900"/>
            <a:ext cx="685800" cy="215444"/>
          </a:xfrm>
          <a:prstGeom prst="rect">
            <a:avLst/>
          </a:prstGeom>
          <a:noFill/>
        </p:spPr>
        <p:txBody>
          <a:bodyPr vert="horz" wrap="square" lIns="0" tIns="0" rIns="0" bIns="0" rtlCol="0" anchor="ctr">
            <a:spAutoFit/>
          </a:bodyPr>
          <a:lstStyle/>
          <a:p>
            <a:pPr algn="ctr"/>
            <a:r>
              <a:rPr lang="en-US" sz="1400" b="1">
                <a:solidFill>
                  <a:srgbClr val="FFFFFF"/>
                </a:solidFill>
                <a:latin typeface="Aptos" panose="020B0004020202020204" pitchFamily="34" charset="0"/>
              </a:rPr>
              <a:t>C5</a:t>
            </a:r>
          </a:p>
        </p:txBody>
      </p:sp>
      <p:sp>
        <p:nvSpPr>
          <p:cNvPr id="25" name="TextBox 24">
            <a:extLst>
              <a:ext uri="{FF2B5EF4-FFF2-40B4-BE49-F238E27FC236}">
                <a16:creationId xmlns:a16="http://schemas.microsoft.com/office/drawing/2014/main" id="{EF1462DF-6C42-D4FE-521C-510B7DA6FBC6}"/>
              </a:ext>
            </a:extLst>
          </p:cNvPr>
          <p:cNvSpPr txBox="1"/>
          <p:nvPr/>
        </p:nvSpPr>
        <p:spPr>
          <a:xfrm>
            <a:off x="2133600" y="4914900"/>
            <a:ext cx="8737600" cy="200055"/>
          </a:xfrm>
          <a:prstGeom prst="rect">
            <a:avLst/>
          </a:prstGeom>
          <a:noFill/>
        </p:spPr>
        <p:txBody>
          <a:bodyPr vert="horz" wrap="square" lIns="0" tIns="0" rIns="0" bIns="0" rtlCol="0" anchor="ctr">
            <a:spAutoFit/>
          </a:bodyPr>
          <a:lstStyle/>
          <a:p>
            <a:r>
              <a:rPr lang="en-US" sz="1300">
                <a:solidFill>
                  <a:srgbClr val="212121"/>
                </a:solidFill>
                <a:latin typeface="Aptos" panose="020B0004020202020204" pitchFamily="34" charset="0"/>
              </a:rPr>
              <a:t>Showed that VLMs can be useful evaluation proxies while also revealing their current limits.</a:t>
            </a:r>
          </a:p>
        </p:txBody>
      </p:sp>
      <p:sp>
        <p:nvSpPr>
          <p:cNvPr id="26" name="TextBox 25">
            <a:extLst>
              <a:ext uri="{FF2B5EF4-FFF2-40B4-BE49-F238E27FC236}">
                <a16:creationId xmlns:a16="http://schemas.microsoft.com/office/drawing/2014/main" id="{CF3FBF5A-4E58-26FB-94BF-EBF4AE084C9D}"/>
              </a:ext>
            </a:extLst>
          </p:cNvPr>
          <p:cNvSpPr txBox="1"/>
          <p:nvPr/>
        </p:nvSpPr>
        <p:spPr>
          <a:xfrm>
            <a:off x="965200" y="5918200"/>
            <a:ext cx="10414000" cy="153888"/>
          </a:xfrm>
          <a:prstGeom prst="rect">
            <a:avLst/>
          </a:prstGeom>
          <a:noFill/>
        </p:spPr>
        <p:txBody>
          <a:bodyPr vert="horz" wrap="square" lIns="0" tIns="0" rIns="0" bIns="0" rtlCol="0" anchor="t">
            <a:spAutoFit/>
          </a:bodyPr>
          <a:lstStyle/>
          <a:p>
            <a:pPr algn="ctr"/>
            <a:r>
              <a:rPr lang="en-US" sz="1000">
                <a:solidFill>
                  <a:srgbClr val="707070"/>
                </a:solidFill>
                <a:latin typeface="Aptos" panose="020B0004020202020204" pitchFamily="34" charset="0"/>
              </a:rPr>
              <a:t>Together, these contributions connect human-subject evaluation, VLM assessment, and future legible-motion generation.</a:t>
            </a:r>
          </a:p>
        </p:txBody>
      </p:sp>
    </p:spTree>
    <p:extLst>
      <p:ext uri="{BB962C8B-B14F-4D97-AF65-F5344CB8AC3E}">
        <p14:creationId xmlns:p14="http://schemas.microsoft.com/office/powerpoint/2010/main" val="7808158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BF8F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6BA3574-6572-EA41-A931-F4440153DE61}"/>
              </a:ext>
            </a:extLst>
          </p:cNvPr>
          <p:cNvSpPr txBox="1"/>
          <p:nvPr/>
        </p:nvSpPr>
        <p:spPr>
          <a:xfrm>
            <a:off x="508000" y="228600"/>
            <a:ext cx="10414000" cy="430887"/>
          </a:xfrm>
          <a:prstGeom prst="rect">
            <a:avLst/>
          </a:prstGeom>
          <a:noFill/>
        </p:spPr>
        <p:txBody>
          <a:bodyPr vert="horz" wrap="square" lIns="0" tIns="0" rIns="0" bIns="0" rtlCol="0" anchor="t">
            <a:spAutoFit/>
          </a:bodyPr>
          <a:lstStyle/>
          <a:p>
            <a:r>
              <a:rPr lang="en-US" sz="2800" b="1">
                <a:solidFill>
                  <a:srgbClr val="212121"/>
                </a:solidFill>
                <a:latin typeface="Aptos" panose="020B0004020202020204" pitchFamily="34" charset="0"/>
              </a:rPr>
              <a:t>Legibility In Robot Motion</a:t>
            </a:r>
          </a:p>
        </p:txBody>
      </p:sp>
      <p:sp>
        <p:nvSpPr>
          <p:cNvPr id="3" name="TextBox 2">
            <a:extLst>
              <a:ext uri="{FF2B5EF4-FFF2-40B4-BE49-F238E27FC236}">
                <a16:creationId xmlns:a16="http://schemas.microsoft.com/office/drawing/2014/main" id="{8B681088-4A00-7695-E176-E9DCDF1EE7C1}"/>
              </a:ext>
            </a:extLst>
          </p:cNvPr>
          <p:cNvSpPr txBox="1"/>
          <p:nvPr/>
        </p:nvSpPr>
        <p:spPr>
          <a:xfrm>
            <a:off x="508000" y="787400"/>
            <a:ext cx="10668000" cy="169277"/>
          </a:xfrm>
          <a:prstGeom prst="rect">
            <a:avLst/>
          </a:prstGeom>
          <a:noFill/>
        </p:spPr>
        <p:txBody>
          <a:bodyPr vert="horz" wrap="square" lIns="0" tIns="0" rIns="0" bIns="0" rtlCol="0" anchor="t">
            <a:spAutoFit/>
          </a:bodyPr>
          <a:lstStyle/>
          <a:p>
            <a:r>
              <a:rPr lang="en-US" sz="1100">
                <a:solidFill>
                  <a:srgbClr val="707070"/>
                </a:solidFill>
                <a:latin typeface="Aptos" panose="020B0004020202020204" pitchFamily="34" charset="0"/>
              </a:rPr>
              <a:t>Prior HRI work frames robot motion as a signal that reveals intent to an observer</a:t>
            </a:r>
          </a:p>
        </p:txBody>
      </p:sp>
      <p:sp>
        <p:nvSpPr>
          <p:cNvPr id="4" name="Rectangle 3">
            <a:extLst>
              <a:ext uri="{FF2B5EF4-FFF2-40B4-BE49-F238E27FC236}">
                <a16:creationId xmlns:a16="http://schemas.microsoft.com/office/drawing/2014/main" id="{31980D3D-4A5C-11F6-EFE3-781F1BD7C7A6}"/>
              </a:ext>
            </a:extLst>
          </p:cNvPr>
          <p:cNvSpPr/>
          <p:nvPr/>
        </p:nvSpPr>
        <p:spPr>
          <a:xfrm>
            <a:off x="508000" y="1206500"/>
            <a:ext cx="11176000" cy="50800"/>
          </a:xfrm>
          <a:prstGeom prst="rect">
            <a:avLst/>
          </a:prstGeom>
          <a:solidFill>
            <a:srgbClr val="F6BF20"/>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57B346D2-35F2-52E7-1258-648F17A6F04D}"/>
              </a:ext>
            </a:extLst>
          </p:cNvPr>
          <p:cNvSpPr txBox="1"/>
          <p:nvPr/>
        </p:nvSpPr>
        <p:spPr>
          <a:xfrm>
            <a:off x="11430000" y="228600"/>
            <a:ext cx="304800" cy="153888"/>
          </a:xfrm>
          <a:prstGeom prst="rect">
            <a:avLst/>
          </a:prstGeom>
          <a:noFill/>
        </p:spPr>
        <p:txBody>
          <a:bodyPr vert="horz" wrap="square" lIns="0" tIns="0" rIns="0" bIns="0" rtlCol="0" anchor="t">
            <a:spAutoFit/>
          </a:bodyPr>
          <a:lstStyle/>
          <a:p>
            <a:pPr algn="r"/>
            <a:r>
              <a:rPr lang="en-US" sz="1000">
                <a:solidFill>
                  <a:srgbClr val="5C5C5C"/>
                </a:solidFill>
                <a:latin typeface="Aptos" panose="020B0004020202020204" pitchFamily="34" charset="0"/>
              </a:rPr>
              <a:t>9</a:t>
            </a:r>
          </a:p>
        </p:txBody>
      </p:sp>
      <p:sp>
        <p:nvSpPr>
          <p:cNvPr id="6" name="Rectangle: Rounded Corners 5">
            <a:extLst>
              <a:ext uri="{FF2B5EF4-FFF2-40B4-BE49-F238E27FC236}">
                <a16:creationId xmlns:a16="http://schemas.microsoft.com/office/drawing/2014/main" id="{EF2AA6E2-A1B3-22FF-E60E-53D78D45B91D}"/>
              </a:ext>
            </a:extLst>
          </p:cNvPr>
          <p:cNvSpPr/>
          <p:nvPr/>
        </p:nvSpPr>
        <p:spPr>
          <a:xfrm>
            <a:off x="1066800" y="1854200"/>
            <a:ext cx="4368800" cy="2108200"/>
          </a:xfrm>
          <a:prstGeom prst="roundRect">
            <a:avLst/>
          </a:prstGeom>
          <a:solidFill>
            <a:srgbClr val="F7EFF3"/>
          </a:solidFill>
          <a:ln w="19050">
            <a:solidFill>
              <a:srgbClr val="A63E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34F5EACC-D33E-1C0F-2624-51E4D64BB1CF}"/>
              </a:ext>
            </a:extLst>
          </p:cNvPr>
          <p:cNvSpPr txBox="1"/>
          <p:nvPr/>
        </p:nvSpPr>
        <p:spPr>
          <a:xfrm>
            <a:off x="1270000" y="2032000"/>
            <a:ext cx="3962400" cy="276999"/>
          </a:xfrm>
          <a:prstGeom prst="rect">
            <a:avLst/>
          </a:prstGeom>
          <a:noFill/>
        </p:spPr>
        <p:txBody>
          <a:bodyPr vert="horz" wrap="square" lIns="0" tIns="0" rIns="0" bIns="0" rtlCol="0" anchor="t">
            <a:spAutoFit/>
          </a:bodyPr>
          <a:lstStyle/>
          <a:p>
            <a:r>
              <a:rPr lang="en-US" b="1">
                <a:solidFill>
                  <a:srgbClr val="212121"/>
                </a:solidFill>
                <a:latin typeface="Aptos" panose="020B0004020202020204" pitchFamily="34" charset="0"/>
              </a:rPr>
              <a:t>Legibility</a:t>
            </a:r>
          </a:p>
        </p:txBody>
      </p:sp>
      <p:sp>
        <p:nvSpPr>
          <p:cNvPr id="8" name="TextBox 7">
            <a:extLst>
              <a:ext uri="{FF2B5EF4-FFF2-40B4-BE49-F238E27FC236}">
                <a16:creationId xmlns:a16="http://schemas.microsoft.com/office/drawing/2014/main" id="{37F7E43A-5B76-A154-5FC4-9CF63B64B923}"/>
              </a:ext>
            </a:extLst>
          </p:cNvPr>
          <p:cNvSpPr txBox="1"/>
          <p:nvPr/>
        </p:nvSpPr>
        <p:spPr>
          <a:xfrm>
            <a:off x="1270000" y="2489200"/>
            <a:ext cx="3962400" cy="400110"/>
          </a:xfrm>
          <a:prstGeom prst="rect">
            <a:avLst/>
          </a:prstGeom>
          <a:noFill/>
        </p:spPr>
        <p:txBody>
          <a:bodyPr vert="horz" wrap="square" lIns="0" tIns="0" rIns="0" bIns="0" rtlCol="0" anchor="t">
            <a:spAutoFit/>
          </a:bodyPr>
          <a:lstStyle/>
          <a:p>
            <a:r>
              <a:rPr lang="en-US" sz="1300">
                <a:solidFill>
                  <a:srgbClr val="212121"/>
                </a:solidFill>
                <a:latin typeface="Aptos" panose="020B0004020202020204" pitchFamily="34" charset="0"/>
              </a:rPr>
              <a:t>The observer infers the correct goal from ongoing motion, ideally early and confidently.</a:t>
            </a:r>
          </a:p>
        </p:txBody>
      </p:sp>
      <p:sp>
        <p:nvSpPr>
          <p:cNvPr id="9" name="Rectangle: Rounded Corners 8">
            <a:extLst>
              <a:ext uri="{FF2B5EF4-FFF2-40B4-BE49-F238E27FC236}">
                <a16:creationId xmlns:a16="http://schemas.microsoft.com/office/drawing/2014/main" id="{875FB0CF-56A2-0E73-7843-7FE55825F944}"/>
              </a:ext>
            </a:extLst>
          </p:cNvPr>
          <p:cNvSpPr/>
          <p:nvPr/>
        </p:nvSpPr>
        <p:spPr>
          <a:xfrm>
            <a:off x="6756400" y="1854200"/>
            <a:ext cx="4368800" cy="2108200"/>
          </a:xfrm>
          <a:prstGeom prst="roundRect">
            <a:avLst/>
          </a:prstGeom>
          <a:solidFill>
            <a:srgbClr val="EAF3FC"/>
          </a:solidFill>
          <a:ln w="19050">
            <a:solidFill>
              <a:srgbClr val="5390D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D0076AE0-BEAC-75FC-5B79-D89E51F15695}"/>
              </a:ext>
            </a:extLst>
          </p:cNvPr>
          <p:cNvSpPr txBox="1"/>
          <p:nvPr/>
        </p:nvSpPr>
        <p:spPr>
          <a:xfrm>
            <a:off x="6959600" y="2032000"/>
            <a:ext cx="3962400" cy="276999"/>
          </a:xfrm>
          <a:prstGeom prst="rect">
            <a:avLst/>
          </a:prstGeom>
          <a:noFill/>
        </p:spPr>
        <p:txBody>
          <a:bodyPr vert="horz" wrap="square" lIns="0" tIns="0" rIns="0" bIns="0" rtlCol="0" anchor="t">
            <a:spAutoFit/>
          </a:bodyPr>
          <a:lstStyle/>
          <a:p>
            <a:r>
              <a:rPr lang="en-US" b="1">
                <a:solidFill>
                  <a:srgbClr val="212121"/>
                </a:solidFill>
                <a:latin typeface="Aptos" panose="020B0004020202020204" pitchFamily="34" charset="0"/>
              </a:rPr>
              <a:t>Predictability</a:t>
            </a:r>
          </a:p>
        </p:txBody>
      </p:sp>
      <p:sp>
        <p:nvSpPr>
          <p:cNvPr id="11" name="TextBox 10">
            <a:extLst>
              <a:ext uri="{FF2B5EF4-FFF2-40B4-BE49-F238E27FC236}">
                <a16:creationId xmlns:a16="http://schemas.microsoft.com/office/drawing/2014/main" id="{141C5ADE-D941-0699-E702-5B3568545DAF}"/>
              </a:ext>
            </a:extLst>
          </p:cNvPr>
          <p:cNvSpPr txBox="1"/>
          <p:nvPr/>
        </p:nvSpPr>
        <p:spPr>
          <a:xfrm>
            <a:off x="6959600" y="2489200"/>
            <a:ext cx="3962400" cy="400110"/>
          </a:xfrm>
          <a:prstGeom prst="rect">
            <a:avLst/>
          </a:prstGeom>
          <a:noFill/>
        </p:spPr>
        <p:txBody>
          <a:bodyPr vert="horz" wrap="square" lIns="0" tIns="0" rIns="0" bIns="0" rtlCol="0" anchor="t">
            <a:spAutoFit/>
          </a:bodyPr>
          <a:lstStyle/>
          <a:p>
            <a:r>
              <a:rPr lang="en-US" sz="1300">
                <a:solidFill>
                  <a:srgbClr val="212121"/>
                </a:solidFill>
                <a:latin typeface="Aptos" panose="020B0004020202020204" pitchFamily="34" charset="0"/>
              </a:rPr>
              <a:t>The motion looks expected once the robot's goal is already known.</a:t>
            </a:r>
          </a:p>
        </p:txBody>
      </p:sp>
      <p:sp>
        <p:nvSpPr>
          <p:cNvPr id="12" name="TextBox 11">
            <a:extLst>
              <a:ext uri="{FF2B5EF4-FFF2-40B4-BE49-F238E27FC236}">
                <a16:creationId xmlns:a16="http://schemas.microsoft.com/office/drawing/2014/main" id="{3EB56543-161B-7D07-7867-7B64EFE205DC}"/>
              </a:ext>
            </a:extLst>
          </p:cNvPr>
          <p:cNvSpPr txBox="1"/>
          <p:nvPr/>
        </p:nvSpPr>
        <p:spPr>
          <a:xfrm>
            <a:off x="5461000" y="2489200"/>
            <a:ext cx="1270000" cy="369332"/>
          </a:xfrm>
          <a:prstGeom prst="rect">
            <a:avLst/>
          </a:prstGeom>
          <a:noFill/>
        </p:spPr>
        <p:txBody>
          <a:bodyPr vert="horz" wrap="square" lIns="0" tIns="0" rIns="0" bIns="0" rtlCol="0" anchor="ctr">
            <a:spAutoFit/>
          </a:bodyPr>
          <a:lstStyle/>
          <a:p>
            <a:pPr algn="ctr"/>
            <a:r>
              <a:rPr lang="en-US" sz="1200" b="1">
                <a:solidFill>
                  <a:srgbClr val="707070"/>
                </a:solidFill>
                <a:latin typeface="Aptos" panose="020B0004020202020204" pitchFamily="34" charset="0"/>
              </a:rPr>
              <a:t>different</a:t>
            </a:r>
          </a:p>
          <a:p>
            <a:pPr algn="ctr"/>
            <a:r>
              <a:rPr lang="en-US" sz="1200" b="1">
                <a:solidFill>
                  <a:srgbClr val="707070"/>
                </a:solidFill>
                <a:latin typeface="Aptos" panose="020B0004020202020204" pitchFamily="34" charset="0"/>
              </a:rPr>
              <a:t>but related</a:t>
            </a:r>
          </a:p>
        </p:txBody>
      </p:sp>
      <p:sp>
        <p:nvSpPr>
          <p:cNvPr id="13" name="Rectangle: Rounded Corners 12">
            <a:extLst>
              <a:ext uri="{FF2B5EF4-FFF2-40B4-BE49-F238E27FC236}">
                <a16:creationId xmlns:a16="http://schemas.microsoft.com/office/drawing/2014/main" id="{DE5669C1-C36B-D9AD-9DE8-7F2F9727C639}"/>
              </a:ext>
            </a:extLst>
          </p:cNvPr>
          <p:cNvSpPr/>
          <p:nvPr/>
        </p:nvSpPr>
        <p:spPr>
          <a:xfrm>
            <a:off x="1066800" y="4470400"/>
            <a:ext cx="10058400" cy="1219200"/>
          </a:xfrm>
          <a:prstGeom prst="roundRect">
            <a:avLst/>
          </a:prstGeom>
          <a:solidFill>
            <a:srgbClr val="FFFFFF"/>
          </a:solidFill>
          <a:ln w="19050">
            <a:solidFill>
              <a:srgbClr val="F6BF2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B5B870D5-CA26-C5DF-8330-2D11D70B383E}"/>
              </a:ext>
            </a:extLst>
          </p:cNvPr>
          <p:cNvSpPr txBox="1"/>
          <p:nvPr/>
        </p:nvSpPr>
        <p:spPr>
          <a:xfrm>
            <a:off x="1295400" y="4648200"/>
            <a:ext cx="9601200" cy="184666"/>
          </a:xfrm>
          <a:prstGeom prst="rect">
            <a:avLst/>
          </a:prstGeom>
          <a:noFill/>
        </p:spPr>
        <p:txBody>
          <a:bodyPr vert="horz" wrap="square" lIns="0" tIns="0" rIns="0" bIns="0" rtlCol="0" anchor="t">
            <a:spAutoFit/>
          </a:bodyPr>
          <a:lstStyle/>
          <a:p>
            <a:r>
              <a:rPr lang="en-US" sz="1200" b="1">
                <a:solidFill>
                  <a:srgbClr val="F6BF20"/>
                </a:solidFill>
                <a:latin typeface="Aptos" panose="020B0004020202020204" pitchFamily="34" charset="0"/>
              </a:rPr>
              <a:t>What prior work established</a:t>
            </a:r>
          </a:p>
        </p:txBody>
      </p:sp>
      <p:sp>
        <p:nvSpPr>
          <p:cNvPr id="15" name="TextBox 14">
            <a:extLst>
              <a:ext uri="{FF2B5EF4-FFF2-40B4-BE49-F238E27FC236}">
                <a16:creationId xmlns:a16="http://schemas.microsoft.com/office/drawing/2014/main" id="{7F75F489-001C-84D2-C03A-4F7E87529799}"/>
              </a:ext>
            </a:extLst>
          </p:cNvPr>
          <p:cNvSpPr txBox="1"/>
          <p:nvPr/>
        </p:nvSpPr>
        <p:spPr>
          <a:xfrm>
            <a:off x="1295400" y="5054600"/>
            <a:ext cx="9601200" cy="369332"/>
          </a:xfrm>
          <a:prstGeom prst="rect">
            <a:avLst/>
          </a:prstGeom>
          <a:noFill/>
        </p:spPr>
        <p:txBody>
          <a:bodyPr vert="horz" wrap="square" lIns="0" tIns="0" rIns="0" bIns="0" rtlCol="0" anchor="t">
            <a:spAutoFit/>
          </a:bodyPr>
          <a:lstStyle/>
          <a:p>
            <a:r>
              <a:rPr lang="en-US" sz="1200">
                <a:solidFill>
                  <a:srgbClr val="212121"/>
                </a:solidFill>
                <a:latin typeface="Aptos" panose="020B0004020202020204" pitchFamily="34" charset="0"/>
              </a:rPr>
              <a:t>- Dragan and collaborators made early goal inference central to observer-aware motion design.</a:t>
            </a:r>
          </a:p>
          <a:p>
            <a:r>
              <a:rPr lang="en-US" sz="1200">
                <a:solidFill>
                  <a:srgbClr val="212121"/>
                </a:solidFill>
                <a:latin typeface="Aptos" panose="020B0004020202020204" pitchFamily="34" charset="0"/>
              </a:rPr>
              <a:t>- A trajectory can be efficient yet still fail to communicate intent clearly.</a:t>
            </a:r>
          </a:p>
        </p:txBody>
      </p:sp>
      <p:sp>
        <p:nvSpPr>
          <p:cNvPr id="16" name="TextBox 15">
            <a:extLst>
              <a:ext uri="{FF2B5EF4-FFF2-40B4-BE49-F238E27FC236}">
                <a16:creationId xmlns:a16="http://schemas.microsoft.com/office/drawing/2014/main" id="{68D56735-9BBF-8668-46F7-C174C12373EC}"/>
              </a:ext>
            </a:extLst>
          </p:cNvPr>
          <p:cNvSpPr txBox="1"/>
          <p:nvPr/>
        </p:nvSpPr>
        <p:spPr>
          <a:xfrm>
            <a:off x="914400" y="6324600"/>
            <a:ext cx="10414000" cy="123111"/>
          </a:xfrm>
          <a:prstGeom prst="rect">
            <a:avLst/>
          </a:prstGeom>
          <a:noFill/>
        </p:spPr>
        <p:txBody>
          <a:bodyPr vert="horz" wrap="square" lIns="0" tIns="0" rIns="0" bIns="0" rtlCol="0" anchor="t">
            <a:spAutoFit/>
          </a:bodyPr>
          <a:lstStyle/>
          <a:p>
            <a:r>
              <a:rPr lang="en-US" sz="800">
                <a:solidFill>
                  <a:srgbClr val="707070"/>
                </a:solidFill>
                <a:latin typeface="Aptos" panose="020B0004020202020204" pitchFamily="34" charset="0"/>
              </a:rPr>
              <a:t>Key prior work: Dragan and Srinivasa (RSS 2013); Dragan, Lee, and Srinivasa (HRI 2013).</a:t>
            </a:r>
          </a:p>
        </p:txBody>
      </p:sp>
    </p:spTree>
    <p:extLst>
      <p:ext uri="{BB962C8B-B14F-4D97-AF65-F5344CB8AC3E}">
        <p14:creationId xmlns:p14="http://schemas.microsoft.com/office/powerpoint/2010/main" val="37192457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BF8F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8AEEBD8-D799-2498-6D3D-1746955B216A}"/>
              </a:ext>
            </a:extLst>
          </p:cNvPr>
          <p:cNvSpPr txBox="1"/>
          <p:nvPr/>
        </p:nvSpPr>
        <p:spPr>
          <a:xfrm>
            <a:off x="508000" y="228600"/>
            <a:ext cx="10414000" cy="430887"/>
          </a:xfrm>
          <a:prstGeom prst="rect">
            <a:avLst/>
          </a:prstGeom>
          <a:noFill/>
        </p:spPr>
        <p:txBody>
          <a:bodyPr vert="horz" wrap="square" lIns="0" tIns="0" rIns="0" bIns="0" rtlCol="0" anchor="t">
            <a:spAutoFit/>
          </a:bodyPr>
          <a:lstStyle/>
          <a:p>
            <a:r>
              <a:rPr lang="en-US" sz="2800" b="1">
                <a:solidFill>
                  <a:srgbClr val="212121"/>
                </a:solidFill>
                <a:latin typeface="Aptos" panose="020B0004020202020204" pitchFamily="34" charset="0"/>
              </a:rPr>
              <a:t>Human Goal Inference And Human Studies</a:t>
            </a:r>
          </a:p>
        </p:txBody>
      </p:sp>
      <p:sp>
        <p:nvSpPr>
          <p:cNvPr id="3" name="TextBox 2">
            <a:extLst>
              <a:ext uri="{FF2B5EF4-FFF2-40B4-BE49-F238E27FC236}">
                <a16:creationId xmlns:a16="http://schemas.microsoft.com/office/drawing/2014/main" id="{EBD52AD8-A511-E8AD-19DC-01D474419ED6}"/>
              </a:ext>
            </a:extLst>
          </p:cNvPr>
          <p:cNvSpPr txBox="1"/>
          <p:nvPr/>
        </p:nvSpPr>
        <p:spPr>
          <a:xfrm>
            <a:off x="508000" y="787400"/>
            <a:ext cx="10668000" cy="169277"/>
          </a:xfrm>
          <a:prstGeom prst="rect">
            <a:avLst/>
          </a:prstGeom>
          <a:noFill/>
        </p:spPr>
        <p:txBody>
          <a:bodyPr vert="horz" wrap="square" lIns="0" tIns="0" rIns="0" bIns="0" rtlCol="0" anchor="t">
            <a:spAutoFit/>
          </a:bodyPr>
          <a:lstStyle/>
          <a:p>
            <a:r>
              <a:rPr lang="en-US" sz="1100">
                <a:solidFill>
                  <a:srgbClr val="707070"/>
                </a:solidFill>
                <a:latin typeface="Aptos" panose="020B0004020202020204" pitchFamily="34" charset="0"/>
              </a:rPr>
              <a:t>People infer robot intent from partial motion, so human studies became the standard evaluation tool</a:t>
            </a:r>
          </a:p>
        </p:txBody>
      </p:sp>
      <p:sp>
        <p:nvSpPr>
          <p:cNvPr id="4" name="Rectangle 3">
            <a:extLst>
              <a:ext uri="{FF2B5EF4-FFF2-40B4-BE49-F238E27FC236}">
                <a16:creationId xmlns:a16="http://schemas.microsoft.com/office/drawing/2014/main" id="{F32DF167-9D8F-8B79-CD3C-256581BC8813}"/>
              </a:ext>
            </a:extLst>
          </p:cNvPr>
          <p:cNvSpPr/>
          <p:nvPr/>
        </p:nvSpPr>
        <p:spPr>
          <a:xfrm>
            <a:off x="508000" y="1206500"/>
            <a:ext cx="11176000" cy="50800"/>
          </a:xfrm>
          <a:prstGeom prst="rect">
            <a:avLst/>
          </a:prstGeom>
          <a:solidFill>
            <a:srgbClr val="F6BF20"/>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58F3714E-E252-AFD4-541D-6DFD07839D88}"/>
              </a:ext>
            </a:extLst>
          </p:cNvPr>
          <p:cNvSpPr txBox="1"/>
          <p:nvPr/>
        </p:nvSpPr>
        <p:spPr>
          <a:xfrm>
            <a:off x="11430000" y="228600"/>
            <a:ext cx="304800" cy="153888"/>
          </a:xfrm>
          <a:prstGeom prst="rect">
            <a:avLst/>
          </a:prstGeom>
          <a:noFill/>
        </p:spPr>
        <p:txBody>
          <a:bodyPr vert="horz" wrap="square" lIns="0" tIns="0" rIns="0" bIns="0" rtlCol="0" anchor="t">
            <a:spAutoFit/>
          </a:bodyPr>
          <a:lstStyle/>
          <a:p>
            <a:pPr algn="r"/>
            <a:r>
              <a:rPr lang="en-US" sz="1000">
                <a:solidFill>
                  <a:srgbClr val="5C5C5C"/>
                </a:solidFill>
                <a:latin typeface="Aptos" panose="020B0004020202020204" pitchFamily="34" charset="0"/>
              </a:rPr>
              <a:t>10</a:t>
            </a:r>
          </a:p>
        </p:txBody>
      </p:sp>
      <p:sp>
        <p:nvSpPr>
          <p:cNvPr id="6" name="Rectangle: Rounded Corners 5">
            <a:extLst>
              <a:ext uri="{FF2B5EF4-FFF2-40B4-BE49-F238E27FC236}">
                <a16:creationId xmlns:a16="http://schemas.microsoft.com/office/drawing/2014/main" id="{5A93F7AD-8978-58A9-968D-A680AA992D54}"/>
              </a:ext>
            </a:extLst>
          </p:cNvPr>
          <p:cNvSpPr/>
          <p:nvPr/>
        </p:nvSpPr>
        <p:spPr>
          <a:xfrm>
            <a:off x="965200" y="1905000"/>
            <a:ext cx="3048000" cy="2159000"/>
          </a:xfrm>
          <a:prstGeom prst="roundRect">
            <a:avLst/>
          </a:prstGeom>
          <a:solidFill>
            <a:srgbClr val="FFFFFF"/>
          </a:solidFill>
          <a:ln w="19050">
            <a:solidFill>
              <a:srgbClr val="D5CEC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73BE5F65-0B6E-A52E-88D8-B0D9111FF934}"/>
              </a:ext>
            </a:extLst>
          </p:cNvPr>
          <p:cNvSpPr txBox="1"/>
          <p:nvPr/>
        </p:nvSpPr>
        <p:spPr>
          <a:xfrm>
            <a:off x="1168400" y="2082800"/>
            <a:ext cx="2641600" cy="246221"/>
          </a:xfrm>
          <a:prstGeom prst="rect">
            <a:avLst/>
          </a:prstGeom>
          <a:noFill/>
        </p:spPr>
        <p:txBody>
          <a:bodyPr vert="horz" wrap="square" lIns="0" tIns="0" rIns="0" bIns="0" rtlCol="0" anchor="t">
            <a:spAutoFit/>
          </a:bodyPr>
          <a:lstStyle/>
          <a:p>
            <a:r>
              <a:rPr lang="en-US" sz="1600" b="1">
                <a:solidFill>
                  <a:srgbClr val="212121"/>
                </a:solidFill>
                <a:latin typeface="Aptos" panose="020B0004020202020204" pitchFamily="34" charset="0"/>
              </a:rPr>
              <a:t>Partial observation</a:t>
            </a:r>
          </a:p>
        </p:txBody>
      </p:sp>
      <p:sp>
        <p:nvSpPr>
          <p:cNvPr id="8" name="TextBox 7">
            <a:extLst>
              <a:ext uri="{FF2B5EF4-FFF2-40B4-BE49-F238E27FC236}">
                <a16:creationId xmlns:a16="http://schemas.microsoft.com/office/drawing/2014/main" id="{EDA8E975-593C-9ABC-F798-8F937E34CE27}"/>
              </a:ext>
            </a:extLst>
          </p:cNvPr>
          <p:cNvSpPr txBox="1"/>
          <p:nvPr/>
        </p:nvSpPr>
        <p:spPr>
          <a:xfrm>
            <a:off x="1168400" y="2540000"/>
            <a:ext cx="2641600" cy="553998"/>
          </a:xfrm>
          <a:prstGeom prst="rect">
            <a:avLst/>
          </a:prstGeom>
          <a:noFill/>
        </p:spPr>
        <p:txBody>
          <a:bodyPr vert="horz" wrap="square" lIns="0" tIns="0" rIns="0" bIns="0" rtlCol="0" anchor="t">
            <a:spAutoFit/>
          </a:bodyPr>
          <a:lstStyle/>
          <a:p>
            <a:r>
              <a:rPr lang="en-US" sz="1200">
                <a:solidFill>
                  <a:srgbClr val="212121"/>
                </a:solidFill>
                <a:latin typeface="Aptos" panose="020B0004020202020204" pitchFamily="34" charset="0"/>
              </a:rPr>
              <a:t>Observers do not wait for task completion. They update beliefs as the trajectory unfolds.</a:t>
            </a:r>
          </a:p>
        </p:txBody>
      </p:sp>
      <p:sp>
        <p:nvSpPr>
          <p:cNvPr id="9" name="Rectangle: Rounded Corners 8">
            <a:extLst>
              <a:ext uri="{FF2B5EF4-FFF2-40B4-BE49-F238E27FC236}">
                <a16:creationId xmlns:a16="http://schemas.microsoft.com/office/drawing/2014/main" id="{7C01600C-8C6E-5102-1EFE-DA6F88D4BBFF}"/>
              </a:ext>
            </a:extLst>
          </p:cNvPr>
          <p:cNvSpPr/>
          <p:nvPr/>
        </p:nvSpPr>
        <p:spPr>
          <a:xfrm>
            <a:off x="4572000" y="1905000"/>
            <a:ext cx="3048000" cy="2159000"/>
          </a:xfrm>
          <a:prstGeom prst="roundRect">
            <a:avLst/>
          </a:prstGeom>
          <a:solidFill>
            <a:srgbClr val="EAF3FC"/>
          </a:solidFill>
          <a:ln w="19050">
            <a:solidFill>
              <a:srgbClr val="5390D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525FA27F-DCC3-78F3-4477-3162FEA42CF5}"/>
              </a:ext>
            </a:extLst>
          </p:cNvPr>
          <p:cNvSpPr txBox="1"/>
          <p:nvPr/>
        </p:nvSpPr>
        <p:spPr>
          <a:xfrm>
            <a:off x="4775200" y="2082800"/>
            <a:ext cx="2641600" cy="246221"/>
          </a:xfrm>
          <a:prstGeom prst="rect">
            <a:avLst/>
          </a:prstGeom>
          <a:noFill/>
        </p:spPr>
        <p:txBody>
          <a:bodyPr vert="horz" wrap="square" lIns="0" tIns="0" rIns="0" bIns="0" rtlCol="0" anchor="t">
            <a:spAutoFit/>
          </a:bodyPr>
          <a:lstStyle/>
          <a:p>
            <a:r>
              <a:rPr lang="en-US" sz="1600" b="1">
                <a:solidFill>
                  <a:srgbClr val="212121"/>
                </a:solidFill>
                <a:latin typeface="Aptos" panose="020B0004020202020204" pitchFamily="34" charset="0"/>
              </a:rPr>
              <a:t>Timing matters</a:t>
            </a:r>
          </a:p>
        </p:txBody>
      </p:sp>
      <p:sp>
        <p:nvSpPr>
          <p:cNvPr id="11" name="TextBox 10">
            <a:extLst>
              <a:ext uri="{FF2B5EF4-FFF2-40B4-BE49-F238E27FC236}">
                <a16:creationId xmlns:a16="http://schemas.microsoft.com/office/drawing/2014/main" id="{B51496B3-02A9-AEE6-B0CE-1336C434B582}"/>
              </a:ext>
            </a:extLst>
          </p:cNvPr>
          <p:cNvSpPr txBox="1"/>
          <p:nvPr/>
        </p:nvSpPr>
        <p:spPr>
          <a:xfrm>
            <a:off x="4775200" y="2540000"/>
            <a:ext cx="2641600" cy="553998"/>
          </a:xfrm>
          <a:prstGeom prst="rect">
            <a:avLst/>
          </a:prstGeom>
          <a:noFill/>
        </p:spPr>
        <p:txBody>
          <a:bodyPr vert="horz" wrap="square" lIns="0" tIns="0" rIns="0" bIns="0" rtlCol="0" anchor="t">
            <a:spAutoFit/>
          </a:bodyPr>
          <a:lstStyle/>
          <a:p>
            <a:r>
              <a:rPr lang="en-US" sz="1200">
                <a:solidFill>
                  <a:srgbClr val="212121"/>
                </a:solidFill>
                <a:latin typeface="Aptos" panose="020B0004020202020204" pitchFamily="34" charset="0"/>
              </a:rPr>
              <a:t>A motion is more useful for collaboration when the goal becomes clear earlier, not later.</a:t>
            </a:r>
          </a:p>
        </p:txBody>
      </p:sp>
      <p:sp>
        <p:nvSpPr>
          <p:cNvPr id="12" name="Rectangle: Rounded Corners 11">
            <a:extLst>
              <a:ext uri="{FF2B5EF4-FFF2-40B4-BE49-F238E27FC236}">
                <a16:creationId xmlns:a16="http://schemas.microsoft.com/office/drawing/2014/main" id="{DD57B9AF-3C4D-CBF4-A9A3-79A28BC9E53B}"/>
              </a:ext>
            </a:extLst>
          </p:cNvPr>
          <p:cNvSpPr/>
          <p:nvPr/>
        </p:nvSpPr>
        <p:spPr>
          <a:xfrm>
            <a:off x="8178800" y="1905000"/>
            <a:ext cx="3048000" cy="2159000"/>
          </a:xfrm>
          <a:prstGeom prst="roundRect">
            <a:avLst/>
          </a:prstGeom>
          <a:solidFill>
            <a:srgbClr val="F7EFF3"/>
          </a:solidFill>
          <a:ln w="19050">
            <a:solidFill>
              <a:srgbClr val="A63E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8BEEC255-B5B8-2ECD-B36B-3BBA1B199B34}"/>
              </a:ext>
            </a:extLst>
          </p:cNvPr>
          <p:cNvSpPr txBox="1"/>
          <p:nvPr/>
        </p:nvSpPr>
        <p:spPr>
          <a:xfrm>
            <a:off x="8382000" y="2082800"/>
            <a:ext cx="2641600" cy="246221"/>
          </a:xfrm>
          <a:prstGeom prst="rect">
            <a:avLst/>
          </a:prstGeom>
          <a:noFill/>
        </p:spPr>
        <p:txBody>
          <a:bodyPr vert="horz" wrap="square" lIns="0" tIns="0" rIns="0" bIns="0" rtlCol="0" anchor="t">
            <a:spAutoFit/>
          </a:bodyPr>
          <a:lstStyle/>
          <a:p>
            <a:r>
              <a:rPr lang="en-US" sz="1600" b="1">
                <a:solidFill>
                  <a:srgbClr val="212121"/>
                </a:solidFill>
                <a:latin typeface="Aptos" panose="020B0004020202020204" pitchFamily="34" charset="0"/>
              </a:rPr>
              <a:t>Why human studies</a:t>
            </a:r>
          </a:p>
        </p:txBody>
      </p:sp>
      <p:sp>
        <p:nvSpPr>
          <p:cNvPr id="14" name="TextBox 13">
            <a:extLst>
              <a:ext uri="{FF2B5EF4-FFF2-40B4-BE49-F238E27FC236}">
                <a16:creationId xmlns:a16="http://schemas.microsoft.com/office/drawing/2014/main" id="{295BDE9F-8881-028E-299E-AEDFA5030CEA}"/>
              </a:ext>
            </a:extLst>
          </p:cNvPr>
          <p:cNvSpPr txBox="1"/>
          <p:nvPr/>
        </p:nvSpPr>
        <p:spPr>
          <a:xfrm>
            <a:off x="8382000" y="2540000"/>
            <a:ext cx="2641600" cy="553998"/>
          </a:xfrm>
          <a:prstGeom prst="rect">
            <a:avLst/>
          </a:prstGeom>
          <a:noFill/>
        </p:spPr>
        <p:txBody>
          <a:bodyPr vert="horz" wrap="square" lIns="0" tIns="0" rIns="0" bIns="0" rtlCol="0" anchor="t">
            <a:spAutoFit/>
          </a:bodyPr>
          <a:lstStyle/>
          <a:p>
            <a:r>
              <a:rPr lang="en-US" sz="1200">
                <a:solidFill>
                  <a:srgbClr val="212121"/>
                </a:solidFill>
                <a:latin typeface="Aptos" panose="020B0004020202020204" pitchFamily="34" charset="0"/>
              </a:rPr>
              <a:t>They directly measure how accurately and how early people identify the intended goal.</a:t>
            </a:r>
          </a:p>
        </p:txBody>
      </p:sp>
      <p:sp>
        <p:nvSpPr>
          <p:cNvPr id="15" name="Rectangle: Rounded Corners 14">
            <a:extLst>
              <a:ext uri="{FF2B5EF4-FFF2-40B4-BE49-F238E27FC236}">
                <a16:creationId xmlns:a16="http://schemas.microsoft.com/office/drawing/2014/main" id="{FB54881F-0D54-9483-772E-3622ABDE80A3}"/>
              </a:ext>
            </a:extLst>
          </p:cNvPr>
          <p:cNvSpPr/>
          <p:nvPr/>
        </p:nvSpPr>
        <p:spPr>
          <a:xfrm>
            <a:off x="1168400" y="4597400"/>
            <a:ext cx="9855200" cy="1244600"/>
          </a:xfrm>
          <a:prstGeom prst="roundRect">
            <a:avLst/>
          </a:prstGeom>
          <a:solidFill>
            <a:srgbClr val="FFFFFF"/>
          </a:solidFill>
          <a:ln w="19050">
            <a:solidFill>
              <a:srgbClr val="F6BF2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6A8B53C2-2ACA-F477-A42D-ECF3CDE85058}"/>
              </a:ext>
            </a:extLst>
          </p:cNvPr>
          <p:cNvSpPr txBox="1"/>
          <p:nvPr/>
        </p:nvSpPr>
        <p:spPr>
          <a:xfrm>
            <a:off x="1397000" y="4775200"/>
            <a:ext cx="9398000" cy="184666"/>
          </a:xfrm>
          <a:prstGeom prst="rect">
            <a:avLst/>
          </a:prstGeom>
          <a:noFill/>
        </p:spPr>
        <p:txBody>
          <a:bodyPr vert="horz" wrap="square" lIns="0" tIns="0" rIns="0" bIns="0" rtlCol="0" anchor="t">
            <a:spAutoFit/>
          </a:bodyPr>
          <a:lstStyle/>
          <a:p>
            <a:r>
              <a:rPr lang="en-US" sz="1200" b="1">
                <a:solidFill>
                  <a:srgbClr val="F6BF20"/>
                </a:solidFill>
                <a:latin typeface="Aptos" panose="020B0004020202020204" pitchFamily="34" charset="0"/>
              </a:rPr>
              <a:t>Limitation of prior evaluation</a:t>
            </a:r>
          </a:p>
        </p:txBody>
      </p:sp>
      <p:sp>
        <p:nvSpPr>
          <p:cNvPr id="17" name="TextBox 16">
            <a:extLst>
              <a:ext uri="{FF2B5EF4-FFF2-40B4-BE49-F238E27FC236}">
                <a16:creationId xmlns:a16="http://schemas.microsoft.com/office/drawing/2014/main" id="{31C08613-3717-99BF-6331-0C56F97E7BB9}"/>
              </a:ext>
            </a:extLst>
          </p:cNvPr>
          <p:cNvSpPr txBox="1"/>
          <p:nvPr/>
        </p:nvSpPr>
        <p:spPr>
          <a:xfrm>
            <a:off x="1397000" y="5181600"/>
            <a:ext cx="9398000" cy="369332"/>
          </a:xfrm>
          <a:prstGeom prst="rect">
            <a:avLst/>
          </a:prstGeom>
          <a:noFill/>
        </p:spPr>
        <p:txBody>
          <a:bodyPr vert="horz" wrap="square" lIns="0" tIns="0" rIns="0" bIns="0" rtlCol="0" anchor="t">
            <a:spAutoFit/>
          </a:bodyPr>
          <a:lstStyle/>
          <a:p>
            <a:r>
              <a:rPr lang="en-US" sz="1200">
                <a:solidFill>
                  <a:srgbClr val="212121"/>
                </a:solidFill>
                <a:latin typeface="Aptos" panose="020B0004020202020204" pitchFamily="34" charset="0"/>
              </a:rPr>
              <a:t>Human-subject studies are informative and grounded in actual perception, but they are time-consuming and hard to repeat across many trajectories and task settings.</a:t>
            </a:r>
          </a:p>
        </p:txBody>
      </p:sp>
      <p:sp>
        <p:nvSpPr>
          <p:cNvPr id="18" name="TextBox 17">
            <a:extLst>
              <a:ext uri="{FF2B5EF4-FFF2-40B4-BE49-F238E27FC236}">
                <a16:creationId xmlns:a16="http://schemas.microsoft.com/office/drawing/2014/main" id="{85135414-E2FA-31A8-9D65-B2346D858A0C}"/>
              </a:ext>
            </a:extLst>
          </p:cNvPr>
          <p:cNvSpPr txBox="1"/>
          <p:nvPr/>
        </p:nvSpPr>
        <p:spPr>
          <a:xfrm>
            <a:off x="914400" y="6324600"/>
            <a:ext cx="10668000" cy="123111"/>
          </a:xfrm>
          <a:prstGeom prst="rect">
            <a:avLst/>
          </a:prstGeom>
          <a:noFill/>
        </p:spPr>
        <p:txBody>
          <a:bodyPr vert="horz" wrap="square" lIns="0" tIns="0" rIns="0" bIns="0" rtlCol="0" anchor="t">
            <a:spAutoFit/>
          </a:bodyPr>
          <a:lstStyle/>
          <a:p>
            <a:r>
              <a:rPr lang="en-US" sz="800">
                <a:solidFill>
                  <a:srgbClr val="707070"/>
                </a:solidFill>
                <a:latin typeface="Aptos" panose="020B0004020202020204" pitchFamily="34" charset="0"/>
              </a:rPr>
              <a:t>Key prior work: Dragan et al. (RSS 2013, HRI 2013, HRI 2015).</a:t>
            </a:r>
          </a:p>
        </p:txBody>
      </p:sp>
    </p:spTree>
    <p:extLst>
      <p:ext uri="{BB962C8B-B14F-4D97-AF65-F5344CB8AC3E}">
        <p14:creationId xmlns:p14="http://schemas.microsoft.com/office/powerpoint/2010/main" val="30436942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BF8F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C5BB31F-8FD7-3282-848F-37DD60911512}"/>
              </a:ext>
            </a:extLst>
          </p:cNvPr>
          <p:cNvSpPr txBox="1"/>
          <p:nvPr/>
        </p:nvSpPr>
        <p:spPr>
          <a:xfrm>
            <a:off x="508000" y="228600"/>
            <a:ext cx="10414000" cy="430887"/>
          </a:xfrm>
          <a:prstGeom prst="rect">
            <a:avLst/>
          </a:prstGeom>
          <a:noFill/>
        </p:spPr>
        <p:txBody>
          <a:bodyPr vert="horz" wrap="square" lIns="0" tIns="0" rIns="0" bIns="0" rtlCol="0" anchor="t">
            <a:spAutoFit/>
          </a:bodyPr>
          <a:lstStyle/>
          <a:p>
            <a:r>
              <a:rPr lang="en-US" sz="2800" b="1">
                <a:solidFill>
                  <a:srgbClr val="212121"/>
                </a:solidFill>
                <a:latin typeface="Aptos" panose="020B0004020202020204" pitchFamily="34" charset="0"/>
              </a:rPr>
              <a:t>Vision-Language Models For Video And Reasoning</a:t>
            </a:r>
          </a:p>
        </p:txBody>
      </p:sp>
      <p:sp>
        <p:nvSpPr>
          <p:cNvPr id="3" name="TextBox 2">
            <a:extLst>
              <a:ext uri="{FF2B5EF4-FFF2-40B4-BE49-F238E27FC236}">
                <a16:creationId xmlns:a16="http://schemas.microsoft.com/office/drawing/2014/main" id="{60F72C12-869F-E684-D304-705DCE7B35AE}"/>
              </a:ext>
            </a:extLst>
          </p:cNvPr>
          <p:cNvSpPr txBox="1"/>
          <p:nvPr/>
        </p:nvSpPr>
        <p:spPr>
          <a:xfrm>
            <a:off x="508000" y="787400"/>
            <a:ext cx="10668000" cy="169277"/>
          </a:xfrm>
          <a:prstGeom prst="rect">
            <a:avLst/>
          </a:prstGeom>
          <a:noFill/>
        </p:spPr>
        <p:txBody>
          <a:bodyPr vert="horz" wrap="square" lIns="0" tIns="0" rIns="0" bIns="0" rtlCol="0" anchor="t">
            <a:spAutoFit/>
          </a:bodyPr>
          <a:lstStyle/>
          <a:p>
            <a:r>
              <a:rPr lang="en-US" sz="1100">
                <a:solidFill>
                  <a:srgbClr val="707070"/>
                </a:solidFill>
                <a:latin typeface="Aptos" panose="020B0004020202020204" pitchFamily="34" charset="0"/>
              </a:rPr>
              <a:t>Recent multimodal models make structured visual reasoning possible, but their judgments still need validation</a:t>
            </a:r>
          </a:p>
        </p:txBody>
      </p:sp>
      <p:sp>
        <p:nvSpPr>
          <p:cNvPr id="4" name="Rectangle 3">
            <a:extLst>
              <a:ext uri="{FF2B5EF4-FFF2-40B4-BE49-F238E27FC236}">
                <a16:creationId xmlns:a16="http://schemas.microsoft.com/office/drawing/2014/main" id="{6420A11A-FA5B-302F-A6E5-71F1F2AE0CB5}"/>
              </a:ext>
            </a:extLst>
          </p:cNvPr>
          <p:cNvSpPr/>
          <p:nvPr/>
        </p:nvSpPr>
        <p:spPr>
          <a:xfrm>
            <a:off x="508000" y="1206500"/>
            <a:ext cx="11176000" cy="50800"/>
          </a:xfrm>
          <a:prstGeom prst="rect">
            <a:avLst/>
          </a:prstGeom>
          <a:solidFill>
            <a:srgbClr val="F6BF20"/>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824E47C-5930-FA05-A550-90BE1B65C5DD}"/>
              </a:ext>
            </a:extLst>
          </p:cNvPr>
          <p:cNvSpPr txBox="1"/>
          <p:nvPr/>
        </p:nvSpPr>
        <p:spPr>
          <a:xfrm>
            <a:off x="11430000" y="228600"/>
            <a:ext cx="304800" cy="153888"/>
          </a:xfrm>
          <a:prstGeom prst="rect">
            <a:avLst/>
          </a:prstGeom>
          <a:noFill/>
        </p:spPr>
        <p:txBody>
          <a:bodyPr vert="horz" wrap="square" lIns="0" tIns="0" rIns="0" bIns="0" rtlCol="0" anchor="t">
            <a:spAutoFit/>
          </a:bodyPr>
          <a:lstStyle/>
          <a:p>
            <a:pPr algn="r"/>
            <a:r>
              <a:rPr lang="en-US" sz="1000">
                <a:solidFill>
                  <a:srgbClr val="5C5C5C"/>
                </a:solidFill>
                <a:latin typeface="Aptos" panose="020B0004020202020204" pitchFamily="34" charset="0"/>
              </a:rPr>
              <a:t>11</a:t>
            </a:r>
          </a:p>
        </p:txBody>
      </p:sp>
      <p:sp>
        <p:nvSpPr>
          <p:cNvPr id="6" name="Rectangle: Rounded Corners 5">
            <a:extLst>
              <a:ext uri="{FF2B5EF4-FFF2-40B4-BE49-F238E27FC236}">
                <a16:creationId xmlns:a16="http://schemas.microsoft.com/office/drawing/2014/main" id="{4975F5C2-A904-2F59-7729-586FB065BC57}"/>
              </a:ext>
            </a:extLst>
          </p:cNvPr>
          <p:cNvSpPr/>
          <p:nvPr/>
        </p:nvSpPr>
        <p:spPr>
          <a:xfrm>
            <a:off x="965200" y="1879600"/>
            <a:ext cx="4724400" cy="2641600"/>
          </a:xfrm>
          <a:prstGeom prst="roundRect">
            <a:avLst/>
          </a:prstGeom>
          <a:solidFill>
            <a:srgbClr val="EAF3FC"/>
          </a:solidFill>
          <a:ln w="19050">
            <a:solidFill>
              <a:srgbClr val="5390D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3B7A2C90-8947-3FF7-473A-65A529B4AC22}"/>
              </a:ext>
            </a:extLst>
          </p:cNvPr>
          <p:cNvSpPr txBox="1"/>
          <p:nvPr/>
        </p:nvSpPr>
        <p:spPr>
          <a:xfrm>
            <a:off x="1168400" y="2057400"/>
            <a:ext cx="4318000" cy="276999"/>
          </a:xfrm>
          <a:prstGeom prst="rect">
            <a:avLst/>
          </a:prstGeom>
          <a:noFill/>
        </p:spPr>
        <p:txBody>
          <a:bodyPr vert="horz" wrap="square" lIns="0" tIns="0" rIns="0" bIns="0" rtlCol="0" anchor="t">
            <a:spAutoFit/>
          </a:bodyPr>
          <a:lstStyle/>
          <a:p>
            <a:r>
              <a:rPr lang="en-US" b="1">
                <a:solidFill>
                  <a:srgbClr val="212121"/>
                </a:solidFill>
                <a:latin typeface="Aptos" panose="020B0004020202020204" pitchFamily="34" charset="0"/>
              </a:rPr>
              <a:t>Why VLMs are promising</a:t>
            </a:r>
          </a:p>
        </p:txBody>
      </p:sp>
      <p:sp>
        <p:nvSpPr>
          <p:cNvPr id="8" name="TextBox 7">
            <a:extLst>
              <a:ext uri="{FF2B5EF4-FFF2-40B4-BE49-F238E27FC236}">
                <a16:creationId xmlns:a16="http://schemas.microsoft.com/office/drawing/2014/main" id="{CC325BFF-CD1B-C49D-BBCE-97390AD70930}"/>
              </a:ext>
            </a:extLst>
          </p:cNvPr>
          <p:cNvSpPr txBox="1"/>
          <p:nvPr/>
        </p:nvSpPr>
        <p:spPr>
          <a:xfrm>
            <a:off x="1168400" y="2514600"/>
            <a:ext cx="4318000" cy="600164"/>
          </a:xfrm>
          <a:prstGeom prst="rect">
            <a:avLst/>
          </a:prstGeom>
          <a:noFill/>
        </p:spPr>
        <p:txBody>
          <a:bodyPr vert="horz" wrap="square" lIns="0" tIns="0" rIns="0" bIns="0" rtlCol="0" anchor="t">
            <a:spAutoFit/>
          </a:bodyPr>
          <a:lstStyle/>
          <a:p>
            <a:r>
              <a:rPr lang="en-US" sz="1300">
                <a:solidFill>
                  <a:srgbClr val="212121"/>
                </a:solidFill>
                <a:latin typeface="Aptos" panose="020B0004020202020204" pitchFamily="34" charset="0"/>
              </a:rPr>
              <a:t>Recent multimodal models support strong visual understanding, long-context processing, and structured reasoning over visual evidence.</a:t>
            </a:r>
          </a:p>
        </p:txBody>
      </p:sp>
      <p:sp>
        <p:nvSpPr>
          <p:cNvPr id="9" name="Rectangle: Rounded Corners 8">
            <a:extLst>
              <a:ext uri="{FF2B5EF4-FFF2-40B4-BE49-F238E27FC236}">
                <a16:creationId xmlns:a16="http://schemas.microsoft.com/office/drawing/2014/main" id="{D0F691DF-9B8F-0B6B-829C-02A367C226CF}"/>
              </a:ext>
            </a:extLst>
          </p:cNvPr>
          <p:cNvSpPr/>
          <p:nvPr/>
        </p:nvSpPr>
        <p:spPr>
          <a:xfrm>
            <a:off x="6502400" y="1879600"/>
            <a:ext cx="4724400" cy="2641600"/>
          </a:xfrm>
          <a:prstGeom prst="roundRect">
            <a:avLst/>
          </a:prstGeom>
          <a:solidFill>
            <a:srgbClr val="F7EFF3"/>
          </a:solidFill>
          <a:ln w="19050">
            <a:solidFill>
              <a:srgbClr val="A63E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48058338-B646-E3D5-194E-63161F263F5F}"/>
              </a:ext>
            </a:extLst>
          </p:cNvPr>
          <p:cNvSpPr txBox="1"/>
          <p:nvPr/>
        </p:nvSpPr>
        <p:spPr>
          <a:xfrm>
            <a:off x="6705600" y="2057400"/>
            <a:ext cx="4318000" cy="276999"/>
          </a:xfrm>
          <a:prstGeom prst="rect">
            <a:avLst/>
          </a:prstGeom>
          <a:noFill/>
        </p:spPr>
        <p:txBody>
          <a:bodyPr vert="horz" wrap="square" lIns="0" tIns="0" rIns="0" bIns="0" rtlCol="0" anchor="t">
            <a:spAutoFit/>
          </a:bodyPr>
          <a:lstStyle/>
          <a:p>
            <a:r>
              <a:rPr lang="en-US" b="1">
                <a:solidFill>
                  <a:srgbClr val="212121"/>
                </a:solidFill>
                <a:latin typeface="Aptos" panose="020B0004020202020204" pitchFamily="34" charset="0"/>
              </a:rPr>
              <a:t>Why they fit this thesis</a:t>
            </a:r>
          </a:p>
        </p:txBody>
      </p:sp>
      <p:sp>
        <p:nvSpPr>
          <p:cNvPr id="11" name="TextBox 10">
            <a:extLst>
              <a:ext uri="{FF2B5EF4-FFF2-40B4-BE49-F238E27FC236}">
                <a16:creationId xmlns:a16="http://schemas.microsoft.com/office/drawing/2014/main" id="{26E00727-E6B1-2C0E-2C05-527BED36AAAC}"/>
              </a:ext>
            </a:extLst>
          </p:cNvPr>
          <p:cNvSpPr txBox="1"/>
          <p:nvPr/>
        </p:nvSpPr>
        <p:spPr>
          <a:xfrm>
            <a:off x="6705600" y="2514600"/>
            <a:ext cx="4318000" cy="600164"/>
          </a:xfrm>
          <a:prstGeom prst="rect">
            <a:avLst/>
          </a:prstGeom>
          <a:noFill/>
        </p:spPr>
        <p:txBody>
          <a:bodyPr vert="horz" wrap="square" lIns="0" tIns="0" rIns="0" bIns="0" rtlCol="0" anchor="t">
            <a:spAutoFit/>
          </a:bodyPr>
          <a:lstStyle/>
          <a:p>
            <a:r>
              <a:rPr lang="en-US" sz="1300">
                <a:solidFill>
                  <a:srgbClr val="212121"/>
                </a:solidFill>
                <a:latin typeface="Aptos" panose="020B0004020202020204" pitchFamily="34" charset="0"/>
              </a:rPr>
              <a:t>The model does not need open-ended video understanding. It only needs to infer the goal from cumulative frames as evidence grows over time.</a:t>
            </a:r>
          </a:p>
        </p:txBody>
      </p:sp>
      <p:sp>
        <p:nvSpPr>
          <p:cNvPr id="12" name="Rectangle: Rounded Corners 11">
            <a:extLst>
              <a:ext uri="{FF2B5EF4-FFF2-40B4-BE49-F238E27FC236}">
                <a16:creationId xmlns:a16="http://schemas.microsoft.com/office/drawing/2014/main" id="{DCC0A1F0-A35A-2C2B-049D-7F4752B20D93}"/>
              </a:ext>
            </a:extLst>
          </p:cNvPr>
          <p:cNvSpPr/>
          <p:nvPr/>
        </p:nvSpPr>
        <p:spPr>
          <a:xfrm>
            <a:off x="1168400" y="4927600"/>
            <a:ext cx="9855200" cy="1143000"/>
          </a:xfrm>
          <a:prstGeom prst="roundRect">
            <a:avLst/>
          </a:prstGeom>
          <a:solidFill>
            <a:srgbClr val="FFFFFF"/>
          </a:solidFill>
          <a:ln w="19050">
            <a:solidFill>
              <a:srgbClr val="F6BF2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986585C5-461C-83B7-5BE3-1AF7EEA7ABF5}"/>
              </a:ext>
            </a:extLst>
          </p:cNvPr>
          <p:cNvSpPr txBox="1"/>
          <p:nvPr/>
        </p:nvSpPr>
        <p:spPr>
          <a:xfrm>
            <a:off x="1397000" y="5105400"/>
            <a:ext cx="9398000" cy="184666"/>
          </a:xfrm>
          <a:prstGeom prst="rect">
            <a:avLst/>
          </a:prstGeom>
          <a:noFill/>
        </p:spPr>
        <p:txBody>
          <a:bodyPr vert="horz" wrap="square" lIns="0" tIns="0" rIns="0" bIns="0" rtlCol="0" anchor="t">
            <a:spAutoFit/>
          </a:bodyPr>
          <a:lstStyle/>
          <a:p>
            <a:r>
              <a:rPr lang="en-US" sz="1200" b="1">
                <a:solidFill>
                  <a:srgbClr val="F6BF20"/>
                </a:solidFill>
                <a:latin typeface="Aptos" panose="020B0004020202020204" pitchFamily="34" charset="0"/>
              </a:rPr>
              <a:t>Important caution from prior work</a:t>
            </a:r>
          </a:p>
        </p:txBody>
      </p:sp>
      <p:sp>
        <p:nvSpPr>
          <p:cNvPr id="14" name="TextBox 13">
            <a:extLst>
              <a:ext uri="{FF2B5EF4-FFF2-40B4-BE49-F238E27FC236}">
                <a16:creationId xmlns:a16="http://schemas.microsoft.com/office/drawing/2014/main" id="{834FD4A0-DE1E-AA25-A6A8-76016344B475}"/>
              </a:ext>
            </a:extLst>
          </p:cNvPr>
          <p:cNvSpPr txBox="1"/>
          <p:nvPr/>
        </p:nvSpPr>
        <p:spPr>
          <a:xfrm>
            <a:off x="1397000" y="5511800"/>
            <a:ext cx="9398000" cy="369332"/>
          </a:xfrm>
          <a:prstGeom prst="rect">
            <a:avLst/>
          </a:prstGeom>
          <a:noFill/>
        </p:spPr>
        <p:txBody>
          <a:bodyPr vert="horz" wrap="square" lIns="0" tIns="0" rIns="0" bIns="0" rtlCol="0" anchor="t">
            <a:spAutoFit/>
          </a:bodyPr>
          <a:lstStyle/>
          <a:p>
            <a:r>
              <a:rPr lang="en-US" sz="1200">
                <a:solidFill>
                  <a:srgbClr val="212121"/>
                </a:solidFill>
                <a:latin typeface="Aptos" panose="020B0004020202020204" pitchFamily="34" charset="0"/>
              </a:rPr>
              <a:t>A VLM is not treated as a replacement for human reasoning. Its outputs depend on prompting, representation choices, and model-specific biases, so direct human comparison is necessary.</a:t>
            </a:r>
          </a:p>
        </p:txBody>
      </p:sp>
      <p:sp>
        <p:nvSpPr>
          <p:cNvPr id="15" name="TextBox 14">
            <a:extLst>
              <a:ext uri="{FF2B5EF4-FFF2-40B4-BE49-F238E27FC236}">
                <a16:creationId xmlns:a16="http://schemas.microsoft.com/office/drawing/2014/main" id="{99B8A9E7-6B46-69BA-C27F-269390012D3F}"/>
              </a:ext>
            </a:extLst>
          </p:cNvPr>
          <p:cNvSpPr txBox="1"/>
          <p:nvPr/>
        </p:nvSpPr>
        <p:spPr>
          <a:xfrm>
            <a:off x="914400" y="6324600"/>
            <a:ext cx="10668000" cy="123111"/>
          </a:xfrm>
          <a:prstGeom prst="rect">
            <a:avLst/>
          </a:prstGeom>
          <a:noFill/>
        </p:spPr>
        <p:txBody>
          <a:bodyPr vert="horz" wrap="square" lIns="0" tIns="0" rIns="0" bIns="0" rtlCol="0" anchor="t">
            <a:spAutoFit/>
          </a:bodyPr>
          <a:lstStyle/>
          <a:p>
            <a:r>
              <a:rPr lang="en-US" sz="800">
                <a:solidFill>
                  <a:srgbClr val="707070"/>
                </a:solidFill>
                <a:latin typeface="Aptos" panose="020B0004020202020204" pitchFamily="34" charset="0"/>
              </a:rPr>
              <a:t>Key prior work: Gemini Team (2025) and recent multimodal video-language reasoning literature.</a:t>
            </a:r>
          </a:p>
        </p:txBody>
      </p:sp>
    </p:spTree>
    <p:extLst>
      <p:ext uri="{BB962C8B-B14F-4D97-AF65-F5344CB8AC3E}">
        <p14:creationId xmlns:p14="http://schemas.microsoft.com/office/powerpoint/2010/main" val="4581371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BF8F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9947D1B-8FBE-BAD2-FBD5-6A1A050E1856}"/>
              </a:ext>
            </a:extLst>
          </p:cNvPr>
          <p:cNvSpPr txBox="1"/>
          <p:nvPr/>
        </p:nvSpPr>
        <p:spPr>
          <a:xfrm>
            <a:off x="508000" y="228600"/>
            <a:ext cx="10414000" cy="430887"/>
          </a:xfrm>
          <a:prstGeom prst="rect">
            <a:avLst/>
          </a:prstGeom>
          <a:noFill/>
        </p:spPr>
        <p:txBody>
          <a:bodyPr vert="horz" wrap="square" lIns="0" tIns="0" rIns="0" bIns="0" rtlCol="0" anchor="t">
            <a:spAutoFit/>
          </a:bodyPr>
          <a:lstStyle/>
          <a:p>
            <a:r>
              <a:rPr lang="en-US" sz="2800" b="1">
                <a:solidFill>
                  <a:srgbClr val="212121"/>
                </a:solidFill>
                <a:latin typeface="Aptos" panose="020B0004020202020204" pitchFamily="34" charset="0"/>
              </a:rPr>
              <a:t>Diffusion Policies, Steering, And The Gap</a:t>
            </a:r>
          </a:p>
        </p:txBody>
      </p:sp>
      <p:sp>
        <p:nvSpPr>
          <p:cNvPr id="3" name="TextBox 2">
            <a:extLst>
              <a:ext uri="{FF2B5EF4-FFF2-40B4-BE49-F238E27FC236}">
                <a16:creationId xmlns:a16="http://schemas.microsoft.com/office/drawing/2014/main" id="{FE13CD74-FC89-8356-9DAB-23F4E21C9DDF}"/>
              </a:ext>
            </a:extLst>
          </p:cNvPr>
          <p:cNvSpPr txBox="1"/>
          <p:nvPr/>
        </p:nvSpPr>
        <p:spPr>
          <a:xfrm>
            <a:off x="508000" y="787400"/>
            <a:ext cx="10668000" cy="169277"/>
          </a:xfrm>
          <a:prstGeom prst="rect">
            <a:avLst/>
          </a:prstGeom>
          <a:noFill/>
        </p:spPr>
        <p:txBody>
          <a:bodyPr vert="horz" wrap="square" lIns="0" tIns="0" rIns="0" bIns="0" rtlCol="0" anchor="t">
            <a:spAutoFit/>
          </a:bodyPr>
          <a:lstStyle/>
          <a:p>
            <a:r>
              <a:rPr lang="en-US" sz="1100">
                <a:solidFill>
                  <a:srgbClr val="707070"/>
                </a:solidFill>
                <a:latin typeface="Aptos" panose="020B0004020202020204" pitchFamily="34" charset="0"/>
              </a:rPr>
              <a:t>Generative robot policies can support legible motion, but the evaluation signal still needs validation</a:t>
            </a:r>
          </a:p>
        </p:txBody>
      </p:sp>
      <p:sp>
        <p:nvSpPr>
          <p:cNvPr id="4" name="Rectangle 3">
            <a:extLst>
              <a:ext uri="{FF2B5EF4-FFF2-40B4-BE49-F238E27FC236}">
                <a16:creationId xmlns:a16="http://schemas.microsoft.com/office/drawing/2014/main" id="{707756EF-D21F-B477-70B0-493653362A1F}"/>
              </a:ext>
            </a:extLst>
          </p:cNvPr>
          <p:cNvSpPr/>
          <p:nvPr/>
        </p:nvSpPr>
        <p:spPr>
          <a:xfrm>
            <a:off x="508000" y="1206500"/>
            <a:ext cx="11176000" cy="50800"/>
          </a:xfrm>
          <a:prstGeom prst="rect">
            <a:avLst/>
          </a:prstGeom>
          <a:solidFill>
            <a:srgbClr val="F6BF20"/>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739E6EC5-4051-005C-5D54-10BB698B2308}"/>
              </a:ext>
            </a:extLst>
          </p:cNvPr>
          <p:cNvSpPr txBox="1"/>
          <p:nvPr/>
        </p:nvSpPr>
        <p:spPr>
          <a:xfrm>
            <a:off x="11430000" y="228600"/>
            <a:ext cx="304800" cy="153888"/>
          </a:xfrm>
          <a:prstGeom prst="rect">
            <a:avLst/>
          </a:prstGeom>
          <a:noFill/>
        </p:spPr>
        <p:txBody>
          <a:bodyPr vert="horz" wrap="square" lIns="0" tIns="0" rIns="0" bIns="0" rtlCol="0" anchor="t">
            <a:spAutoFit/>
          </a:bodyPr>
          <a:lstStyle/>
          <a:p>
            <a:pPr algn="r"/>
            <a:r>
              <a:rPr lang="en-US" sz="1000">
                <a:solidFill>
                  <a:srgbClr val="5C5C5C"/>
                </a:solidFill>
                <a:latin typeface="Aptos" panose="020B0004020202020204" pitchFamily="34" charset="0"/>
              </a:rPr>
              <a:t>12</a:t>
            </a:r>
          </a:p>
        </p:txBody>
      </p:sp>
      <p:sp>
        <p:nvSpPr>
          <p:cNvPr id="6" name="Rectangle: Rounded Corners 5">
            <a:extLst>
              <a:ext uri="{FF2B5EF4-FFF2-40B4-BE49-F238E27FC236}">
                <a16:creationId xmlns:a16="http://schemas.microsoft.com/office/drawing/2014/main" id="{FB7DAA68-52DD-A87A-3049-76F996B03729}"/>
              </a:ext>
            </a:extLst>
          </p:cNvPr>
          <p:cNvSpPr/>
          <p:nvPr/>
        </p:nvSpPr>
        <p:spPr>
          <a:xfrm>
            <a:off x="965200" y="1905000"/>
            <a:ext cx="3048000" cy="2133600"/>
          </a:xfrm>
          <a:prstGeom prst="roundRect">
            <a:avLst/>
          </a:prstGeom>
          <a:solidFill>
            <a:srgbClr val="FFFFFF"/>
          </a:solidFill>
          <a:ln w="19050">
            <a:solidFill>
              <a:srgbClr val="D5CEC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700E4B29-9943-6D90-EECC-473202BFFEA0}"/>
              </a:ext>
            </a:extLst>
          </p:cNvPr>
          <p:cNvSpPr txBox="1"/>
          <p:nvPr/>
        </p:nvSpPr>
        <p:spPr>
          <a:xfrm>
            <a:off x="1168400" y="2082800"/>
            <a:ext cx="2641600" cy="246221"/>
          </a:xfrm>
          <a:prstGeom prst="rect">
            <a:avLst/>
          </a:prstGeom>
          <a:noFill/>
        </p:spPr>
        <p:txBody>
          <a:bodyPr vert="horz" wrap="square" lIns="0" tIns="0" rIns="0" bIns="0" rtlCol="0" anchor="t">
            <a:spAutoFit/>
          </a:bodyPr>
          <a:lstStyle/>
          <a:p>
            <a:r>
              <a:rPr lang="en-US" sz="1600" b="1">
                <a:solidFill>
                  <a:srgbClr val="212121"/>
                </a:solidFill>
                <a:latin typeface="Aptos" panose="020B0004020202020204" pitchFamily="34" charset="0"/>
              </a:rPr>
              <a:t>Diffusion policies</a:t>
            </a:r>
          </a:p>
        </p:txBody>
      </p:sp>
      <p:sp>
        <p:nvSpPr>
          <p:cNvPr id="8" name="TextBox 7">
            <a:extLst>
              <a:ext uri="{FF2B5EF4-FFF2-40B4-BE49-F238E27FC236}">
                <a16:creationId xmlns:a16="http://schemas.microsoft.com/office/drawing/2014/main" id="{D63FDCD6-6450-7D89-ED83-EB1A6A088ED6}"/>
              </a:ext>
            </a:extLst>
          </p:cNvPr>
          <p:cNvSpPr txBox="1"/>
          <p:nvPr/>
        </p:nvSpPr>
        <p:spPr>
          <a:xfrm>
            <a:off x="1168400" y="2540000"/>
            <a:ext cx="2641600" cy="553998"/>
          </a:xfrm>
          <a:prstGeom prst="rect">
            <a:avLst/>
          </a:prstGeom>
          <a:noFill/>
        </p:spPr>
        <p:txBody>
          <a:bodyPr vert="horz" wrap="square" lIns="0" tIns="0" rIns="0" bIns="0" rtlCol="0" anchor="t">
            <a:spAutoFit/>
          </a:bodyPr>
          <a:lstStyle/>
          <a:p>
            <a:r>
              <a:rPr lang="en-US" sz="1200">
                <a:solidFill>
                  <a:srgbClr val="212121"/>
                </a:solidFill>
                <a:latin typeface="Aptos" panose="020B0004020202020204" pitchFamily="34" charset="0"/>
              </a:rPr>
              <a:t>They model multiple valid action trajectories from demonstrations instead of a single deterministic action.</a:t>
            </a:r>
          </a:p>
        </p:txBody>
      </p:sp>
      <p:sp>
        <p:nvSpPr>
          <p:cNvPr id="9" name="Rectangle: Rounded Corners 8">
            <a:extLst>
              <a:ext uri="{FF2B5EF4-FFF2-40B4-BE49-F238E27FC236}">
                <a16:creationId xmlns:a16="http://schemas.microsoft.com/office/drawing/2014/main" id="{77630CA6-DFDE-75C4-7649-268CF57618DB}"/>
              </a:ext>
            </a:extLst>
          </p:cNvPr>
          <p:cNvSpPr/>
          <p:nvPr/>
        </p:nvSpPr>
        <p:spPr>
          <a:xfrm>
            <a:off x="4572000" y="1905000"/>
            <a:ext cx="3048000" cy="2133600"/>
          </a:xfrm>
          <a:prstGeom prst="roundRect">
            <a:avLst/>
          </a:prstGeom>
          <a:solidFill>
            <a:srgbClr val="EAF3FC"/>
          </a:solidFill>
          <a:ln w="19050">
            <a:solidFill>
              <a:srgbClr val="5390D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7A7A0654-622E-6639-2829-D4FAED682994}"/>
              </a:ext>
            </a:extLst>
          </p:cNvPr>
          <p:cNvSpPr txBox="1"/>
          <p:nvPr/>
        </p:nvSpPr>
        <p:spPr>
          <a:xfrm>
            <a:off x="4775200" y="2082800"/>
            <a:ext cx="2641600" cy="246221"/>
          </a:xfrm>
          <a:prstGeom prst="rect">
            <a:avLst/>
          </a:prstGeom>
          <a:noFill/>
        </p:spPr>
        <p:txBody>
          <a:bodyPr vert="horz" wrap="square" lIns="0" tIns="0" rIns="0" bIns="0" rtlCol="0" anchor="t">
            <a:spAutoFit/>
          </a:bodyPr>
          <a:lstStyle/>
          <a:p>
            <a:r>
              <a:rPr lang="en-US" sz="1600" b="1">
                <a:solidFill>
                  <a:srgbClr val="212121"/>
                </a:solidFill>
                <a:latin typeface="Aptos" panose="020B0004020202020204" pitchFamily="34" charset="0"/>
              </a:rPr>
              <a:t>Inference-time steering</a:t>
            </a:r>
          </a:p>
        </p:txBody>
      </p:sp>
      <p:sp>
        <p:nvSpPr>
          <p:cNvPr id="11" name="TextBox 10">
            <a:extLst>
              <a:ext uri="{FF2B5EF4-FFF2-40B4-BE49-F238E27FC236}">
                <a16:creationId xmlns:a16="http://schemas.microsoft.com/office/drawing/2014/main" id="{04111E77-23D3-BE19-2804-5392744DD664}"/>
              </a:ext>
            </a:extLst>
          </p:cNvPr>
          <p:cNvSpPr txBox="1"/>
          <p:nvPr/>
        </p:nvSpPr>
        <p:spPr>
          <a:xfrm>
            <a:off x="4775200" y="2540000"/>
            <a:ext cx="2641600" cy="553998"/>
          </a:xfrm>
          <a:prstGeom prst="rect">
            <a:avLst/>
          </a:prstGeom>
          <a:noFill/>
        </p:spPr>
        <p:txBody>
          <a:bodyPr vert="horz" wrap="square" lIns="0" tIns="0" rIns="0" bIns="0" rtlCol="0" anchor="t">
            <a:spAutoFit/>
          </a:bodyPr>
          <a:lstStyle/>
          <a:p>
            <a:r>
              <a:rPr lang="en-US" sz="1200">
                <a:solidFill>
                  <a:srgbClr val="212121"/>
                </a:solidFill>
                <a:latin typeface="Aptos" panose="020B0004020202020204" pitchFamily="34" charset="0"/>
              </a:rPr>
              <a:t>Sampling can be biased toward desired properties without retraining the policy from scratch.</a:t>
            </a:r>
          </a:p>
        </p:txBody>
      </p:sp>
      <p:sp>
        <p:nvSpPr>
          <p:cNvPr id="12" name="Rectangle: Rounded Corners 11">
            <a:extLst>
              <a:ext uri="{FF2B5EF4-FFF2-40B4-BE49-F238E27FC236}">
                <a16:creationId xmlns:a16="http://schemas.microsoft.com/office/drawing/2014/main" id="{431FBB14-93D5-EA20-9184-3EE7B6BDE299}"/>
              </a:ext>
            </a:extLst>
          </p:cNvPr>
          <p:cNvSpPr/>
          <p:nvPr/>
        </p:nvSpPr>
        <p:spPr>
          <a:xfrm>
            <a:off x="8178800" y="1905000"/>
            <a:ext cx="3048000" cy="2133600"/>
          </a:xfrm>
          <a:prstGeom prst="roundRect">
            <a:avLst/>
          </a:prstGeom>
          <a:solidFill>
            <a:srgbClr val="F7EFF3"/>
          </a:solidFill>
          <a:ln w="19050">
            <a:solidFill>
              <a:srgbClr val="A63E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2ECBFCC5-B7DF-D03E-63E2-3EFC093B7D9F}"/>
              </a:ext>
            </a:extLst>
          </p:cNvPr>
          <p:cNvSpPr txBox="1"/>
          <p:nvPr/>
        </p:nvSpPr>
        <p:spPr>
          <a:xfrm>
            <a:off x="8382000" y="2082800"/>
            <a:ext cx="2641600" cy="246221"/>
          </a:xfrm>
          <a:prstGeom prst="rect">
            <a:avLst/>
          </a:prstGeom>
          <a:noFill/>
        </p:spPr>
        <p:txBody>
          <a:bodyPr vert="horz" wrap="square" lIns="0" tIns="0" rIns="0" bIns="0" rtlCol="0" anchor="t">
            <a:spAutoFit/>
          </a:bodyPr>
          <a:lstStyle/>
          <a:p>
            <a:r>
              <a:rPr lang="en-US" sz="1600" b="1">
                <a:solidFill>
                  <a:srgbClr val="212121"/>
                </a:solidFill>
                <a:latin typeface="Aptos" panose="020B0004020202020204" pitchFamily="34" charset="0"/>
              </a:rPr>
              <a:t>Recent intent work</a:t>
            </a:r>
          </a:p>
        </p:txBody>
      </p:sp>
      <p:sp>
        <p:nvSpPr>
          <p:cNvPr id="14" name="TextBox 13">
            <a:extLst>
              <a:ext uri="{FF2B5EF4-FFF2-40B4-BE49-F238E27FC236}">
                <a16:creationId xmlns:a16="http://schemas.microsoft.com/office/drawing/2014/main" id="{BB7E9883-CE52-6AC5-BB66-BA6EEFCAD542}"/>
              </a:ext>
            </a:extLst>
          </p:cNvPr>
          <p:cNvSpPr txBox="1"/>
          <p:nvPr/>
        </p:nvSpPr>
        <p:spPr>
          <a:xfrm>
            <a:off x="8382000" y="2540000"/>
            <a:ext cx="2641600" cy="553998"/>
          </a:xfrm>
          <a:prstGeom prst="rect">
            <a:avLst/>
          </a:prstGeom>
          <a:noFill/>
        </p:spPr>
        <p:txBody>
          <a:bodyPr vert="horz" wrap="square" lIns="0" tIns="0" rIns="0" bIns="0" rtlCol="0" anchor="t">
            <a:spAutoFit/>
          </a:bodyPr>
          <a:lstStyle/>
          <a:p>
            <a:r>
              <a:rPr lang="en-US" sz="1200">
                <a:solidFill>
                  <a:srgbClr val="212121"/>
                </a:solidFill>
                <a:latin typeface="Aptos" panose="020B0004020202020204" pitchFamily="34" charset="0"/>
              </a:rPr>
              <a:t>New diffusion-based methods suggest that robot motion can be shaped to better express intent.</a:t>
            </a:r>
          </a:p>
        </p:txBody>
      </p:sp>
      <p:sp>
        <p:nvSpPr>
          <p:cNvPr id="15" name="Rectangle: Rounded Corners 14">
            <a:extLst>
              <a:ext uri="{FF2B5EF4-FFF2-40B4-BE49-F238E27FC236}">
                <a16:creationId xmlns:a16="http://schemas.microsoft.com/office/drawing/2014/main" id="{EB166A1D-811D-1F0C-03E8-D5ED19C18C9E}"/>
              </a:ext>
            </a:extLst>
          </p:cNvPr>
          <p:cNvSpPr/>
          <p:nvPr/>
        </p:nvSpPr>
        <p:spPr>
          <a:xfrm>
            <a:off x="1168400" y="4521200"/>
            <a:ext cx="9855200" cy="1473200"/>
          </a:xfrm>
          <a:prstGeom prst="roundRect">
            <a:avLst/>
          </a:prstGeom>
          <a:solidFill>
            <a:srgbClr val="FFFFFF"/>
          </a:solidFill>
          <a:ln w="19050">
            <a:solidFill>
              <a:srgbClr val="F6BF2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4D20D076-9A6F-5B8D-B148-D6A9B8122B2B}"/>
              </a:ext>
            </a:extLst>
          </p:cNvPr>
          <p:cNvSpPr txBox="1"/>
          <p:nvPr/>
        </p:nvSpPr>
        <p:spPr>
          <a:xfrm>
            <a:off x="1397000" y="4699000"/>
            <a:ext cx="9398000" cy="184666"/>
          </a:xfrm>
          <a:prstGeom prst="rect">
            <a:avLst/>
          </a:prstGeom>
          <a:noFill/>
        </p:spPr>
        <p:txBody>
          <a:bodyPr vert="horz" wrap="square" lIns="0" tIns="0" rIns="0" bIns="0" rtlCol="0" anchor="t">
            <a:spAutoFit/>
          </a:bodyPr>
          <a:lstStyle/>
          <a:p>
            <a:r>
              <a:rPr lang="en-US" sz="1200" b="1">
                <a:solidFill>
                  <a:srgbClr val="F6BF20"/>
                </a:solidFill>
                <a:latin typeface="Aptos" panose="020B0004020202020204" pitchFamily="34" charset="0"/>
              </a:rPr>
              <a:t>Open gap that motivates this thesis</a:t>
            </a:r>
          </a:p>
        </p:txBody>
      </p:sp>
      <p:sp>
        <p:nvSpPr>
          <p:cNvPr id="17" name="TextBox 16">
            <a:extLst>
              <a:ext uri="{FF2B5EF4-FFF2-40B4-BE49-F238E27FC236}">
                <a16:creationId xmlns:a16="http://schemas.microsoft.com/office/drawing/2014/main" id="{B78C3409-3F76-9841-82E8-09478F8803B6}"/>
              </a:ext>
            </a:extLst>
          </p:cNvPr>
          <p:cNvSpPr txBox="1"/>
          <p:nvPr/>
        </p:nvSpPr>
        <p:spPr>
          <a:xfrm>
            <a:off x="1397000" y="5105400"/>
            <a:ext cx="9398000" cy="369332"/>
          </a:xfrm>
          <a:prstGeom prst="rect">
            <a:avLst/>
          </a:prstGeom>
          <a:noFill/>
        </p:spPr>
        <p:txBody>
          <a:bodyPr vert="horz" wrap="square" lIns="0" tIns="0" rIns="0" bIns="0" rtlCol="0" anchor="t">
            <a:spAutoFit/>
          </a:bodyPr>
          <a:lstStyle/>
          <a:p>
            <a:r>
              <a:rPr lang="en-US" sz="1200">
                <a:solidFill>
                  <a:srgbClr val="212121"/>
                </a:solidFill>
                <a:latin typeface="Aptos" panose="020B0004020202020204" pitchFamily="34" charset="0"/>
              </a:rPr>
              <a:t>Prior work does not yet show whether a VLM aligns well enough with human goal inference from partial robot motion to serve as a scalable legibility evaluator. This thesis studies that alignment first.</a:t>
            </a:r>
          </a:p>
        </p:txBody>
      </p:sp>
      <p:sp>
        <p:nvSpPr>
          <p:cNvPr id="18" name="TextBox 17">
            <a:extLst>
              <a:ext uri="{FF2B5EF4-FFF2-40B4-BE49-F238E27FC236}">
                <a16:creationId xmlns:a16="http://schemas.microsoft.com/office/drawing/2014/main" id="{8A87218A-A858-F601-C9E0-209C3E15E9B6}"/>
              </a:ext>
            </a:extLst>
          </p:cNvPr>
          <p:cNvSpPr txBox="1"/>
          <p:nvPr/>
        </p:nvSpPr>
        <p:spPr>
          <a:xfrm>
            <a:off x="914400" y="6324600"/>
            <a:ext cx="10922000" cy="123111"/>
          </a:xfrm>
          <a:prstGeom prst="rect">
            <a:avLst/>
          </a:prstGeom>
          <a:noFill/>
        </p:spPr>
        <p:txBody>
          <a:bodyPr vert="horz" wrap="square" lIns="0" tIns="0" rIns="0" bIns="0" rtlCol="0" anchor="t">
            <a:spAutoFit/>
          </a:bodyPr>
          <a:lstStyle/>
          <a:p>
            <a:r>
              <a:rPr lang="en-US" sz="800">
                <a:solidFill>
                  <a:srgbClr val="707070"/>
                </a:solidFill>
                <a:latin typeface="Aptos" panose="020B0004020202020204" pitchFamily="34" charset="0"/>
              </a:rPr>
              <a:t>Key prior work: Chi et al. (2023); Ho and Salimans (2022); Bronars et al. (2024); Shi et al. (2025).</a:t>
            </a:r>
          </a:p>
        </p:txBody>
      </p:sp>
    </p:spTree>
    <p:extLst>
      <p:ext uri="{BB962C8B-B14F-4D97-AF65-F5344CB8AC3E}">
        <p14:creationId xmlns:p14="http://schemas.microsoft.com/office/powerpoint/2010/main" val="38400959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BF8F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38EA0BA-4AA9-2F3E-DCB4-FE4A4DE5F41A}"/>
              </a:ext>
            </a:extLst>
          </p:cNvPr>
          <p:cNvSpPr txBox="1"/>
          <p:nvPr/>
        </p:nvSpPr>
        <p:spPr>
          <a:xfrm>
            <a:off x="508000" y="228600"/>
            <a:ext cx="10414000" cy="430887"/>
          </a:xfrm>
          <a:prstGeom prst="rect">
            <a:avLst/>
          </a:prstGeom>
          <a:noFill/>
        </p:spPr>
        <p:txBody>
          <a:bodyPr vert="horz" wrap="square" lIns="0" tIns="0" rIns="0" bIns="0" rtlCol="0" anchor="t">
            <a:spAutoFit/>
          </a:bodyPr>
          <a:lstStyle/>
          <a:p>
            <a:r>
              <a:rPr lang="en-US" sz="2800" b="1">
                <a:solidFill>
                  <a:srgbClr val="212121"/>
                </a:solidFill>
                <a:latin typeface="Aptos" panose="020B0004020202020204" pitchFamily="34" charset="0"/>
              </a:rPr>
              <a:t>Overall Thesis Pipeline</a:t>
            </a:r>
          </a:p>
        </p:txBody>
      </p:sp>
      <p:sp>
        <p:nvSpPr>
          <p:cNvPr id="3" name="TextBox 2">
            <a:extLst>
              <a:ext uri="{FF2B5EF4-FFF2-40B4-BE49-F238E27FC236}">
                <a16:creationId xmlns:a16="http://schemas.microsoft.com/office/drawing/2014/main" id="{5FE8550F-5CE1-E13B-BE70-6DD6F7A94C28}"/>
              </a:ext>
            </a:extLst>
          </p:cNvPr>
          <p:cNvSpPr txBox="1"/>
          <p:nvPr/>
        </p:nvSpPr>
        <p:spPr>
          <a:xfrm>
            <a:off x="508000" y="787400"/>
            <a:ext cx="10668000" cy="169277"/>
          </a:xfrm>
          <a:prstGeom prst="rect">
            <a:avLst/>
          </a:prstGeom>
          <a:noFill/>
        </p:spPr>
        <p:txBody>
          <a:bodyPr vert="horz" wrap="square" lIns="0" tIns="0" rIns="0" bIns="0" rtlCol="0" anchor="t">
            <a:spAutoFit/>
          </a:bodyPr>
          <a:lstStyle/>
          <a:p>
            <a:r>
              <a:rPr lang="en-US" sz="1100">
                <a:solidFill>
                  <a:srgbClr val="707070"/>
                </a:solidFill>
                <a:latin typeface="Aptos" panose="020B0004020202020204" pitchFamily="34" charset="0"/>
              </a:rPr>
              <a:t>One shared video source feeds both the Gemini evaluator and the pilot study, then the outputs are compared</a:t>
            </a:r>
          </a:p>
        </p:txBody>
      </p:sp>
      <p:sp>
        <p:nvSpPr>
          <p:cNvPr id="4" name="Rectangle 3">
            <a:extLst>
              <a:ext uri="{FF2B5EF4-FFF2-40B4-BE49-F238E27FC236}">
                <a16:creationId xmlns:a16="http://schemas.microsoft.com/office/drawing/2014/main" id="{450C1F9E-CEDE-9295-AC1B-410047C065F9}"/>
              </a:ext>
            </a:extLst>
          </p:cNvPr>
          <p:cNvSpPr/>
          <p:nvPr/>
        </p:nvSpPr>
        <p:spPr>
          <a:xfrm>
            <a:off x="508000" y="1206500"/>
            <a:ext cx="11176000" cy="50800"/>
          </a:xfrm>
          <a:prstGeom prst="rect">
            <a:avLst/>
          </a:prstGeom>
          <a:solidFill>
            <a:srgbClr val="F6BF20"/>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7626E519-39E1-31D7-D5C6-6E5FB74714E6}"/>
              </a:ext>
            </a:extLst>
          </p:cNvPr>
          <p:cNvSpPr txBox="1"/>
          <p:nvPr/>
        </p:nvSpPr>
        <p:spPr>
          <a:xfrm>
            <a:off x="11430000" y="228600"/>
            <a:ext cx="304800" cy="153888"/>
          </a:xfrm>
          <a:prstGeom prst="rect">
            <a:avLst/>
          </a:prstGeom>
          <a:noFill/>
        </p:spPr>
        <p:txBody>
          <a:bodyPr vert="horz" wrap="square" lIns="0" tIns="0" rIns="0" bIns="0" rtlCol="0" anchor="t">
            <a:spAutoFit/>
          </a:bodyPr>
          <a:lstStyle/>
          <a:p>
            <a:pPr algn="r"/>
            <a:r>
              <a:rPr lang="en-US" sz="1000">
                <a:solidFill>
                  <a:srgbClr val="5C5C5C"/>
                </a:solidFill>
                <a:latin typeface="Aptos" panose="020B0004020202020204" pitchFamily="34" charset="0"/>
              </a:rPr>
              <a:t>13</a:t>
            </a:r>
          </a:p>
        </p:txBody>
      </p:sp>
      <p:sp>
        <p:nvSpPr>
          <p:cNvPr id="6" name="Rectangle: Rounded Corners 5">
            <a:extLst>
              <a:ext uri="{FF2B5EF4-FFF2-40B4-BE49-F238E27FC236}">
                <a16:creationId xmlns:a16="http://schemas.microsoft.com/office/drawing/2014/main" id="{FF9447D5-0B71-A9D0-6B9A-F63787D6653D}"/>
              </a:ext>
            </a:extLst>
          </p:cNvPr>
          <p:cNvSpPr/>
          <p:nvPr/>
        </p:nvSpPr>
        <p:spPr>
          <a:xfrm>
            <a:off x="1524000" y="1676400"/>
            <a:ext cx="3810000" cy="990600"/>
          </a:xfrm>
          <a:prstGeom prst="roundRect">
            <a:avLst/>
          </a:prstGeom>
          <a:solidFill>
            <a:srgbClr val="FFFFFF"/>
          </a:solidFill>
          <a:ln w="19050">
            <a:solidFill>
              <a:srgbClr val="D5CEC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4DFB83C5-29F6-48A2-6BFE-8B1D162E3A25}"/>
              </a:ext>
            </a:extLst>
          </p:cNvPr>
          <p:cNvSpPr txBox="1"/>
          <p:nvPr/>
        </p:nvSpPr>
        <p:spPr>
          <a:xfrm>
            <a:off x="1727200" y="1854200"/>
            <a:ext cx="3403600" cy="246221"/>
          </a:xfrm>
          <a:prstGeom prst="rect">
            <a:avLst/>
          </a:prstGeom>
          <a:noFill/>
        </p:spPr>
        <p:txBody>
          <a:bodyPr vert="horz" wrap="square" lIns="0" tIns="0" rIns="0" bIns="0" rtlCol="0" anchor="t">
            <a:spAutoFit/>
          </a:bodyPr>
          <a:lstStyle/>
          <a:p>
            <a:r>
              <a:rPr lang="en-US" sz="1600" b="1">
                <a:solidFill>
                  <a:srgbClr val="212121"/>
                </a:solidFill>
                <a:latin typeface="Aptos" panose="020B0004020202020204" pitchFamily="34" charset="0"/>
              </a:rPr>
              <a:t>Robot task videos</a:t>
            </a:r>
          </a:p>
        </p:txBody>
      </p:sp>
      <p:sp>
        <p:nvSpPr>
          <p:cNvPr id="8" name="TextBox 7">
            <a:extLst>
              <a:ext uri="{FF2B5EF4-FFF2-40B4-BE49-F238E27FC236}">
                <a16:creationId xmlns:a16="http://schemas.microsoft.com/office/drawing/2014/main" id="{023EC75F-C342-6896-C458-93C2DBCE7CB2}"/>
              </a:ext>
            </a:extLst>
          </p:cNvPr>
          <p:cNvSpPr txBox="1"/>
          <p:nvPr/>
        </p:nvSpPr>
        <p:spPr>
          <a:xfrm>
            <a:off x="1727200" y="2286000"/>
            <a:ext cx="3403600" cy="338554"/>
          </a:xfrm>
          <a:prstGeom prst="rect">
            <a:avLst/>
          </a:prstGeom>
          <a:noFill/>
        </p:spPr>
        <p:txBody>
          <a:bodyPr vert="horz" wrap="square" lIns="0" tIns="0" rIns="0" bIns="0" rtlCol="0" anchor="t">
            <a:spAutoFit/>
          </a:bodyPr>
          <a:lstStyle/>
          <a:p>
            <a:r>
              <a:rPr lang="en-US" sz="1100">
                <a:solidFill>
                  <a:srgbClr val="212121"/>
                </a:solidFill>
                <a:latin typeface="Aptos" panose="020B0004020202020204" pitchFamily="34" charset="0"/>
              </a:rPr>
              <a:t>Eight robot manipulation videos with two possible goals per task.</a:t>
            </a:r>
          </a:p>
        </p:txBody>
      </p:sp>
      <p:sp>
        <p:nvSpPr>
          <p:cNvPr id="9" name="TextBox 8">
            <a:extLst>
              <a:ext uri="{FF2B5EF4-FFF2-40B4-BE49-F238E27FC236}">
                <a16:creationId xmlns:a16="http://schemas.microsoft.com/office/drawing/2014/main" id="{4E69698D-30BE-4209-DE89-37DD437B2474}"/>
              </a:ext>
            </a:extLst>
          </p:cNvPr>
          <p:cNvSpPr txBox="1"/>
          <p:nvPr/>
        </p:nvSpPr>
        <p:spPr>
          <a:xfrm>
            <a:off x="5740400" y="2006600"/>
            <a:ext cx="711200" cy="276999"/>
          </a:xfrm>
          <a:prstGeom prst="rect">
            <a:avLst/>
          </a:prstGeom>
          <a:noFill/>
        </p:spPr>
        <p:txBody>
          <a:bodyPr vert="horz" wrap="square" lIns="0" tIns="0" rIns="0" bIns="0" rtlCol="0" anchor="ctr">
            <a:spAutoFit/>
          </a:bodyPr>
          <a:lstStyle/>
          <a:p>
            <a:pPr algn="ctr"/>
            <a:r>
              <a:rPr lang="en-US" b="1">
                <a:solidFill>
                  <a:srgbClr val="F6BF20"/>
                </a:solidFill>
                <a:latin typeface="Aptos" panose="020B0004020202020204" pitchFamily="34" charset="0"/>
              </a:rPr>
              <a:t>-&gt;</a:t>
            </a:r>
          </a:p>
        </p:txBody>
      </p:sp>
      <p:sp>
        <p:nvSpPr>
          <p:cNvPr id="10" name="Rectangle: Rounded Corners 9">
            <a:extLst>
              <a:ext uri="{FF2B5EF4-FFF2-40B4-BE49-F238E27FC236}">
                <a16:creationId xmlns:a16="http://schemas.microsoft.com/office/drawing/2014/main" id="{54F4B474-F7AE-26D3-3387-79FEF5FDFF6F}"/>
              </a:ext>
            </a:extLst>
          </p:cNvPr>
          <p:cNvSpPr/>
          <p:nvPr/>
        </p:nvSpPr>
        <p:spPr>
          <a:xfrm>
            <a:off x="6858000" y="1676400"/>
            <a:ext cx="3810000" cy="990600"/>
          </a:xfrm>
          <a:prstGeom prst="roundRect">
            <a:avLst/>
          </a:prstGeom>
          <a:solidFill>
            <a:srgbClr val="FFF8E6"/>
          </a:solidFill>
          <a:ln w="19050">
            <a:solidFill>
              <a:srgbClr val="F6BF2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F289DB96-D404-2DF9-32F4-FFD7B919B6A3}"/>
              </a:ext>
            </a:extLst>
          </p:cNvPr>
          <p:cNvSpPr txBox="1"/>
          <p:nvPr/>
        </p:nvSpPr>
        <p:spPr>
          <a:xfrm>
            <a:off x="7061200" y="1854200"/>
            <a:ext cx="3403600" cy="461665"/>
          </a:xfrm>
          <a:prstGeom prst="rect">
            <a:avLst/>
          </a:prstGeom>
          <a:noFill/>
        </p:spPr>
        <p:txBody>
          <a:bodyPr vert="horz" wrap="square" lIns="0" tIns="0" rIns="0" bIns="0" rtlCol="0" anchor="t">
            <a:spAutoFit/>
          </a:bodyPr>
          <a:lstStyle/>
          <a:p>
            <a:r>
              <a:rPr lang="en-US" sz="1500" b="1">
                <a:solidFill>
                  <a:srgbClr val="212121"/>
                </a:solidFill>
                <a:latin typeface="Aptos" panose="020B0004020202020204" pitchFamily="34" charset="0"/>
              </a:rPr>
              <a:t>Cumulative frames at selected timepoints</a:t>
            </a:r>
          </a:p>
        </p:txBody>
      </p:sp>
      <p:sp>
        <p:nvSpPr>
          <p:cNvPr id="12" name="TextBox 11">
            <a:extLst>
              <a:ext uri="{FF2B5EF4-FFF2-40B4-BE49-F238E27FC236}">
                <a16:creationId xmlns:a16="http://schemas.microsoft.com/office/drawing/2014/main" id="{0C14865D-25B1-4498-7F0F-47C4E516F042}"/>
              </a:ext>
            </a:extLst>
          </p:cNvPr>
          <p:cNvSpPr txBox="1"/>
          <p:nvPr/>
        </p:nvSpPr>
        <p:spPr>
          <a:xfrm>
            <a:off x="7061200" y="2286000"/>
            <a:ext cx="3403600" cy="169277"/>
          </a:xfrm>
          <a:prstGeom prst="rect">
            <a:avLst/>
          </a:prstGeom>
          <a:noFill/>
        </p:spPr>
        <p:txBody>
          <a:bodyPr vert="horz" wrap="square" lIns="0" tIns="0" rIns="0" bIns="0" rtlCol="0" anchor="t">
            <a:spAutoFit/>
          </a:bodyPr>
          <a:lstStyle/>
          <a:p>
            <a:r>
              <a:rPr lang="en-US" sz="1100">
                <a:solidFill>
                  <a:srgbClr val="212121"/>
                </a:solidFill>
                <a:latin typeface="Aptos" panose="020B0004020202020204" pitchFamily="34" charset="0"/>
              </a:rPr>
              <a:t>Same growing visual evidence is used for both branches.</a:t>
            </a:r>
          </a:p>
        </p:txBody>
      </p:sp>
      <p:cxnSp>
        <p:nvCxnSpPr>
          <p:cNvPr id="13" name="Straight Connector 12">
            <a:extLst>
              <a:ext uri="{FF2B5EF4-FFF2-40B4-BE49-F238E27FC236}">
                <a16:creationId xmlns:a16="http://schemas.microsoft.com/office/drawing/2014/main" id="{390A3366-7286-3E65-EF70-F7C57F293914}"/>
              </a:ext>
            </a:extLst>
          </p:cNvPr>
          <p:cNvCxnSpPr/>
          <p:nvPr/>
        </p:nvCxnSpPr>
        <p:spPr>
          <a:xfrm flipH="1">
            <a:off x="4572000" y="2717800"/>
            <a:ext cx="4191000" cy="762000"/>
          </a:xfrm>
          <a:prstGeom prst="line">
            <a:avLst/>
          </a:prstGeom>
          <a:ln w="25400">
            <a:solidFill>
              <a:srgbClr val="F6BF20"/>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F1F03223-7AB3-DB2E-B16B-3F638B07A521}"/>
              </a:ext>
            </a:extLst>
          </p:cNvPr>
          <p:cNvCxnSpPr/>
          <p:nvPr/>
        </p:nvCxnSpPr>
        <p:spPr>
          <a:xfrm>
            <a:off x="8763000" y="2717800"/>
            <a:ext cx="127000" cy="762000"/>
          </a:xfrm>
          <a:prstGeom prst="line">
            <a:avLst/>
          </a:prstGeom>
          <a:ln w="25400">
            <a:solidFill>
              <a:srgbClr val="F6BF20"/>
            </a:solidFill>
          </a:ln>
        </p:spPr>
        <p:style>
          <a:lnRef idx="2">
            <a:schemeClr val="accent1"/>
          </a:lnRef>
          <a:fillRef idx="0">
            <a:schemeClr val="accent1"/>
          </a:fillRef>
          <a:effectRef idx="1">
            <a:schemeClr val="accent1"/>
          </a:effectRef>
          <a:fontRef idx="minor">
            <a:schemeClr val="tx1"/>
          </a:fontRef>
        </p:style>
      </p:cxnSp>
      <p:sp>
        <p:nvSpPr>
          <p:cNvPr id="15" name="Rectangle: Rounded Corners 14">
            <a:extLst>
              <a:ext uri="{FF2B5EF4-FFF2-40B4-BE49-F238E27FC236}">
                <a16:creationId xmlns:a16="http://schemas.microsoft.com/office/drawing/2014/main" id="{63AF0552-9647-83A7-0F73-A4A750AB0F27}"/>
              </a:ext>
            </a:extLst>
          </p:cNvPr>
          <p:cNvSpPr/>
          <p:nvPr/>
        </p:nvSpPr>
        <p:spPr>
          <a:xfrm>
            <a:off x="1524000" y="3530600"/>
            <a:ext cx="3810000" cy="1447800"/>
          </a:xfrm>
          <a:prstGeom prst="roundRect">
            <a:avLst/>
          </a:prstGeom>
          <a:solidFill>
            <a:srgbClr val="F7EFF3"/>
          </a:solidFill>
          <a:ln w="19050">
            <a:solidFill>
              <a:srgbClr val="A63E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5B427EA4-1900-FFBB-0463-6E0D92F33CF4}"/>
              </a:ext>
            </a:extLst>
          </p:cNvPr>
          <p:cNvSpPr txBox="1"/>
          <p:nvPr/>
        </p:nvSpPr>
        <p:spPr>
          <a:xfrm>
            <a:off x="1727200" y="3708400"/>
            <a:ext cx="3403600" cy="246221"/>
          </a:xfrm>
          <a:prstGeom prst="rect">
            <a:avLst/>
          </a:prstGeom>
          <a:noFill/>
        </p:spPr>
        <p:txBody>
          <a:bodyPr vert="horz" wrap="square" lIns="0" tIns="0" rIns="0" bIns="0" rtlCol="0" anchor="t">
            <a:spAutoFit/>
          </a:bodyPr>
          <a:lstStyle/>
          <a:p>
            <a:r>
              <a:rPr lang="en-US" sz="1600" b="1">
                <a:solidFill>
                  <a:srgbClr val="212121"/>
                </a:solidFill>
                <a:latin typeface="Aptos" panose="020B0004020202020204" pitchFamily="34" charset="0"/>
              </a:rPr>
              <a:t>Gemini evaluation pipeline</a:t>
            </a:r>
          </a:p>
        </p:txBody>
      </p:sp>
      <p:sp>
        <p:nvSpPr>
          <p:cNvPr id="17" name="TextBox 16">
            <a:extLst>
              <a:ext uri="{FF2B5EF4-FFF2-40B4-BE49-F238E27FC236}">
                <a16:creationId xmlns:a16="http://schemas.microsoft.com/office/drawing/2014/main" id="{B9231722-A6E4-E3BC-6226-184D69B00AAB}"/>
              </a:ext>
            </a:extLst>
          </p:cNvPr>
          <p:cNvSpPr txBox="1"/>
          <p:nvPr/>
        </p:nvSpPr>
        <p:spPr>
          <a:xfrm>
            <a:off x="1727200" y="4140200"/>
            <a:ext cx="3403600" cy="369332"/>
          </a:xfrm>
          <a:prstGeom prst="rect">
            <a:avLst/>
          </a:prstGeom>
          <a:noFill/>
        </p:spPr>
        <p:txBody>
          <a:bodyPr vert="horz" wrap="square" lIns="0" tIns="0" rIns="0" bIns="0" rtlCol="0" anchor="t">
            <a:spAutoFit/>
          </a:bodyPr>
          <a:lstStyle/>
          <a:p>
            <a:r>
              <a:rPr lang="en-US" sz="1200">
                <a:solidFill>
                  <a:srgbClr val="212121"/>
                </a:solidFill>
                <a:latin typeface="Aptos" panose="020B0004020202020204" pitchFamily="34" charset="0"/>
              </a:rPr>
              <a:t>Prefix frames go into Gemini and return structured goal predictions over time.</a:t>
            </a:r>
          </a:p>
        </p:txBody>
      </p:sp>
      <p:sp>
        <p:nvSpPr>
          <p:cNvPr id="18" name="Rectangle: Rounded Corners 17">
            <a:extLst>
              <a:ext uri="{FF2B5EF4-FFF2-40B4-BE49-F238E27FC236}">
                <a16:creationId xmlns:a16="http://schemas.microsoft.com/office/drawing/2014/main" id="{27E12FC3-7B26-E402-B9BC-45D013363094}"/>
              </a:ext>
            </a:extLst>
          </p:cNvPr>
          <p:cNvSpPr/>
          <p:nvPr/>
        </p:nvSpPr>
        <p:spPr>
          <a:xfrm>
            <a:off x="6858000" y="3530600"/>
            <a:ext cx="3810000" cy="1447800"/>
          </a:xfrm>
          <a:prstGeom prst="roundRect">
            <a:avLst/>
          </a:prstGeom>
          <a:solidFill>
            <a:srgbClr val="EAF3FC"/>
          </a:solidFill>
          <a:ln w="19050">
            <a:solidFill>
              <a:srgbClr val="5390D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440721D1-C1C9-4E24-423A-1602F02F46D9}"/>
              </a:ext>
            </a:extLst>
          </p:cNvPr>
          <p:cNvSpPr txBox="1"/>
          <p:nvPr/>
        </p:nvSpPr>
        <p:spPr>
          <a:xfrm>
            <a:off x="7061200" y="3708400"/>
            <a:ext cx="3403600" cy="246221"/>
          </a:xfrm>
          <a:prstGeom prst="rect">
            <a:avLst/>
          </a:prstGeom>
          <a:noFill/>
        </p:spPr>
        <p:txBody>
          <a:bodyPr vert="horz" wrap="square" lIns="0" tIns="0" rIns="0" bIns="0" rtlCol="0" anchor="t">
            <a:spAutoFit/>
          </a:bodyPr>
          <a:lstStyle/>
          <a:p>
            <a:r>
              <a:rPr lang="en-US" sz="1600" b="1">
                <a:solidFill>
                  <a:srgbClr val="212121"/>
                </a:solidFill>
                <a:latin typeface="Aptos" panose="020B0004020202020204" pitchFamily="34" charset="0"/>
              </a:rPr>
              <a:t>Pilot study</a:t>
            </a:r>
          </a:p>
        </p:txBody>
      </p:sp>
      <p:sp>
        <p:nvSpPr>
          <p:cNvPr id="20" name="TextBox 19">
            <a:extLst>
              <a:ext uri="{FF2B5EF4-FFF2-40B4-BE49-F238E27FC236}">
                <a16:creationId xmlns:a16="http://schemas.microsoft.com/office/drawing/2014/main" id="{00CF6B32-2C92-38C4-4696-CFBB61D0F23B}"/>
              </a:ext>
            </a:extLst>
          </p:cNvPr>
          <p:cNvSpPr txBox="1"/>
          <p:nvPr/>
        </p:nvSpPr>
        <p:spPr>
          <a:xfrm>
            <a:off x="7061200" y="4140200"/>
            <a:ext cx="3403600" cy="369332"/>
          </a:xfrm>
          <a:prstGeom prst="rect">
            <a:avLst/>
          </a:prstGeom>
          <a:noFill/>
        </p:spPr>
        <p:txBody>
          <a:bodyPr vert="horz" wrap="square" lIns="0" tIns="0" rIns="0" bIns="0" rtlCol="0" anchor="t">
            <a:spAutoFit/>
          </a:bodyPr>
          <a:lstStyle/>
          <a:p>
            <a:r>
              <a:rPr lang="en-US" sz="1200">
                <a:solidFill>
                  <a:srgbClr val="212121"/>
                </a:solidFill>
                <a:latin typeface="Aptos" panose="020B0004020202020204" pitchFamily="34" charset="0"/>
              </a:rPr>
              <a:t>Participants infer the robot's goal from corresponding partial observations.</a:t>
            </a:r>
          </a:p>
        </p:txBody>
      </p:sp>
      <p:cxnSp>
        <p:nvCxnSpPr>
          <p:cNvPr id="21" name="Straight Connector 20">
            <a:extLst>
              <a:ext uri="{FF2B5EF4-FFF2-40B4-BE49-F238E27FC236}">
                <a16:creationId xmlns:a16="http://schemas.microsoft.com/office/drawing/2014/main" id="{0D704992-687A-EE2B-A450-B08DB1FD39D6}"/>
              </a:ext>
            </a:extLst>
          </p:cNvPr>
          <p:cNvCxnSpPr/>
          <p:nvPr/>
        </p:nvCxnSpPr>
        <p:spPr>
          <a:xfrm>
            <a:off x="3429000" y="5003800"/>
            <a:ext cx="2540000" cy="685800"/>
          </a:xfrm>
          <a:prstGeom prst="line">
            <a:avLst/>
          </a:prstGeom>
          <a:ln w="25400">
            <a:solidFill>
              <a:srgbClr val="F6BF20"/>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5C893AFF-AC7A-DDBA-1FE3-1DA0C4C466E0}"/>
              </a:ext>
            </a:extLst>
          </p:cNvPr>
          <p:cNvCxnSpPr/>
          <p:nvPr/>
        </p:nvCxnSpPr>
        <p:spPr>
          <a:xfrm flipH="1">
            <a:off x="6223000" y="5003800"/>
            <a:ext cx="2540000" cy="685800"/>
          </a:xfrm>
          <a:prstGeom prst="line">
            <a:avLst/>
          </a:prstGeom>
          <a:ln w="25400">
            <a:solidFill>
              <a:srgbClr val="F6BF20"/>
            </a:solidFill>
          </a:ln>
        </p:spPr>
        <p:style>
          <a:lnRef idx="2">
            <a:schemeClr val="accent1"/>
          </a:lnRef>
          <a:fillRef idx="0">
            <a:schemeClr val="accent1"/>
          </a:fillRef>
          <a:effectRef idx="1">
            <a:schemeClr val="accent1"/>
          </a:effectRef>
          <a:fontRef idx="minor">
            <a:schemeClr val="tx1"/>
          </a:fontRef>
        </p:style>
      </p:cxnSp>
      <p:sp>
        <p:nvSpPr>
          <p:cNvPr id="23" name="Rectangle: Rounded Corners 22">
            <a:extLst>
              <a:ext uri="{FF2B5EF4-FFF2-40B4-BE49-F238E27FC236}">
                <a16:creationId xmlns:a16="http://schemas.microsoft.com/office/drawing/2014/main" id="{1E445A21-5A69-EC73-67A2-815F785B9EF7}"/>
              </a:ext>
            </a:extLst>
          </p:cNvPr>
          <p:cNvSpPr/>
          <p:nvPr/>
        </p:nvSpPr>
        <p:spPr>
          <a:xfrm>
            <a:off x="3124200" y="5511800"/>
            <a:ext cx="5943600" cy="939800"/>
          </a:xfrm>
          <a:prstGeom prst="roundRect">
            <a:avLst/>
          </a:prstGeom>
          <a:solidFill>
            <a:srgbClr val="FFFFFF"/>
          </a:solidFill>
          <a:ln w="19050">
            <a:solidFill>
              <a:srgbClr val="A63E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E1364616-686E-E563-DE95-4DBA29DE0CEC}"/>
              </a:ext>
            </a:extLst>
          </p:cNvPr>
          <p:cNvSpPr txBox="1"/>
          <p:nvPr/>
        </p:nvSpPr>
        <p:spPr>
          <a:xfrm>
            <a:off x="3352800" y="5689600"/>
            <a:ext cx="5486400" cy="169277"/>
          </a:xfrm>
          <a:prstGeom prst="rect">
            <a:avLst/>
          </a:prstGeom>
          <a:noFill/>
        </p:spPr>
        <p:txBody>
          <a:bodyPr vert="horz" wrap="square" lIns="0" tIns="0" rIns="0" bIns="0" rtlCol="0" anchor="t">
            <a:spAutoFit/>
          </a:bodyPr>
          <a:lstStyle/>
          <a:p>
            <a:r>
              <a:rPr lang="en-US" sz="1100" b="1">
                <a:solidFill>
                  <a:srgbClr val="A63E5E"/>
                </a:solidFill>
                <a:latin typeface="Aptos" panose="020B0004020202020204" pitchFamily="34" charset="0"/>
              </a:rPr>
              <a:t>Output of the methodology</a:t>
            </a:r>
          </a:p>
        </p:txBody>
      </p:sp>
      <p:sp>
        <p:nvSpPr>
          <p:cNvPr id="25" name="TextBox 24">
            <a:extLst>
              <a:ext uri="{FF2B5EF4-FFF2-40B4-BE49-F238E27FC236}">
                <a16:creationId xmlns:a16="http://schemas.microsoft.com/office/drawing/2014/main" id="{78DB6855-C8AD-2124-73B2-9D4DDE4E3D6D}"/>
              </a:ext>
            </a:extLst>
          </p:cNvPr>
          <p:cNvSpPr txBox="1"/>
          <p:nvPr/>
        </p:nvSpPr>
        <p:spPr>
          <a:xfrm>
            <a:off x="3352800" y="6096000"/>
            <a:ext cx="5486400" cy="307777"/>
          </a:xfrm>
          <a:prstGeom prst="rect">
            <a:avLst/>
          </a:prstGeom>
          <a:noFill/>
        </p:spPr>
        <p:txBody>
          <a:bodyPr vert="horz" wrap="square" lIns="0" tIns="0" rIns="0" bIns="0" rtlCol="0" anchor="t">
            <a:spAutoFit/>
          </a:bodyPr>
          <a:lstStyle/>
          <a:p>
            <a:r>
              <a:rPr lang="en-US" sz="1000">
                <a:solidFill>
                  <a:srgbClr val="212121"/>
                </a:solidFill>
                <a:latin typeface="Aptos" panose="020B0004020202020204" pitchFamily="34" charset="0"/>
              </a:rPr>
              <a:t>Human and model judgments are compared with shared evidence, matched timepoints, and legibility metrics.</a:t>
            </a:r>
          </a:p>
        </p:txBody>
      </p:sp>
    </p:spTree>
    <p:extLst>
      <p:ext uri="{BB962C8B-B14F-4D97-AF65-F5344CB8AC3E}">
        <p14:creationId xmlns:p14="http://schemas.microsoft.com/office/powerpoint/2010/main" val="39106309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BF8F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3DBD952-1021-8B16-C0CA-C926D5029271}"/>
              </a:ext>
            </a:extLst>
          </p:cNvPr>
          <p:cNvSpPr txBox="1"/>
          <p:nvPr/>
        </p:nvSpPr>
        <p:spPr>
          <a:xfrm>
            <a:off x="508000" y="228600"/>
            <a:ext cx="10414000" cy="430887"/>
          </a:xfrm>
          <a:prstGeom prst="rect">
            <a:avLst/>
          </a:prstGeom>
          <a:noFill/>
        </p:spPr>
        <p:txBody>
          <a:bodyPr vert="horz" wrap="square" lIns="0" tIns="0" rIns="0" bIns="0" rtlCol="0" anchor="t">
            <a:spAutoFit/>
          </a:bodyPr>
          <a:lstStyle/>
          <a:p>
            <a:r>
              <a:rPr lang="en-US" sz="2800" b="1">
                <a:solidFill>
                  <a:srgbClr val="212121"/>
                </a:solidFill>
                <a:latin typeface="Aptos" panose="020B0004020202020204" pitchFamily="34" charset="0"/>
              </a:rPr>
              <a:t>Task Setup And Video Scenarios</a:t>
            </a:r>
          </a:p>
        </p:txBody>
      </p:sp>
      <p:sp>
        <p:nvSpPr>
          <p:cNvPr id="3" name="TextBox 2">
            <a:extLst>
              <a:ext uri="{FF2B5EF4-FFF2-40B4-BE49-F238E27FC236}">
                <a16:creationId xmlns:a16="http://schemas.microsoft.com/office/drawing/2014/main" id="{342F4CB3-57FA-1D82-9021-3647E77F3B06}"/>
              </a:ext>
            </a:extLst>
          </p:cNvPr>
          <p:cNvSpPr txBox="1"/>
          <p:nvPr/>
        </p:nvSpPr>
        <p:spPr>
          <a:xfrm>
            <a:off x="508000" y="787400"/>
            <a:ext cx="10668000" cy="169277"/>
          </a:xfrm>
          <a:prstGeom prst="rect">
            <a:avLst/>
          </a:prstGeom>
          <a:noFill/>
        </p:spPr>
        <p:txBody>
          <a:bodyPr vert="horz" wrap="square" lIns="0" tIns="0" rIns="0" bIns="0" rtlCol="0" anchor="t">
            <a:spAutoFit/>
          </a:bodyPr>
          <a:lstStyle/>
          <a:p>
            <a:r>
              <a:rPr lang="en-US" sz="1100">
                <a:solidFill>
                  <a:srgbClr val="707070"/>
                </a:solidFill>
                <a:latin typeface="Aptos" panose="020B0004020202020204" pitchFamily="34" charset="0"/>
              </a:rPr>
              <a:t>Two task families, two candidate goals per task, and both legible and ambiguous motion</a:t>
            </a:r>
          </a:p>
        </p:txBody>
      </p:sp>
      <p:sp>
        <p:nvSpPr>
          <p:cNvPr id="4" name="Rectangle 3">
            <a:extLst>
              <a:ext uri="{FF2B5EF4-FFF2-40B4-BE49-F238E27FC236}">
                <a16:creationId xmlns:a16="http://schemas.microsoft.com/office/drawing/2014/main" id="{33288576-DC49-D74F-CE23-DB8C4F6B9150}"/>
              </a:ext>
            </a:extLst>
          </p:cNvPr>
          <p:cNvSpPr/>
          <p:nvPr/>
        </p:nvSpPr>
        <p:spPr>
          <a:xfrm>
            <a:off x="508000" y="1206500"/>
            <a:ext cx="11176000" cy="50800"/>
          </a:xfrm>
          <a:prstGeom prst="rect">
            <a:avLst/>
          </a:prstGeom>
          <a:solidFill>
            <a:srgbClr val="F6BF20"/>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2E1F3A6-1E98-CFD4-626F-C03CC3A43F0A}"/>
              </a:ext>
            </a:extLst>
          </p:cNvPr>
          <p:cNvSpPr txBox="1"/>
          <p:nvPr/>
        </p:nvSpPr>
        <p:spPr>
          <a:xfrm>
            <a:off x="11430000" y="228600"/>
            <a:ext cx="304800" cy="153888"/>
          </a:xfrm>
          <a:prstGeom prst="rect">
            <a:avLst/>
          </a:prstGeom>
          <a:noFill/>
        </p:spPr>
        <p:txBody>
          <a:bodyPr vert="horz" wrap="square" lIns="0" tIns="0" rIns="0" bIns="0" rtlCol="0" anchor="t">
            <a:spAutoFit/>
          </a:bodyPr>
          <a:lstStyle/>
          <a:p>
            <a:pPr algn="r"/>
            <a:r>
              <a:rPr lang="en-US" sz="1000">
                <a:solidFill>
                  <a:srgbClr val="5C5C5C"/>
                </a:solidFill>
                <a:latin typeface="Aptos" panose="020B0004020202020204" pitchFamily="34" charset="0"/>
              </a:rPr>
              <a:t>14</a:t>
            </a:r>
          </a:p>
        </p:txBody>
      </p:sp>
      <p:sp>
        <p:nvSpPr>
          <p:cNvPr id="6" name="Rectangle: Rounded Corners 5">
            <a:extLst>
              <a:ext uri="{FF2B5EF4-FFF2-40B4-BE49-F238E27FC236}">
                <a16:creationId xmlns:a16="http://schemas.microsoft.com/office/drawing/2014/main" id="{02C4CB5D-EC98-9177-00AA-1A45398EAA45}"/>
              </a:ext>
            </a:extLst>
          </p:cNvPr>
          <p:cNvSpPr/>
          <p:nvPr/>
        </p:nvSpPr>
        <p:spPr>
          <a:xfrm>
            <a:off x="914400" y="1879600"/>
            <a:ext cx="3175000" cy="1930400"/>
          </a:xfrm>
          <a:prstGeom prst="roundRect">
            <a:avLst/>
          </a:prstGeom>
          <a:solidFill>
            <a:srgbClr val="FFFFFF"/>
          </a:solidFill>
          <a:ln w="19050">
            <a:solidFill>
              <a:srgbClr val="D5CEC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EC49E834-8D20-A7CE-73B9-11CDD684D7F8}"/>
              </a:ext>
            </a:extLst>
          </p:cNvPr>
          <p:cNvSpPr txBox="1"/>
          <p:nvPr/>
        </p:nvSpPr>
        <p:spPr>
          <a:xfrm>
            <a:off x="1117600" y="2057400"/>
            <a:ext cx="2768600" cy="246221"/>
          </a:xfrm>
          <a:prstGeom prst="rect">
            <a:avLst/>
          </a:prstGeom>
          <a:noFill/>
        </p:spPr>
        <p:txBody>
          <a:bodyPr vert="horz" wrap="square" lIns="0" tIns="0" rIns="0" bIns="0" rtlCol="0" anchor="t">
            <a:spAutoFit/>
          </a:bodyPr>
          <a:lstStyle/>
          <a:p>
            <a:r>
              <a:rPr lang="en-US" sz="1600" b="1">
                <a:solidFill>
                  <a:srgbClr val="212121"/>
                </a:solidFill>
                <a:latin typeface="Aptos" panose="020B0004020202020204" pitchFamily="34" charset="0"/>
              </a:rPr>
              <a:t>Robot platform</a:t>
            </a:r>
          </a:p>
        </p:txBody>
      </p:sp>
      <p:sp>
        <p:nvSpPr>
          <p:cNvPr id="8" name="TextBox 7">
            <a:extLst>
              <a:ext uri="{FF2B5EF4-FFF2-40B4-BE49-F238E27FC236}">
                <a16:creationId xmlns:a16="http://schemas.microsoft.com/office/drawing/2014/main" id="{D2D99455-A68B-6B78-7EDA-351406FD6DA6}"/>
              </a:ext>
            </a:extLst>
          </p:cNvPr>
          <p:cNvSpPr txBox="1"/>
          <p:nvPr/>
        </p:nvSpPr>
        <p:spPr>
          <a:xfrm>
            <a:off x="1117600" y="2489200"/>
            <a:ext cx="2768600" cy="553998"/>
          </a:xfrm>
          <a:prstGeom prst="rect">
            <a:avLst/>
          </a:prstGeom>
          <a:noFill/>
        </p:spPr>
        <p:txBody>
          <a:bodyPr vert="horz" wrap="square" lIns="0" tIns="0" rIns="0" bIns="0" rtlCol="0" anchor="t">
            <a:spAutoFit/>
          </a:bodyPr>
          <a:lstStyle/>
          <a:p>
            <a:r>
              <a:rPr lang="en-US" sz="1200">
                <a:solidFill>
                  <a:srgbClr val="212121"/>
                </a:solidFill>
                <a:latin typeface="Aptos" panose="020B0004020202020204" pitchFamily="34" charset="0"/>
              </a:rPr>
              <a:t>A Franka robot arm acts in a tabletop scene observed through recorded task videos.</a:t>
            </a:r>
          </a:p>
        </p:txBody>
      </p:sp>
      <p:sp>
        <p:nvSpPr>
          <p:cNvPr id="9" name="Rectangle: Rounded Corners 8">
            <a:extLst>
              <a:ext uri="{FF2B5EF4-FFF2-40B4-BE49-F238E27FC236}">
                <a16:creationId xmlns:a16="http://schemas.microsoft.com/office/drawing/2014/main" id="{FE779D87-3F79-6802-B9CD-B9542C595478}"/>
              </a:ext>
            </a:extLst>
          </p:cNvPr>
          <p:cNvSpPr/>
          <p:nvPr/>
        </p:nvSpPr>
        <p:spPr>
          <a:xfrm>
            <a:off x="4508500" y="1879600"/>
            <a:ext cx="3175000" cy="1930400"/>
          </a:xfrm>
          <a:prstGeom prst="roundRect">
            <a:avLst/>
          </a:prstGeom>
          <a:solidFill>
            <a:srgbClr val="EAF3FC"/>
          </a:solidFill>
          <a:ln w="19050">
            <a:solidFill>
              <a:srgbClr val="5390D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4D28C4C0-EF92-F2E5-885F-7FC6276A9928}"/>
              </a:ext>
            </a:extLst>
          </p:cNvPr>
          <p:cNvSpPr txBox="1"/>
          <p:nvPr/>
        </p:nvSpPr>
        <p:spPr>
          <a:xfrm>
            <a:off x="4711700" y="2057400"/>
            <a:ext cx="2768600" cy="246221"/>
          </a:xfrm>
          <a:prstGeom prst="rect">
            <a:avLst/>
          </a:prstGeom>
          <a:noFill/>
        </p:spPr>
        <p:txBody>
          <a:bodyPr vert="horz" wrap="square" lIns="0" tIns="0" rIns="0" bIns="0" rtlCol="0" anchor="t">
            <a:spAutoFit/>
          </a:bodyPr>
          <a:lstStyle/>
          <a:p>
            <a:r>
              <a:rPr lang="en-US" sz="1600" b="1">
                <a:solidFill>
                  <a:srgbClr val="212121"/>
                </a:solidFill>
                <a:latin typeface="Aptos" panose="020B0004020202020204" pitchFamily="34" charset="0"/>
              </a:rPr>
              <a:t>Task families</a:t>
            </a:r>
          </a:p>
        </p:txBody>
      </p:sp>
      <p:sp>
        <p:nvSpPr>
          <p:cNvPr id="11" name="TextBox 10">
            <a:extLst>
              <a:ext uri="{FF2B5EF4-FFF2-40B4-BE49-F238E27FC236}">
                <a16:creationId xmlns:a16="http://schemas.microsoft.com/office/drawing/2014/main" id="{E5DC74F2-C664-E0D1-B60A-BA2CBE83EBCB}"/>
              </a:ext>
            </a:extLst>
          </p:cNvPr>
          <p:cNvSpPr txBox="1"/>
          <p:nvPr/>
        </p:nvSpPr>
        <p:spPr>
          <a:xfrm>
            <a:off x="4711700" y="2489200"/>
            <a:ext cx="2768600" cy="369332"/>
          </a:xfrm>
          <a:prstGeom prst="rect">
            <a:avLst/>
          </a:prstGeom>
          <a:noFill/>
        </p:spPr>
        <p:txBody>
          <a:bodyPr vert="horz" wrap="square" lIns="0" tIns="0" rIns="0" bIns="0" rtlCol="0" anchor="t">
            <a:spAutoFit/>
          </a:bodyPr>
          <a:lstStyle/>
          <a:p>
            <a:r>
              <a:rPr lang="en-US" sz="1200">
                <a:solidFill>
                  <a:srgbClr val="212121"/>
                </a:solidFill>
                <a:latin typeface="Aptos" panose="020B0004020202020204" pitchFamily="34" charset="0"/>
              </a:rPr>
              <a:t>Block pick: left vs right target block. Drawer task: upper vs lower drawer.</a:t>
            </a:r>
          </a:p>
        </p:txBody>
      </p:sp>
      <p:sp>
        <p:nvSpPr>
          <p:cNvPr id="12" name="Rectangle: Rounded Corners 11">
            <a:extLst>
              <a:ext uri="{FF2B5EF4-FFF2-40B4-BE49-F238E27FC236}">
                <a16:creationId xmlns:a16="http://schemas.microsoft.com/office/drawing/2014/main" id="{E6C35299-0518-9949-B704-18C5D8F011AE}"/>
              </a:ext>
            </a:extLst>
          </p:cNvPr>
          <p:cNvSpPr/>
          <p:nvPr/>
        </p:nvSpPr>
        <p:spPr>
          <a:xfrm>
            <a:off x="8102600" y="1879600"/>
            <a:ext cx="3175000" cy="1930400"/>
          </a:xfrm>
          <a:prstGeom prst="roundRect">
            <a:avLst/>
          </a:prstGeom>
          <a:solidFill>
            <a:srgbClr val="FFF8E6"/>
          </a:solidFill>
          <a:ln w="19050">
            <a:solidFill>
              <a:srgbClr val="F6BF2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ABA72FC3-1A3A-5944-4265-C44D11C557AA}"/>
              </a:ext>
            </a:extLst>
          </p:cNvPr>
          <p:cNvSpPr txBox="1"/>
          <p:nvPr/>
        </p:nvSpPr>
        <p:spPr>
          <a:xfrm>
            <a:off x="8305800" y="2057400"/>
            <a:ext cx="2768600" cy="246221"/>
          </a:xfrm>
          <a:prstGeom prst="rect">
            <a:avLst/>
          </a:prstGeom>
          <a:noFill/>
        </p:spPr>
        <p:txBody>
          <a:bodyPr vert="horz" wrap="square" lIns="0" tIns="0" rIns="0" bIns="0" rtlCol="0" anchor="t">
            <a:spAutoFit/>
          </a:bodyPr>
          <a:lstStyle/>
          <a:p>
            <a:r>
              <a:rPr lang="en-US" sz="1600" b="1">
                <a:solidFill>
                  <a:srgbClr val="212121"/>
                </a:solidFill>
                <a:latin typeface="Aptos" panose="020B0004020202020204" pitchFamily="34" charset="0"/>
              </a:rPr>
              <a:t>Video set</a:t>
            </a:r>
          </a:p>
        </p:txBody>
      </p:sp>
      <p:sp>
        <p:nvSpPr>
          <p:cNvPr id="14" name="TextBox 13">
            <a:extLst>
              <a:ext uri="{FF2B5EF4-FFF2-40B4-BE49-F238E27FC236}">
                <a16:creationId xmlns:a16="http://schemas.microsoft.com/office/drawing/2014/main" id="{27875670-CE86-A445-AF74-F8077C426732}"/>
              </a:ext>
            </a:extLst>
          </p:cNvPr>
          <p:cNvSpPr txBox="1"/>
          <p:nvPr/>
        </p:nvSpPr>
        <p:spPr>
          <a:xfrm>
            <a:off x="8305800" y="2489200"/>
            <a:ext cx="2768600" cy="553998"/>
          </a:xfrm>
          <a:prstGeom prst="rect">
            <a:avLst/>
          </a:prstGeom>
          <a:noFill/>
        </p:spPr>
        <p:txBody>
          <a:bodyPr vert="horz" wrap="square" lIns="0" tIns="0" rIns="0" bIns="0" rtlCol="0" anchor="t">
            <a:spAutoFit/>
          </a:bodyPr>
          <a:lstStyle/>
          <a:p>
            <a:r>
              <a:rPr lang="en-US" sz="1200">
                <a:solidFill>
                  <a:srgbClr val="212121"/>
                </a:solidFill>
                <a:latin typeface="Aptos" panose="020B0004020202020204" pitchFamily="34" charset="0"/>
              </a:rPr>
              <a:t>Legible and ambiguous trajectories are included, giving 8 videos across the 2 tasks.</a:t>
            </a:r>
          </a:p>
        </p:txBody>
      </p:sp>
      <p:sp>
        <p:nvSpPr>
          <p:cNvPr id="15" name="Rectangle: Rounded Corners 14">
            <a:extLst>
              <a:ext uri="{FF2B5EF4-FFF2-40B4-BE49-F238E27FC236}">
                <a16:creationId xmlns:a16="http://schemas.microsoft.com/office/drawing/2014/main" id="{E434F05B-49C2-A6EA-CBA7-8AC3B0542B68}"/>
              </a:ext>
            </a:extLst>
          </p:cNvPr>
          <p:cNvSpPr/>
          <p:nvPr/>
        </p:nvSpPr>
        <p:spPr>
          <a:xfrm>
            <a:off x="1117600" y="4267200"/>
            <a:ext cx="9956800" cy="1244600"/>
          </a:xfrm>
          <a:prstGeom prst="roundRect">
            <a:avLst/>
          </a:prstGeom>
          <a:solidFill>
            <a:srgbClr val="FFFFFF"/>
          </a:solidFill>
          <a:ln w="19050">
            <a:solidFill>
              <a:srgbClr val="A63E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B64DBB05-E204-BB45-7DE5-3A994AEBC325}"/>
              </a:ext>
            </a:extLst>
          </p:cNvPr>
          <p:cNvSpPr txBox="1"/>
          <p:nvPr/>
        </p:nvSpPr>
        <p:spPr>
          <a:xfrm>
            <a:off x="1346200" y="4445000"/>
            <a:ext cx="9499600" cy="184666"/>
          </a:xfrm>
          <a:prstGeom prst="rect">
            <a:avLst/>
          </a:prstGeom>
          <a:noFill/>
        </p:spPr>
        <p:txBody>
          <a:bodyPr vert="horz" wrap="square" lIns="0" tIns="0" rIns="0" bIns="0" rtlCol="0" anchor="t">
            <a:spAutoFit/>
          </a:bodyPr>
          <a:lstStyle/>
          <a:p>
            <a:r>
              <a:rPr lang="en-US" sz="1200" b="1">
                <a:solidFill>
                  <a:srgbClr val="A63E5E"/>
                </a:solidFill>
                <a:latin typeface="Aptos" panose="020B0004020202020204" pitchFamily="34" charset="0"/>
              </a:rPr>
              <a:t>Evaluation structure</a:t>
            </a:r>
          </a:p>
        </p:txBody>
      </p:sp>
      <p:sp>
        <p:nvSpPr>
          <p:cNvPr id="17" name="TextBox 16">
            <a:extLst>
              <a:ext uri="{FF2B5EF4-FFF2-40B4-BE49-F238E27FC236}">
                <a16:creationId xmlns:a16="http://schemas.microsoft.com/office/drawing/2014/main" id="{B7A389A7-F698-E248-CEBA-504B320D737B}"/>
              </a:ext>
            </a:extLst>
          </p:cNvPr>
          <p:cNvSpPr txBox="1"/>
          <p:nvPr/>
        </p:nvSpPr>
        <p:spPr>
          <a:xfrm>
            <a:off x="1346200" y="4851400"/>
            <a:ext cx="9499600" cy="369332"/>
          </a:xfrm>
          <a:prstGeom prst="rect">
            <a:avLst/>
          </a:prstGeom>
          <a:noFill/>
        </p:spPr>
        <p:txBody>
          <a:bodyPr vert="horz" wrap="square" lIns="0" tIns="0" rIns="0" bIns="0" rtlCol="0" anchor="t">
            <a:spAutoFit/>
          </a:bodyPr>
          <a:lstStyle/>
          <a:p>
            <a:r>
              <a:rPr lang="en-US" sz="1200">
                <a:solidFill>
                  <a:srgbClr val="212121"/>
                </a:solidFill>
                <a:latin typeface="Aptos" panose="020B0004020202020204" pitchFamily="34" charset="0"/>
              </a:rPr>
              <a:t>Each video is analyzed at selected timepoints using cumulative frames from the start of the motion up to that point. The same time-based structure is used for both the VLM and the human study.</a:t>
            </a:r>
          </a:p>
        </p:txBody>
      </p:sp>
      <p:sp>
        <p:nvSpPr>
          <p:cNvPr id="18" name="TextBox 17">
            <a:extLst>
              <a:ext uri="{FF2B5EF4-FFF2-40B4-BE49-F238E27FC236}">
                <a16:creationId xmlns:a16="http://schemas.microsoft.com/office/drawing/2014/main" id="{0283F6CD-D18A-8962-9AE4-DB2B77F7B95B}"/>
              </a:ext>
            </a:extLst>
          </p:cNvPr>
          <p:cNvSpPr txBox="1"/>
          <p:nvPr/>
        </p:nvSpPr>
        <p:spPr>
          <a:xfrm>
            <a:off x="1092200" y="5969000"/>
            <a:ext cx="10007600" cy="153888"/>
          </a:xfrm>
          <a:prstGeom prst="rect">
            <a:avLst/>
          </a:prstGeom>
          <a:noFill/>
        </p:spPr>
        <p:txBody>
          <a:bodyPr vert="horz" wrap="square" lIns="0" tIns="0" rIns="0" bIns="0" rtlCol="0" anchor="t">
            <a:spAutoFit/>
          </a:bodyPr>
          <a:lstStyle/>
          <a:p>
            <a:pPr algn="ctr"/>
            <a:r>
              <a:rPr lang="en-US" sz="1000">
                <a:solidFill>
                  <a:srgbClr val="707070"/>
                </a:solidFill>
                <a:latin typeface="Aptos" panose="020B0004020202020204" pitchFamily="34" charset="0"/>
              </a:rPr>
              <a:t>These scenarios are useful for legibility because early movement cues can either reveal or hide the intended goal.</a:t>
            </a:r>
          </a:p>
        </p:txBody>
      </p:sp>
    </p:spTree>
    <p:extLst>
      <p:ext uri="{BB962C8B-B14F-4D97-AF65-F5344CB8AC3E}">
        <p14:creationId xmlns:p14="http://schemas.microsoft.com/office/powerpoint/2010/main" val="8754468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BF8F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04BA855-CDB1-AADD-4D44-3C3E59B58471}"/>
              </a:ext>
            </a:extLst>
          </p:cNvPr>
          <p:cNvSpPr txBox="1"/>
          <p:nvPr/>
        </p:nvSpPr>
        <p:spPr>
          <a:xfrm>
            <a:off x="508000" y="228600"/>
            <a:ext cx="10414000" cy="430887"/>
          </a:xfrm>
          <a:prstGeom prst="rect">
            <a:avLst/>
          </a:prstGeom>
          <a:noFill/>
        </p:spPr>
        <p:txBody>
          <a:bodyPr vert="horz" wrap="square" lIns="0" tIns="0" rIns="0" bIns="0" rtlCol="0" anchor="t">
            <a:spAutoFit/>
          </a:bodyPr>
          <a:lstStyle/>
          <a:p>
            <a:r>
              <a:rPr lang="en-US" sz="2800" b="1">
                <a:solidFill>
                  <a:srgbClr val="212121"/>
                </a:solidFill>
                <a:latin typeface="Aptos" panose="020B0004020202020204" pitchFamily="34" charset="0"/>
              </a:rPr>
              <a:t>Pilot Study Design</a:t>
            </a:r>
          </a:p>
        </p:txBody>
      </p:sp>
      <p:sp>
        <p:nvSpPr>
          <p:cNvPr id="3" name="TextBox 2">
            <a:extLst>
              <a:ext uri="{FF2B5EF4-FFF2-40B4-BE49-F238E27FC236}">
                <a16:creationId xmlns:a16="http://schemas.microsoft.com/office/drawing/2014/main" id="{82D2F72E-000A-84CF-BB1B-23CAFCFE72EE}"/>
              </a:ext>
            </a:extLst>
          </p:cNvPr>
          <p:cNvSpPr txBox="1"/>
          <p:nvPr/>
        </p:nvSpPr>
        <p:spPr>
          <a:xfrm>
            <a:off x="508000" y="787400"/>
            <a:ext cx="10668000" cy="169277"/>
          </a:xfrm>
          <a:prstGeom prst="rect">
            <a:avLst/>
          </a:prstGeom>
          <a:noFill/>
        </p:spPr>
        <p:txBody>
          <a:bodyPr vert="horz" wrap="square" lIns="0" tIns="0" rIns="0" bIns="0" rtlCol="0" anchor="t">
            <a:spAutoFit/>
          </a:bodyPr>
          <a:lstStyle/>
          <a:p>
            <a:r>
              <a:rPr lang="en-US" sz="1100">
                <a:solidFill>
                  <a:srgbClr val="707070"/>
                </a:solidFill>
                <a:latin typeface="Aptos" panose="020B0004020202020204" pitchFamily="34" charset="0"/>
              </a:rPr>
              <a:t>Human observations provide the reference point for judging whether the VLM behaves like an observer</a:t>
            </a:r>
          </a:p>
        </p:txBody>
      </p:sp>
      <p:sp>
        <p:nvSpPr>
          <p:cNvPr id="4" name="Rectangle 3">
            <a:extLst>
              <a:ext uri="{FF2B5EF4-FFF2-40B4-BE49-F238E27FC236}">
                <a16:creationId xmlns:a16="http://schemas.microsoft.com/office/drawing/2014/main" id="{F3A7D816-B35D-E03F-2FBD-DF636EEA5A93}"/>
              </a:ext>
            </a:extLst>
          </p:cNvPr>
          <p:cNvSpPr/>
          <p:nvPr/>
        </p:nvSpPr>
        <p:spPr>
          <a:xfrm>
            <a:off x="508000" y="1206500"/>
            <a:ext cx="11176000" cy="50800"/>
          </a:xfrm>
          <a:prstGeom prst="rect">
            <a:avLst/>
          </a:prstGeom>
          <a:solidFill>
            <a:srgbClr val="F6BF20"/>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FF57A1CD-68EC-6B99-758A-31ED9B943E3B}"/>
              </a:ext>
            </a:extLst>
          </p:cNvPr>
          <p:cNvSpPr txBox="1"/>
          <p:nvPr/>
        </p:nvSpPr>
        <p:spPr>
          <a:xfrm>
            <a:off x="11430000" y="228600"/>
            <a:ext cx="304800" cy="153888"/>
          </a:xfrm>
          <a:prstGeom prst="rect">
            <a:avLst/>
          </a:prstGeom>
          <a:noFill/>
        </p:spPr>
        <p:txBody>
          <a:bodyPr vert="horz" wrap="square" lIns="0" tIns="0" rIns="0" bIns="0" rtlCol="0" anchor="t">
            <a:spAutoFit/>
          </a:bodyPr>
          <a:lstStyle/>
          <a:p>
            <a:pPr algn="r"/>
            <a:r>
              <a:rPr lang="en-US" sz="1000">
                <a:solidFill>
                  <a:srgbClr val="5C5C5C"/>
                </a:solidFill>
                <a:latin typeface="Aptos" panose="020B0004020202020204" pitchFamily="34" charset="0"/>
              </a:rPr>
              <a:t>15</a:t>
            </a:r>
          </a:p>
        </p:txBody>
      </p:sp>
      <p:sp>
        <p:nvSpPr>
          <p:cNvPr id="6" name="Rectangle: Rounded Corners 5">
            <a:extLst>
              <a:ext uri="{FF2B5EF4-FFF2-40B4-BE49-F238E27FC236}">
                <a16:creationId xmlns:a16="http://schemas.microsoft.com/office/drawing/2014/main" id="{2AA83AC9-B8D2-E26A-AEA8-A6BEBA38F0BF}"/>
              </a:ext>
            </a:extLst>
          </p:cNvPr>
          <p:cNvSpPr/>
          <p:nvPr/>
        </p:nvSpPr>
        <p:spPr>
          <a:xfrm>
            <a:off x="914400" y="1879600"/>
            <a:ext cx="2387600" cy="1981200"/>
          </a:xfrm>
          <a:prstGeom prst="roundRect">
            <a:avLst/>
          </a:prstGeom>
          <a:solidFill>
            <a:srgbClr val="F7EFF3"/>
          </a:solidFill>
          <a:ln w="19050">
            <a:solidFill>
              <a:srgbClr val="A63E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C213CBBC-7D39-5094-A8EF-62D903378DC2}"/>
              </a:ext>
            </a:extLst>
          </p:cNvPr>
          <p:cNvSpPr txBox="1"/>
          <p:nvPr/>
        </p:nvSpPr>
        <p:spPr>
          <a:xfrm>
            <a:off x="1117600" y="2057400"/>
            <a:ext cx="1981200" cy="246221"/>
          </a:xfrm>
          <a:prstGeom prst="rect">
            <a:avLst/>
          </a:prstGeom>
          <a:noFill/>
        </p:spPr>
        <p:txBody>
          <a:bodyPr vert="horz" wrap="square" lIns="0" tIns="0" rIns="0" bIns="0" rtlCol="0" anchor="t">
            <a:spAutoFit/>
          </a:bodyPr>
          <a:lstStyle/>
          <a:p>
            <a:r>
              <a:rPr lang="en-US" sz="1600" b="1">
                <a:solidFill>
                  <a:srgbClr val="212121"/>
                </a:solidFill>
                <a:latin typeface="Aptos" panose="020B0004020202020204" pitchFamily="34" charset="0"/>
              </a:rPr>
              <a:t>Participants</a:t>
            </a:r>
          </a:p>
        </p:txBody>
      </p:sp>
      <p:sp>
        <p:nvSpPr>
          <p:cNvPr id="8" name="TextBox 7">
            <a:extLst>
              <a:ext uri="{FF2B5EF4-FFF2-40B4-BE49-F238E27FC236}">
                <a16:creationId xmlns:a16="http://schemas.microsoft.com/office/drawing/2014/main" id="{F09B8AA9-0D7C-5E1B-D125-E1936287D16F}"/>
              </a:ext>
            </a:extLst>
          </p:cNvPr>
          <p:cNvSpPr txBox="1"/>
          <p:nvPr/>
        </p:nvSpPr>
        <p:spPr>
          <a:xfrm>
            <a:off x="1117600" y="2489200"/>
            <a:ext cx="1981200" cy="553998"/>
          </a:xfrm>
          <a:prstGeom prst="rect">
            <a:avLst/>
          </a:prstGeom>
          <a:noFill/>
        </p:spPr>
        <p:txBody>
          <a:bodyPr vert="horz" wrap="square" lIns="0" tIns="0" rIns="0" bIns="0" rtlCol="0" anchor="t">
            <a:spAutoFit/>
          </a:bodyPr>
          <a:lstStyle/>
          <a:p>
            <a:r>
              <a:rPr lang="en-US" sz="1200">
                <a:solidFill>
                  <a:srgbClr val="212121"/>
                </a:solidFill>
                <a:latin typeface="Aptos" panose="020B0004020202020204" pitchFamily="34" charset="0"/>
              </a:rPr>
              <a:t>8 participants produced 312 total observation points across the 8 videos.</a:t>
            </a:r>
          </a:p>
        </p:txBody>
      </p:sp>
      <p:sp>
        <p:nvSpPr>
          <p:cNvPr id="9" name="Rectangle: Rounded Corners 8">
            <a:extLst>
              <a:ext uri="{FF2B5EF4-FFF2-40B4-BE49-F238E27FC236}">
                <a16:creationId xmlns:a16="http://schemas.microsoft.com/office/drawing/2014/main" id="{DDA938D2-70D7-DEC2-0BF1-7A1477E7FAA2}"/>
              </a:ext>
            </a:extLst>
          </p:cNvPr>
          <p:cNvSpPr/>
          <p:nvPr/>
        </p:nvSpPr>
        <p:spPr>
          <a:xfrm>
            <a:off x="3619500" y="1879600"/>
            <a:ext cx="2387600" cy="1981200"/>
          </a:xfrm>
          <a:prstGeom prst="roundRect">
            <a:avLst/>
          </a:prstGeom>
          <a:solidFill>
            <a:srgbClr val="EAF3FC"/>
          </a:solidFill>
          <a:ln w="19050">
            <a:solidFill>
              <a:srgbClr val="5390D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FE58B1AB-BE39-C9F1-951D-BCF6B2E98FF1}"/>
              </a:ext>
            </a:extLst>
          </p:cNvPr>
          <p:cNvSpPr txBox="1"/>
          <p:nvPr/>
        </p:nvSpPr>
        <p:spPr>
          <a:xfrm>
            <a:off x="3822700" y="2057400"/>
            <a:ext cx="1981200" cy="230832"/>
          </a:xfrm>
          <a:prstGeom prst="rect">
            <a:avLst/>
          </a:prstGeom>
          <a:noFill/>
        </p:spPr>
        <p:txBody>
          <a:bodyPr vert="horz" wrap="square" lIns="0" tIns="0" rIns="0" bIns="0" rtlCol="0" anchor="t">
            <a:spAutoFit/>
          </a:bodyPr>
          <a:lstStyle/>
          <a:p>
            <a:r>
              <a:rPr lang="en-US" sz="1500" b="1">
                <a:solidFill>
                  <a:srgbClr val="212121"/>
                </a:solidFill>
                <a:latin typeface="Aptos" panose="020B0004020202020204" pitchFamily="34" charset="0"/>
              </a:rPr>
              <a:t>Frame-based mode</a:t>
            </a:r>
          </a:p>
        </p:txBody>
      </p:sp>
      <p:sp>
        <p:nvSpPr>
          <p:cNvPr id="11" name="TextBox 10">
            <a:extLst>
              <a:ext uri="{FF2B5EF4-FFF2-40B4-BE49-F238E27FC236}">
                <a16:creationId xmlns:a16="http://schemas.microsoft.com/office/drawing/2014/main" id="{FC2FA116-D4EA-B330-3A95-423C27CD1866}"/>
              </a:ext>
            </a:extLst>
          </p:cNvPr>
          <p:cNvSpPr txBox="1"/>
          <p:nvPr/>
        </p:nvSpPr>
        <p:spPr>
          <a:xfrm>
            <a:off x="3822700" y="2489200"/>
            <a:ext cx="1981200" cy="507831"/>
          </a:xfrm>
          <a:prstGeom prst="rect">
            <a:avLst/>
          </a:prstGeom>
          <a:noFill/>
        </p:spPr>
        <p:txBody>
          <a:bodyPr vert="horz" wrap="square" lIns="0" tIns="0" rIns="0" bIns="0" rtlCol="0" anchor="t">
            <a:spAutoFit/>
          </a:bodyPr>
          <a:lstStyle/>
          <a:p>
            <a:r>
              <a:rPr lang="en-US" sz="1100">
                <a:solidFill>
                  <a:srgbClr val="212121"/>
                </a:solidFill>
                <a:latin typeface="Aptos" panose="020B0004020202020204" pitchFamily="34" charset="0"/>
              </a:rPr>
              <a:t>Participants saw cumulative frames at selected timepoints and chose the intended goal.</a:t>
            </a:r>
          </a:p>
        </p:txBody>
      </p:sp>
      <p:sp>
        <p:nvSpPr>
          <p:cNvPr id="12" name="Rectangle: Rounded Corners 11">
            <a:extLst>
              <a:ext uri="{FF2B5EF4-FFF2-40B4-BE49-F238E27FC236}">
                <a16:creationId xmlns:a16="http://schemas.microsoft.com/office/drawing/2014/main" id="{7D0F0D8D-6B5E-B7EE-02B0-6DE0DC0D1075}"/>
              </a:ext>
            </a:extLst>
          </p:cNvPr>
          <p:cNvSpPr/>
          <p:nvPr/>
        </p:nvSpPr>
        <p:spPr>
          <a:xfrm>
            <a:off x="6324600" y="1879600"/>
            <a:ext cx="2387600" cy="1981200"/>
          </a:xfrm>
          <a:prstGeom prst="roundRect">
            <a:avLst/>
          </a:prstGeom>
          <a:solidFill>
            <a:srgbClr val="FFFFFF"/>
          </a:solidFill>
          <a:ln w="19050">
            <a:solidFill>
              <a:srgbClr val="D5CEC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F99E05BF-31D6-7D1A-CB71-9C82F602AEEE}"/>
              </a:ext>
            </a:extLst>
          </p:cNvPr>
          <p:cNvSpPr txBox="1"/>
          <p:nvPr/>
        </p:nvSpPr>
        <p:spPr>
          <a:xfrm>
            <a:off x="6527800" y="2057400"/>
            <a:ext cx="1981200" cy="230832"/>
          </a:xfrm>
          <a:prstGeom prst="rect">
            <a:avLst/>
          </a:prstGeom>
          <a:noFill/>
        </p:spPr>
        <p:txBody>
          <a:bodyPr vert="horz" wrap="square" lIns="0" tIns="0" rIns="0" bIns="0" rtlCol="0" anchor="t">
            <a:spAutoFit/>
          </a:bodyPr>
          <a:lstStyle/>
          <a:p>
            <a:r>
              <a:rPr lang="en-US" sz="1500" b="1">
                <a:solidFill>
                  <a:srgbClr val="212121"/>
                </a:solidFill>
                <a:latin typeface="Aptos" panose="020B0004020202020204" pitchFamily="34" charset="0"/>
              </a:rPr>
              <a:t>Video-based mode</a:t>
            </a:r>
          </a:p>
        </p:txBody>
      </p:sp>
      <p:sp>
        <p:nvSpPr>
          <p:cNvPr id="14" name="TextBox 13">
            <a:extLst>
              <a:ext uri="{FF2B5EF4-FFF2-40B4-BE49-F238E27FC236}">
                <a16:creationId xmlns:a16="http://schemas.microsoft.com/office/drawing/2014/main" id="{F3C45C5B-C070-90FE-9C55-C983C2CF342C}"/>
              </a:ext>
            </a:extLst>
          </p:cNvPr>
          <p:cNvSpPr txBox="1"/>
          <p:nvPr/>
        </p:nvSpPr>
        <p:spPr>
          <a:xfrm>
            <a:off x="6527800" y="2489200"/>
            <a:ext cx="1981200" cy="507831"/>
          </a:xfrm>
          <a:prstGeom prst="rect">
            <a:avLst/>
          </a:prstGeom>
          <a:noFill/>
        </p:spPr>
        <p:txBody>
          <a:bodyPr vert="horz" wrap="square" lIns="0" tIns="0" rIns="0" bIns="0" rtlCol="0" anchor="t">
            <a:spAutoFit/>
          </a:bodyPr>
          <a:lstStyle/>
          <a:p>
            <a:r>
              <a:rPr lang="en-US" sz="1100">
                <a:solidFill>
                  <a:srgbClr val="212121"/>
                </a:solidFill>
                <a:latin typeface="Aptos" panose="020B0004020202020204" pitchFamily="34" charset="0"/>
              </a:rPr>
              <a:t>Participants watched the motion unfold and marked when the goal became identifiable.</a:t>
            </a:r>
          </a:p>
        </p:txBody>
      </p:sp>
      <p:sp>
        <p:nvSpPr>
          <p:cNvPr id="15" name="Rectangle: Rounded Corners 14">
            <a:extLst>
              <a:ext uri="{FF2B5EF4-FFF2-40B4-BE49-F238E27FC236}">
                <a16:creationId xmlns:a16="http://schemas.microsoft.com/office/drawing/2014/main" id="{D3BB8695-946B-4B4D-B69E-E62CAFAA8885}"/>
              </a:ext>
            </a:extLst>
          </p:cNvPr>
          <p:cNvSpPr/>
          <p:nvPr/>
        </p:nvSpPr>
        <p:spPr>
          <a:xfrm>
            <a:off x="9029700" y="1879600"/>
            <a:ext cx="2247900" cy="1981200"/>
          </a:xfrm>
          <a:prstGeom prst="roundRect">
            <a:avLst/>
          </a:prstGeom>
          <a:solidFill>
            <a:srgbClr val="FFF8E6"/>
          </a:solidFill>
          <a:ln w="19050">
            <a:solidFill>
              <a:srgbClr val="F6BF2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9DB2760E-5E93-5DF3-A845-474A93E270E2}"/>
              </a:ext>
            </a:extLst>
          </p:cNvPr>
          <p:cNvSpPr txBox="1"/>
          <p:nvPr/>
        </p:nvSpPr>
        <p:spPr>
          <a:xfrm>
            <a:off x="9232900" y="2057400"/>
            <a:ext cx="1841500" cy="230832"/>
          </a:xfrm>
          <a:prstGeom prst="rect">
            <a:avLst/>
          </a:prstGeom>
          <a:noFill/>
        </p:spPr>
        <p:txBody>
          <a:bodyPr vert="horz" wrap="square" lIns="0" tIns="0" rIns="0" bIns="0" rtlCol="0" anchor="t">
            <a:spAutoFit/>
          </a:bodyPr>
          <a:lstStyle/>
          <a:p>
            <a:r>
              <a:rPr lang="en-US" sz="1500" b="1">
                <a:solidFill>
                  <a:srgbClr val="212121"/>
                </a:solidFill>
                <a:latin typeface="Aptos" panose="020B0004020202020204" pitchFamily="34" charset="0"/>
              </a:rPr>
              <a:t>Recorded outputs</a:t>
            </a:r>
          </a:p>
        </p:txBody>
      </p:sp>
      <p:sp>
        <p:nvSpPr>
          <p:cNvPr id="17" name="TextBox 16">
            <a:extLst>
              <a:ext uri="{FF2B5EF4-FFF2-40B4-BE49-F238E27FC236}">
                <a16:creationId xmlns:a16="http://schemas.microsoft.com/office/drawing/2014/main" id="{86DFF739-E001-3205-CFFB-9DFF44882C54}"/>
              </a:ext>
            </a:extLst>
          </p:cNvPr>
          <p:cNvSpPr txBox="1"/>
          <p:nvPr/>
        </p:nvSpPr>
        <p:spPr>
          <a:xfrm>
            <a:off x="9232900" y="2489200"/>
            <a:ext cx="1841500" cy="507831"/>
          </a:xfrm>
          <a:prstGeom prst="rect">
            <a:avLst/>
          </a:prstGeom>
          <a:noFill/>
        </p:spPr>
        <p:txBody>
          <a:bodyPr vert="horz" wrap="square" lIns="0" tIns="0" rIns="0" bIns="0" rtlCol="0" anchor="t">
            <a:spAutoFit/>
          </a:bodyPr>
          <a:lstStyle/>
          <a:p>
            <a:r>
              <a:rPr lang="en-US" sz="1100">
                <a:solidFill>
                  <a:srgbClr val="212121"/>
                </a:solidFill>
                <a:latin typeface="Aptos" panose="020B0004020202020204" pitchFamily="34" charset="0"/>
              </a:rPr>
              <a:t>Goal choice, confidence, and supporting visual cues from the participant.</a:t>
            </a:r>
          </a:p>
        </p:txBody>
      </p:sp>
      <p:sp>
        <p:nvSpPr>
          <p:cNvPr id="18" name="Rectangle: Rounded Corners 17">
            <a:extLst>
              <a:ext uri="{FF2B5EF4-FFF2-40B4-BE49-F238E27FC236}">
                <a16:creationId xmlns:a16="http://schemas.microsoft.com/office/drawing/2014/main" id="{707E8C7A-BD8A-4616-1324-B3BCFE07C867}"/>
              </a:ext>
            </a:extLst>
          </p:cNvPr>
          <p:cNvSpPr/>
          <p:nvPr/>
        </p:nvSpPr>
        <p:spPr>
          <a:xfrm>
            <a:off x="1168400" y="4445000"/>
            <a:ext cx="9855200" cy="1168400"/>
          </a:xfrm>
          <a:prstGeom prst="roundRect">
            <a:avLst/>
          </a:prstGeom>
          <a:solidFill>
            <a:srgbClr val="FFFFFF"/>
          </a:solidFill>
          <a:ln w="19050">
            <a:solidFill>
              <a:srgbClr val="5390D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D8C5D1FE-19AA-6019-B5ED-741755DB405B}"/>
              </a:ext>
            </a:extLst>
          </p:cNvPr>
          <p:cNvSpPr txBox="1"/>
          <p:nvPr/>
        </p:nvSpPr>
        <p:spPr>
          <a:xfrm>
            <a:off x="1397000" y="4622800"/>
            <a:ext cx="9398000" cy="184666"/>
          </a:xfrm>
          <a:prstGeom prst="rect">
            <a:avLst/>
          </a:prstGeom>
          <a:noFill/>
        </p:spPr>
        <p:txBody>
          <a:bodyPr vert="horz" wrap="square" lIns="0" tIns="0" rIns="0" bIns="0" rtlCol="0" anchor="t">
            <a:spAutoFit/>
          </a:bodyPr>
          <a:lstStyle/>
          <a:p>
            <a:r>
              <a:rPr lang="en-US" sz="1200" b="1">
                <a:solidFill>
                  <a:srgbClr val="5390DE"/>
                </a:solidFill>
                <a:latin typeface="Aptos" panose="020B0004020202020204" pitchFamily="34" charset="0"/>
              </a:rPr>
              <a:t>Role in the thesis</a:t>
            </a:r>
          </a:p>
        </p:txBody>
      </p:sp>
      <p:sp>
        <p:nvSpPr>
          <p:cNvPr id="20" name="TextBox 19">
            <a:extLst>
              <a:ext uri="{FF2B5EF4-FFF2-40B4-BE49-F238E27FC236}">
                <a16:creationId xmlns:a16="http://schemas.microsoft.com/office/drawing/2014/main" id="{1B71EBA0-A318-45D4-EDCB-08CAC8CE66D0}"/>
              </a:ext>
            </a:extLst>
          </p:cNvPr>
          <p:cNvSpPr txBox="1"/>
          <p:nvPr/>
        </p:nvSpPr>
        <p:spPr>
          <a:xfrm>
            <a:off x="1397000" y="5029200"/>
            <a:ext cx="9398000" cy="369332"/>
          </a:xfrm>
          <a:prstGeom prst="rect">
            <a:avLst/>
          </a:prstGeom>
          <a:noFill/>
        </p:spPr>
        <p:txBody>
          <a:bodyPr vert="horz" wrap="square" lIns="0" tIns="0" rIns="0" bIns="0" rtlCol="0" anchor="t">
            <a:spAutoFit/>
          </a:bodyPr>
          <a:lstStyle/>
          <a:p>
            <a:r>
              <a:rPr lang="en-US" sz="1200">
                <a:solidFill>
                  <a:srgbClr val="212121"/>
                </a:solidFill>
                <a:latin typeface="Aptos" panose="020B0004020202020204" pitchFamily="34" charset="0"/>
              </a:rPr>
              <a:t>The pilot study is the human reference. It lets us test not only whether the goal is identified correctly, but also how early and how consistently motion communicates that goal.</a:t>
            </a:r>
          </a:p>
        </p:txBody>
      </p:sp>
      <p:sp>
        <p:nvSpPr>
          <p:cNvPr id="21" name="TextBox 20">
            <a:hlinkClick r:id="rId3" tooltip="Pilot study website"/>
            <a:extLst>
              <a:ext uri="{FF2B5EF4-FFF2-40B4-BE49-F238E27FC236}">
                <a16:creationId xmlns:a16="http://schemas.microsoft.com/office/drawing/2014/main" id="{D74B7016-7865-5A93-D602-C0C22912FFDF}"/>
              </a:ext>
            </a:extLst>
          </p:cNvPr>
          <p:cNvSpPr txBox="1"/>
          <p:nvPr/>
        </p:nvSpPr>
        <p:spPr>
          <a:xfrm>
            <a:off x="1117600" y="6019800"/>
            <a:ext cx="9906000" cy="153888"/>
          </a:xfrm>
          <a:prstGeom prst="rect">
            <a:avLst/>
          </a:prstGeom>
          <a:noFill/>
        </p:spPr>
        <p:txBody>
          <a:bodyPr vert="horz" wrap="square" lIns="0" tIns="0" rIns="0" bIns="0" rtlCol="0" anchor="t">
            <a:spAutoFit/>
          </a:bodyPr>
          <a:lstStyle/>
          <a:p>
            <a:pPr algn="ctr"/>
            <a:r>
              <a:rPr lang="en-US" sz="1000" u="sng">
                <a:solidFill>
                  <a:srgbClr val="245DAD"/>
                </a:solidFill>
                <a:latin typeface="Aptos" panose="020B0004020202020204" pitchFamily="34" charset="0"/>
              </a:rPr>
              <a:t>Pilot study website: https://6976add6d5f1ae5921bd14f7--astonishing-macaron-b778b2.netlify.app/</a:t>
            </a:r>
          </a:p>
        </p:txBody>
      </p:sp>
    </p:spTree>
    <p:extLst>
      <p:ext uri="{BB962C8B-B14F-4D97-AF65-F5344CB8AC3E}">
        <p14:creationId xmlns:p14="http://schemas.microsoft.com/office/powerpoint/2010/main" val="28532297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BF8F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3C65793-2023-494B-D729-F75A3A6EBBF1}"/>
              </a:ext>
            </a:extLst>
          </p:cNvPr>
          <p:cNvSpPr txBox="1"/>
          <p:nvPr/>
        </p:nvSpPr>
        <p:spPr>
          <a:xfrm>
            <a:off x="508000" y="228600"/>
            <a:ext cx="10414000" cy="430887"/>
          </a:xfrm>
          <a:prstGeom prst="rect">
            <a:avLst/>
          </a:prstGeom>
          <a:noFill/>
        </p:spPr>
        <p:txBody>
          <a:bodyPr vert="horz" wrap="square" lIns="0" tIns="0" rIns="0" bIns="0" rtlCol="0" anchor="t">
            <a:spAutoFit/>
          </a:bodyPr>
          <a:lstStyle/>
          <a:p>
            <a:r>
              <a:rPr lang="en-US" sz="2800" b="1">
                <a:solidFill>
                  <a:srgbClr val="212121"/>
                </a:solidFill>
                <a:latin typeface="Aptos" panose="020B0004020202020204" pitchFamily="34" charset="0"/>
              </a:rPr>
              <a:t>VLM Goal-Inference Evaluation Pipeline</a:t>
            </a:r>
          </a:p>
        </p:txBody>
      </p:sp>
      <p:sp>
        <p:nvSpPr>
          <p:cNvPr id="3" name="TextBox 2">
            <a:extLst>
              <a:ext uri="{FF2B5EF4-FFF2-40B4-BE49-F238E27FC236}">
                <a16:creationId xmlns:a16="http://schemas.microsoft.com/office/drawing/2014/main" id="{9DD8D203-4860-9DA3-6A05-5462098373C1}"/>
              </a:ext>
            </a:extLst>
          </p:cNvPr>
          <p:cNvSpPr txBox="1"/>
          <p:nvPr/>
        </p:nvSpPr>
        <p:spPr>
          <a:xfrm>
            <a:off x="508000" y="787400"/>
            <a:ext cx="10668000" cy="169277"/>
          </a:xfrm>
          <a:prstGeom prst="rect">
            <a:avLst/>
          </a:prstGeom>
          <a:noFill/>
        </p:spPr>
        <p:txBody>
          <a:bodyPr vert="horz" wrap="square" lIns="0" tIns="0" rIns="0" bIns="0" rtlCol="0" anchor="t">
            <a:spAutoFit/>
          </a:bodyPr>
          <a:lstStyle/>
          <a:p>
            <a:r>
              <a:rPr lang="en-US" sz="1100">
                <a:solidFill>
                  <a:srgbClr val="707070"/>
                </a:solidFill>
                <a:latin typeface="Aptos" panose="020B0004020202020204" pitchFamily="34" charset="0"/>
              </a:rPr>
              <a:t>Gemini receives progressively larger motion prefixes and returns structured goal judgments over time</a:t>
            </a:r>
          </a:p>
        </p:txBody>
      </p:sp>
      <p:sp>
        <p:nvSpPr>
          <p:cNvPr id="4" name="Rectangle 3">
            <a:extLst>
              <a:ext uri="{FF2B5EF4-FFF2-40B4-BE49-F238E27FC236}">
                <a16:creationId xmlns:a16="http://schemas.microsoft.com/office/drawing/2014/main" id="{02EF2F7E-7AA0-B96B-03F2-7AA6604BDB4E}"/>
              </a:ext>
            </a:extLst>
          </p:cNvPr>
          <p:cNvSpPr/>
          <p:nvPr/>
        </p:nvSpPr>
        <p:spPr>
          <a:xfrm>
            <a:off x="508000" y="1206500"/>
            <a:ext cx="11176000" cy="50800"/>
          </a:xfrm>
          <a:prstGeom prst="rect">
            <a:avLst/>
          </a:prstGeom>
          <a:solidFill>
            <a:srgbClr val="F6BF20"/>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836DBB54-D9FC-D1A1-812C-0F86648569FC}"/>
              </a:ext>
            </a:extLst>
          </p:cNvPr>
          <p:cNvSpPr txBox="1"/>
          <p:nvPr/>
        </p:nvSpPr>
        <p:spPr>
          <a:xfrm>
            <a:off x="11430000" y="228600"/>
            <a:ext cx="304800" cy="153888"/>
          </a:xfrm>
          <a:prstGeom prst="rect">
            <a:avLst/>
          </a:prstGeom>
          <a:noFill/>
        </p:spPr>
        <p:txBody>
          <a:bodyPr vert="horz" wrap="square" lIns="0" tIns="0" rIns="0" bIns="0" rtlCol="0" anchor="t">
            <a:spAutoFit/>
          </a:bodyPr>
          <a:lstStyle/>
          <a:p>
            <a:pPr algn="r"/>
            <a:r>
              <a:rPr lang="en-US" sz="1000">
                <a:solidFill>
                  <a:srgbClr val="5C5C5C"/>
                </a:solidFill>
                <a:latin typeface="Aptos" panose="020B0004020202020204" pitchFamily="34" charset="0"/>
              </a:rPr>
              <a:t>16</a:t>
            </a:r>
          </a:p>
        </p:txBody>
      </p:sp>
      <p:sp>
        <p:nvSpPr>
          <p:cNvPr id="6" name="Rectangle: Rounded Corners 5">
            <a:extLst>
              <a:ext uri="{FF2B5EF4-FFF2-40B4-BE49-F238E27FC236}">
                <a16:creationId xmlns:a16="http://schemas.microsoft.com/office/drawing/2014/main" id="{8FECC13D-2BA6-9232-96AB-7B862C4B82FF}"/>
              </a:ext>
            </a:extLst>
          </p:cNvPr>
          <p:cNvSpPr/>
          <p:nvPr/>
        </p:nvSpPr>
        <p:spPr>
          <a:xfrm>
            <a:off x="635000" y="1930400"/>
            <a:ext cx="2095500" cy="1574800"/>
          </a:xfrm>
          <a:prstGeom prst="roundRect">
            <a:avLst/>
          </a:prstGeom>
          <a:solidFill>
            <a:srgbClr val="FFFFFF"/>
          </a:solidFill>
          <a:ln w="19050">
            <a:solidFill>
              <a:srgbClr val="D5CEC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FA3A9F67-63B3-43CA-FBDE-5C52493891D2}"/>
              </a:ext>
            </a:extLst>
          </p:cNvPr>
          <p:cNvSpPr txBox="1"/>
          <p:nvPr/>
        </p:nvSpPr>
        <p:spPr>
          <a:xfrm>
            <a:off x="838200" y="2108200"/>
            <a:ext cx="1689100" cy="230832"/>
          </a:xfrm>
          <a:prstGeom prst="rect">
            <a:avLst/>
          </a:prstGeom>
          <a:noFill/>
        </p:spPr>
        <p:txBody>
          <a:bodyPr vert="horz" wrap="square" lIns="0" tIns="0" rIns="0" bIns="0" rtlCol="0" anchor="t">
            <a:spAutoFit/>
          </a:bodyPr>
          <a:lstStyle/>
          <a:p>
            <a:r>
              <a:rPr lang="en-US" sz="1500" b="1">
                <a:solidFill>
                  <a:srgbClr val="212121"/>
                </a:solidFill>
                <a:latin typeface="Aptos" panose="020B0004020202020204" pitchFamily="34" charset="0"/>
              </a:rPr>
              <a:t>1. Video to frames</a:t>
            </a:r>
          </a:p>
        </p:txBody>
      </p:sp>
      <p:sp>
        <p:nvSpPr>
          <p:cNvPr id="8" name="TextBox 7">
            <a:extLst>
              <a:ext uri="{FF2B5EF4-FFF2-40B4-BE49-F238E27FC236}">
                <a16:creationId xmlns:a16="http://schemas.microsoft.com/office/drawing/2014/main" id="{CA13046D-1AC2-A10B-4661-391A1239230C}"/>
              </a:ext>
            </a:extLst>
          </p:cNvPr>
          <p:cNvSpPr txBox="1"/>
          <p:nvPr/>
        </p:nvSpPr>
        <p:spPr>
          <a:xfrm>
            <a:off x="838200" y="2540000"/>
            <a:ext cx="1689100" cy="507831"/>
          </a:xfrm>
          <a:prstGeom prst="rect">
            <a:avLst/>
          </a:prstGeom>
          <a:noFill/>
        </p:spPr>
        <p:txBody>
          <a:bodyPr vert="horz" wrap="square" lIns="0" tIns="0" rIns="0" bIns="0" rtlCol="0" anchor="t">
            <a:spAutoFit/>
          </a:bodyPr>
          <a:lstStyle/>
          <a:p>
            <a:r>
              <a:rPr lang="en-US" sz="1100">
                <a:solidFill>
                  <a:srgbClr val="212121"/>
                </a:solidFill>
                <a:latin typeface="Aptos" panose="020B0004020202020204" pitchFamily="34" charset="0"/>
              </a:rPr>
              <a:t>Each robot video is converted into an ordered frame sequence.</a:t>
            </a:r>
          </a:p>
        </p:txBody>
      </p:sp>
      <p:sp>
        <p:nvSpPr>
          <p:cNvPr id="9" name="TextBox 8">
            <a:extLst>
              <a:ext uri="{FF2B5EF4-FFF2-40B4-BE49-F238E27FC236}">
                <a16:creationId xmlns:a16="http://schemas.microsoft.com/office/drawing/2014/main" id="{BCB835D9-D09C-F8C9-0D4A-A25E060AE802}"/>
              </a:ext>
            </a:extLst>
          </p:cNvPr>
          <p:cNvSpPr txBox="1"/>
          <p:nvPr/>
        </p:nvSpPr>
        <p:spPr>
          <a:xfrm>
            <a:off x="2768600" y="2514600"/>
            <a:ext cx="304800" cy="276999"/>
          </a:xfrm>
          <a:prstGeom prst="rect">
            <a:avLst/>
          </a:prstGeom>
          <a:noFill/>
        </p:spPr>
        <p:txBody>
          <a:bodyPr vert="horz" wrap="square" lIns="0" tIns="0" rIns="0" bIns="0" rtlCol="0" anchor="ctr">
            <a:spAutoFit/>
          </a:bodyPr>
          <a:lstStyle/>
          <a:p>
            <a:pPr algn="ctr"/>
            <a:r>
              <a:rPr lang="en-US" b="1">
                <a:solidFill>
                  <a:srgbClr val="F6BF20"/>
                </a:solidFill>
                <a:latin typeface="Aptos" panose="020B0004020202020204" pitchFamily="34" charset="0"/>
              </a:rPr>
              <a:t>-&gt;</a:t>
            </a:r>
          </a:p>
        </p:txBody>
      </p:sp>
      <p:sp>
        <p:nvSpPr>
          <p:cNvPr id="10" name="Rectangle: Rounded Corners 9">
            <a:extLst>
              <a:ext uri="{FF2B5EF4-FFF2-40B4-BE49-F238E27FC236}">
                <a16:creationId xmlns:a16="http://schemas.microsoft.com/office/drawing/2014/main" id="{E1765107-C76A-E827-F37A-E3B68CF3F70A}"/>
              </a:ext>
            </a:extLst>
          </p:cNvPr>
          <p:cNvSpPr/>
          <p:nvPr/>
        </p:nvSpPr>
        <p:spPr>
          <a:xfrm>
            <a:off x="3073400" y="1930400"/>
            <a:ext cx="2095500" cy="1574800"/>
          </a:xfrm>
          <a:prstGeom prst="roundRect">
            <a:avLst/>
          </a:prstGeom>
          <a:solidFill>
            <a:srgbClr val="EAF3FC"/>
          </a:solidFill>
          <a:ln w="19050">
            <a:solidFill>
              <a:srgbClr val="5390D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C2C6C813-F96D-D9FF-9CD7-85594A533D5E}"/>
              </a:ext>
            </a:extLst>
          </p:cNvPr>
          <p:cNvSpPr txBox="1"/>
          <p:nvPr/>
        </p:nvSpPr>
        <p:spPr>
          <a:xfrm>
            <a:off x="3276600" y="2108200"/>
            <a:ext cx="1689100" cy="230832"/>
          </a:xfrm>
          <a:prstGeom prst="rect">
            <a:avLst/>
          </a:prstGeom>
          <a:noFill/>
        </p:spPr>
        <p:txBody>
          <a:bodyPr vert="horz" wrap="square" lIns="0" tIns="0" rIns="0" bIns="0" rtlCol="0" anchor="t">
            <a:spAutoFit/>
          </a:bodyPr>
          <a:lstStyle/>
          <a:p>
            <a:r>
              <a:rPr lang="en-US" sz="1500" b="1">
                <a:solidFill>
                  <a:srgbClr val="212121"/>
                </a:solidFill>
                <a:latin typeface="Aptos" panose="020B0004020202020204" pitchFamily="34" charset="0"/>
              </a:rPr>
              <a:t>2. Prefix frames</a:t>
            </a:r>
          </a:p>
        </p:txBody>
      </p:sp>
      <p:sp>
        <p:nvSpPr>
          <p:cNvPr id="12" name="TextBox 11">
            <a:extLst>
              <a:ext uri="{FF2B5EF4-FFF2-40B4-BE49-F238E27FC236}">
                <a16:creationId xmlns:a16="http://schemas.microsoft.com/office/drawing/2014/main" id="{F3D40B22-45EF-A118-5DFF-B5D116053CC7}"/>
              </a:ext>
            </a:extLst>
          </p:cNvPr>
          <p:cNvSpPr txBox="1"/>
          <p:nvPr/>
        </p:nvSpPr>
        <p:spPr>
          <a:xfrm>
            <a:off x="3276600" y="2540000"/>
            <a:ext cx="1689100" cy="507831"/>
          </a:xfrm>
          <a:prstGeom prst="rect">
            <a:avLst/>
          </a:prstGeom>
          <a:noFill/>
        </p:spPr>
        <p:txBody>
          <a:bodyPr vert="horz" wrap="square" lIns="0" tIns="0" rIns="0" bIns="0" rtlCol="0" anchor="t">
            <a:spAutoFit/>
          </a:bodyPr>
          <a:lstStyle/>
          <a:p>
            <a:r>
              <a:rPr lang="en-US" sz="1100">
                <a:solidFill>
                  <a:srgbClr val="212121"/>
                </a:solidFill>
                <a:latin typeface="Aptos" panose="020B0004020202020204" pitchFamily="34" charset="0"/>
              </a:rPr>
              <a:t>Cumulative frame sequences are built at selected timepoints.</a:t>
            </a:r>
          </a:p>
        </p:txBody>
      </p:sp>
      <p:sp>
        <p:nvSpPr>
          <p:cNvPr id="13" name="TextBox 12">
            <a:extLst>
              <a:ext uri="{FF2B5EF4-FFF2-40B4-BE49-F238E27FC236}">
                <a16:creationId xmlns:a16="http://schemas.microsoft.com/office/drawing/2014/main" id="{2D397EDA-0D0A-0108-81B4-D3DE9A81BFAA}"/>
              </a:ext>
            </a:extLst>
          </p:cNvPr>
          <p:cNvSpPr txBox="1"/>
          <p:nvPr/>
        </p:nvSpPr>
        <p:spPr>
          <a:xfrm>
            <a:off x="5207000" y="2514600"/>
            <a:ext cx="304800" cy="276999"/>
          </a:xfrm>
          <a:prstGeom prst="rect">
            <a:avLst/>
          </a:prstGeom>
          <a:noFill/>
        </p:spPr>
        <p:txBody>
          <a:bodyPr vert="horz" wrap="square" lIns="0" tIns="0" rIns="0" bIns="0" rtlCol="0" anchor="ctr">
            <a:spAutoFit/>
          </a:bodyPr>
          <a:lstStyle/>
          <a:p>
            <a:pPr algn="ctr"/>
            <a:r>
              <a:rPr lang="en-US" b="1">
                <a:solidFill>
                  <a:srgbClr val="F6BF20"/>
                </a:solidFill>
                <a:latin typeface="Aptos" panose="020B0004020202020204" pitchFamily="34" charset="0"/>
              </a:rPr>
              <a:t>-&gt;</a:t>
            </a:r>
          </a:p>
        </p:txBody>
      </p:sp>
      <p:sp>
        <p:nvSpPr>
          <p:cNvPr id="14" name="Rectangle: Rounded Corners 13">
            <a:extLst>
              <a:ext uri="{FF2B5EF4-FFF2-40B4-BE49-F238E27FC236}">
                <a16:creationId xmlns:a16="http://schemas.microsoft.com/office/drawing/2014/main" id="{714C1C62-CBEA-D577-8A73-31A8454802D5}"/>
              </a:ext>
            </a:extLst>
          </p:cNvPr>
          <p:cNvSpPr/>
          <p:nvPr/>
        </p:nvSpPr>
        <p:spPr>
          <a:xfrm>
            <a:off x="5511800" y="1930400"/>
            <a:ext cx="2095500" cy="1574800"/>
          </a:xfrm>
          <a:prstGeom prst="roundRect">
            <a:avLst/>
          </a:prstGeom>
          <a:solidFill>
            <a:srgbClr val="F7EFF3"/>
          </a:solidFill>
          <a:ln w="19050">
            <a:solidFill>
              <a:srgbClr val="A63E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788E55F3-6D0F-64DB-9B8E-0B01E725459D}"/>
              </a:ext>
            </a:extLst>
          </p:cNvPr>
          <p:cNvSpPr txBox="1"/>
          <p:nvPr/>
        </p:nvSpPr>
        <p:spPr>
          <a:xfrm>
            <a:off x="5715000" y="2108200"/>
            <a:ext cx="1689100" cy="230832"/>
          </a:xfrm>
          <a:prstGeom prst="rect">
            <a:avLst/>
          </a:prstGeom>
          <a:noFill/>
        </p:spPr>
        <p:txBody>
          <a:bodyPr vert="horz" wrap="square" lIns="0" tIns="0" rIns="0" bIns="0" rtlCol="0" anchor="t">
            <a:spAutoFit/>
          </a:bodyPr>
          <a:lstStyle/>
          <a:p>
            <a:r>
              <a:rPr lang="en-US" sz="1500" b="1">
                <a:solidFill>
                  <a:srgbClr val="212121"/>
                </a:solidFill>
                <a:latin typeface="Aptos" panose="020B0004020202020204" pitchFamily="34" charset="0"/>
              </a:rPr>
              <a:t>3. Gemini prompt</a:t>
            </a:r>
          </a:p>
        </p:txBody>
      </p:sp>
      <p:sp>
        <p:nvSpPr>
          <p:cNvPr id="16" name="TextBox 15">
            <a:extLst>
              <a:ext uri="{FF2B5EF4-FFF2-40B4-BE49-F238E27FC236}">
                <a16:creationId xmlns:a16="http://schemas.microsoft.com/office/drawing/2014/main" id="{DBB1F9B4-70FA-435F-E77E-91D45170E898}"/>
              </a:ext>
            </a:extLst>
          </p:cNvPr>
          <p:cNvSpPr txBox="1"/>
          <p:nvPr/>
        </p:nvSpPr>
        <p:spPr>
          <a:xfrm>
            <a:off x="5715000" y="2540000"/>
            <a:ext cx="1689100" cy="507831"/>
          </a:xfrm>
          <a:prstGeom prst="rect">
            <a:avLst/>
          </a:prstGeom>
          <a:noFill/>
        </p:spPr>
        <p:txBody>
          <a:bodyPr vert="horz" wrap="square" lIns="0" tIns="0" rIns="0" bIns="0" rtlCol="0" anchor="t">
            <a:spAutoFit/>
          </a:bodyPr>
          <a:lstStyle/>
          <a:p>
            <a:r>
              <a:rPr lang="en-US" sz="1100">
                <a:solidFill>
                  <a:srgbClr val="212121"/>
                </a:solidFill>
                <a:latin typeface="Aptos" panose="020B0004020202020204" pitchFamily="34" charset="0"/>
              </a:rPr>
              <a:t>The model scores candidate goals from the visible motion evidence.</a:t>
            </a:r>
          </a:p>
        </p:txBody>
      </p:sp>
      <p:sp>
        <p:nvSpPr>
          <p:cNvPr id="17" name="TextBox 16">
            <a:extLst>
              <a:ext uri="{FF2B5EF4-FFF2-40B4-BE49-F238E27FC236}">
                <a16:creationId xmlns:a16="http://schemas.microsoft.com/office/drawing/2014/main" id="{F6900135-81CE-B4CF-0CC9-D9D98E08D0CB}"/>
              </a:ext>
            </a:extLst>
          </p:cNvPr>
          <p:cNvSpPr txBox="1"/>
          <p:nvPr/>
        </p:nvSpPr>
        <p:spPr>
          <a:xfrm>
            <a:off x="7645400" y="2514600"/>
            <a:ext cx="304800" cy="276999"/>
          </a:xfrm>
          <a:prstGeom prst="rect">
            <a:avLst/>
          </a:prstGeom>
          <a:noFill/>
        </p:spPr>
        <p:txBody>
          <a:bodyPr vert="horz" wrap="square" lIns="0" tIns="0" rIns="0" bIns="0" rtlCol="0" anchor="ctr">
            <a:spAutoFit/>
          </a:bodyPr>
          <a:lstStyle/>
          <a:p>
            <a:pPr algn="ctr"/>
            <a:r>
              <a:rPr lang="en-US" b="1">
                <a:solidFill>
                  <a:srgbClr val="F6BF20"/>
                </a:solidFill>
                <a:latin typeface="Aptos" panose="020B0004020202020204" pitchFamily="34" charset="0"/>
              </a:rPr>
              <a:t>-&gt;</a:t>
            </a:r>
          </a:p>
        </p:txBody>
      </p:sp>
      <p:sp>
        <p:nvSpPr>
          <p:cNvPr id="18" name="Rectangle: Rounded Corners 17">
            <a:extLst>
              <a:ext uri="{FF2B5EF4-FFF2-40B4-BE49-F238E27FC236}">
                <a16:creationId xmlns:a16="http://schemas.microsoft.com/office/drawing/2014/main" id="{E4D41093-5E3D-A6F8-320D-E6D60CC95D34}"/>
              </a:ext>
            </a:extLst>
          </p:cNvPr>
          <p:cNvSpPr/>
          <p:nvPr/>
        </p:nvSpPr>
        <p:spPr>
          <a:xfrm>
            <a:off x="7950200" y="1930400"/>
            <a:ext cx="2095500" cy="1574800"/>
          </a:xfrm>
          <a:prstGeom prst="roundRect">
            <a:avLst/>
          </a:prstGeom>
          <a:solidFill>
            <a:srgbClr val="FFF8E6"/>
          </a:solidFill>
          <a:ln w="19050">
            <a:solidFill>
              <a:srgbClr val="F6BF2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3C52A3D2-6A58-06FC-21BB-B15B5DE9CBD5}"/>
              </a:ext>
            </a:extLst>
          </p:cNvPr>
          <p:cNvSpPr txBox="1"/>
          <p:nvPr/>
        </p:nvSpPr>
        <p:spPr>
          <a:xfrm>
            <a:off x="8153400" y="2108200"/>
            <a:ext cx="1689100" cy="461665"/>
          </a:xfrm>
          <a:prstGeom prst="rect">
            <a:avLst/>
          </a:prstGeom>
          <a:noFill/>
        </p:spPr>
        <p:txBody>
          <a:bodyPr vert="horz" wrap="square" lIns="0" tIns="0" rIns="0" bIns="0" rtlCol="0" anchor="t">
            <a:spAutoFit/>
          </a:bodyPr>
          <a:lstStyle/>
          <a:p>
            <a:r>
              <a:rPr lang="en-US" sz="1500" b="1">
                <a:solidFill>
                  <a:srgbClr val="212121"/>
                </a:solidFill>
                <a:latin typeface="Aptos" panose="020B0004020202020204" pitchFamily="34" charset="0"/>
              </a:rPr>
              <a:t>4. Structured output</a:t>
            </a:r>
          </a:p>
        </p:txBody>
      </p:sp>
      <p:sp>
        <p:nvSpPr>
          <p:cNvPr id="20" name="TextBox 19">
            <a:extLst>
              <a:ext uri="{FF2B5EF4-FFF2-40B4-BE49-F238E27FC236}">
                <a16:creationId xmlns:a16="http://schemas.microsoft.com/office/drawing/2014/main" id="{F00B3E07-CA44-C282-7F54-44426C3ED279}"/>
              </a:ext>
            </a:extLst>
          </p:cNvPr>
          <p:cNvSpPr txBox="1"/>
          <p:nvPr/>
        </p:nvSpPr>
        <p:spPr>
          <a:xfrm>
            <a:off x="8153400" y="2540000"/>
            <a:ext cx="1689100" cy="507831"/>
          </a:xfrm>
          <a:prstGeom prst="rect">
            <a:avLst/>
          </a:prstGeom>
          <a:noFill/>
        </p:spPr>
        <p:txBody>
          <a:bodyPr vert="horz" wrap="square" lIns="0" tIns="0" rIns="0" bIns="0" rtlCol="0" anchor="t">
            <a:spAutoFit/>
          </a:bodyPr>
          <a:lstStyle/>
          <a:p>
            <a:r>
              <a:rPr lang="en-US" sz="1100">
                <a:solidFill>
                  <a:srgbClr val="212121"/>
                </a:solidFill>
                <a:latin typeface="Aptos" panose="020B0004020202020204" pitchFamily="34" charset="0"/>
              </a:rPr>
              <a:t>Predicted goal and confidence are extracted for analysis.</a:t>
            </a:r>
          </a:p>
        </p:txBody>
      </p:sp>
      <p:sp>
        <p:nvSpPr>
          <p:cNvPr id="21" name="Rectangle: Rounded Corners 20">
            <a:extLst>
              <a:ext uri="{FF2B5EF4-FFF2-40B4-BE49-F238E27FC236}">
                <a16:creationId xmlns:a16="http://schemas.microsoft.com/office/drawing/2014/main" id="{7724752A-8435-23E8-9060-C55B06D7B275}"/>
              </a:ext>
            </a:extLst>
          </p:cNvPr>
          <p:cNvSpPr/>
          <p:nvPr/>
        </p:nvSpPr>
        <p:spPr>
          <a:xfrm>
            <a:off x="1066800" y="4191000"/>
            <a:ext cx="10058400" cy="1473200"/>
          </a:xfrm>
          <a:prstGeom prst="roundRect">
            <a:avLst/>
          </a:prstGeom>
          <a:solidFill>
            <a:srgbClr val="FFFFFF"/>
          </a:solidFill>
          <a:ln w="19050">
            <a:solidFill>
              <a:srgbClr val="5390D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5BD8D777-B358-CBFD-459A-3576BB59C853}"/>
              </a:ext>
            </a:extLst>
          </p:cNvPr>
          <p:cNvSpPr txBox="1"/>
          <p:nvPr/>
        </p:nvSpPr>
        <p:spPr>
          <a:xfrm>
            <a:off x="1295400" y="4368800"/>
            <a:ext cx="9601200" cy="184666"/>
          </a:xfrm>
          <a:prstGeom prst="rect">
            <a:avLst/>
          </a:prstGeom>
          <a:noFill/>
        </p:spPr>
        <p:txBody>
          <a:bodyPr vert="horz" wrap="square" lIns="0" tIns="0" rIns="0" bIns="0" rtlCol="0" anchor="t">
            <a:spAutoFit/>
          </a:bodyPr>
          <a:lstStyle/>
          <a:p>
            <a:r>
              <a:rPr lang="en-US" sz="1200" b="1">
                <a:solidFill>
                  <a:srgbClr val="5390DE"/>
                </a:solidFill>
                <a:latin typeface="Aptos" panose="020B0004020202020204" pitchFamily="34" charset="0"/>
              </a:rPr>
              <a:t>Timepoint design</a:t>
            </a:r>
          </a:p>
        </p:txBody>
      </p:sp>
      <p:sp>
        <p:nvSpPr>
          <p:cNvPr id="23" name="TextBox 22">
            <a:extLst>
              <a:ext uri="{FF2B5EF4-FFF2-40B4-BE49-F238E27FC236}">
                <a16:creationId xmlns:a16="http://schemas.microsoft.com/office/drawing/2014/main" id="{3C919E9E-480F-D2A7-60D8-515856297ADB}"/>
              </a:ext>
            </a:extLst>
          </p:cNvPr>
          <p:cNvSpPr txBox="1"/>
          <p:nvPr/>
        </p:nvSpPr>
        <p:spPr>
          <a:xfrm>
            <a:off x="1295400" y="4775200"/>
            <a:ext cx="9601200" cy="338554"/>
          </a:xfrm>
          <a:prstGeom prst="rect">
            <a:avLst/>
          </a:prstGeom>
          <a:noFill/>
        </p:spPr>
        <p:txBody>
          <a:bodyPr vert="horz" wrap="square" lIns="0" tIns="0" rIns="0" bIns="0" rtlCol="0" anchor="t">
            <a:spAutoFit/>
          </a:bodyPr>
          <a:lstStyle/>
          <a:p>
            <a:r>
              <a:rPr lang="en-US" sz="1100">
                <a:solidFill>
                  <a:srgbClr val="212121"/>
                </a:solidFill>
                <a:latin typeface="Aptos" panose="020B0004020202020204" pitchFamily="34" charset="0"/>
              </a:rPr>
              <a:t>Four timepoints are selected per video: the start of the trajectory, the first high-confidence correct VLM prediction, the point where the predicted goal changes when applicable, and the end of the trajectory. This mirrors the observer-centered view of legibility.</a:t>
            </a:r>
          </a:p>
        </p:txBody>
      </p:sp>
    </p:spTree>
    <p:extLst>
      <p:ext uri="{BB962C8B-B14F-4D97-AF65-F5344CB8AC3E}">
        <p14:creationId xmlns:p14="http://schemas.microsoft.com/office/powerpoint/2010/main" val="15316944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BF8F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EBEF86A-1219-82B3-4149-354BC1506AFE}"/>
              </a:ext>
            </a:extLst>
          </p:cNvPr>
          <p:cNvSpPr txBox="1"/>
          <p:nvPr/>
        </p:nvSpPr>
        <p:spPr>
          <a:xfrm>
            <a:off x="508000" y="228600"/>
            <a:ext cx="10414000" cy="430887"/>
          </a:xfrm>
          <a:prstGeom prst="rect">
            <a:avLst/>
          </a:prstGeom>
          <a:noFill/>
        </p:spPr>
        <p:txBody>
          <a:bodyPr vert="horz" wrap="square" lIns="0" tIns="0" rIns="0" bIns="0" rtlCol="0" anchor="t">
            <a:spAutoFit/>
          </a:bodyPr>
          <a:lstStyle/>
          <a:p>
            <a:r>
              <a:rPr lang="en-US" sz="2800" b="1">
                <a:solidFill>
                  <a:srgbClr val="212121"/>
                </a:solidFill>
                <a:latin typeface="Aptos" panose="020B0004020202020204" pitchFamily="34" charset="0"/>
              </a:rPr>
              <a:t>VLM Pipeline With Frames</a:t>
            </a:r>
          </a:p>
        </p:txBody>
      </p:sp>
      <p:sp>
        <p:nvSpPr>
          <p:cNvPr id="3" name="Rectangle 2">
            <a:extLst>
              <a:ext uri="{FF2B5EF4-FFF2-40B4-BE49-F238E27FC236}">
                <a16:creationId xmlns:a16="http://schemas.microsoft.com/office/drawing/2014/main" id="{B6B03B98-85BE-421F-09E6-BBFA421F8903}"/>
              </a:ext>
            </a:extLst>
          </p:cNvPr>
          <p:cNvSpPr/>
          <p:nvPr/>
        </p:nvSpPr>
        <p:spPr>
          <a:xfrm>
            <a:off x="508000" y="1206500"/>
            <a:ext cx="11176000" cy="50800"/>
          </a:xfrm>
          <a:prstGeom prst="rect">
            <a:avLst/>
          </a:prstGeom>
          <a:solidFill>
            <a:srgbClr val="F6BF20"/>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141A39A3-F71F-1053-B0B8-AB1E7BC85A2C}"/>
              </a:ext>
            </a:extLst>
          </p:cNvPr>
          <p:cNvSpPr txBox="1"/>
          <p:nvPr/>
        </p:nvSpPr>
        <p:spPr>
          <a:xfrm>
            <a:off x="11430000" y="228600"/>
            <a:ext cx="304800" cy="153888"/>
          </a:xfrm>
          <a:prstGeom prst="rect">
            <a:avLst/>
          </a:prstGeom>
          <a:noFill/>
        </p:spPr>
        <p:txBody>
          <a:bodyPr vert="horz" wrap="square" lIns="0" tIns="0" rIns="0" bIns="0" rtlCol="0" anchor="t">
            <a:spAutoFit/>
          </a:bodyPr>
          <a:lstStyle/>
          <a:p>
            <a:pPr algn="r"/>
            <a:r>
              <a:rPr lang="en-US" sz="1000">
                <a:solidFill>
                  <a:srgbClr val="5C5C5C"/>
                </a:solidFill>
                <a:latin typeface="Aptos" panose="020B0004020202020204" pitchFamily="34" charset="0"/>
              </a:rPr>
              <a:t>17</a:t>
            </a:r>
          </a:p>
        </p:txBody>
      </p:sp>
      <p:pic>
        <p:nvPicPr>
          <p:cNvPr id="6" name="Picture 5">
            <a:extLst>
              <a:ext uri="{FF2B5EF4-FFF2-40B4-BE49-F238E27FC236}">
                <a16:creationId xmlns:a16="http://schemas.microsoft.com/office/drawing/2014/main" id="{B95DC515-3176-0BF3-2F46-FE0F655C24E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84959" y="2203124"/>
            <a:ext cx="6422083" cy="3594751"/>
          </a:xfrm>
          <a:prstGeom prst="rect">
            <a:avLst/>
          </a:prstGeom>
        </p:spPr>
      </p:pic>
    </p:spTree>
    <p:extLst>
      <p:ext uri="{BB962C8B-B14F-4D97-AF65-F5344CB8AC3E}">
        <p14:creationId xmlns:p14="http://schemas.microsoft.com/office/powerpoint/2010/main" val="9759656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BF8F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BD57488-3E8D-9955-3E7E-3A5BE24B8490}"/>
              </a:ext>
            </a:extLst>
          </p:cNvPr>
          <p:cNvSpPr txBox="1"/>
          <p:nvPr/>
        </p:nvSpPr>
        <p:spPr>
          <a:xfrm>
            <a:off x="508000" y="228600"/>
            <a:ext cx="10414000" cy="430887"/>
          </a:xfrm>
          <a:prstGeom prst="rect">
            <a:avLst/>
          </a:prstGeom>
          <a:noFill/>
        </p:spPr>
        <p:txBody>
          <a:bodyPr vert="horz" wrap="square" lIns="0" tIns="0" rIns="0" bIns="0" rtlCol="0" anchor="t">
            <a:spAutoFit/>
          </a:bodyPr>
          <a:lstStyle/>
          <a:p>
            <a:r>
              <a:rPr lang="en-US" sz="2800" b="1">
                <a:solidFill>
                  <a:srgbClr val="212121"/>
                </a:solidFill>
                <a:latin typeface="Aptos" panose="020B0004020202020204" pitchFamily="34" charset="0"/>
              </a:rPr>
              <a:t>Prefix-Frame Prompting Strategy</a:t>
            </a:r>
          </a:p>
        </p:txBody>
      </p:sp>
      <p:sp>
        <p:nvSpPr>
          <p:cNvPr id="3" name="TextBox 2">
            <a:extLst>
              <a:ext uri="{FF2B5EF4-FFF2-40B4-BE49-F238E27FC236}">
                <a16:creationId xmlns:a16="http://schemas.microsoft.com/office/drawing/2014/main" id="{1FE92B44-74C7-8703-5F5C-4F6147A68471}"/>
              </a:ext>
            </a:extLst>
          </p:cNvPr>
          <p:cNvSpPr txBox="1"/>
          <p:nvPr/>
        </p:nvSpPr>
        <p:spPr>
          <a:xfrm>
            <a:off x="508000" y="787400"/>
            <a:ext cx="10668000" cy="169277"/>
          </a:xfrm>
          <a:prstGeom prst="rect">
            <a:avLst/>
          </a:prstGeom>
          <a:noFill/>
        </p:spPr>
        <p:txBody>
          <a:bodyPr vert="horz" wrap="square" lIns="0" tIns="0" rIns="0" bIns="0" rtlCol="0" anchor="t">
            <a:spAutoFit/>
          </a:bodyPr>
          <a:lstStyle/>
          <a:p>
            <a:r>
              <a:rPr lang="en-US" sz="1100">
                <a:solidFill>
                  <a:srgbClr val="707070"/>
                </a:solidFill>
                <a:latin typeface="Aptos" panose="020B0004020202020204" pitchFamily="34" charset="0"/>
              </a:rPr>
              <a:t>Exact prompt logic from prompt.py; the shared body stays fixed and the opening context changes by mode</a:t>
            </a:r>
          </a:p>
        </p:txBody>
      </p:sp>
      <p:sp>
        <p:nvSpPr>
          <p:cNvPr id="4" name="Rectangle 3">
            <a:extLst>
              <a:ext uri="{FF2B5EF4-FFF2-40B4-BE49-F238E27FC236}">
                <a16:creationId xmlns:a16="http://schemas.microsoft.com/office/drawing/2014/main" id="{9D2541E1-19B5-47FF-61A3-F8A1028A0A05}"/>
              </a:ext>
            </a:extLst>
          </p:cNvPr>
          <p:cNvSpPr/>
          <p:nvPr/>
        </p:nvSpPr>
        <p:spPr>
          <a:xfrm>
            <a:off x="508000" y="1206500"/>
            <a:ext cx="11176000" cy="50800"/>
          </a:xfrm>
          <a:prstGeom prst="rect">
            <a:avLst/>
          </a:prstGeom>
          <a:solidFill>
            <a:srgbClr val="F6BF20"/>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7446BADD-42C6-C0B0-CE6B-CE6CC45308DC}"/>
              </a:ext>
            </a:extLst>
          </p:cNvPr>
          <p:cNvSpPr txBox="1"/>
          <p:nvPr/>
        </p:nvSpPr>
        <p:spPr>
          <a:xfrm>
            <a:off x="11430000" y="228600"/>
            <a:ext cx="304800" cy="153888"/>
          </a:xfrm>
          <a:prstGeom prst="rect">
            <a:avLst/>
          </a:prstGeom>
          <a:noFill/>
        </p:spPr>
        <p:txBody>
          <a:bodyPr vert="horz" wrap="square" lIns="0" tIns="0" rIns="0" bIns="0" rtlCol="0" anchor="t">
            <a:spAutoFit/>
          </a:bodyPr>
          <a:lstStyle/>
          <a:p>
            <a:pPr algn="r"/>
            <a:r>
              <a:rPr lang="en-US" sz="1000">
                <a:solidFill>
                  <a:srgbClr val="5C5C5C"/>
                </a:solidFill>
                <a:latin typeface="Aptos" panose="020B0004020202020204" pitchFamily="34" charset="0"/>
              </a:rPr>
              <a:t>18</a:t>
            </a:r>
          </a:p>
        </p:txBody>
      </p:sp>
      <p:sp>
        <p:nvSpPr>
          <p:cNvPr id="17" name="Rectangle: Rounded Corners 16">
            <a:extLst>
              <a:ext uri="{FF2B5EF4-FFF2-40B4-BE49-F238E27FC236}">
                <a16:creationId xmlns:a16="http://schemas.microsoft.com/office/drawing/2014/main" id="{8F50A408-C7EF-9EE6-FA1D-14EE52B1B3F2}"/>
              </a:ext>
            </a:extLst>
          </p:cNvPr>
          <p:cNvSpPr/>
          <p:nvPr/>
        </p:nvSpPr>
        <p:spPr>
          <a:xfrm>
            <a:off x="660400" y="1473200"/>
            <a:ext cx="10871200" cy="1549400"/>
          </a:xfrm>
          <a:prstGeom prst="roundRect">
            <a:avLst/>
          </a:prstGeom>
          <a:solidFill>
            <a:srgbClr val="F7F5F0"/>
          </a:solidFill>
          <a:ln w="16510">
            <a:solidFill>
              <a:srgbClr val="A63E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3C896E3D-0645-7031-86AF-5BD4AE45CAC9}"/>
              </a:ext>
            </a:extLst>
          </p:cNvPr>
          <p:cNvSpPr txBox="1"/>
          <p:nvPr/>
        </p:nvSpPr>
        <p:spPr>
          <a:xfrm>
            <a:off x="863600" y="1574800"/>
            <a:ext cx="10414000" cy="153888"/>
          </a:xfrm>
          <a:prstGeom prst="rect">
            <a:avLst/>
          </a:prstGeom>
          <a:noFill/>
        </p:spPr>
        <p:txBody>
          <a:bodyPr vert="horz" wrap="square" lIns="0" tIns="0" rIns="0" bIns="0" rtlCol="0" anchor="t">
            <a:spAutoFit/>
          </a:bodyPr>
          <a:lstStyle/>
          <a:p>
            <a:r>
              <a:rPr lang="en-US" sz="1000" b="1">
                <a:solidFill>
                  <a:srgbClr val="A63E5E"/>
                </a:solidFill>
                <a:latin typeface="Aptos" panose="020B0004020202020204" pitchFamily="34" charset="0"/>
              </a:rPr>
              <a:t>Exact mode-specific context block</a:t>
            </a:r>
          </a:p>
        </p:txBody>
      </p:sp>
      <p:sp>
        <p:nvSpPr>
          <p:cNvPr id="19" name="TextBox 18">
            <a:extLst>
              <a:ext uri="{FF2B5EF4-FFF2-40B4-BE49-F238E27FC236}">
                <a16:creationId xmlns:a16="http://schemas.microsoft.com/office/drawing/2014/main" id="{9529C258-6907-2449-4125-40FB7B6F4A90}"/>
              </a:ext>
            </a:extLst>
          </p:cNvPr>
          <p:cNvSpPr txBox="1"/>
          <p:nvPr/>
        </p:nvSpPr>
        <p:spPr>
          <a:xfrm>
            <a:off x="863600" y="1803400"/>
            <a:ext cx="10414000" cy="1220334"/>
          </a:xfrm>
          <a:prstGeom prst="rect">
            <a:avLst/>
          </a:prstGeom>
          <a:noFill/>
        </p:spPr>
        <p:txBody>
          <a:bodyPr vert="horz" wrap="square" lIns="0" tIns="0" rIns="0" bIns="0" rtlCol="0" anchor="t">
            <a:spAutoFit/>
          </a:bodyPr>
          <a:lstStyle/>
          <a:p>
            <a:r>
              <a:rPr lang="en-US" sz="610">
                <a:solidFill>
                  <a:srgbClr val="212121"/>
                </a:solidFill>
                <a:latin typeface="Consolas" panose="020B0609020204030204" pitchFamily="49" charset="0"/>
              </a:rPr>
              <a:t>if mode == "prefix_frames":
    context_text = f"""
You are evaluating LEGIBILITY of a robot arm trajectory: how early a typical human observer can infer the robot's intended goal from its path shape.
You are given MULTIPLE images showing frames from t=0 to t={t_sec} seconds from video_id = "{video_id}".
Frames are ordered from earliest to latest; you have observed the motion up to time t={t_sec}s.
Use ALL frames provided to analyze the robot arm's APPROACH PATH."""
else:  # single_frame (default)
    context_text = f"""
You are evaluating LEGIBILITY of a robot arm trajectory: how early a typical human observer can infer the robot's intended goal from its path shape.
You are given ONLY ONE image: a single video frame captured at time t = {t_sec} seconds from video_id = "{video_id}".
Use ONLY this frame. Do NOT assume you saw earlier or later frames."""</a:t>
            </a:r>
          </a:p>
        </p:txBody>
      </p:sp>
      <p:sp>
        <p:nvSpPr>
          <p:cNvPr id="20" name="Rectangle: Rounded Corners 19">
            <a:extLst>
              <a:ext uri="{FF2B5EF4-FFF2-40B4-BE49-F238E27FC236}">
                <a16:creationId xmlns:a16="http://schemas.microsoft.com/office/drawing/2014/main" id="{2BBC4A8B-F70E-F5EA-BA0F-A3096577E1AA}"/>
              </a:ext>
            </a:extLst>
          </p:cNvPr>
          <p:cNvSpPr/>
          <p:nvPr/>
        </p:nvSpPr>
        <p:spPr>
          <a:xfrm>
            <a:off x="660400" y="3149600"/>
            <a:ext cx="10871200" cy="3022600"/>
          </a:xfrm>
          <a:prstGeom prst="roundRect">
            <a:avLst/>
          </a:prstGeom>
          <a:solidFill>
            <a:srgbClr val="F7F5F0"/>
          </a:solidFill>
          <a:ln w="16510">
            <a:solidFill>
              <a:srgbClr val="5390D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9ABA9DED-C66C-DEE8-1A9B-35B06AFA84AC}"/>
              </a:ext>
            </a:extLst>
          </p:cNvPr>
          <p:cNvSpPr txBox="1"/>
          <p:nvPr/>
        </p:nvSpPr>
        <p:spPr>
          <a:xfrm>
            <a:off x="863600" y="3251200"/>
            <a:ext cx="10414000" cy="153888"/>
          </a:xfrm>
          <a:prstGeom prst="rect">
            <a:avLst/>
          </a:prstGeom>
          <a:noFill/>
        </p:spPr>
        <p:txBody>
          <a:bodyPr vert="horz" wrap="square" lIns="0" tIns="0" rIns="0" bIns="0" rtlCol="0" anchor="t">
            <a:spAutoFit/>
          </a:bodyPr>
          <a:lstStyle/>
          <a:p>
            <a:r>
              <a:rPr lang="en-US" sz="1000" b="1">
                <a:solidFill>
                  <a:srgbClr val="5390DE"/>
                </a:solidFill>
                <a:latin typeface="Aptos" panose="020B0004020202020204" pitchFamily="34" charset="0"/>
              </a:rPr>
              <a:t>Shared exact prompt body sent with the image input</a:t>
            </a:r>
          </a:p>
        </p:txBody>
      </p:sp>
      <p:sp>
        <p:nvSpPr>
          <p:cNvPr id="22" name="TextBox 21">
            <a:extLst>
              <a:ext uri="{FF2B5EF4-FFF2-40B4-BE49-F238E27FC236}">
                <a16:creationId xmlns:a16="http://schemas.microsoft.com/office/drawing/2014/main" id="{946CF3F7-F793-0665-7113-15E498110689}"/>
              </a:ext>
            </a:extLst>
          </p:cNvPr>
          <p:cNvSpPr txBox="1"/>
          <p:nvPr/>
        </p:nvSpPr>
        <p:spPr>
          <a:xfrm>
            <a:off x="863600" y="3479800"/>
            <a:ext cx="10414000" cy="2634567"/>
          </a:xfrm>
          <a:prstGeom prst="rect">
            <a:avLst/>
          </a:prstGeom>
          <a:noFill/>
        </p:spPr>
        <p:txBody>
          <a:bodyPr vert="horz" wrap="square" lIns="0" tIns="0" rIns="0" bIns="0" rtlCol="0" anchor="t">
            <a:spAutoFit/>
          </a:bodyPr>
          <a:lstStyle/>
          <a:p>
            <a:r>
              <a:rPr lang="en-US" sz="590">
                <a:solidFill>
                  <a:srgbClr val="212121"/>
                </a:solidFill>
                <a:latin typeface="Consolas" panose="020B0609020204030204" pitchFamily="49" charset="0"/>
              </a:rPr>
              <a:t>There are exactly two candidate goals:
Goal A: {goal_A}
Goal B: {goal_B}
TASK-SPECIFIC CONTEXT: In this robot pick task, the robot approaches its target block by curving its arm path laterally. A robot committed to the LEFT goal will show a path that curves LEFT of center during the approach. A robot committed to the RIGHT goal will show a path that curves RIGHT of center. The key signal is the LATERAL BIAS of the arm's trajectory arc, NOT just the final gripper position.
Look at the arm's PATH SHAPE across the frames (if multiple frames are provided): does the arm's trajectory bow LEFT, bow RIGHT, or remain straight/ambiguous? Use this lateral path curvature as evidence for the goal.
Based on the arm's path shape and any other available evidence, assign probabilities:
- pA = P(Goal A | observed frames)  [a strong left-curving path supports Goal A if Goal A is the left target]
- pB = P(Goal B | observed frames)
Constraints:
- 0 &lt;= pA, pB &lt;= 1
- pA + pB = 1 (within rounding)
YOU MUST MAKE A DECISIVE CALL. If you observe any lateral bias in the arm path, commit to it.
Only output pA=0.5 if there is truly NO directional signal whatsoever (e.g. arm is stationary at center at t=0).
Provide EXACTLY ONE short visual cue describing the arm's PATH SHAPE (e.g. "arm bows left of center", "arm tracks directly right", "arm at home position - no path visible yet").
Also output legibility:
- "legible_now" if the path shape is clear enough that a human could confidently infer the goal NOW
- "not_legible_yet" if the motion is still ambiguous
Output ONLY valid JSON with keys: pA, pB, cue, legible.
No markdown. No extra text. No code fences.
Example format:
{"pA": 0.78, "pB": 0.22, "cue": "arm arc bows distinctly leftward during approach", "legible": "legible_now"}</a:t>
            </a:r>
          </a:p>
        </p:txBody>
      </p:sp>
      <p:sp>
        <p:nvSpPr>
          <p:cNvPr id="23" name="TextBox 22">
            <a:extLst>
              <a:ext uri="{FF2B5EF4-FFF2-40B4-BE49-F238E27FC236}">
                <a16:creationId xmlns:a16="http://schemas.microsoft.com/office/drawing/2014/main" id="{31D9A7CD-30CF-1514-EABB-C51C07E23F29}"/>
              </a:ext>
            </a:extLst>
          </p:cNvPr>
          <p:cNvSpPr txBox="1"/>
          <p:nvPr/>
        </p:nvSpPr>
        <p:spPr>
          <a:xfrm>
            <a:off x="736600" y="6350000"/>
            <a:ext cx="10668000" cy="115416"/>
          </a:xfrm>
          <a:prstGeom prst="rect">
            <a:avLst/>
          </a:prstGeom>
          <a:noFill/>
        </p:spPr>
        <p:txBody>
          <a:bodyPr vert="horz" wrap="square" lIns="0" tIns="0" rIns="0" bIns="0" rtlCol="0" anchor="t">
            <a:spAutoFit/>
          </a:bodyPr>
          <a:lstStyle/>
          <a:p>
            <a:r>
              <a:rPr lang="en-US" sz="750">
                <a:solidFill>
                  <a:srgbClr val="707070"/>
                </a:solidFill>
                <a:latin typeface="Aptos" panose="020B0004020202020204" pitchFamily="34" charset="0"/>
              </a:rPr>
              <a:t>Source: C:\\Users\\anude\\OneDrive\\Documents\\gemini_vlm_eval\\src\\gemini_vlm_eval\\prompt.py</a:t>
            </a:r>
          </a:p>
        </p:txBody>
      </p:sp>
    </p:spTree>
    <p:extLst>
      <p:ext uri="{BB962C8B-B14F-4D97-AF65-F5344CB8AC3E}">
        <p14:creationId xmlns:p14="http://schemas.microsoft.com/office/powerpoint/2010/main" val="16201541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BF8F2"/>
        </a:solidFill>
        <a:effectLst/>
      </p:bgPr>
    </p:bg>
    <p:spTree>
      <p:nvGrpSpPr>
        <p:cNvPr id="1" name=""/>
        <p:cNvGrpSpPr/>
        <p:nvPr/>
      </p:nvGrpSpPr>
      <p:grpSpPr>
        <a:xfrm>
          <a:off x="0" y="0"/>
          <a:ext cx="0" cy="0"/>
          <a:chOff x="0" y="0"/>
          <a:chExt cx="0" cy="0"/>
        </a:xfrm>
      </p:grpSpPr>
      <p:sp>
        <p:nvSpPr>
          <p:cNvPr id="28" name="TextBox 27">
            <a:extLst>
              <a:ext uri="{FF2B5EF4-FFF2-40B4-BE49-F238E27FC236}">
                <a16:creationId xmlns:a16="http://schemas.microsoft.com/office/drawing/2014/main" id="{DCEF265E-F2D8-DE06-5F46-DDAE38FEDBF2}"/>
              </a:ext>
            </a:extLst>
          </p:cNvPr>
          <p:cNvSpPr txBox="1"/>
          <p:nvPr/>
        </p:nvSpPr>
        <p:spPr>
          <a:xfrm>
            <a:off x="508000" y="228600"/>
            <a:ext cx="10414000" cy="430887"/>
          </a:xfrm>
          <a:prstGeom prst="rect">
            <a:avLst/>
          </a:prstGeom>
          <a:noFill/>
        </p:spPr>
        <p:txBody>
          <a:bodyPr vert="horz" wrap="square" lIns="0" tIns="0" rIns="0" bIns="0" rtlCol="0" anchor="t">
            <a:spAutoFit/>
          </a:bodyPr>
          <a:lstStyle/>
          <a:p>
            <a:r>
              <a:rPr lang="en-US" sz="2800" b="1">
                <a:solidFill>
                  <a:srgbClr val="212121"/>
                </a:solidFill>
                <a:latin typeface="Aptos" panose="020B0004020202020204" pitchFamily="34" charset="0"/>
              </a:rPr>
              <a:t>Manifest And Prompt Flow</a:t>
            </a:r>
          </a:p>
        </p:txBody>
      </p:sp>
      <p:sp>
        <p:nvSpPr>
          <p:cNvPr id="29" name="TextBox 28">
            <a:extLst>
              <a:ext uri="{FF2B5EF4-FFF2-40B4-BE49-F238E27FC236}">
                <a16:creationId xmlns:a16="http://schemas.microsoft.com/office/drawing/2014/main" id="{CF71C499-40E5-7BAD-0366-F52D864FB12E}"/>
              </a:ext>
            </a:extLst>
          </p:cNvPr>
          <p:cNvSpPr txBox="1"/>
          <p:nvPr/>
        </p:nvSpPr>
        <p:spPr>
          <a:xfrm>
            <a:off x="508000" y="787400"/>
            <a:ext cx="10668000" cy="169277"/>
          </a:xfrm>
          <a:prstGeom prst="rect">
            <a:avLst/>
          </a:prstGeom>
          <a:noFill/>
        </p:spPr>
        <p:txBody>
          <a:bodyPr vert="horz" wrap="square" lIns="0" tIns="0" rIns="0" bIns="0" rtlCol="0" anchor="t">
            <a:spAutoFit/>
          </a:bodyPr>
          <a:lstStyle/>
          <a:p>
            <a:r>
              <a:rPr lang="en-US" sz="1100">
                <a:solidFill>
                  <a:srgbClr val="707070"/>
                </a:solidFill>
                <a:latin typeface="Aptos" panose="020B0004020202020204" pitchFamily="34" charset="0"/>
              </a:rPr>
              <a:t>The manifest tells the pipeline which video, goal pair, and labels to use before the prompt is assembled and sent</a:t>
            </a:r>
          </a:p>
        </p:txBody>
      </p:sp>
      <p:sp>
        <p:nvSpPr>
          <p:cNvPr id="30" name="Rectangle 29">
            <a:extLst>
              <a:ext uri="{FF2B5EF4-FFF2-40B4-BE49-F238E27FC236}">
                <a16:creationId xmlns:a16="http://schemas.microsoft.com/office/drawing/2014/main" id="{DBBD67E0-8348-6B3E-76A2-30FBBC623D70}"/>
              </a:ext>
            </a:extLst>
          </p:cNvPr>
          <p:cNvSpPr/>
          <p:nvPr/>
        </p:nvSpPr>
        <p:spPr>
          <a:xfrm>
            <a:off x="508000" y="1206500"/>
            <a:ext cx="11176000" cy="50800"/>
          </a:xfrm>
          <a:prstGeom prst="rect">
            <a:avLst/>
          </a:prstGeom>
          <a:solidFill>
            <a:srgbClr val="F6BF20"/>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2934EA65-FBC1-A9BC-B01F-4E966C0B8C15}"/>
              </a:ext>
            </a:extLst>
          </p:cNvPr>
          <p:cNvSpPr txBox="1"/>
          <p:nvPr/>
        </p:nvSpPr>
        <p:spPr>
          <a:xfrm>
            <a:off x="11430000" y="228600"/>
            <a:ext cx="304800" cy="153888"/>
          </a:xfrm>
          <a:prstGeom prst="rect">
            <a:avLst/>
          </a:prstGeom>
          <a:noFill/>
        </p:spPr>
        <p:txBody>
          <a:bodyPr vert="horz" wrap="square" lIns="0" tIns="0" rIns="0" bIns="0" rtlCol="0" anchor="t">
            <a:spAutoFit/>
          </a:bodyPr>
          <a:lstStyle/>
          <a:p>
            <a:pPr algn="r"/>
            <a:r>
              <a:rPr lang="en-US" sz="1000">
                <a:solidFill>
                  <a:srgbClr val="5C5C5C"/>
                </a:solidFill>
                <a:latin typeface="Aptos" panose="020B0004020202020204" pitchFamily="34" charset="0"/>
              </a:rPr>
              <a:t>19</a:t>
            </a:r>
          </a:p>
        </p:txBody>
      </p:sp>
      <p:sp>
        <p:nvSpPr>
          <p:cNvPr id="32" name="Rectangle: Rounded Corners 31">
            <a:extLst>
              <a:ext uri="{FF2B5EF4-FFF2-40B4-BE49-F238E27FC236}">
                <a16:creationId xmlns:a16="http://schemas.microsoft.com/office/drawing/2014/main" id="{C5A0B9B6-7DC1-27A1-9507-1DE753BA2AE4}"/>
              </a:ext>
            </a:extLst>
          </p:cNvPr>
          <p:cNvSpPr/>
          <p:nvPr/>
        </p:nvSpPr>
        <p:spPr>
          <a:xfrm>
            <a:off x="609600" y="1854200"/>
            <a:ext cx="2413000" cy="1371600"/>
          </a:xfrm>
          <a:prstGeom prst="roundRect">
            <a:avLst/>
          </a:prstGeom>
          <a:solidFill>
            <a:srgbClr val="F7F5F0"/>
          </a:solidFill>
          <a:ln w="16510">
            <a:solidFill>
              <a:srgbClr val="D5CEC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969AC452-9FA2-464F-715C-BC272A31B706}"/>
              </a:ext>
            </a:extLst>
          </p:cNvPr>
          <p:cNvSpPr txBox="1"/>
          <p:nvPr/>
        </p:nvSpPr>
        <p:spPr>
          <a:xfrm>
            <a:off x="787400" y="2057400"/>
            <a:ext cx="2032000" cy="230832"/>
          </a:xfrm>
          <a:prstGeom prst="rect">
            <a:avLst/>
          </a:prstGeom>
          <a:noFill/>
        </p:spPr>
        <p:txBody>
          <a:bodyPr vert="horz" wrap="square" lIns="0" tIns="0" rIns="0" bIns="0" rtlCol="0" anchor="t">
            <a:spAutoFit/>
          </a:bodyPr>
          <a:lstStyle/>
          <a:p>
            <a:r>
              <a:rPr lang="en-US" sz="1500" b="1">
                <a:solidFill>
                  <a:srgbClr val="212121"/>
                </a:solidFill>
                <a:latin typeface="Aptos" panose="020B0004020202020204" pitchFamily="34" charset="0"/>
              </a:rPr>
              <a:t>1. load_manifest()</a:t>
            </a:r>
          </a:p>
        </p:txBody>
      </p:sp>
      <p:sp>
        <p:nvSpPr>
          <p:cNvPr id="34" name="TextBox 33">
            <a:extLst>
              <a:ext uri="{FF2B5EF4-FFF2-40B4-BE49-F238E27FC236}">
                <a16:creationId xmlns:a16="http://schemas.microsoft.com/office/drawing/2014/main" id="{A9FB0DAB-6062-33E9-8170-D8C552339743}"/>
              </a:ext>
            </a:extLst>
          </p:cNvPr>
          <p:cNvSpPr txBox="1"/>
          <p:nvPr/>
        </p:nvSpPr>
        <p:spPr>
          <a:xfrm>
            <a:off x="787400" y="2438400"/>
            <a:ext cx="2032000" cy="338554"/>
          </a:xfrm>
          <a:prstGeom prst="rect">
            <a:avLst/>
          </a:prstGeom>
          <a:noFill/>
        </p:spPr>
        <p:txBody>
          <a:bodyPr vert="horz" wrap="square" lIns="0" tIns="0" rIns="0" bIns="0" rtlCol="0" anchor="t">
            <a:spAutoFit/>
          </a:bodyPr>
          <a:lstStyle/>
          <a:p>
            <a:r>
              <a:rPr lang="en-US" sz="1100">
                <a:solidFill>
                  <a:srgbClr val="212121"/>
                </a:solidFill>
                <a:latin typeface="Aptos" panose="020B0004020202020204" pitchFamily="34" charset="0"/>
              </a:rPr>
              <a:t>Reads manifest.jsonl and builds one ManifestEntry per video.</a:t>
            </a:r>
          </a:p>
        </p:txBody>
      </p:sp>
      <p:sp>
        <p:nvSpPr>
          <p:cNvPr id="35" name="TextBox 34">
            <a:extLst>
              <a:ext uri="{FF2B5EF4-FFF2-40B4-BE49-F238E27FC236}">
                <a16:creationId xmlns:a16="http://schemas.microsoft.com/office/drawing/2014/main" id="{77C9F104-B14D-7992-0ED5-38A3AF63135C}"/>
              </a:ext>
            </a:extLst>
          </p:cNvPr>
          <p:cNvSpPr txBox="1"/>
          <p:nvPr/>
        </p:nvSpPr>
        <p:spPr>
          <a:xfrm>
            <a:off x="3022600" y="2362200"/>
            <a:ext cx="304800" cy="276999"/>
          </a:xfrm>
          <a:prstGeom prst="rect">
            <a:avLst/>
          </a:prstGeom>
          <a:noFill/>
        </p:spPr>
        <p:txBody>
          <a:bodyPr vert="horz" wrap="square" lIns="0" tIns="0" rIns="0" bIns="0" rtlCol="0" anchor="ctr">
            <a:spAutoFit/>
          </a:bodyPr>
          <a:lstStyle/>
          <a:p>
            <a:pPr algn="ctr"/>
            <a:r>
              <a:rPr lang="en-US" b="1">
                <a:solidFill>
                  <a:srgbClr val="F6BF20"/>
                </a:solidFill>
                <a:latin typeface="Aptos" panose="020B0004020202020204" pitchFamily="34" charset="0"/>
              </a:rPr>
              <a:t>-&gt;</a:t>
            </a:r>
          </a:p>
        </p:txBody>
      </p:sp>
      <p:sp>
        <p:nvSpPr>
          <p:cNvPr id="36" name="Rectangle: Rounded Corners 35">
            <a:extLst>
              <a:ext uri="{FF2B5EF4-FFF2-40B4-BE49-F238E27FC236}">
                <a16:creationId xmlns:a16="http://schemas.microsoft.com/office/drawing/2014/main" id="{37ED3726-531F-95BF-6975-6C0B6887E3F6}"/>
              </a:ext>
            </a:extLst>
          </p:cNvPr>
          <p:cNvSpPr/>
          <p:nvPr/>
        </p:nvSpPr>
        <p:spPr>
          <a:xfrm>
            <a:off x="3378200" y="1854200"/>
            <a:ext cx="2413000" cy="1371600"/>
          </a:xfrm>
          <a:prstGeom prst="roundRect">
            <a:avLst/>
          </a:prstGeom>
          <a:solidFill>
            <a:srgbClr val="EAF3FC"/>
          </a:solidFill>
          <a:ln w="16510">
            <a:solidFill>
              <a:srgbClr val="5390D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F9C830FC-2C75-E860-8A33-C35D35A3978F}"/>
              </a:ext>
            </a:extLst>
          </p:cNvPr>
          <p:cNvSpPr txBox="1"/>
          <p:nvPr/>
        </p:nvSpPr>
        <p:spPr>
          <a:xfrm>
            <a:off x="3556000" y="2057400"/>
            <a:ext cx="2057400" cy="230832"/>
          </a:xfrm>
          <a:prstGeom prst="rect">
            <a:avLst/>
          </a:prstGeom>
          <a:noFill/>
        </p:spPr>
        <p:txBody>
          <a:bodyPr vert="horz" wrap="square" lIns="0" tIns="0" rIns="0" bIns="0" rtlCol="0" anchor="t">
            <a:spAutoFit/>
          </a:bodyPr>
          <a:lstStyle/>
          <a:p>
            <a:r>
              <a:rPr lang="en-US" sz="1500" b="1">
                <a:solidFill>
                  <a:srgbClr val="212121"/>
                </a:solidFill>
                <a:latin typeface="Aptos" panose="020B0004020202020204" pitchFamily="34" charset="0"/>
              </a:rPr>
              <a:t>2. extract frames</a:t>
            </a:r>
          </a:p>
        </p:txBody>
      </p:sp>
      <p:sp>
        <p:nvSpPr>
          <p:cNvPr id="38" name="TextBox 37">
            <a:extLst>
              <a:ext uri="{FF2B5EF4-FFF2-40B4-BE49-F238E27FC236}">
                <a16:creationId xmlns:a16="http://schemas.microsoft.com/office/drawing/2014/main" id="{D3F36051-A258-EEDA-6324-B292992483DF}"/>
              </a:ext>
            </a:extLst>
          </p:cNvPr>
          <p:cNvSpPr txBox="1"/>
          <p:nvPr/>
        </p:nvSpPr>
        <p:spPr>
          <a:xfrm>
            <a:off x="3556000" y="2438400"/>
            <a:ext cx="2057400" cy="484748"/>
          </a:xfrm>
          <a:prstGeom prst="rect">
            <a:avLst/>
          </a:prstGeom>
          <a:noFill/>
        </p:spPr>
        <p:txBody>
          <a:bodyPr vert="horz" wrap="square" lIns="0" tIns="0" rIns="0" bIns="0" rtlCol="0" anchor="t">
            <a:spAutoFit/>
          </a:bodyPr>
          <a:lstStyle/>
          <a:p>
            <a:r>
              <a:rPr lang="en-US" sz="1050">
                <a:solidFill>
                  <a:srgbClr val="212121"/>
                </a:solidFill>
                <a:latin typeface="Aptos" panose="020B0004020202020204" pitchFamily="34" charset="0"/>
              </a:rPr>
              <a:t>extract_and_cache_frames() creates timestamped frames and chooses single or prefix input.</a:t>
            </a:r>
          </a:p>
        </p:txBody>
      </p:sp>
      <p:sp>
        <p:nvSpPr>
          <p:cNvPr id="39" name="TextBox 38">
            <a:extLst>
              <a:ext uri="{FF2B5EF4-FFF2-40B4-BE49-F238E27FC236}">
                <a16:creationId xmlns:a16="http://schemas.microsoft.com/office/drawing/2014/main" id="{F718990E-EB7D-CC7D-6411-658B86686034}"/>
              </a:ext>
            </a:extLst>
          </p:cNvPr>
          <p:cNvSpPr txBox="1"/>
          <p:nvPr/>
        </p:nvSpPr>
        <p:spPr>
          <a:xfrm>
            <a:off x="5791200" y="2362200"/>
            <a:ext cx="304800" cy="276999"/>
          </a:xfrm>
          <a:prstGeom prst="rect">
            <a:avLst/>
          </a:prstGeom>
          <a:noFill/>
        </p:spPr>
        <p:txBody>
          <a:bodyPr vert="horz" wrap="square" lIns="0" tIns="0" rIns="0" bIns="0" rtlCol="0" anchor="ctr">
            <a:spAutoFit/>
          </a:bodyPr>
          <a:lstStyle/>
          <a:p>
            <a:pPr algn="ctr"/>
            <a:r>
              <a:rPr lang="en-US" b="1">
                <a:solidFill>
                  <a:srgbClr val="F6BF20"/>
                </a:solidFill>
                <a:latin typeface="Aptos" panose="020B0004020202020204" pitchFamily="34" charset="0"/>
              </a:rPr>
              <a:t>-&gt;</a:t>
            </a:r>
          </a:p>
        </p:txBody>
      </p:sp>
      <p:sp>
        <p:nvSpPr>
          <p:cNvPr id="40" name="Rectangle: Rounded Corners 39">
            <a:extLst>
              <a:ext uri="{FF2B5EF4-FFF2-40B4-BE49-F238E27FC236}">
                <a16:creationId xmlns:a16="http://schemas.microsoft.com/office/drawing/2014/main" id="{F9AD61A8-9EF9-87BD-BDCD-F51EFDA8FA3C}"/>
              </a:ext>
            </a:extLst>
          </p:cNvPr>
          <p:cNvSpPr/>
          <p:nvPr/>
        </p:nvSpPr>
        <p:spPr>
          <a:xfrm>
            <a:off x="6146800" y="1854200"/>
            <a:ext cx="2413000" cy="1371600"/>
          </a:xfrm>
          <a:prstGeom prst="roundRect">
            <a:avLst/>
          </a:prstGeom>
          <a:solidFill>
            <a:srgbClr val="F7EFF3"/>
          </a:solidFill>
          <a:ln w="16510">
            <a:solidFill>
              <a:srgbClr val="A63E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FBD204F3-41AC-06E3-0A98-26C194BE2E8F}"/>
              </a:ext>
            </a:extLst>
          </p:cNvPr>
          <p:cNvSpPr txBox="1"/>
          <p:nvPr/>
        </p:nvSpPr>
        <p:spPr>
          <a:xfrm>
            <a:off x="6324600" y="2057400"/>
            <a:ext cx="2057400" cy="230832"/>
          </a:xfrm>
          <a:prstGeom prst="rect">
            <a:avLst/>
          </a:prstGeom>
          <a:noFill/>
        </p:spPr>
        <p:txBody>
          <a:bodyPr vert="horz" wrap="square" lIns="0" tIns="0" rIns="0" bIns="0" rtlCol="0" anchor="t">
            <a:spAutoFit/>
          </a:bodyPr>
          <a:lstStyle/>
          <a:p>
            <a:r>
              <a:rPr lang="en-US" sz="1500" b="1">
                <a:solidFill>
                  <a:srgbClr val="212121"/>
                </a:solidFill>
                <a:latin typeface="Aptos" panose="020B0004020202020204" pitchFamily="34" charset="0"/>
              </a:rPr>
              <a:t>3. build prompt</a:t>
            </a:r>
          </a:p>
        </p:txBody>
      </p:sp>
      <p:sp>
        <p:nvSpPr>
          <p:cNvPr id="42" name="TextBox 41">
            <a:extLst>
              <a:ext uri="{FF2B5EF4-FFF2-40B4-BE49-F238E27FC236}">
                <a16:creationId xmlns:a16="http://schemas.microsoft.com/office/drawing/2014/main" id="{A316D673-FAF7-0E8F-CCD6-88E510B16551}"/>
              </a:ext>
            </a:extLst>
          </p:cNvPr>
          <p:cNvSpPr txBox="1"/>
          <p:nvPr/>
        </p:nvSpPr>
        <p:spPr>
          <a:xfrm>
            <a:off x="6324600" y="2438400"/>
            <a:ext cx="2057400" cy="484748"/>
          </a:xfrm>
          <a:prstGeom prst="rect">
            <a:avLst/>
          </a:prstGeom>
          <a:noFill/>
        </p:spPr>
        <p:txBody>
          <a:bodyPr vert="horz" wrap="square" lIns="0" tIns="0" rIns="0" bIns="0" rtlCol="0" anchor="t">
            <a:spAutoFit/>
          </a:bodyPr>
          <a:lstStyle/>
          <a:p>
            <a:r>
              <a:rPr lang="en-US" sz="1050">
                <a:solidFill>
                  <a:srgbClr val="212121"/>
                </a:solidFill>
                <a:latin typeface="Aptos" panose="020B0004020202020204" pitchFamily="34" charset="0"/>
              </a:rPr>
              <a:t>get_instruction_prompt(...) uses goal_A, goal_B, t_sec, video_id, and mode.</a:t>
            </a:r>
          </a:p>
        </p:txBody>
      </p:sp>
      <p:sp>
        <p:nvSpPr>
          <p:cNvPr id="43" name="TextBox 42">
            <a:extLst>
              <a:ext uri="{FF2B5EF4-FFF2-40B4-BE49-F238E27FC236}">
                <a16:creationId xmlns:a16="http://schemas.microsoft.com/office/drawing/2014/main" id="{FB22993D-4CA8-E0AD-AA1E-ACDE1C0EF3B3}"/>
              </a:ext>
            </a:extLst>
          </p:cNvPr>
          <p:cNvSpPr txBox="1"/>
          <p:nvPr/>
        </p:nvSpPr>
        <p:spPr>
          <a:xfrm>
            <a:off x="8559800" y="2362200"/>
            <a:ext cx="304800" cy="276999"/>
          </a:xfrm>
          <a:prstGeom prst="rect">
            <a:avLst/>
          </a:prstGeom>
          <a:noFill/>
        </p:spPr>
        <p:txBody>
          <a:bodyPr vert="horz" wrap="square" lIns="0" tIns="0" rIns="0" bIns="0" rtlCol="0" anchor="ctr">
            <a:spAutoFit/>
          </a:bodyPr>
          <a:lstStyle/>
          <a:p>
            <a:pPr algn="ctr"/>
            <a:r>
              <a:rPr lang="en-US" b="1">
                <a:solidFill>
                  <a:srgbClr val="F6BF20"/>
                </a:solidFill>
                <a:latin typeface="Aptos" panose="020B0004020202020204" pitchFamily="34" charset="0"/>
              </a:rPr>
              <a:t>-&gt;</a:t>
            </a:r>
          </a:p>
        </p:txBody>
      </p:sp>
      <p:sp>
        <p:nvSpPr>
          <p:cNvPr id="44" name="Rectangle: Rounded Corners 43">
            <a:extLst>
              <a:ext uri="{FF2B5EF4-FFF2-40B4-BE49-F238E27FC236}">
                <a16:creationId xmlns:a16="http://schemas.microsoft.com/office/drawing/2014/main" id="{2EA062C1-B6F2-1837-410C-994A7B3B8A42}"/>
              </a:ext>
            </a:extLst>
          </p:cNvPr>
          <p:cNvSpPr/>
          <p:nvPr/>
        </p:nvSpPr>
        <p:spPr>
          <a:xfrm>
            <a:off x="8915400" y="1854200"/>
            <a:ext cx="2413000" cy="1371600"/>
          </a:xfrm>
          <a:prstGeom prst="roundRect">
            <a:avLst/>
          </a:prstGeom>
          <a:solidFill>
            <a:srgbClr val="FFF8E6"/>
          </a:solidFill>
          <a:ln w="16510">
            <a:solidFill>
              <a:srgbClr val="F6BF2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extBox 44">
            <a:extLst>
              <a:ext uri="{FF2B5EF4-FFF2-40B4-BE49-F238E27FC236}">
                <a16:creationId xmlns:a16="http://schemas.microsoft.com/office/drawing/2014/main" id="{02297286-4C51-E600-7D57-CB610A331559}"/>
              </a:ext>
            </a:extLst>
          </p:cNvPr>
          <p:cNvSpPr txBox="1"/>
          <p:nvPr/>
        </p:nvSpPr>
        <p:spPr>
          <a:xfrm>
            <a:off x="9093200" y="2057400"/>
            <a:ext cx="2057400" cy="230832"/>
          </a:xfrm>
          <a:prstGeom prst="rect">
            <a:avLst/>
          </a:prstGeom>
          <a:noFill/>
        </p:spPr>
        <p:txBody>
          <a:bodyPr vert="horz" wrap="square" lIns="0" tIns="0" rIns="0" bIns="0" rtlCol="0" anchor="t">
            <a:spAutoFit/>
          </a:bodyPr>
          <a:lstStyle/>
          <a:p>
            <a:r>
              <a:rPr lang="en-US" sz="1500" b="1">
                <a:solidFill>
                  <a:srgbClr val="212121"/>
                </a:solidFill>
                <a:latin typeface="Aptos" panose="020B0004020202020204" pitchFamily="34" charset="0"/>
              </a:rPr>
              <a:t>4. Gemini call</a:t>
            </a:r>
          </a:p>
        </p:txBody>
      </p:sp>
      <p:sp>
        <p:nvSpPr>
          <p:cNvPr id="46" name="TextBox 45">
            <a:extLst>
              <a:ext uri="{FF2B5EF4-FFF2-40B4-BE49-F238E27FC236}">
                <a16:creationId xmlns:a16="http://schemas.microsoft.com/office/drawing/2014/main" id="{024707CB-2A3B-8A41-AD0E-3B67FCD22735}"/>
              </a:ext>
            </a:extLst>
          </p:cNvPr>
          <p:cNvSpPr txBox="1"/>
          <p:nvPr/>
        </p:nvSpPr>
        <p:spPr>
          <a:xfrm>
            <a:off x="9093200" y="2438400"/>
            <a:ext cx="2057400" cy="484748"/>
          </a:xfrm>
          <a:prstGeom prst="rect">
            <a:avLst/>
          </a:prstGeom>
          <a:noFill/>
        </p:spPr>
        <p:txBody>
          <a:bodyPr vert="horz" wrap="square" lIns="0" tIns="0" rIns="0" bIns="0" rtlCol="0" anchor="t">
            <a:spAutoFit/>
          </a:bodyPr>
          <a:lstStyle/>
          <a:p>
            <a:r>
              <a:rPr lang="en-US" sz="1050">
                <a:solidFill>
                  <a:srgbClr val="212121"/>
                </a:solidFill>
                <a:latin typeface="Aptos" panose="020B0004020202020204" pitchFamily="34" charset="0"/>
              </a:rPr>
              <a:t>GeminiClient.evaluate_frame() sends prompt plus images and parses JSON output.</a:t>
            </a:r>
          </a:p>
        </p:txBody>
      </p:sp>
      <p:sp>
        <p:nvSpPr>
          <p:cNvPr id="47" name="Rectangle: Rounded Corners 46">
            <a:extLst>
              <a:ext uri="{FF2B5EF4-FFF2-40B4-BE49-F238E27FC236}">
                <a16:creationId xmlns:a16="http://schemas.microsoft.com/office/drawing/2014/main" id="{03152F01-70DE-7662-EFF4-EC8AE9412E38}"/>
              </a:ext>
            </a:extLst>
          </p:cNvPr>
          <p:cNvSpPr/>
          <p:nvPr/>
        </p:nvSpPr>
        <p:spPr>
          <a:xfrm>
            <a:off x="863600" y="3835400"/>
            <a:ext cx="4978400" cy="1905000"/>
          </a:xfrm>
          <a:prstGeom prst="roundRect">
            <a:avLst/>
          </a:prstGeom>
          <a:solidFill>
            <a:srgbClr val="F7F5F0"/>
          </a:solidFill>
          <a:ln w="16510">
            <a:solidFill>
              <a:srgbClr val="5390D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TextBox 47">
            <a:extLst>
              <a:ext uri="{FF2B5EF4-FFF2-40B4-BE49-F238E27FC236}">
                <a16:creationId xmlns:a16="http://schemas.microsoft.com/office/drawing/2014/main" id="{C108B504-0AEB-DC46-FFEA-8E4461B125CC}"/>
              </a:ext>
            </a:extLst>
          </p:cNvPr>
          <p:cNvSpPr txBox="1"/>
          <p:nvPr/>
        </p:nvSpPr>
        <p:spPr>
          <a:xfrm>
            <a:off x="1066800" y="3987800"/>
            <a:ext cx="4572000" cy="153888"/>
          </a:xfrm>
          <a:prstGeom prst="rect">
            <a:avLst/>
          </a:prstGeom>
          <a:noFill/>
        </p:spPr>
        <p:txBody>
          <a:bodyPr vert="horz" wrap="square" lIns="0" tIns="0" rIns="0" bIns="0" rtlCol="0" anchor="t">
            <a:spAutoFit/>
          </a:bodyPr>
          <a:lstStyle/>
          <a:p>
            <a:r>
              <a:rPr lang="en-US" sz="1000" b="1">
                <a:solidFill>
                  <a:srgbClr val="5390DE"/>
                </a:solidFill>
                <a:latin typeface="Aptos" panose="020B0004020202020204" pitchFamily="34" charset="0"/>
              </a:rPr>
              <a:t>Example manifest row</a:t>
            </a:r>
          </a:p>
        </p:txBody>
      </p:sp>
      <p:sp>
        <p:nvSpPr>
          <p:cNvPr id="49" name="TextBox 48">
            <a:extLst>
              <a:ext uri="{FF2B5EF4-FFF2-40B4-BE49-F238E27FC236}">
                <a16:creationId xmlns:a16="http://schemas.microsoft.com/office/drawing/2014/main" id="{1BD84333-26FB-6B08-108C-AF3BE716C9EF}"/>
              </a:ext>
            </a:extLst>
          </p:cNvPr>
          <p:cNvSpPr txBox="1"/>
          <p:nvPr/>
        </p:nvSpPr>
        <p:spPr>
          <a:xfrm>
            <a:off x="1066800" y="4267200"/>
            <a:ext cx="4572000" cy="378565"/>
          </a:xfrm>
          <a:prstGeom prst="rect">
            <a:avLst/>
          </a:prstGeom>
          <a:noFill/>
        </p:spPr>
        <p:txBody>
          <a:bodyPr vert="horz" wrap="square" lIns="0" tIns="0" rIns="0" bIns="0" rtlCol="0" anchor="t">
            <a:spAutoFit/>
          </a:bodyPr>
          <a:lstStyle/>
          <a:p>
            <a:r>
              <a:rPr lang="en-US" sz="820">
                <a:solidFill>
                  <a:srgbClr val="212121"/>
                </a:solidFill>
                <a:latin typeface="Consolas" panose="020B0609020204030204" pitchFamily="49" charset="0"/>
              </a:rPr>
              <a:t>{"video_id":"amb_l_block","video_path":"videos/amb l block.mp4",
 "goal_gt":"A","goal_A":"pick the left block","goal_B":"pick the right block",
 "scene_id":"block_scene","task_family":"block_pick","traj_type":"ambiguous"}</a:t>
            </a:r>
          </a:p>
        </p:txBody>
      </p:sp>
      <p:sp>
        <p:nvSpPr>
          <p:cNvPr id="50" name="Rectangle: Rounded Corners 49">
            <a:extLst>
              <a:ext uri="{FF2B5EF4-FFF2-40B4-BE49-F238E27FC236}">
                <a16:creationId xmlns:a16="http://schemas.microsoft.com/office/drawing/2014/main" id="{1753FA4B-EA45-266A-3C05-7EC4F6677438}"/>
              </a:ext>
            </a:extLst>
          </p:cNvPr>
          <p:cNvSpPr/>
          <p:nvPr/>
        </p:nvSpPr>
        <p:spPr>
          <a:xfrm>
            <a:off x="6324600" y="3835400"/>
            <a:ext cx="5003800" cy="1905000"/>
          </a:xfrm>
          <a:prstGeom prst="roundRect">
            <a:avLst/>
          </a:prstGeom>
          <a:solidFill>
            <a:srgbClr val="FFFFFF"/>
          </a:solidFill>
          <a:ln w="16510">
            <a:solidFill>
              <a:srgbClr val="A63E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TextBox 50">
            <a:extLst>
              <a:ext uri="{FF2B5EF4-FFF2-40B4-BE49-F238E27FC236}">
                <a16:creationId xmlns:a16="http://schemas.microsoft.com/office/drawing/2014/main" id="{D483A5D2-0F2F-90CF-78AC-76B10E57A6D7}"/>
              </a:ext>
            </a:extLst>
          </p:cNvPr>
          <p:cNvSpPr txBox="1"/>
          <p:nvPr/>
        </p:nvSpPr>
        <p:spPr>
          <a:xfrm>
            <a:off x="6527800" y="3987800"/>
            <a:ext cx="4572000" cy="169277"/>
          </a:xfrm>
          <a:prstGeom prst="rect">
            <a:avLst/>
          </a:prstGeom>
          <a:noFill/>
        </p:spPr>
        <p:txBody>
          <a:bodyPr vert="horz" wrap="square" lIns="0" tIns="0" rIns="0" bIns="0" rtlCol="0" anchor="t">
            <a:spAutoFit/>
          </a:bodyPr>
          <a:lstStyle/>
          <a:p>
            <a:r>
              <a:rPr lang="en-US" sz="1100" b="1">
                <a:solidFill>
                  <a:srgbClr val="A63E5E"/>
                </a:solidFill>
                <a:latin typeface="Aptos" panose="020B0004020202020204" pitchFamily="34" charset="0"/>
              </a:rPr>
              <a:t>Why the manifest is used</a:t>
            </a:r>
          </a:p>
        </p:txBody>
      </p:sp>
      <p:sp>
        <p:nvSpPr>
          <p:cNvPr id="52" name="TextBox 51">
            <a:extLst>
              <a:ext uri="{FF2B5EF4-FFF2-40B4-BE49-F238E27FC236}">
                <a16:creationId xmlns:a16="http://schemas.microsoft.com/office/drawing/2014/main" id="{9EB3B1F5-44AD-20CA-F0BE-BB7E9E15BCF6}"/>
              </a:ext>
            </a:extLst>
          </p:cNvPr>
          <p:cNvSpPr txBox="1"/>
          <p:nvPr/>
        </p:nvSpPr>
        <p:spPr>
          <a:xfrm>
            <a:off x="6527800" y="4318000"/>
            <a:ext cx="4572000" cy="807913"/>
          </a:xfrm>
          <a:prstGeom prst="rect">
            <a:avLst/>
          </a:prstGeom>
          <a:noFill/>
        </p:spPr>
        <p:txBody>
          <a:bodyPr vert="horz" wrap="square" lIns="0" tIns="0" rIns="0" bIns="0" rtlCol="0" anchor="t">
            <a:spAutoFit/>
          </a:bodyPr>
          <a:lstStyle/>
          <a:p>
            <a:r>
              <a:rPr lang="en-US" sz="1050">
                <a:solidFill>
                  <a:srgbClr val="212121"/>
                </a:solidFill>
                <a:latin typeface="Aptos" panose="020B0004020202020204" pitchFamily="34" charset="0"/>
              </a:rPr>
              <a:t>- Each video has a different goal pair and ground-truth label.</a:t>
            </a:r>
          </a:p>
          <a:p>
            <a:r>
              <a:rPr lang="en-US" sz="1050">
                <a:solidFill>
                  <a:srgbClr val="212121"/>
                </a:solidFill>
                <a:latin typeface="Aptos" panose="020B0004020202020204" pitchFamily="34" charset="0"/>
              </a:rPr>
              <a:t>- The same code can evaluate all videos without hardcoding prompt text per case.</a:t>
            </a:r>
          </a:p>
          <a:p>
            <a:r>
              <a:rPr lang="en-US" sz="1050">
                <a:solidFill>
                  <a:srgbClr val="212121"/>
                </a:solidFill>
                <a:latin typeface="Aptos" panose="020B0004020202020204" pitchFamily="34" charset="0"/>
              </a:rPr>
              <a:t>- It preserves task_family, traj_type, scene_id, and notes for later analysis and reproducibility.</a:t>
            </a:r>
          </a:p>
        </p:txBody>
      </p:sp>
      <p:sp>
        <p:nvSpPr>
          <p:cNvPr id="53" name="TextBox 52">
            <a:extLst>
              <a:ext uri="{FF2B5EF4-FFF2-40B4-BE49-F238E27FC236}">
                <a16:creationId xmlns:a16="http://schemas.microsoft.com/office/drawing/2014/main" id="{34F426E5-85BC-915F-481C-94E3D8BC6F6A}"/>
              </a:ext>
            </a:extLst>
          </p:cNvPr>
          <p:cNvSpPr txBox="1"/>
          <p:nvPr/>
        </p:nvSpPr>
        <p:spPr>
          <a:xfrm>
            <a:off x="736600" y="6350000"/>
            <a:ext cx="10922000" cy="123111"/>
          </a:xfrm>
          <a:prstGeom prst="rect">
            <a:avLst/>
          </a:prstGeom>
          <a:noFill/>
        </p:spPr>
        <p:txBody>
          <a:bodyPr vert="horz" wrap="square" lIns="0" tIns="0" rIns="0" bIns="0" rtlCol="0" anchor="t">
            <a:spAutoFit/>
          </a:bodyPr>
          <a:lstStyle/>
          <a:p>
            <a:r>
              <a:rPr lang="en-US" sz="800">
                <a:solidFill>
                  <a:srgbClr val="707070"/>
                </a:solidFill>
                <a:latin typeface="Aptos" panose="020B0004020202020204" pitchFamily="34" charset="0"/>
              </a:rPr>
              <a:t>Flow source: scripts/eval_dataset.py -&gt; src/gemini_vlm_eval/client.py -&gt; src/gemini_vlm_eval/prompt.py -&gt; data/manifest.jsonl</a:t>
            </a:r>
          </a:p>
        </p:txBody>
      </p:sp>
    </p:spTree>
    <p:extLst>
      <p:ext uri="{BB962C8B-B14F-4D97-AF65-F5344CB8AC3E}">
        <p14:creationId xmlns:p14="http://schemas.microsoft.com/office/powerpoint/2010/main" val="23964652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BF8F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A047DB8-EF80-5189-8796-8C42549CC6C2}"/>
              </a:ext>
            </a:extLst>
          </p:cNvPr>
          <p:cNvSpPr txBox="1"/>
          <p:nvPr/>
        </p:nvSpPr>
        <p:spPr>
          <a:xfrm>
            <a:off x="508000" y="228600"/>
            <a:ext cx="10414000" cy="430887"/>
          </a:xfrm>
          <a:prstGeom prst="rect">
            <a:avLst/>
          </a:prstGeom>
          <a:noFill/>
        </p:spPr>
        <p:txBody>
          <a:bodyPr vert="horz" wrap="square" lIns="0" tIns="0" rIns="0" bIns="0" rtlCol="0" anchor="t">
            <a:spAutoFit/>
          </a:bodyPr>
          <a:lstStyle/>
          <a:p>
            <a:r>
              <a:rPr lang="en-US" sz="2800" b="1">
                <a:solidFill>
                  <a:srgbClr val="212121"/>
                </a:solidFill>
                <a:latin typeface="Aptos" panose="020B0004020202020204" pitchFamily="34" charset="0"/>
              </a:rPr>
              <a:t>Input Comparision</a:t>
            </a:r>
          </a:p>
        </p:txBody>
      </p:sp>
      <p:sp>
        <p:nvSpPr>
          <p:cNvPr id="3" name="Rectangle 2">
            <a:extLst>
              <a:ext uri="{FF2B5EF4-FFF2-40B4-BE49-F238E27FC236}">
                <a16:creationId xmlns:a16="http://schemas.microsoft.com/office/drawing/2014/main" id="{536C1524-F26B-EBB2-9281-1250D3929DC1}"/>
              </a:ext>
            </a:extLst>
          </p:cNvPr>
          <p:cNvSpPr/>
          <p:nvPr/>
        </p:nvSpPr>
        <p:spPr>
          <a:xfrm>
            <a:off x="508000" y="1206500"/>
            <a:ext cx="11176000" cy="50800"/>
          </a:xfrm>
          <a:prstGeom prst="rect">
            <a:avLst/>
          </a:prstGeom>
          <a:solidFill>
            <a:srgbClr val="F6BF20"/>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312B0CB3-DB60-0530-DDC2-16F45F8EB772}"/>
              </a:ext>
            </a:extLst>
          </p:cNvPr>
          <p:cNvSpPr txBox="1"/>
          <p:nvPr/>
        </p:nvSpPr>
        <p:spPr>
          <a:xfrm>
            <a:off x="11430000" y="228600"/>
            <a:ext cx="304800" cy="153888"/>
          </a:xfrm>
          <a:prstGeom prst="rect">
            <a:avLst/>
          </a:prstGeom>
          <a:noFill/>
        </p:spPr>
        <p:txBody>
          <a:bodyPr vert="horz" wrap="square" lIns="0" tIns="0" rIns="0" bIns="0" rtlCol="0" anchor="t">
            <a:spAutoFit/>
          </a:bodyPr>
          <a:lstStyle/>
          <a:p>
            <a:pPr algn="r"/>
            <a:r>
              <a:rPr lang="en-US" sz="1000">
                <a:solidFill>
                  <a:srgbClr val="5C5C5C"/>
                </a:solidFill>
                <a:latin typeface="Aptos" panose="020B0004020202020204" pitchFamily="34" charset="0"/>
              </a:rPr>
              <a:t>20</a:t>
            </a:r>
          </a:p>
        </p:txBody>
      </p:sp>
      <p:pic>
        <p:nvPicPr>
          <p:cNvPr id="6" name="Picture 5">
            <a:extLst>
              <a:ext uri="{FF2B5EF4-FFF2-40B4-BE49-F238E27FC236}">
                <a16:creationId xmlns:a16="http://schemas.microsoft.com/office/drawing/2014/main" id="{9DDA77A3-F6C3-1622-CB33-B37CE513CDB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48803" y="1982631"/>
            <a:ext cx="8094394" cy="4035739"/>
          </a:xfrm>
          <a:prstGeom prst="rect">
            <a:avLst/>
          </a:prstGeom>
        </p:spPr>
      </p:pic>
    </p:spTree>
    <p:extLst>
      <p:ext uri="{BB962C8B-B14F-4D97-AF65-F5344CB8AC3E}">
        <p14:creationId xmlns:p14="http://schemas.microsoft.com/office/powerpoint/2010/main" val="12770717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BF8F2"/>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3E26540-29FE-8132-1D26-5C0A398B12A6}"/>
              </a:ext>
            </a:extLst>
          </p:cNvPr>
          <p:cNvSpPr txBox="1"/>
          <p:nvPr/>
        </p:nvSpPr>
        <p:spPr>
          <a:xfrm>
            <a:off x="508000" y="228600"/>
            <a:ext cx="10414000" cy="430887"/>
          </a:xfrm>
          <a:prstGeom prst="rect">
            <a:avLst/>
          </a:prstGeom>
          <a:noFill/>
        </p:spPr>
        <p:txBody>
          <a:bodyPr vert="horz" wrap="square" lIns="0" tIns="0" rIns="0" bIns="0" rtlCol="0" anchor="t">
            <a:spAutoFit/>
          </a:bodyPr>
          <a:lstStyle/>
          <a:p>
            <a:r>
              <a:rPr lang="en-US" sz="2800" b="1">
                <a:solidFill>
                  <a:srgbClr val="212121"/>
                </a:solidFill>
                <a:latin typeface="Aptos" panose="020B0004020202020204" pitchFamily="34" charset="0"/>
              </a:rPr>
              <a:t>Metrics: Accuracy, IoU, Time-to-Legibility</a:t>
            </a:r>
          </a:p>
        </p:txBody>
      </p:sp>
      <p:sp>
        <p:nvSpPr>
          <p:cNvPr id="6" name="Rectangle 5">
            <a:extLst>
              <a:ext uri="{FF2B5EF4-FFF2-40B4-BE49-F238E27FC236}">
                <a16:creationId xmlns:a16="http://schemas.microsoft.com/office/drawing/2014/main" id="{86B266B2-A1E8-1254-A0E7-241D6678EC25}"/>
              </a:ext>
            </a:extLst>
          </p:cNvPr>
          <p:cNvSpPr/>
          <p:nvPr/>
        </p:nvSpPr>
        <p:spPr>
          <a:xfrm>
            <a:off x="508000" y="1206500"/>
            <a:ext cx="11176000" cy="50800"/>
          </a:xfrm>
          <a:prstGeom prst="rect">
            <a:avLst/>
          </a:prstGeom>
          <a:solidFill>
            <a:srgbClr val="F6BF20"/>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D9622F6A-B813-4662-2D56-973E028E9675}"/>
              </a:ext>
            </a:extLst>
          </p:cNvPr>
          <p:cNvSpPr txBox="1"/>
          <p:nvPr/>
        </p:nvSpPr>
        <p:spPr>
          <a:xfrm>
            <a:off x="11430000" y="228600"/>
            <a:ext cx="304800" cy="153888"/>
          </a:xfrm>
          <a:prstGeom prst="rect">
            <a:avLst/>
          </a:prstGeom>
          <a:noFill/>
        </p:spPr>
        <p:txBody>
          <a:bodyPr vert="horz" wrap="square" lIns="0" tIns="0" rIns="0" bIns="0" rtlCol="0" anchor="t">
            <a:spAutoFit/>
          </a:bodyPr>
          <a:lstStyle/>
          <a:p>
            <a:pPr algn="r"/>
            <a:r>
              <a:rPr lang="en-US" sz="1000">
                <a:solidFill>
                  <a:srgbClr val="5C5C5C"/>
                </a:solidFill>
                <a:latin typeface="Aptos" panose="020B0004020202020204" pitchFamily="34" charset="0"/>
              </a:rPr>
              <a:t>21</a:t>
            </a:r>
          </a:p>
        </p:txBody>
      </p:sp>
      <p:pic>
        <p:nvPicPr>
          <p:cNvPr id="9" name="Picture 8">
            <a:extLst>
              <a:ext uri="{FF2B5EF4-FFF2-40B4-BE49-F238E27FC236}">
                <a16:creationId xmlns:a16="http://schemas.microsoft.com/office/drawing/2014/main" id="{6B665434-8026-9276-20F2-D95488A89E1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03854" y="2410256"/>
            <a:ext cx="9784292" cy="3180489"/>
          </a:xfrm>
          <a:prstGeom prst="rect">
            <a:avLst/>
          </a:prstGeom>
        </p:spPr>
      </p:pic>
    </p:spTree>
    <p:extLst>
      <p:ext uri="{BB962C8B-B14F-4D97-AF65-F5344CB8AC3E}">
        <p14:creationId xmlns:p14="http://schemas.microsoft.com/office/powerpoint/2010/main" val="1464577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BF8F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2E655B0-71F8-A23F-765E-873C864762B4}"/>
              </a:ext>
            </a:extLst>
          </p:cNvPr>
          <p:cNvSpPr txBox="1"/>
          <p:nvPr/>
        </p:nvSpPr>
        <p:spPr>
          <a:xfrm>
            <a:off x="508000" y="228600"/>
            <a:ext cx="10414000" cy="430887"/>
          </a:xfrm>
          <a:prstGeom prst="rect">
            <a:avLst/>
          </a:prstGeom>
          <a:noFill/>
        </p:spPr>
        <p:txBody>
          <a:bodyPr vert="horz" wrap="square" lIns="0" tIns="0" rIns="0" bIns="0" rtlCol="0" anchor="t">
            <a:spAutoFit/>
          </a:bodyPr>
          <a:lstStyle/>
          <a:p>
            <a:r>
              <a:rPr lang="en-US" sz="2800" b="1">
                <a:solidFill>
                  <a:srgbClr val="212121"/>
                </a:solidFill>
                <a:latin typeface="Aptos" panose="020B0004020202020204" pitchFamily="34" charset="0"/>
              </a:rPr>
              <a:t>Per-Video Human-VLM Agreement (IoU)</a:t>
            </a:r>
          </a:p>
        </p:txBody>
      </p:sp>
      <p:sp>
        <p:nvSpPr>
          <p:cNvPr id="3" name="Rectangle 2">
            <a:extLst>
              <a:ext uri="{FF2B5EF4-FFF2-40B4-BE49-F238E27FC236}">
                <a16:creationId xmlns:a16="http://schemas.microsoft.com/office/drawing/2014/main" id="{815711AB-7E22-F107-F353-0624A6515156}"/>
              </a:ext>
            </a:extLst>
          </p:cNvPr>
          <p:cNvSpPr/>
          <p:nvPr/>
        </p:nvSpPr>
        <p:spPr>
          <a:xfrm>
            <a:off x="508000" y="1206500"/>
            <a:ext cx="11176000" cy="50800"/>
          </a:xfrm>
          <a:prstGeom prst="rect">
            <a:avLst/>
          </a:prstGeom>
          <a:solidFill>
            <a:srgbClr val="F6BF20"/>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23F027EF-AEDD-175E-E333-AD4AE150070B}"/>
              </a:ext>
            </a:extLst>
          </p:cNvPr>
          <p:cNvSpPr txBox="1"/>
          <p:nvPr/>
        </p:nvSpPr>
        <p:spPr>
          <a:xfrm>
            <a:off x="11430000" y="228600"/>
            <a:ext cx="304800" cy="153888"/>
          </a:xfrm>
          <a:prstGeom prst="rect">
            <a:avLst/>
          </a:prstGeom>
          <a:noFill/>
        </p:spPr>
        <p:txBody>
          <a:bodyPr vert="horz" wrap="square" lIns="0" tIns="0" rIns="0" bIns="0" rtlCol="0" anchor="t">
            <a:spAutoFit/>
          </a:bodyPr>
          <a:lstStyle/>
          <a:p>
            <a:pPr algn="r"/>
            <a:r>
              <a:rPr lang="en-US" sz="1000">
                <a:solidFill>
                  <a:srgbClr val="5C5C5C"/>
                </a:solidFill>
                <a:latin typeface="Aptos" panose="020B0004020202020204" pitchFamily="34" charset="0"/>
              </a:rPr>
              <a:t>22</a:t>
            </a:r>
          </a:p>
        </p:txBody>
      </p:sp>
      <p:pic>
        <p:nvPicPr>
          <p:cNvPr id="6" name="Picture 5">
            <a:extLst>
              <a:ext uri="{FF2B5EF4-FFF2-40B4-BE49-F238E27FC236}">
                <a16:creationId xmlns:a16="http://schemas.microsoft.com/office/drawing/2014/main" id="{AA95F226-2120-B44B-9CA2-A9653974F9A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54208" y="2211917"/>
            <a:ext cx="4483584" cy="3577167"/>
          </a:xfrm>
          <a:prstGeom prst="rect">
            <a:avLst/>
          </a:prstGeom>
        </p:spPr>
      </p:pic>
    </p:spTree>
    <p:extLst>
      <p:ext uri="{BB962C8B-B14F-4D97-AF65-F5344CB8AC3E}">
        <p14:creationId xmlns:p14="http://schemas.microsoft.com/office/powerpoint/2010/main" val="27248165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BF8F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7E02718-2267-88CB-DCEF-B519BEC28FE2}"/>
              </a:ext>
            </a:extLst>
          </p:cNvPr>
          <p:cNvSpPr txBox="1"/>
          <p:nvPr/>
        </p:nvSpPr>
        <p:spPr>
          <a:xfrm>
            <a:off x="508000" y="228600"/>
            <a:ext cx="10414000" cy="430887"/>
          </a:xfrm>
          <a:prstGeom prst="rect">
            <a:avLst/>
          </a:prstGeom>
          <a:noFill/>
        </p:spPr>
        <p:txBody>
          <a:bodyPr vert="horz" wrap="square" lIns="0" tIns="0" rIns="0" bIns="0" rtlCol="0" anchor="t">
            <a:spAutoFit/>
          </a:bodyPr>
          <a:lstStyle/>
          <a:p>
            <a:r>
              <a:rPr lang="en-US" sz="2800" b="1">
                <a:solidFill>
                  <a:srgbClr val="212121"/>
                </a:solidFill>
                <a:latin typeface="Aptos" panose="020B0004020202020204" pitchFamily="34" charset="0"/>
              </a:rPr>
              <a:t>Per-Participant Agreement with VLM (IoU)</a:t>
            </a:r>
          </a:p>
        </p:txBody>
      </p:sp>
      <p:sp>
        <p:nvSpPr>
          <p:cNvPr id="3" name="Rectangle 2">
            <a:extLst>
              <a:ext uri="{FF2B5EF4-FFF2-40B4-BE49-F238E27FC236}">
                <a16:creationId xmlns:a16="http://schemas.microsoft.com/office/drawing/2014/main" id="{E845B43C-EE7D-45D8-CF8D-A537133F6B8B}"/>
              </a:ext>
            </a:extLst>
          </p:cNvPr>
          <p:cNvSpPr/>
          <p:nvPr/>
        </p:nvSpPr>
        <p:spPr>
          <a:xfrm>
            <a:off x="508000" y="1206500"/>
            <a:ext cx="11176000" cy="50800"/>
          </a:xfrm>
          <a:prstGeom prst="rect">
            <a:avLst/>
          </a:prstGeom>
          <a:solidFill>
            <a:srgbClr val="F6BF20"/>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5F252EBB-A40C-3779-2310-08638E3AA57B}"/>
              </a:ext>
            </a:extLst>
          </p:cNvPr>
          <p:cNvSpPr txBox="1"/>
          <p:nvPr/>
        </p:nvSpPr>
        <p:spPr>
          <a:xfrm>
            <a:off x="11430000" y="228600"/>
            <a:ext cx="304800" cy="153888"/>
          </a:xfrm>
          <a:prstGeom prst="rect">
            <a:avLst/>
          </a:prstGeom>
          <a:noFill/>
        </p:spPr>
        <p:txBody>
          <a:bodyPr vert="horz" wrap="square" lIns="0" tIns="0" rIns="0" bIns="0" rtlCol="0" anchor="t">
            <a:spAutoFit/>
          </a:bodyPr>
          <a:lstStyle/>
          <a:p>
            <a:pPr algn="r"/>
            <a:r>
              <a:rPr lang="en-US" sz="1000">
                <a:solidFill>
                  <a:srgbClr val="5C5C5C"/>
                </a:solidFill>
                <a:latin typeface="Aptos" panose="020B0004020202020204" pitchFamily="34" charset="0"/>
              </a:rPr>
              <a:t>23</a:t>
            </a:r>
          </a:p>
        </p:txBody>
      </p:sp>
      <p:pic>
        <p:nvPicPr>
          <p:cNvPr id="6" name="Picture 5">
            <a:extLst>
              <a:ext uri="{FF2B5EF4-FFF2-40B4-BE49-F238E27FC236}">
                <a16:creationId xmlns:a16="http://schemas.microsoft.com/office/drawing/2014/main" id="{5D8DFDCE-962E-9511-C045-060925D6C61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52476" y="1708755"/>
            <a:ext cx="9287049" cy="4583490"/>
          </a:xfrm>
          <a:prstGeom prst="rect">
            <a:avLst/>
          </a:prstGeom>
        </p:spPr>
      </p:pic>
    </p:spTree>
    <p:extLst>
      <p:ext uri="{BB962C8B-B14F-4D97-AF65-F5344CB8AC3E}">
        <p14:creationId xmlns:p14="http://schemas.microsoft.com/office/powerpoint/2010/main" val="28149659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BF8F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6BFFFBA-E2C4-F292-A394-807567AEA7E4}"/>
              </a:ext>
            </a:extLst>
          </p:cNvPr>
          <p:cNvSpPr/>
          <p:nvPr/>
        </p:nvSpPr>
        <p:spPr>
          <a:xfrm>
            <a:off x="0" y="0"/>
            <a:ext cx="12192000" cy="6858000"/>
          </a:xfrm>
          <a:prstGeom prst="rect">
            <a:avLst/>
          </a:prstGeom>
          <a:solidFill>
            <a:srgbClr val="F8F6F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82EAEAAE-4BB4-984D-CAAC-B5BA6AD5EE71}"/>
              </a:ext>
            </a:extLst>
          </p:cNvPr>
          <p:cNvSpPr txBox="1"/>
          <p:nvPr/>
        </p:nvSpPr>
        <p:spPr>
          <a:xfrm>
            <a:off x="508000" y="355600"/>
            <a:ext cx="9652000" cy="430887"/>
          </a:xfrm>
          <a:prstGeom prst="rect">
            <a:avLst/>
          </a:prstGeom>
          <a:noFill/>
        </p:spPr>
        <p:txBody>
          <a:bodyPr vert="horz" wrap="square" lIns="0" tIns="0" rIns="0" bIns="0" rtlCol="0">
            <a:spAutoFit/>
          </a:bodyPr>
          <a:lstStyle/>
          <a:p>
            <a:r>
              <a:rPr lang="en-US" sz="2800" b="1">
                <a:solidFill>
                  <a:srgbClr val="1C1C1C"/>
                </a:solidFill>
                <a:latin typeface="Aptos" panose="020B0004020202020204" pitchFamily="34" charset="0"/>
              </a:rPr>
              <a:t>Diffusion-Policy Steering Framework</a:t>
            </a:r>
          </a:p>
        </p:txBody>
      </p:sp>
      <p:sp>
        <p:nvSpPr>
          <p:cNvPr id="4" name="TextBox 3">
            <a:extLst>
              <a:ext uri="{FF2B5EF4-FFF2-40B4-BE49-F238E27FC236}">
                <a16:creationId xmlns:a16="http://schemas.microsoft.com/office/drawing/2014/main" id="{D43CFDD6-BAE2-8EDA-C165-C5B9EC8B6264}"/>
              </a:ext>
            </a:extLst>
          </p:cNvPr>
          <p:cNvSpPr txBox="1"/>
          <p:nvPr/>
        </p:nvSpPr>
        <p:spPr>
          <a:xfrm>
            <a:off x="508000" y="800100"/>
            <a:ext cx="10414000" cy="169277"/>
          </a:xfrm>
          <a:prstGeom prst="rect">
            <a:avLst/>
          </a:prstGeom>
          <a:noFill/>
        </p:spPr>
        <p:txBody>
          <a:bodyPr vert="horz" wrap="square" lIns="0" tIns="0" rIns="0" bIns="0" rtlCol="0">
            <a:spAutoFit/>
          </a:bodyPr>
          <a:lstStyle/>
          <a:p>
            <a:r>
              <a:rPr lang="en-US" sz="1100">
                <a:solidFill>
                  <a:srgbClr val="5C5C5C"/>
                </a:solidFill>
                <a:latin typeface="Aptos" panose="020B0004020202020204" pitchFamily="34" charset="0"/>
              </a:rPr>
              <a:t>Layer 0: the TwoBlockPickEnv environment defines the action interface, physics rollout, and observation returned to every collector and policy</a:t>
            </a:r>
          </a:p>
        </p:txBody>
      </p:sp>
      <p:sp>
        <p:nvSpPr>
          <p:cNvPr id="54" name="Rectangle 53">
            <a:extLst>
              <a:ext uri="{FF2B5EF4-FFF2-40B4-BE49-F238E27FC236}">
                <a16:creationId xmlns:a16="http://schemas.microsoft.com/office/drawing/2014/main" id="{E66563B6-37ED-F381-653C-7DF3CD9582B8}"/>
              </a:ext>
            </a:extLst>
          </p:cNvPr>
          <p:cNvSpPr/>
          <p:nvPr/>
        </p:nvSpPr>
        <p:spPr>
          <a:xfrm>
            <a:off x="508000" y="1168400"/>
            <a:ext cx="11176000" cy="50800"/>
          </a:xfrm>
          <a:prstGeom prst="rect">
            <a:avLst/>
          </a:prstGeom>
          <a:solidFill>
            <a:srgbClr val="FFC62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TextBox 54">
            <a:extLst>
              <a:ext uri="{FF2B5EF4-FFF2-40B4-BE49-F238E27FC236}">
                <a16:creationId xmlns:a16="http://schemas.microsoft.com/office/drawing/2014/main" id="{290EC385-28FB-A3F1-F489-A9EF9A4986DF}"/>
              </a:ext>
            </a:extLst>
          </p:cNvPr>
          <p:cNvSpPr txBox="1"/>
          <p:nvPr/>
        </p:nvSpPr>
        <p:spPr>
          <a:xfrm>
            <a:off x="11430000" y="381000"/>
            <a:ext cx="254000" cy="153888"/>
          </a:xfrm>
          <a:prstGeom prst="rect">
            <a:avLst/>
          </a:prstGeom>
          <a:noFill/>
        </p:spPr>
        <p:txBody>
          <a:bodyPr vert="horz" wrap="square" lIns="0" tIns="0" rIns="0" bIns="0" rtlCol="0">
            <a:spAutoFit/>
          </a:bodyPr>
          <a:lstStyle/>
          <a:p>
            <a:pPr algn="r"/>
            <a:r>
              <a:rPr lang="en-US" sz="1000">
                <a:solidFill>
                  <a:srgbClr val="5C5C5C"/>
                </a:solidFill>
                <a:latin typeface="Aptos" panose="020B0004020202020204" pitchFamily="34" charset="0"/>
              </a:rPr>
              <a:t>24</a:t>
            </a:r>
          </a:p>
        </p:txBody>
      </p:sp>
      <p:sp>
        <p:nvSpPr>
          <p:cNvPr id="56" name="Rectangle: Rounded Corners 55">
            <a:extLst>
              <a:ext uri="{FF2B5EF4-FFF2-40B4-BE49-F238E27FC236}">
                <a16:creationId xmlns:a16="http://schemas.microsoft.com/office/drawing/2014/main" id="{E3FFF82A-A94C-E915-0EC1-D4DC4E7060E4}"/>
              </a:ext>
            </a:extLst>
          </p:cNvPr>
          <p:cNvSpPr/>
          <p:nvPr/>
        </p:nvSpPr>
        <p:spPr>
          <a:xfrm>
            <a:off x="508000" y="1498600"/>
            <a:ext cx="2159000" cy="1397000"/>
          </a:xfrm>
          <a:prstGeom prst="roundRect">
            <a:avLst/>
          </a:prstGeom>
          <a:solidFill>
            <a:srgbClr val="FFFFFF"/>
          </a:solidFill>
          <a:ln w="12700">
            <a:solidFill>
              <a:srgbClr val="D2D0C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DAF7F2F4-DA55-1306-A607-2C1266E346C0}"/>
              </a:ext>
            </a:extLst>
          </p:cNvPr>
          <p:cNvSpPr/>
          <p:nvPr/>
        </p:nvSpPr>
        <p:spPr>
          <a:xfrm>
            <a:off x="685800" y="1651000"/>
            <a:ext cx="1803400" cy="50800"/>
          </a:xfrm>
          <a:prstGeom prst="rect">
            <a:avLst/>
          </a:prstGeom>
          <a:solidFill>
            <a:srgbClr val="8C1D4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TextBox 57">
            <a:extLst>
              <a:ext uri="{FF2B5EF4-FFF2-40B4-BE49-F238E27FC236}">
                <a16:creationId xmlns:a16="http://schemas.microsoft.com/office/drawing/2014/main" id="{CE5220EA-7194-93BA-8300-81125B790FF9}"/>
              </a:ext>
            </a:extLst>
          </p:cNvPr>
          <p:cNvSpPr txBox="1"/>
          <p:nvPr/>
        </p:nvSpPr>
        <p:spPr>
          <a:xfrm>
            <a:off x="685800" y="1752600"/>
            <a:ext cx="1803400" cy="153888"/>
          </a:xfrm>
          <a:prstGeom prst="rect">
            <a:avLst/>
          </a:prstGeom>
          <a:noFill/>
        </p:spPr>
        <p:txBody>
          <a:bodyPr vert="horz" wrap="square" lIns="0" tIns="0" rIns="0" bIns="0" rtlCol="0">
            <a:spAutoFit/>
          </a:bodyPr>
          <a:lstStyle/>
          <a:p>
            <a:r>
              <a:rPr lang="en-US" sz="1000" b="1">
                <a:solidFill>
                  <a:srgbClr val="5C5C5C"/>
                </a:solidFill>
                <a:latin typeface="Aptos" panose="020B0004020202020204" pitchFamily="34" charset="0"/>
              </a:rPr>
              <a:t>Action API</a:t>
            </a:r>
          </a:p>
        </p:txBody>
      </p:sp>
      <p:sp>
        <p:nvSpPr>
          <p:cNvPr id="59" name="TextBox 58">
            <a:extLst>
              <a:ext uri="{FF2B5EF4-FFF2-40B4-BE49-F238E27FC236}">
                <a16:creationId xmlns:a16="http://schemas.microsoft.com/office/drawing/2014/main" id="{6671EA77-74E7-DB39-501C-EDFE1B30F1D1}"/>
              </a:ext>
            </a:extLst>
          </p:cNvPr>
          <p:cNvSpPr txBox="1"/>
          <p:nvPr/>
        </p:nvSpPr>
        <p:spPr>
          <a:xfrm>
            <a:off x="685800" y="2032000"/>
            <a:ext cx="1803400" cy="369332"/>
          </a:xfrm>
          <a:prstGeom prst="rect">
            <a:avLst/>
          </a:prstGeom>
          <a:noFill/>
        </p:spPr>
        <p:txBody>
          <a:bodyPr vert="horz" wrap="square" lIns="0" tIns="0" rIns="0" bIns="0" rtlCol="0">
            <a:spAutoFit/>
          </a:bodyPr>
          <a:lstStyle/>
          <a:p>
            <a:r>
              <a:rPr lang="en-US" sz="2400" b="1">
                <a:solidFill>
                  <a:srgbClr val="8C1D40"/>
                </a:solidFill>
                <a:latin typeface="Aptos" panose="020B0004020202020204" pitchFamily="34" charset="0"/>
              </a:rPr>
              <a:t>5-D</a:t>
            </a:r>
          </a:p>
        </p:txBody>
      </p:sp>
      <p:sp>
        <p:nvSpPr>
          <p:cNvPr id="60" name="TextBox 59">
            <a:extLst>
              <a:ext uri="{FF2B5EF4-FFF2-40B4-BE49-F238E27FC236}">
                <a16:creationId xmlns:a16="http://schemas.microsoft.com/office/drawing/2014/main" id="{DC7EE74A-14FF-8CE2-C060-89B8DED6EB70}"/>
              </a:ext>
            </a:extLst>
          </p:cNvPr>
          <p:cNvSpPr txBox="1"/>
          <p:nvPr/>
        </p:nvSpPr>
        <p:spPr>
          <a:xfrm>
            <a:off x="685800" y="2514600"/>
            <a:ext cx="1803400" cy="153888"/>
          </a:xfrm>
          <a:prstGeom prst="rect">
            <a:avLst/>
          </a:prstGeom>
          <a:noFill/>
        </p:spPr>
        <p:txBody>
          <a:bodyPr vert="horz" wrap="square" lIns="0" tIns="0" rIns="0" bIns="0" rtlCol="0">
            <a:spAutoFit/>
          </a:bodyPr>
          <a:lstStyle/>
          <a:p>
            <a:r>
              <a:rPr lang="en-US" sz="1000">
                <a:solidFill>
                  <a:srgbClr val="5C5C5C"/>
                </a:solidFill>
                <a:latin typeface="Aptos" panose="020B0004020202020204" pitchFamily="34" charset="0"/>
              </a:rPr>
              <a:t>[dx, dy, dz, dyaw, grip] in [-1, 1]</a:t>
            </a:r>
          </a:p>
        </p:txBody>
      </p:sp>
      <p:sp>
        <p:nvSpPr>
          <p:cNvPr id="61" name="Rectangle: Rounded Corners 60">
            <a:extLst>
              <a:ext uri="{FF2B5EF4-FFF2-40B4-BE49-F238E27FC236}">
                <a16:creationId xmlns:a16="http://schemas.microsoft.com/office/drawing/2014/main" id="{C7E88EE0-9A26-8147-183C-293666CEDABC}"/>
              </a:ext>
            </a:extLst>
          </p:cNvPr>
          <p:cNvSpPr/>
          <p:nvPr/>
        </p:nvSpPr>
        <p:spPr>
          <a:xfrm>
            <a:off x="2794000" y="1498600"/>
            <a:ext cx="2159000" cy="1397000"/>
          </a:xfrm>
          <a:prstGeom prst="roundRect">
            <a:avLst/>
          </a:prstGeom>
          <a:solidFill>
            <a:srgbClr val="FFFFFF"/>
          </a:solidFill>
          <a:ln w="12700">
            <a:solidFill>
              <a:srgbClr val="D2D0C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a:extLst>
              <a:ext uri="{FF2B5EF4-FFF2-40B4-BE49-F238E27FC236}">
                <a16:creationId xmlns:a16="http://schemas.microsoft.com/office/drawing/2014/main" id="{0048D4C2-DE17-BE6F-07A6-3922E872DCDB}"/>
              </a:ext>
            </a:extLst>
          </p:cNvPr>
          <p:cNvSpPr/>
          <p:nvPr/>
        </p:nvSpPr>
        <p:spPr>
          <a:xfrm>
            <a:off x="2971800" y="1651000"/>
            <a:ext cx="1803400" cy="50800"/>
          </a:xfrm>
          <a:prstGeom prst="rect">
            <a:avLst/>
          </a:prstGeom>
          <a:solidFill>
            <a:srgbClr val="4984C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TextBox 62">
            <a:extLst>
              <a:ext uri="{FF2B5EF4-FFF2-40B4-BE49-F238E27FC236}">
                <a16:creationId xmlns:a16="http://schemas.microsoft.com/office/drawing/2014/main" id="{CF4F2DE6-130B-9751-2F18-9A07BB7DC73C}"/>
              </a:ext>
            </a:extLst>
          </p:cNvPr>
          <p:cNvSpPr txBox="1"/>
          <p:nvPr/>
        </p:nvSpPr>
        <p:spPr>
          <a:xfrm>
            <a:off x="2971800" y="1752600"/>
            <a:ext cx="1803400" cy="153888"/>
          </a:xfrm>
          <a:prstGeom prst="rect">
            <a:avLst/>
          </a:prstGeom>
          <a:noFill/>
        </p:spPr>
        <p:txBody>
          <a:bodyPr vert="horz" wrap="square" lIns="0" tIns="0" rIns="0" bIns="0" rtlCol="0">
            <a:spAutoFit/>
          </a:bodyPr>
          <a:lstStyle/>
          <a:p>
            <a:r>
              <a:rPr lang="en-US" sz="1000" b="1">
                <a:solidFill>
                  <a:srgbClr val="5C5C5C"/>
                </a:solidFill>
                <a:latin typeface="Aptos" panose="020B0004020202020204" pitchFamily="34" charset="0"/>
              </a:rPr>
              <a:t>Observation</a:t>
            </a:r>
          </a:p>
        </p:txBody>
      </p:sp>
      <p:sp>
        <p:nvSpPr>
          <p:cNvPr id="64" name="TextBox 63">
            <a:extLst>
              <a:ext uri="{FF2B5EF4-FFF2-40B4-BE49-F238E27FC236}">
                <a16:creationId xmlns:a16="http://schemas.microsoft.com/office/drawing/2014/main" id="{90C14058-231F-9DDF-8386-23E5810369C6}"/>
              </a:ext>
            </a:extLst>
          </p:cNvPr>
          <p:cNvSpPr txBox="1"/>
          <p:nvPr/>
        </p:nvSpPr>
        <p:spPr>
          <a:xfrm>
            <a:off x="2971800" y="2032000"/>
            <a:ext cx="1803400" cy="369332"/>
          </a:xfrm>
          <a:prstGeom prst="rect">
            <a:avLst/>
          </a:prstGeom>
          <a:noFill/>
        </p:spPr>
        <p:txBody>
          <a:bodyPr vert="horz" wrap="square" lIns="0" tIns="0" rIns="0" bIns="0" rtlCol="0">
            <a:spAutoFit/>
          </a:bodyPr>
          <a:lstStyle/>
          <a:p>
            <a:r>
              <a:rPr lang="en-US" sz="2400" b="1">
                <a:solidFill>
                  <a:srgbClr val="4984CB"/>
                </a:solidFill>
                <a:latin typeface="Aptos" panose="020B0004020202020204" pitchFamily="34" charset="0"/>
              </a:rPr>
              <a:t>22-D</a:t>
            </a:r>
          </a:p>
        </p:txBody>
      </p:sp>
      <p:sp>
        <p:nvSpPr>
          <p:cNvPr id="65" name="TextBox 64">
            <a:extLst>
              <a:ext uri="{FF2B5EF4-FFF2-40B4-BE49-F238E27FC236}">
                <a16:creationId xmlns:a16="http://schemas.microsoft.com/office/drawing/2014/main" id="{65D320A8-079E-8D2D-301B-E604F97B9F53}"/>
              </a:ext>
            </a:extLst>
          </p:cNvPr>
          <p:cNvSpPr txBox="1"/>
          <p:nvPr/>
        </p:nvSpPr>
        <p:spPr>
          <a:xfrm>
            <a:off x="2971800" y="2514600"/>
            <a:ext cx="1803400" cy="307777"/>
          </a:xfrm>
          <a:prstGeom prst="rect">
            <a:avLst/>
          </a:prstGeom>
          <a:noFill/>
        </p:spPr>
        <p:txBody>
          <a:bodyPr vert="horz" wrap="square" lIns="0" tIns="0" rIns="0" bIns="0" rtlCol="0">
            <a:spAutoFit/>
          </a:bodyPr>
          <a:lstStyle/>
          <a:p>
            <a:r>
              <a:rPr lang="en-US" sz="1000">
                <a:solidFill>
                  <a:srgbClr val="5C5C5C"/>
                </a:solidFill>
                <a:latin typeface="Aptos" panose="020B0004020202020204" pitchFamily="34" charset="0"/>
              </a:rPr>
              <a:t>EE pose, gripper, left block, right block</a:t>
            </a:r>
          </a:p>
        </p:txBody>
      </p:sp>
      <p:sp>
        <p:nvSpPr>
          <p:cNvPr id="66" name="Rectangle: Rounded Corners 65">
            <a:extLst>
              <a:ext uri="{FF2B5EF4-FFF2-40B4-BE49-F238E27FC236}">
                <a16:creationId xmlns:a16="http://schemas.microsoft.com/office/drawing/2014/main" id="{E850BA51-24E5-E8C2-2647-CBD75718FB73}"/>
              </a:ext>
            </a:extLst>
          </p:cNvPr>
          <p:cNvSpPr/>
          <p:nvPr/>
        </p:nvSpPr>
        <p:spPr>
          <a:xfrm>
            <a:off x="5080000" y="1498600"/>
            <a:ext cx="2159000" cy="1397000"/>
          </a:xfrm>
          <a:prstGeom prst="roundRect">
            <a:avLst/>
          </a:prstGeom>
          <a:solidFill>
            <a:srgbClr val="FFFFFF"/>
          </a:solidFill>
          <a:ln w="12700">
            <a:solidFill>
              <a:srgbClr val="D2D0C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66">
            <a:extLst>
              <a:ext uri="{FF2B5EF4-FFF2-40B4-BE49-F238E27FC236}">
                <a16:creationId xmlns:a16="http://schemas.microsoft.com/office/drawing/2014/main" id="{1E6E548B-A0DC-6C70-1D47-C2358947DDC4}"/>
              </a:ext>
            </a:extLst>
          </p:cNvPr>
          <p:cNvSpPr/>
          <p:nvPr/>
        </p:nvSpPr>
        <p:spPr>
          <a:xfrm>
            <a:off x="5257800" y="1651000"/>
            <a:ext cx="1803400" cy="50800"/>
          </a:xfrm>
          <a:prstGeom prst="rect">
            <a:avLst/>
          </a:prstGeom>
          <a:solidFill>
            <a:srgbClr val="2E86A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TextBox 67">
            <a:extLst>
              <a:ext uri="{FF2B5EF4-FFF2-40B4-BE49-F238E27FC236}">
                <a16:creationId xmlns:a16="http://schemas.microsoft.com/office/drawing/2014/main" id="{57D8C8C5-09EA-7596-BC28-8D1079134556}"/>
              </a:ext>
            </a:extLst>
          </p:cNvPr>
          <p:cNvSpPr txBox="1"/>
          <p:nvPr/>
        </p:nvSpPr>
        <p:spPr>
          <a:xfrm>
            <a:off x="5257800" y="1752600"/>
            <a:ext cx="1803400" cy="153888"/>
          </a:xfrm>
          <a:prstGeom prst="rect">
            <a:avLst/>
          </a:prstGeom>
          <a:noFill/>
        </p:spPr>
        <p:txBody>
          <a:bodyPr vert="horz" wrap="square" lIns="0" tIns="0" rIns="0" bIns="0" rtlCol="0">
            <a:spAutoFit/>
          </a:bodyPr>
          <a:lstStyle/>
          <a:p>
            <a:r>
              <a:rPr lang="en-US" sz="1000" b="1">
                <a:solidFill>
                  <a:srgbClr val="5C5C5C"/>
                </a:solidFill>
                <a:latin typeface="Aptos" panose="020B0004020202020204" pitchFamily="34" charset="0"/>
              </a:rPr>
              <a:t>Physics</a:t>
            </a:r>
          </a:p>
        </p:txBody>
      </p:sp>
      <p:sp>
        <p:nvSpPr>
          <p:cNvPr id="69" name="TextBox 68">
            <a:extLst>
              <a:ext uri="{FF2B5EF4-FFF2-40B4-BE49-F238E27FC236}">
                <a16:creationId xmlns:a16="http://schemas.microsoft.com/office/drawing/2014/main" id="{1A136145-9744-2155-97B9-E4BCBBF995BB}"/>
              </a:ext>
            </a:extLst>
          </p:cNvPr>
          <p:cNvSpPr txBox="1"/>
          <p:nvPr/>
        </p:nvSpPr>
        <p:spPr>
          <a:xfrm>
            <a:off x="5257800" y="2032000"/>
            <a:ext cx="1803400" cy="369332"/>
          </a:xfrm>
          <a:prstGeom prst="rect">
            <a:avLst/>
          </a:prstGeom>
          <a:noFill/>
        </p:spPr>
        <p:txBody>
          <a:bodyPr vert="horz" wrap="square" lIns="0" tIns="0" rIns="0" bIns="0" rtlCol="0">
            <a:spAutoFit/>
          </a:bodyPr>
          <a:lstStyle/>
          <a:p>
            <a:r>
              <a:rPr lang="en-US" sz="2400" b="1">
                <a:solidFill>
                  <a:srgbClr val="2E86AB"/>
                </a:solidFill>
                <a:latin typeface="Aptos" panose="020B0004020202020204" pitchFamily="34" charset="0"/>
              </a:rPr>
              <a:t>20</a:t>
            </a:r>
          </a:p>
        </p:txBody>
      </p:sp>
      <p:sp>
        <p:nvSpPr>
          <p:cNvPr id="70" name="TextBox 69">
            <a:extLst>
              <a:ext uri="{FF2B5EF4-FFF2-40B4-BE49-F238E27FC236}">
                <a16:creationId xmlns:a16="http://schemas.microsoft.com/office/drawing/2014/main" id="{34D33A2A-CC9A-446B-9D10-EC18804A17D1}"/>
              </a:ext>
            </a:extLst>
          </p:cNvPr>
          <p:cNvSpPr txBox="1"/>
          <p:nvPr/>
        </p:nvSpPr>
        <p:spPr>
          <a:xfrm>
            <a:off x="5257800" y="2514600"/>
            <a:ext cx="1803400" cy="153888"/>
          </a:xfrm>
          <a:prstGeom prst="rect">
            <a:avLst/>
          </a:prstGeom>
          <a:noFill/>
        </p:spPr>
        <p:txBody>
          <a:bodyPr vert="horz" wrap="square" lIns="0" tIns="0" rIns="0" bIns="0" rtlCol="0">
            <a:spAutoFit/>
          </a:bodyPr>
          <a:lstStyle/>
          <a:p>
            <a:r>
              <a:rPr lang="en-US" sz="1000">
                <a:solidFill>
                  <a:srgbClr val="5C5C5C"/>
                </a:solidFill>
                <a:latin typeface="Aptos" panose="020B0004020202020204" pitchFamily="34" charset="0"/>
              </a:rPr>
              <a:t>PyBullet substeps per env step</a:t>
            </a:r>
          </a:p>
        </p:txBody>
      </p:sp>
      <p:sp>
        <p:nvSpPr>
          <p:cNvPr id="71" name="Rectangle: Rounded Corners 70">
            <a:extLst>
              <a:ext uri="{FF2B5EF4-FFF2-40B4-BE49-F238E27FC236}">
                <a16:creationId xmlns:a16="http://schemas.microsoft.com/office/drawing/2014/main" id="{16EF57C0-854B-1654-4E54-0E85F4936E1C}"/>
              </a:ext>
            </a:extLst>
          </p:cNvPr>
          <p:cNvSpPr/>
          <p:nvPr/>
        </p:nvSpPr>
        <p:spPr>
          <a:xfrm>
            <a:off x="7366000" y="1498600"/>
            <a:ext cx="2159000" cy="1397000"/>
          </a:xfrm>
          <a:prstGeom prst="roundRect">
            <a:avLst/>
          </a:prstGeom>
          <a:solidFill>
            <a:srgbClr val="FFFFFF"/>
          </a:solidFill>
          <a:ln w="12700">
            <a:solidFill>
              <a:srgbClr val="D2D0C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ectangle 71">
            <a:extLst>
              <a:ext uri="{FF2B5EF4-FFF2-40B4-BE49-F238E27FC236}">
                <a16:creationId xmlns:a16="http://schemas.microsoft.com/office/drawing/2014/main" id="{53E5FF1B-842A-C58E-6EE7-47C97147F648}"/>
              </a:ext>
            </a:extLst>
          </p:cNvPr>
          <p:cNvSpPr/>
          <p:nvPr/>
        </p:nvSpPr>
        <p:spPr>
          <a:xfrm>
            <a:off x="7543800" y="1651000"/>
            <a:ext cx="1803400" cy="50800"/>
          </a:xfrm>
          <a:prstGeom prst="rect">
            <a:avLst/>
          </a:prstGeom>
          <a:solidFill>
            <a:srgbClr val="5B995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TextBox 72">
            <a:extLst>
              <a:ext uri="{FF2B5EF4-FFF2-40B4-BE49-F238E27FC236}">
                <a16:creationId xmlns:a16="http://schemas.microsoft.com/office/drawing/2014/main" id="{3B029228-CBF2-5FE3-AE88-4ACAD2A33251}"/>
              </a:ext>
            </a:extLst>
          </p:cNvPr>
          <p:cNvSpPr txBox="1"/>
          <p:nvPr/>
        </p:nvSpPr>
        <p:spPr>
          <a:xfrm>
            <a:off x="7543800" y="1752600"/>
            <a:ext cx="1803400" cy="153888"/>
          </a:xfrm>
          <a:prstGeom prst="rect">
            <a:avLst/>
          </a:prstGeom>
          <a:noFill/>
        </p:spPr>
        <p:txBody>
          <a:bodyPr vert="horz" wrap="square" lIns="0" tIns="0" rIns="0" bIns="0" rtlCol="0">
            <a:spAutoFit/>
          </a:bodyPr>
          <a:lstStyle/>
          <a:p>
            <a:r>
              <a:rPr lang="en-US" sz="1000" b="1">
                <a:solidFill>
                  <a:srgbClr val="5C5C5C"/>
                </a:solidFill>
                <a:latin typeface="Aptos" panose="020B0004020202020204" pitchFamily="34" charset="0"/>
              </a:rPr>
              <a:t>Position Scale</a:t>
            </a:r>
          </a:p>
        </p:txBody>
      </p:sp>
      <p:sp>
        <p:nvSpPr>
          <p:cNvPr id="74" name="TextBox 73">
            <a:extLst>
              <a:ext uri="{FF2B5EF4-FFF2-40B4-BE49-F238E27FC236}">
                <a16:creationId xmlns:a16="http://schemas.microsoft.com/office/drawing/2014/main" id="{33A68198-DFFD-3491-6645-AF125C583D44}"/>
              </a:ext>
            </a:extLst>
          </p:cNvPr>
          <p:cNvSpPr txBox="1"/>
          <p:nvPr/>
        </p:nvSpPr>
        <p:spPr>
          <a:xfrm>
            <a:off x="7543800" y="2032000"/>
            <a:ext cx="1803400" cy="369332"/>
          </a:xfrm>
          <a:prstGeom prst="rect">
            <a:avLst/>
          </a:prstGeom>
          <a:noFill/>
        </p:spPr>
        <p:txBody>
          <a:bodyPr vert="horz" wrap="square" lIns="0" tIns="0" rIns="0" bIns="0" rtlCol="0">
            <a:spAutoFit/>
          </a:bodyPr>
          <a:lstStyle/>
          <a:p>
            <a:r>
              <a:rPr lang="en-US" sz="2400" b="1">
                <a:solidFill>
                  <a:srgbClr val="5B995D"/>
                </a:solidFill>
                <a:latin typeface="Aptos" panose="020B0004020202020204" pitchFamily="34" charset="0"/>
              </a:rPr>
              <a:t>0.05 m</a:t>
            </a:r>
          </a:p>
        </p:txBody>
      </p:sp>
      <p:sp>
        <p:nvSpPr>
          <p:cNvPr id="75" name="TextBox 74">
            <a:extLst>
              <a:ext uri="{FF2B5EF4-FFF2-40B4-BE49-F238E27FC236}">
                <a16:creationId xmlns:a16="http://schemas.microsoft.com/office/drawing/2014/main" id="{403D9D8F-A7FF-32A5-27F4-F045140F2BF2}"/>
              </a:ext>
            </a:extLst>
          </p:cNvPr>
          <p:cNvSpPr txBox="1"/>
          <p:nvPr/>
        </p:nvSpPr>
        <p:spPr>
          <a:xfrm>
            <a:off x="7543800" y="2514600"/>
            <a:ext cx="1803400" cy="307777"/>
          </a:xfrm>
          <a:prstGeom prst="rect">
            <a:avLst/>
          </a:prstGeom>
          <a:noFill/>
        </p:spPr>
        <p:txBody>
          <a:bodyPr vert="horz" wrap="square" lIns="0" tIns="0" rIns="0" bIns="0" rtlCol="0">
            <a:spAutoFit/>
          </a:bodyPr>
          <a:lstStyle/>
          <a:p>
            <a:r>
              <a:rPr lang="en-US" sz="1000">
                <a:solidFill>
                  <a:srgbClr val="5C5C5C"/>
                </a:solidFill>
                <a:latin typeface="Aptos" panose="020B0004020202020204" pitchFamily="34" charset="0"/>
              </a:rPr>
              <a:t>Default delta position scale per step</a:t>
            </a:r>
          </a:p>
        </p:txBody>
      </p:sp>
      <p:sp>
        <p:nvSpPr>
          <p:cNvPr id="76" name="Rectangle: Rounded Corners 75">
            <a:extLst>
              <a:ext uri="{FF2B5EF4-FFF2-40B4-BE49-F238E27FC236}">
                <a16:creationId xmlns:a16="http://schemas.microsoft.com/office/drawing/2014/main" id="{B386759F-E9B5-02A6-32DC-F9D9DCD3FA5A}"/>
              </a:ext>
            </a:extLst>
          </p:cNvPr>
          <p:cNvSpPr/>
          <p:nvPr/>
        </p:nvSpPr>
        <p:spPr>
          <a:xfrm>
            <a:off x="508000" y="3149600"/>
            <a:ext cx="3810000" cy="2641600"/>
          </a:xfrm>
          <a:prstGeom prst="roundRect">
            <a:avLst/>
          </a:prstGeom>
          <a:solidFill>
            <a:srgbClr val="E8F1F9"/>
          </a:solidFill>
          <a:ln w="13970">
            <a:solidFill>
              <a:srgbClr val="4984C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TextBox 76">
            <a:extLst>
              <a:ext uri="{FF2B5EF4-FFF2-40B4-BE49-F238E27FC236}">
                <a16:creationId xmlns:a16="http://schemas.microsoft.com/office/drawing/2014/main" id="{670E1496-6523-07C4-7949-C808E6AA1CD3}"/>
              </a:ext>
            </a:extLst>
          </p:cNvPr>
          <p:cNvSpPr txBox="1"/>
          <p:nvPr/>
        </p:nvSpPr>
        <p:spPr>
          <a:xfrm>
            <a:off x="711200" y="3327400"/>
            <a:ext cx="3403600" cy="200055"/>
          </a:xfrm>
          <a:prstGeom prst="rect">
            <a:avLst/>
          </a:prstGeom>
          <a:noFill/>
        </p:spPr>
        <p:txBody>
          <a:bodyPr vert="horz" wrap="square" lIns="0" tIns="0" rIns="0" bIns="0" rtlCol="0">
            <a:spAutoFit/>
          </a:bodyPr>
          <a:lstStyle/>
          <a:p>
            <a:r>
              <a:rPr lang="en-US" sz="1300" b="1">
                <a:solidFill>
                  <a:srgbClr val="4984CB"/>
                </a:solidFill>
                <a:latin typeface="Aptos" panose="020B0004020202020204" pitchFamily="34" charset="0"/>
              </a:rPr>
              <a:t>Observation layout</a:t>
            </a:r>
          </a:p>
        </p:txBody>
      </p:sp>
      <p:sp>
        <p:nvSpPr>
          <p:cNvPr id="78" name="TextBox 77">
            <a:extLst>
              <a:ext uri="{FF2B5EF4-FFF2-40B4-BE49-F238E27FC236}">
                <a16:creationId xmlns:a16="http://schemas.microsoft.com/office/drawing/2014/main" id="{EB023AC0-64E0-F940-FD4F-F16E004BDB76}"/>
              </a:ext>
            </a:extLst>
          </p:cNvPr>
          <p:cNvSpPr txBox="1"/>
          <p:nvPr/>
        </p:nvSpPr>
        <p:spPr>
          <a:xfrm>
            <a:off x="711200" y="3683000"/>
            <a:ext cx="3403600" cy="1015663"/>
          </a:xfrm>
          <a:prstGeom prst="rect">
            <a:avLst/>
          </a:prstGeom>
          <a:noFill/>
        </p:spPr>
        <p:txBody>
          <a:bodyPr vert="horz" wrap="square" lIns="0" tIns="0" rIns="0" bIns="0" rtlCol="0">
            <a:spAutoFit/>
          </a:bodyPr>
          <a:lstStyle/>
          <a:p>
            <a:r>
              <a:rPr lang="en-US" sz="1100">
                <a:solidFill>
                  <a:srgbClr val="1C1C1C"/>
                </a:solidFill>
                <a:latin typeface="Consolas" panose="020B0609020204030204" pitchFamily="49" charset="0"/>
              </a:rPr>
              <a:t>ee_pos(3) + ee_quat(4) + grip(1)
left_cube_pos(3) + left_cube_quat(4)
right_cube_pos(3) + right_cube_quat(4)
The base env returns raw state only; V2 later appends context and behavior mode.</a:t>
            </a:r>
          </a:p>
        </p:txBody>
      </p:sp>
      <p:sp>
        <p:nvSpPr>
          <p:cNvPr id="79" name="Rectangle: Rounded Corners 78">
            <a:extLst>
              <a:ext uri="{FF2B5EF4-FFF2-40B4-BE49-F238E27FC236}">
                <a16:creationId xmlns:a16="http://schemas.microsoft.com/office/drawing/2014/main" id="{DE832586-B316-107F-BC47-3F62347F3F97}"/>
              </a:ext>
            </a:extLst>
          </p:cNvPr>
          <p:cNvSpPr/>
          <p:nvPr/>
        </p:nvSpPr>
        <p:spPr>
          <a:xfrm>
            <a:off x="508000" y="5715000"/>
            <a:ext cx="3810000" cy="787400"/>
          </a:xfrm>
          <a:prstGeom prst="roundRect">
            <a:avLst/>
          </a:prstGeom>
          <a:solidFill>
            <a:srgbClr val="F6EEDB"/>
          </a:solidFill>
          <a:ln w="13970">
            <a:solidFill>
              <a:srgbClr val="FFC62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TextBox 79">
            <a:extLst>
              <a:ext uri="{FF2B5EF4-FFF2-40B4-BE49-F238E27FC236}">
                <a16:creationId xmlns:a16="http://schemas.microsoft.com/office/drawing/2014/main" id="{6EF752A8-9A26-A538-9BFE-8B4E2755F7FC}"/>
              </a:ext>
            </a:extLst>
          </p:cNvPr>
          <p:cNvSpPr txBox="1"/>
          <p:nvPr/>
        </p:nvSpPr>
        <p:spPr>
          <a:xfrm>
            <a:off x="711200" y="5892800"/>
            <a:ext cx="3403600" cy="200055"/>
          </a:xfrm>
          <a:prstGeom prst="rect">
            <a:avLst/>
          </a:prstGeom>
          <a:noFill/>
        </p:spPr>
        <p:txBody>
          <a:bodyPr vert="horz" wrap="square" lIns="0" tIns="0" rIns="0" bIns="0" rtlCol="0">
            <a:spAutoFit/>
          </a:bodyPr>
          <a:lstStyle/>
          <a:p>
            <a:r>
              <a:rPr lang="en-US" sz="1300" b="1">
                <a:solidFill>
                  <a:srgbClr val="FFC627"/>
                </a:solidFill>
                <a:latin typeface="Aptos" panose="020B0004020202020204" pitchFamily="34" charset="0"/>
              </a:rPr>
              <a:t>Codeflow note</a:t>
            </a:r>
          </a:p>
        </p:txBody>
      </p:sp>
      <p:sp>
        <p:nvSpPr>
          <p:cNvPr id="81" name="TextBox 80">
            <a:extLst>
              <a:ext uri="{FF2B5EF4-FFF2-40B4-BE49-F238E27FC236}">
                <a16:creationId xmlns:a16="http://schemas.microsoft.com/office/drawing/2014/main" id="{3247E896-2192-B4E7-838B-E365072BAE78}"/>
              </a:ext>
            </a:extLst>
          </p:cNvPr>
          <p:cNvSpPr txBox="1"/>
          <p:nvPr/>
        </p:nvSpPr>
        <p:spPr>
          <a:xfrm>
            <a:off x="711200" y="6248400"/>
            <a:ext cx="3403600" cy="138499"/>
          </a:xfrm>
          <a:prstGeom prst="rect">
            <a:avLst/>
          </a:prstGeom>
          <a:noFill/>
        </p:spPr>
        <p:txBody>
          <a:bodyPr vert="horz" wrap="square" lIns="0" tIns="0" rIns="0" bIns="0" rtlCol="0">
            <a:spAutoFit/>
          </a:bodyPr>
          <a:lstStyle/>
          <a:p>
            <a:r>
              <a:rPr lang="en-US" sz="900">
                <a:solidFill>
                  <a:srgbClr val="1C1C1C"/>
                </a:solidFill>
                <a:latin typeface="Aptos" panose="020B0004020202020204" pitchFamily="34" charset="0"/>
              </a:rPr>
              <a:t>Base env default = 200 steps. All demo collectors override it to 400.</a:t>
            </a:r>
          </a:p>
        </p:txBody>
      </p:sp>
      <p:sp>
        <p:nvSpPr>
          <p:cNvPr id="82" name="Rectangle: Rounded Corners 81">
            <a:extLst>
              <a:ext uri="{FF2B5EF4-FFF2-40B4-BE49-F238E27FC236}">
                <a16:creationId xmlns:a16="http://schemas.microsoft.com/office/drawing/2014/main" id="{9273C83F-F03C-F518-42A1-212C8EE01282}"/>
              </a:ext>
            </a:extLst>
          </p:cNvPr>
          <p:cNvSpPr/>
          <p:nvPr/>
        </p:nvSpPr>
        <p:spPr>
          <a:xfrm>
            <a:off x="4699000" y="3200400"/>
            <a:ext cx="1371600" cy="1524000"/>
          </a:xfrm>
          <a:prstGeom prst="roundRect">
            <a:avLst/>
          </a:prstGeom>
          <a:solidFill>
            <a:srgbClr val="F5E9EE"/>
          </a:solidFill>
          <a:ln w="15240">
            <a:solidFill>
              <a:srgbClr val="8C1D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TextBox 82">
            <a:extLst>
              <a:ext uri="{FF2B5EF4-FFF2-40B4-BE49-F238E27FC236}">
                <a16:creationId xmlns:a16="http://schemas.microsoft.com/office/drawing/2014/main" id="{C52ABEBF-1276-B968-F577-CB674D9907E8}"/>
              </a:ext>
            </a:extLst>
          </p:cNvPr>
          <p:cNvSpPr txBox="1"/>
          <p:nvPr/>
        </p:nvSpPr>
        <p:spPr>
          <a:xfrm>
            <a:off x="4902200" y="3352800"/>
            <a:ext cx="965200" cy="200055"/>
          </a:xfrm>
          <a:prstGeom prst="rect">
            <a:avLst/>
          </a:prstGeom>
          <a:noFill/>
        </p:spPr>
        <p:txBody>
          <a:bodyPr vert="horz" wrap="square" lIns="0" tIns="0" rIns="0" bIns="0" rtlCol="0">
            <a:spAutoFit/>
          </a:bodyPr>
          <a:lstStyle/>
          <a:p>
            <a:pPr algn="ctr"/>
            <a:r>
              <a:rPr lang="en-US" sz="1300" b="1">
                <a:solidFill>
                  <a:srgbClr val="8C1D40"/>
                </a:solidFill>
                <a:latin typeface="Aptos" panose="020B0004020202020204" pitchFamily="34" charset="0"/>
              </a:rPr>
              <a:t>Action in</a:t>
            </a:r>
          </a:p>
        </p:txBody>
      </p:sp>
      <p:sp>
        <p:nvSpPr>
          <p:cNvPr id="84" name="TextBox 83">
            <a:extLst>
              <a:ext uri="{FF2B5EF4-FFF2-40B4-BE49-F238E27FC236}">
                <a16:creationId xmlns:a16="http://schemas.microsoft.com/office/drawing/2014/main" id="{3F5735CA-C22B-3601-E930-BE8BC0F6F9D4}"/>
              </a:ext>
            </a:extLst>
          </p:cNvPr>
          <p:cNvSpPr txBox="1"/>
          <p:nvPr/>
        </p:nvSpPr>
        <p:spPr>
          <a:xfrm>
            <a:off x="4876800" y="3708400"/>
            <a:ext cx="1016000" cy="846386"/>
          </a:xfrm>
          <a:prstGeom prst="rect">
            <a:avLst/>
          </a:prstGeom>
          <a:noFill/>
        </p:spPr>
        <p:txBody>
          <a:bodyPr vert="horz" wrap="square" lIns="0" tIns="0" rIns="0" bIns="0" rtlCol="0">
            <a:spAutoFit/>
          </a:bodyPr>
          <a:lstStyle/>
          <a:p>
            <a:pPr algn="ctr"/>
            <a:r>
              <a:rPr lang="pl-PL" sz="1100">
                <a:solidFill>
                  <a:srgbClr val="1C1C1C"/>
                </a:solidFill>
                <a:latin typeface="Aptos" panose="020B0004020202020204" pitchFamily="34" charset="0"/>
              </a:rPr>
              <a:t>dx
dy
dz
dyaw
grip</a:t>
            </a:r>
            <a:endParaRPr lang="en-US" sz="1100">
              <a:solidFill>
                <a:srgbClr val="1C1C1C"/>
              </a:solidFill>
              <a:latin typeface="Aptos" panose="020B0004020202020204" pitchFamily="34" charset="0"/>
            </a:endParaRPr>
          </a:p>
        </p:txBody>
      </p:sp>
      <p:sp>
        <p:nvSpPr>
          <p:cNvPr id="85" name="Arrow: Chevron 84">
            <a:extLst>
              <a:ext uri="{FF2B5EF4-FFF2-40B4-BE49-F238E27FC236}">
                <a16:creationId xmlns:a16="http://schemas.microsoft.com/office/drawing/2014/main" id="{CD2DD78A-0FD6-68A2-78EE-CBA7BE12CF63}"/>
              </a:ext>
            </a:extLst>
          </p:cNvPr>
          <p:cNvSpPr/>
          <p:nvPr/>
        </p:nvSpPr>
        <p:spPr>
          <a:xfrm>
            <a:off x="6172200" y="3632200"/>
            <a:ext cx="330200" cy="457200"/>
          </a:xfrm>
          <a:prstGeom prst="chevron">
            <a:avLst/>
          </a:prstGeom>
          <a:solidFill>
            <a:srgbClr val="D2D0C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6" name="Rectangle: Rounded Corners 85">
            <a:extLst>
              <a:ext uri="{FF2B5EF4-FFF2-40B4-BE49-F238E27FC236}">
                <a16:creationId xmlns:a16="http://schemas.microsoft.com/office/drawing/2014/main" id="{4799134E-A9F9-311C-4B3C-A23ECCC30DF9}"/>
              </a:ext>
            </a:extLst>
          </p:cNvPr>
          <p:cNvSpPr/>
          <p:nvPr/>
        </p:nvSpPr>
        <p:spPr>
          <a:xfrm>
            <a:off x="6400800" y="3200400"/>
            <a:ext cx="1371600" cy="1524000"/>
          </a:xfrm>
          <a:prstGeom prst="roundRect">
            <a:avLst/>
          </a:prstGeom>
          <a:solidFill>
            <a:srgbClr val="F6EEDB"/>
          </a:solidFill>
          <a:ln w="15240">
            <a:solidFill>
              <a:srgbClr val="FFC62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TextBox 86">
            <a:extLst>
              <a:ext uri="{FF2B5EF4-FFF2-40B4-BE49-F238E27FC236}">
                <a16:creationId xmlns:a16="http://schemas.microsoft.com/office/drawing/2014/main" id="{6ED9F003-50E3-5B56-3F02-8434D7821403}"/>
              </a:ext>
            </a:extLst>
          </p:cNvPr>
          <p:cNvSpPr txBox="1"/>
          <p:nvPr/>
        </p:nvSpPr>
        <p:spPr>
          <a:xfrm>
            <a:off x="6604000" y="3352800"/>
            <a:ext cx="965200" cy="200055"/>
          </a:xfrm>
          <a:prstGeom prst="rect">
            <a:avLst/>
          </a:prstGeom>
          <a:noFill/>
        </p:spPr>
        <p:txBody>
          <a:bodyPr vert="horz" wrap="square" lIns="0" tIns="0" rIns="0" bIns="0" rtlCol="0">
            <a:spAutoFit/>
          </a:bodyPr>
          <a:lstStyle/>
          <a:p>
            <a:pPr algn="ctr"/>
            <a:r>
              <a:rPr lang="en-US" sz="1300" b="1">
                <a:solidFill>
                  <a:srgbClr val="FFC627"/>
                </a:solidFill>
                <a:latin typeface="Aptos" panose="020B0004020202020204" pitchFamily="34" charset="0"/>
              </a:rPr>
              <a:t>Scale</a:t>
            </a:r>
          </a:p>
        </p:txBody>
      </p:sp>
      <p:sp>
        <p:nvSpPr>
          <p:cNvPr id="88" name="TextBox 87">
            <a:extLst>
              <a:ext uri="{FF2B5EF4-FFF2-40B4-BE49-F238E27FC236}">
                <a16:creationId xmlns:a16="http://schemas.microsoft.com/office/drawing/2014/main" id="{7CFD9136-4B43-EF00-41FA-0D16C012065E}"/>
              </a:ext>
            </a:extLst>
          </p:cNvPr>
          <p:cNvSpPr txBox="1"/>
          <p:nvPr/>
        </p:nvSpPr>
        <p:spPr>
          <a:xfrm>
            <a:off x="6578600" y="3708400"/>
            <a:ext cx="1016000" cy="507831"/>
          </a:xfrm>
          <a:prstGeom prst="rect">
            <a:avLst/>
          </a:prstGeom>
          <a:noFill/>
        </p:spPr>
        <p:txBody>
          <a:bodyPr vert="horz" wrap="square" lIns="0" tIns="0" rIns="0" bIns="0" rtlCol="0">
            <a:spAutoFit/>
          </a:bodyPr>
          <a:lstStyle/>
          <a:p>
            <a:pPr algn="ctr"/>
            <a:r>
              <a:rPr lang="en-US" sz="1100">
                <a:solidFill>
                  <a:srgbClr val="1C1C1C"/>
                </a:solidFill>
                <a:latin typeface="Aptos" panose="020B0004020202020204" pitchFamily="34" charset="0"/>
              </a:rPr>
              <a:t>0.05 m on xyz
15 deg on yaw
then clip targets</a:t>
            </a:r>
          </a:p>
        </p:txBody>
      </p:sp>
      <p:sp>
        <p:nvSpPr>
          <p:cNvPr id="89" name="Arrow: Chevron 88">
            <a:extLst>
              <a:ext uri="{FF2B5EF4-FFF2-40B4-BE49-F238E27FC236}">
                <a16:creationId xmlns:a16="http://schemas.microsoft.com/office/drawing/2014/main" id="{ABAAEB4A-6BE1-B489-687C-A6DE28A224CC}"/>
              </a:ext>
            </a:extLst>
          </p:cNvPr>
          <p:cNvSpPr/>
          <p:nvPr/>
        </p:nvSpPr>
        <p:spPr>
          <a:xfrm>
            <a:off x="8102600" y="3632200"/>
            <a:ext cx="330200" cy="457200"/>
          </a:xfrm>
          <a:prstGeom prst="chevron">
            <a:avLst/>
          </a:prstGeom>
          <a:solidFill>
            <a:srgbClr val="D2D0C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0" name="Rectangle: Rounded Corners 89">
            <a:extLst>
              <a:ext uri="{FF2B5EF4-FFF2-40B4-BE49-F238E27FC236}">
                <a16:creationId xmlns:a16="http://schemas.microsoft.com/office/drawing/2014/main" id="{CBABAC8D-C848-F3C3-447B-3BCA3833CA49}"/>
              </a:ext>
            </a:extLst>
          </p:cNvPr>
          <p:cNvSpPr/>
          <p:nvPr/>
        </p:nvSpPr>
        <p:spPr>
          <a:xfrm>
            <a:off x="8432800" y="3200400"/>
            <a:ext cx="1371600" cy="1524000"/>
          </a:xfrm>
          <a:prstGeom prst="roundRect">
            <a:avLst/>
          </a:prstGeom>
          <a:solidFill>
            <a:srgbClr val="E8F1F9"/>
          </a:solidFill>
          <a:ln w="15240">
            <a:solidFill>
              <a:srgbClr val="4984C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TextBox 90">
            <a:extLst>
              <a:ext uri="{FF2B5EF4-FFF2-40B4-BE49-F238E27FC236}">
                <a16:creationId xmlns:a16="http://schemas.microsoft.com/office/drawing/2014/main" id="{9596C3DB-0CF8-4676-9D24-ED7A9546978E}"/>
              </a:ext>
            </a:extLst>
          </p:cNvPr>
          <p:cNvSpPr txBox="1"/>
          <p:nvPr/>
        </p:nvSpPr>
        <p:spPr>
          <a:xfrm>
            <a:off x="8636000" y="3352800"/>
            <a:ext cx="965200" cy="200055"/>
          </a:xfrm>
          <a:prstGeom prst="rect">
            <a:avLst/>
          </a:prstGeom>
          <a:noFill/>
        </p:spPr>
        <p:txBody>
          <a:bodyPr vert="horz" wrap="square" lIns="0" tIns="0" rIns="0" bIns="0" rtlCol="0">
            <a:spAutoFit/>
          </a:bodyPr>
          <a:lstStyle/>
          <a:p>
            <a:pPr algn="ctr"/>
            <a:r>
              <a:rPr lang="en-US" sz="1300" b="1">
                <a:solidFill>
                  <a:srgbClr val="4984CB"/>
                </a:solidFill>
                <a:latin typeface="Aptos" panose="020B0004020202020204" pitchFamily="34" charset="0"/>
              </a:rPr>
              <a:t>IK control</a:t>
            </a:r>
          </a:p>
        </p:txBody>
      </p:sp>
      <p:sp>
        <p:nvSpPr>
          <p:cNvPr id="92" name="TextBox 91">
            <a:extLst>
              <a:ext uri="{FF2B5EF4-FFF2-40B4-BE49-F238E27FC236}">
                <a16:creationId xmlns:a16="http://schemas.microsoft.com/office/drawing/2014/main" id="{BA36DADB-221B-BE90-8C25-EBFDD8F7EFAC}"/>
              </a:ext>
            </a:extLst>
          </p:cNvPr>
          <p:cNvSpPr txBox="1"/>
          <p:nvPr/>
        </p:nvSpPr>
        <p:spPr>
          <a:xfrm>
            <a:off x="8610600" y="3708400"/>
            <a:ext cx="1016000" cy="677108"/>
          </a:xfrm>
          <a:prstGeom prst="rect">
            <a:avLst/>
          </a:prstGeom>
          <a:noFill/>
        </p:spPr>
        <p:txBody>
          <a:bodyPr vert="horz" wrap="square" lIns="0" tIns="0" rIns="0" bIns="0" rtlCol="0">
            <a:spAutoFit/>
          </a:bodyPr>
          <a:lstStyle/>
          <a:p>
            <a:pPr algn="ctr"/>
            <a:r>
              <a:rPr lang="en-US" sz="1100">
                <a:solidFill>
                  <a:srgbClr val="1C1C1C"/>
                </a:solidFill>
                <a:latin typeface="Aptos" panose="020B0004020202020204" pitchFamily="34" charset="0"/>
              </a:rPr>
              <a:t>inverse kinematics
for Panda arm
plus gripper cmd</a:t>
            </a:r>
          </a:p>
        </p:txBody>
      </p:sp>
      <p:sp>
        <p:nvSpPr>
          <p:cNvPr id="93" name="Arrow: Chevron 92">
            <a:extLst>
              <a:ext uri="{FF2B5EF4-FFF2-40B4-BE49-F238E27FC236}">
                <a16:creationId xmlns:a16="http://schemas.microsoft.com/office/drawing/2014/main" id="{A71070D4-B902-850C-8FAF-4C19520A3F73}"/>
              </a:ext>
            </a:extLst>
          </p:cNvPr>
          <p:cNvSpPr/>
          <p:nvPr/>
        </p:nvSpPr>
        <p:spPr>
          <a:xfrm>
            <a:off x="10134600" y="3632200"/>
            <a:ext cx="330200" cy="457200"/>
          </a:xfrm>
          <a:prstGeom prst="chevron">
            <a:avLst/>
          </a:prstGeom>
          <a:solidFill>
            <a:srgbClr val="D2D0C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4" name="Rectangle: Rounded Corners 93">
            <a:extLst>
              <a:ext uri="{FF2B5EF4-FFF2-40B4-BE49-F238E27FC236}">
                <a16:creationId xmlns:a16="http://schemas.microsoft.com/office/drawing/2014/main" id="{4094B32F-00DA-276B-6264-8B9B2BE113E0}"/>
              </a:ext>
            </a:extLst>
          </p:cNvPr>
          <p:cNvSpPr/>
          <p:nvPr/>
        </p:nvSpPr>
        <p:spPr>
          <a:xfrm>
            <a:off x="10464800" y="3200400"/>
            <a:ext cx="1371600" cy="1524000"/>
          </a:xfrm>
          <a:prstGeom prst="roundRect">
            <a:avLst/>
          </a:prstGeom>
          <a:solidFill>
            <a:srgbClr val="EBF5EC"/>
          </a:solidFill>
          <a:ln w="15240">
            <a:solidFill>
              <a:srgbClr val="2E86A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TextBox 94">
            <a:extLst>
              <a:ext uri="{FF2B5EF4-FFF2-40B4-BE49-F238E27FC236}">
                <a16:creationId xmlns:a16="http://schemas.microsoft.com/office/drawing/2014/main" id="{0F0F49F6-9D68-00F8-0A56-15F047A96724}"/>
              </a:ext>
            </a:extLst>
          </p:cNvPr>
          <p:cNvSpPr txBox="1"/>
          <p:nvPr/>
        </p:nvSpPr>
        <p:spPr>
          <a:xfrm>
            <a:off x="10668000" y="3352800"/>
            <a:ext cx="965200" cy="200055"/>
          </a:xfrm>
          <a:prstGeom prst="rect">
            <a:avLst/>
          </a:prstGeom>
          <a:noFill/>
        </p:spPr>
        <p:txBody>
          <a:bodyPr vert="horz" wrap="square" lIns="0" tIns="0" rIns="0" bIns="0" rtlCol="0">
            <a:spAutoFit/>
          </a:bodyPr>
          <a:lstStyle/>
          <a:p>
            <a:pPr algn="ctr"/>
            <a:r>
              <a:rPr lang="en-US" sz="1300" b="1">
                <a:solidFill>
                  <a:srgbClr val="2E86AB"/>
                </a:solidFill>
                <a:latin typeface="Aptos" panose="020B0004020202020204" pitchFamily="34" charset="0"/>
              </a:rPr>
              <a:t>Physics</a:t>
            </a:r>
          </a:p>
        </p:txBody>
      </p:sp>
      <p:sp>
        <p:nvSpPr>
          <p:cNvPr id="96" name="TextBox 95">
            <a:extLst>
              <a:ext uri="{FF2B5EF4-FFF2-40B4-BE49-F238E27FC236}">
                <a16:creationId xmlns:a16="http://schemas.microsoft.com/office/drawing/2014/main" id="{E03DA38A-EB55-672A-1083-985AFF778A28}"/>
              </a:ext>
            </a:extLst>
          </p:cNvPr>
          <p:cNvSpPr txBox="1"/>
          <p:nvPr/>
        </p:nvSpPr>
        <p:spPr>
          <a:xfrm>
            <a:off x="10642600" y="3708400"/>
            <a:ext cx="1016000" cy="677108"/>
          </a:xfrm>
          <a:prstGeom prst="rect">
            <a:avLst/>
          </a:prstGeom>
          <a:noFill/>
        </p:spPr>
        <p:txBody>
          <a:bodyPr vert="horz" wrap="square" lIns="0" tIns="0" rIns="0" bIns="0" rtlCol="0">
            <a:spAutoFit/>
          </a:bodyPr>
          <a:lstStyle/>
          <a:p>
            <a:pPr algn="ctr"/>
            <a:r>
              <a:rPr lang="en-US" sz="1100">
                <a:solidFill>
                  <a:srgbClr val="1C1C1C"/>
                </a:solidFill>
                <a:latin typeface="Aptos" panose="020B0004020202020204" pitchFamily="34" charset="0"/>
              </a:rPr>
              <a:t>20 PyBullet
substeps
then success check</a:t>
            </a:r>
          </a:p>
        </p:txBody>
      </p:sp>
      <p:sp>
        <p:nvSpPr>
          <p:cNvPr id="97" name="Rectangle: Rounded Corners 96">
            <a:extLst>
              <a:ext uri="{FF2B5EF4-FFF2-40B4-BE49-F238E27FC236}">
                <a16:creationId xmlns:a16="http://schemas.microsoft.com/office/drawing/2014/main" id="{166106D5-6D11-ECE0-1EC7-1A20F6198172}"/>
              </a:ext>
            </a:extLst>
          </p:cNvPr>
          <p:cNvSpPr/>
          <p:nvPr/>
        </p:nvSpPr>
        <p:spPr>
          <a:xfrm>
            <a:off x="4699000" y="4978400"/>
            <a:ext cx="6781800" cy="1524000"/>
          </a:xfrm>
          <a:prstGeom prst="roundRect">
            <a:avLst/>
          </a:prstGeom>
          <a:solidFill>
            <a:srgbClr val="FFFFFF"/>
          </a:solidFill>
          <a:ln w="13970">
            <a:solidFill>
              <a:srgbClr val="8C1D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TextBox 97">
            <a:extLst>
              <a:ext uri="{FF2B5EF4-FFF2-40B4-BE49-F238E27FC236}">
                <a16:creationId xmlns:a16="http://schemas.microsoft.com/office/drawing/2014/main" id="{B0635C12-4B38-18BF-567D-3267D934B817}"/>
              </a:ext>
            </a:extLst>
          </p:cNvPr>
          <p:cNvSpPr txBox="1"/>
          <p:nvPr/>
        </p:nvSpPr>
        <p:spPr>
          <a:xfrm>
            <a:off x="4902200" y="5156200"/>
            <a:ext cx="6375400" cy="200055"/>
          </a:xfrm>
          <a:prstGeom prst="rect">
            <a:avLst/>
          </a:prstGeom>
          <a:noFill/>
        </p:spPr>
        <p:txBody>
          <a:bodyPr vert="horz" wrap="square" lIns="0" tIns="0" rIns="0" bIns="0" rtlCol="0">
            <a:spAutoFit/>
          </a:bodyPr>
          <a:lstStyle/>
          <a:p>
            <a:r>
              <a:rPr lang="en-US" sz="1300" b="1">
                <a:solidFill>
                  <a:srgbClr val="8C1D40"/>
                </a:solidFill>
                <a:latin typeface="Aptos" panose="020B0004020202020204" pitchFamily="34" charset="0"/>
              </a:rPr>
              <a:t>What step() returns</a:t>
            </a:r>
          </a:p>
        </p:txBody>
      </p:sp>
      <p:sp>
        <p:nvSpPr>
          <p:cNvPr id="99" name="TextBox 98">
            <a:extLst>
              <a:ext uri="{FF2B5EF4-FFF2-40B4-BE49-F238E27FC236}">
                <a16:creationId xmlns:a16="http://schemas.microsoft.com/office/drawing/2014/main" id="{7FB73659-415A-E1B7-155C-4E243189A348}"/>
              </a:ext>
            </a:extLst>
          </p:cNvPr>
          <p:cNvSpPr txBox="1"/>
          <p:nvPr/>
        </p:nvSpPr>
        <p:spPr>
          <a:xfrm>
            <a:off x="4902200" y="5511800"/>
            <a:ext cx="6375400" cy="677108"/>
          </a:xfrm>
          <a:prstGeom prst="rect">
            <a:avLst/>
          </a:prstGeom>
          <a:noFill/>
        </p:spPr>
        <p:txBody>
          <a:bodyPr vert="horz" wrap="square" lIns="0" tIns="0" rIns="0" bIns="0" rtlCol="0">
            <a:spAutoFit/>
          </a:bodyPr>
          <a:lstStyle/>
          <a:p>
            <a:r>
              <a:rPr lang="en-US" sz="1100">
                <a:solidFill>
                  <a:srgbClr val="1C1C1C"/>
                </a:solidFill>
                <a:latin typeface="Consolas" panose="020B0609020204030204" pitchFamily="49" charset="0"/>
              </a:rPr>
              <a:t>StepResult(obs, reward, done, info)
reward = 1 only when a cube is lifted above the success threshold.
info carries success_left, success_right, picked_left, picked_right, and step count.</a:t>
            </a:r>
          </a:p>
        </p:txBody>
      </p:sp>
    </p:spTree>
    <p:extLst>
      <p:ext uri="{BB962C8B-B14F-4D97-AF65-F5344CB8AC3E}">
        <p14:creationId xmlns:p14="http://schemas.microsoft.com/office/powerpoint/2010/main" val="19691075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64EC4C80-2EF7-7349-8E13-98FF777FDE61}"/>
              </a:ext>
            </a:extLst>
          </p:cNvPr>
          <p:cNvSpPr/>
          <p:nvPr/>
        </p:nvSpPr>
        <p:spPr>
          <a:xfrm>
            <a:off x="0" y="0"/>
            <a:ext cx="12192000" cy="6858000"/>
          </a:xfrm>
          <a:prstGeom prst="rect">
            <a:avLst/>
          </a:prstGeom>
          <a:solidFill>
            <a:srgbClr val="F8F6F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820EB4A1-01C0-2356-6DEA-24BBDFC5F0CC}"/>
              </a:ext>
            </a:extLst>
          </p:cNvPr>
          <p:cNvSpPr txBox="1"/>
          <p:nvPr/>
        </p:nvSpPr>
        <p:spPr>
          <a:xfrm>
            <a:off x="508000" y="355600"/>
            <a:ext cx="9652000" cy="430887"/>
          </a:xfrm>
          <a:prstGeom prst="rect">
            <a:avLst/>
          </a:prstGeom>
          <a:noFill/>
        </p:spPr>
        <p:txBody>
          <a:bodyPr vert="horz" wrap="square" lIns="0" tIns="0" rIns="0" bIns="0" rtlCol="0">
            <a:spAutoFit/>
          </a:bodyPr>
          <a:lstStyle/>
          <a:p>
            <a:r>
              <a:rPr lang="en-US" sz="2800" b="1">
                <a:solidFill>
                  <a:srgbClr val="1C1C1C"/>
                </a:solidFill>
                <a:latin typeface="Aptos" panose="020B0004020202020204" pitchFamily="34" charset="0"/>
              </a:rPr>
              <a:t>Layer 1 Data Collection: demos.npz</a:t>
            </a:r>
          </a:p>
        </p:txBody>
      </p:sp>
      <p:sp>
        <p:nvSpPr>
          <p:cNvPr id="33" name="TextBox 32">
            <a:extLst>
              <a:ext uri="{FF2B5EF4-FFF2-40B4-BE49-F238E27FC236}">
                <a16:creationId xmlns:a16="http://schemas.microsoft.com/office/drawing/2014/main" id="{A965780F-F6FD-EF3D-2F00-C832F5D24BE0}"/>
              </a:ext>
            </a:extLst>
          </p:cNvPr>
          <p:cNvSpPr txBox="1"/>
          <p:nvPr/>
        </p:nvSpPr>
        <p:spPr>
          <a:xfrm>
            <a:off x="508000" y="800100"/>
            <a:ext cx="10414000" cy="169277"/>
          </a:xfrm>
          <a:prstGeom prst="rect">
            <a:avLst/>
          </a:prstGeom>
          <a:noFill/>
        </p:spPr>
        <p:txBody>
          <a:bodyPr vert="horz" wrap="square" lIns="0" tIns="0" rIns="0" bIns="0" rtlCol="0">
            <a:spAutoFit/>
          </a:bodyPr>
          <a:lstStyle/>
          <a:p>
            <a:r>
              <a:rPr lang="en-US" sz="1100">
                <a:solidFill>
                  <a:srgbClr val="5C5C5C"/>
                </a:solidFill>
                <a:latin typeface="Aptos" panose="020B0004020202020204" pitchFamily="34" charset="0"/>
              </a:rPr>
              <a:t>collect_demos_twoblockpick.py builds the base two-goal dataset with legible quadratic Bezier approaches</a:t>
            </a:r>
          </a:p>
        </p:txBody>
      </p:sp>
      <p:sp>
        <p:nvSpPr>
          <p:cNvPr id="34" name="Rectangle 33">
            <a:extLst>
              <a:ext uri="{FF2B5EF4-FFF2-40B4-BE49-F238E27FC236}">
                <a16:creationId xmlns:a16="http://schemas.microsoft.com/office/drawing/2014/main" id="{AE17F907-B00A-3C7D-3960-CC4F872A20B9}"/>
              </a:ext>
            </a:extLst>
          </p:cNvPr>
          <p:cNvSpPr/>
          <p:nvPr/>
        </p:nvSpPr>
        <p:spPr>
          <a:xfrm>
            <a:off x="508000" y="1168400"/>
            <a:ext cx="11176000" cy="50800"/>
          </a:xfrm>
          <a:prstGeom prst="rect">
            <a:avLst/>
          </a:prstGeom>
          <a:solidFill>
            <a:srgbClr val="FFC62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46311EC9-74F2-2C52-8FC5-5A7DC3D28FD2}"/>
              </a:ext>
            </a:extLst>
          </p:cNvPr>
          <p:cNvSpPr txBox="1"/>
          <p:nvPr/>
        </p:nvSpPr>
        <p:spPr>
          <a:xfrm>
            <a:off x="11430000" y="381000"/>
            <a:ext cx="254000" cy="153888"/>
          </a:xfrm>
          <a:prstGeom prst="rect">
            <a:avLst/>
          </a:prstGeom>
          <a:noFill/>
        </p:spPr>
        <p:txBody>
          <a:bodyPr vert="horz" wrap="square" lIns="0" tIns="0" rIns="0" bIns="0" rtlCol="0">
            <a:spAutoFit/>
          </a:bodyPr>
          <a:lstStyle/>
          <a:p>
            <a:pPr algn="r"/>
            <a:r>
              <a:rPr lang="en-US" sz="1000">
                <a:solidFill>
                  <a:srgbClr val="5C5C5C"/>
                </a:solidFill>
                <a:latin typeface="Aptos" panose="020B0004020202020204" pitchFamily="34" charset="0"/>
              </a:rPr>
              <a:t>25</a:t>
            </a:r>
          </a:p>
        </p:txBody>
      </p:sp>
      <p:sp>
        <p:nvSpPr>
          <p:cNvPr id="36" name="Rectangle: Rounded Corners 35">
            <a:extLst>
              <a:ext uri="{FF2B5EF4-FFF2-40B4-BE49-F238E27FC236}">
                <a16:creationId xmlns:a16="http://schemas.microsoft.com/office/drawing/2014/main" id="{AEEDA5B3-7F68-D1D3-7E3B-38D8F950C0CC}"/>
              </a:ext>
            </a:extLst>
          </p:cNvPr>
          <p:cNvSpPr/>
          <p:nvPr/>
        </p:nvSpPr>
        <p:spPr>
          <a:xfrm>
            <a:off x="508000" y="1498600"/>
            <a:ext cx="2413000" cy="1397000"/>
          </a:xfrm>
          <a:prstGeom prst="roundRect">
            <a:avLst/>
          </a:prstGeom>
          <a:solidFill>
            <a:srgbClr val="FFFFFF"/>
          </a:solidFill>
          <a:ln w="12700">
            <a:solidFill>
              <a:srgbClr val="D2D0C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1467D302-A90C-CD23-B1B4-4D468EC2DEB8}"/>
              </a:ext>
            </a:extLst>
          </p:cNvPr>
          <p:cNvSpPr/>
          <p:nvPr/>
        </p:nvSpPr>
        <p:spPr>
          <a:xfrm>
            <a:off x="685800" y="1651000"/>
            <a:ext cx="2057400" cy="50800"/>
          </a:xfrm>
          <a:prstGeom prst="rect">
            <a:avLst/>
          </a:prstGeom>
          <a:solidFill>
            <a:srgbClr val="8C1D4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a:extLst>
              <a:ext uri="{FF2B5EF4-FFF2-40B4-BE49-F238E27FC236}">
                <a16:creationId xmlns:a16="http://schemas.microsoft.com/office/drawing/2014/main" id="{0CAF0797-BA34-C79C-721E-088C54839CC8}"/>
              </a:ext>
            </a:extLst>
          </p:cNvPr>
          <p:cNvSpPr txBox="1"/>
          <p:nvPr/>
        </p:nvSpPr>
        <p:spPr>
          <a:xfrm>
            <a:off x="685800" y="1752600"/>
            <a:ext cx="2057400" cy="153888"/>
          </a:xfrm>
          <a:prstGeom prst="rect">
            <a:avLst/>
          </a:prstGeom>
          <a:noFill/>
        </p:spPr>
        <p:txBody>
          <a:bodyPr vert="horz" wrap="square" lIns="0" tIns="0" rIns="0" bIns="0" rtlCol="0">
            <a:spAutoFit/>
          </a:bodyPr>
          <a:lstStyle/>
          <a:p>
            <a:r>
              <a:rPr lang="en-US" sz="1000" b="1">
                <a:solidFill>
                  <a:srgbClr val="5C5C5C"/>
                </a:solidFill>
                <a:latin typeface="Aptos" panose="020B0004020202020204" pitchFamily="34" charset="0"/>
              </a:rPr>
              <a:t>Dataset size</a:t>
            </a:r>
          </a:p>
        </p:txBody>
      </p:sp>
      <p:sp>
        <p:nvSpPr>
          <p:cNvPr id="39" name="TextBox 38">
            <a:extLst>
              <a:ext uri="{FF2B5EF4-FFF2-40B4-BE49-F238E27FC236}">
                <a16:creationId xmlns:a16="http://schemas.microsoft.com/office/drawing/2014/main" id="{57D7DD02-2B8B-377E-0024-A16B02B3A9E5}"/>
              </a:ext>
            </a:extLst>
          </p:cNvPr>
          <p:cNvSpPr txBox="1"/>
          <p:nvPr/>
        </p:nvSpPr>
        <p:spPr>
          <a:xfrm>
            <a:off x="685800" y="2032000"/>
            <a:ext cx="2057400" cy="369332"/>
          </a:xfrm>
          <a:prstGeom prst="rect">
            <a:avLst/>
          </a:prstGeom>
          <a:noFill/>
        </p:spPr>
        <p:txBody>
          <a:bodyPr vert="horz" wrap="square" lIns="0" tIns="0" rIns="0" bIns="0" rtlCol="0">
            <a:spAutoFit/>
          </a:bodyPr>
          <a:lstStyle/>
          <a:p>
            <a:r>
              <a:rPr lang="en-US" sz="2400" b="1">
                <a:solidFill>
                  <a:srgbClr val="8C1D40"/>
                </a:solidFill>
                <a:latin typeface="Aptos" panose="020B0004020202020204" pitchFamily="34" charset="0"/>
              </a:rPr>
              <a:t>400</a:t>
            </a:r>
          </a:p>
        </p:txBody>
      </p:sp>
      <p:sp>
        <p:nvSpPr>
          <p:cNvPr id="40" name="TextBox 39">
            <a:extLst>
              <a:ext uri="{FF2B5EF4-FFF2-40B4-BE49-F238E27FC236}">
                <a16:creationId xmlns:a16="http://schemas.microsoft.com/office/drawing/2014/main" id="{8D748451-8EF9-45B6-4CDF-BEBA9C3DFC67}"/>
              </a:ext>
            </a:extLst>
          </p:cNvPr>
          <p:cNvSpPr txBox="1"/>
          <p:nvPr/>
        </p:nvSpPr>
        <p:spPr>
          <a:xfrm>
            <a:off x="685800" y="2514600"/>
            <a:ext cx="2057400" cy="153888"/>
          </a:xfrm>
          <a:prstGeom prst="rect">
            <a:avLst/>
          </a:prstGeom>
          <a:noFill/>
        </p:spPr>
        <p:txBody>
          <a:bodyPr vert="horz" wrap="square" lIns="0" tIns="0" rIns="0" bIns="0" rtlCol="0">
            <a:spAutoFit/>
          </a:bodyPr>
          <a:lstStyle/>
          <a:p>
            <a:r>
              <a:rPr lang="en-US" sz="1000">
                <a:solidFill>
                  <a:srgbClr val="5C5C5C"/>
                </a:solidFill>
                <a:latin typeface="Aptos" panose="020B0004020202020204" pitchFamily="34" charset="0"/>
              </a:rPr>
              <a:t>10 configs x 20 arcs x 2 targets</a:t>
            </a:r>
          </a:p>
        </p:txBody>
      </p:sp>
      <p:sp>
        <p:nvSpPr>
          <p:cNvPr id="41" name="Rectangle: Rounded Corners 40">
            <a:extLst>
              <a:ext uri="{FF2B5EF4-FFF2-40B4-BE49-F238E27FC236}">
                <a16:creationId xmlns:a16="http://schemas.microsoft.com/office/drawing/2014/main" id="{E066A1B3-67A5-7E4A-B7D4-EA3D3853A232}"/>
              </a:ext>
            </a:extLst>
          </p:cNvPr>
          <p:cNvSpPr/>
          <p:nvPr/>
        </p:nvSpPr>
        <p:spPr>
          <a:xfrm>
            <a:off x="3048000" y="1498600"/>
            <a:ext cx="2413000" cy="1397000"/>
          </a:xfrm>
          <a:prstGeom prst="roundRect">
            <a:avLst/>
          </a:prstGeom>
          <a:solidFill>
            <a:srgbClr val="FFFFFF"/>
          </a:solidFill>
          <a:ln w="12700">
            <a:solidFill>
              <a:srgbClr val="D2D0C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775BB32E-2DA9-0CEC-04B7-17727A645CEA}"/>
              </a:ext>
            </a:extLst>
          </p:cNvPr>
          <p:cNvSpPr/>
          <p:nvPr/>
        </p:nvSpPr>
        <p:spPr>
          <a:xfrm>
            <a:off x="3225800" y="1651000"/>
            <a:ext cx="2057400" cy="50800"/>
          </a:xfrm>
          <a:prstGeom prst="rect">
            <a:avLst/>
          </a:prstGeom>
          <a:solidFill>
            <a:srgbClr val="4984C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a:extLst>
              <a:ext uri="{FF2B5EF4-FFF2-40B4-BE49-F238E27FC236}">
                <a16:creationId xmlns:a16="http://schemas.microsoft.com/office/drawing/2014/main" id="{E7B2E009-16FA-8259-5BDD-7F095F116A3C}"/>
              </a:ext>
            </a:extLst>
          </p:cNvPr>
          <p:cNvSpPr txBox="1"/>
          <p:nvPr/>
        </p:nvSpPr>
        <p:spPr>
          <a:xfrm>
            <a:off x="3225800" y="1752600"/>
            <a:ext cx="2057400" cy="153888"/>
          </a:xfrm>
          <a:prstGeom prst="rect">
            <a:avLst/>
          </a:prstGeom>
          <a:noFill/>
        </p:spPr>
        <p:txBody>
          <a:bodyPr vert="horz" wrap="square" lIns="0" tIns="0" rIns="0" bIns="0" rtlCol="0">
            <a:spAutoFit/>
          </a:bodyPr>
          <a:lstStyle/>
          <a:p>
            <a:r>
              <a:rPr lang="en-US" sz="1000" b="1">
                <a:solidFill>
                  <a:srgbClr val="5C5C5C"/>
                </a:solidFill>
                <a:latin typeface="Aptos" panose="020B0004020202020204" pitchFamily="34" charset="0"/>
              </a:rPr>
              <a:t>Targets</a:t>
            </a:r>
          </a:p>
        </p:txBody>
      </p:sp>
      <p:sp>
        <p:nvSpPr>
          <p:cNvPr id="44" name="TextBox 43">
            <a:extLst>
              <a:ext uri="{FF2B5EF4-FFF2-40B4-BE49-F238E27FC236}">
                <a16:creationId xmlns:a16="http://schemas.microsoft.com/office/drawing/2014/main" id="{28A64AC9-7EC6-63BE-23BC-D6ABC9AC1B85}"/>
              </a:ext>
            </a:extLst>
          </p:cNvPr>
          <p:cNvSpPr txBox="1"/>
          <p:nvPr/>
        </p:nvSpPr>
        <p:spPr>
          <a:xfrm>
            <a:off x="3225800" y="2032000"/>
            <a:ext cx="2057400" cy="369332"/>
          </a:xfrm>
          <a:prstGeom prst="rect">
            <a:avLst/>
          </a:prstGeom>
          <a:noFill/>
        </p:spPr>
        <p:txBody>
          <a:bodyPr vert="horz" wrap="square" lIns="0" tIns="0" rIns="0" bIns="0" rtlCol="0">
            <a:spAutoFit/>
          </a:bodyPr>
          <a:lstStyle/>
          <a:p>
            <a:r>
              <a:rPr lang="en-US" sz="2400" b="1">
                <a:solidFill>
                  <a:srgbClr val="4984CB"/>
                </a:solidFill>
                <a:latin typeface="Aptos" panose="020B0004020202020204" pitchFamily="34" charset="0"/>
              </a:rPr>
              <a:t>200 / 200</a:t>
            </a:r>
          </a:p>
        </p:txBody>
      </p:sp>
      <p:sp>
        <p:nvSpPr>
          <p:cNvPr id="45" name="TextBox 44">
            <a:extLst>
              <a:ext uri="{FF2B5EF4-FFF2-40B4-BE49-F238E27FC236}">
                <a16:creationId xmlns:a16="http://schemas.microsoft.com/office/drawing/2014/main" id="{38F7967A-7B72-44DF-349B-1FF46C5BD3A9}"/>
              </a:ext>
            </a:extLst>
          </p:cNvPr>
          <p:cNvSpPr txBox="1"/>
          <p:nvPr/>
        </p:nvSpPr>
        <p:spPr>
          <a:xfrm>
            <a:off x="3225800" y="2514600"/>
            <a:ext cx="2057400" cy="307777"/>
          </a:xfrm>
          <a:prstGeom prst="rect">
            <a:avLst/>
          </a:prstGeom>
          <a:noFill/>
        </p:spPr>
        <p:txBody>
          <a:bodyPr vert="horz" wrap="square" lIns="0" tIns="0" rIns="0" bIns="0" rtlCol="0">
            <a:spAutoFit/>
          </a:bodyPr>
          <a:lstStyle/>
          <a:p>
            <a:r>
              <a:rPr lang="en-US" sz="1000">
                <a:solidFill>
                  <a:srgbClr val="5C5C5C"/>
                </a:solidFill>
                <a:latin typeface="Aptos" panose="020B0004020202020204" pitchFamily="34" charset="0"/>
              </a:rPr>
              <a:t>Balanced left-pick and right-pick episodes</a:t>
            </a:r>
          </a:p>
        </p:txBody>
      </p:sp>
      <p:sp>
        <p:nvSpPr>
          <p:cNvPr id="46" name="Rectangle: Rounded Corners 45">
            <a:extLst>
              <a:ext uri="{FF2B5EF4-FFF2-40B4-BE49-F238E27FC236}">
                <a16:creationId xmlns:a16="http://schemas.microsoft.com/office/drawing/2014/main" id="{C2FB8790-C354-C600-FEA0-99D68EA6599A}"/>
              </a:ext>
            </a:extLst>
          </p:cNvPr>
          <p:cNvSpPr/>
          <p:nvPr/>
        </p:nvSpPr>
        <p:spPr>
          <a:xfrm>
            <a:off x="5588000" y="1498600"/>
            <a:ext cx="2413000" cy="1397000"/>
          </a:xfrm>
          <a:prstGeom prst="roundRect">
            <a:avLst/>
          </a:prstGeom>
          <a:solidFill>
            <a:srgbClr val="FFFFFF"/>
          </a:solidFill>
          <a:ln w="12700">
            <a:solidFill>
              <a:srgbClr val="D2D0C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D850CC75-685F-0E70-6F4E-67BDFF11F250}"/>
              </a:ext>
            </a:extLst>
          </p:cNvPr>
          <p:cNvSpPr/>
          <p:nvPr/>
        </p:nvSpPr>
        <p:spPr>
          <a:xfrm>
            <a:off x="5765800" y="1651000"/>
            <a:ext cx="2057400" cy="50800"/>
          </a:xfrm>
          <a:prstGeom prst="rect">
            <a:avLst/>
          </a:prstGeom>
          <a:solidFill>
            <a:srgbClr val="5B995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TextBox 47">
            <a:extLst>
              <a:ext uri="{FF2B5EF4-FFF2-40B4-BE49-F238E27FC236}">
                <a16:creationId xmlns:a16="http://schemas.microsoft.com/office/drawing/2014/main" id="{63F24732-315D-D29E-EC68-6B4605B3A073}"/>
              </a:ext>
            </a:extLst>
          </p:cNvPr>
          <p:cNvSpPr txBox="1"/>
          <p:nvPr/>
        </p:nvSpPr>
        <p:spPr>
          <a:xfrm>
            <a:off x="5765800" y="1752600"/>
            <a:ext cx="2057400" cy="153888"/>
          </a:xfrm>
          <a:prstGeom prst="rect">
            <a:avLst/>
          </a:prstGeom>
          <a:noFill/>
        </p:spPr>
        <p:txBody>
          <a:bodyPr vert="horz" wrap="square" lIns="0" tIns="0" rIns="0" bIns="0" rtlCol="0">
            <a:spAutoFit/>
          </a:bodyPr>
          <a:lstStyle/>
          <a:p>
            <a:r>
              <a:rPr lang="en-US" sz="1000" b="1">
                <a:solidFill>
                  <a:srgbClr val="5C5C5C"/>
                </a:solidFill>
                <a:latin typeface="Aptos" panose="020B0004020202020204" pitchFamily="34" charset="0"/>
              </a:rPr>
              <a:t>Episode length</a:t>
            </a:r>
          </a:p>
        </p:txBody>
      </p:sp>
      <p:sp>
        <p:nvSpPr>
          <p:cNvPr id="49" name="TextBox 48">
            <a:extLst>
              <a:ext uri="{FF2B5EF4-FFF2-40B4-BE49-F238E27FC236}">
                <a16:creationId xmlns:a16="http://schemas.microsoft.com/office/drawing/2014/main" id="{6A77A9FF-4354-0DF9-F608-0A2810235AC8}"/>
              </a:ext>
            </a:extLst>
          </p:cNvPr>
          <p:cNvSpPr txBox="1"/>
          <p:nvPr/>
        </p:nvSpPr>
        <p:spPr>
          <a:xfrm>
            <a:off x="5765800" y="2032000"/>
            <a:ext cx="2057400" cy="369332"/>
          </a:xfrm>
          <a:prstGeom prst="rect">
            <a:avLst/>
          </a:prstGeom>
          <a:noFill/>
        </p:spPr>
        <p:txBody>
          <a:bodyPr vert="horz" wrap="square" lIns="0" tIns="0" rIns="0" bIns="0" rtlCol="0">
            <a:spAutoFit/>
          </a:bodyPr>
          <a:lstStyle/>
          <a:p>
            <a:r>
              <a:rPr lang="en-US" sz="2400" b="1">
                <a:solidFill>
                  <a:srgbClr val="5B995D"/>
                </a:solidFill>
                <a:latin typeface="Aptos" panose="020B0004020202020204" pitchFamily="34" charset="0"/>
              </a:rPr>
              <a:t>400</a:t>
            </a:r>
          </a:p>
        </p:txBody>
      </p:sp>
      <p:sp>
        <p:nvSpPr>
          <p:cNvPr id="50" name="TextBox 49">
            <a:extLst>
              <a:ext uri="{FF2B5EF4-FFF2-40B4-BE49-F238E27FC236}">
                <a16:creationId xmlns:a16="http://schemas.microsoft.com/office/drawing/2014/main" id="{39F9B7F1-FED3-93E8-26DB-507E1C240CAA}"/>
              </a:ext>
            </a:extLst>
          </p:cNvPr>
          <p:cNvSpPr txBox="1"/>
          <p:nvPr/>
        </p:nvSpPr>
        <p:spPr>
          <a:xfrm>
            <a:off x="5765800" y="2514600"/>
            <a:ext cx="2057400" cy="307777"/>
          </a:xfrm>
          <a:prstGeom prst="rect">
            <a:avLst/>
          </a:prstGeom>
          <a:noFill/>
        </p:spPr>
        <p:txBody>
          <a:bodyPr vert="horz" wrap="square" lIns="0" tIns="0" rIns="0" bIns="0" rtlCol="0">
            <a:spAutoFit/>
          </a:bodyPr>
          <a:lstStyle/>
          <a:p>
            <a:r>
              <a:rPr lang="en-US" sz="1000">
                <a:solidFill>
                  <a:srgbClr val="5C5C5C"/>
                </a:solidFill>
                <a:latin typeface="Aptos" panose="020B0004020202020204" pitchFamily="34" charset="0"/>
              </a:rPr>
              <a:t>Collector buffers full length, then stores true stop time</a:t>
            </a:r>
          </a:p>
        </p:txBody>
      </p:sp>
      <p:sp>
        <p:nvSpPr>
          <p:cNvPr id="51" name="Rectangle: Rounded Corners 50">
            <a:extLst>
              <a:ext uri="{FF2B5EF4-FFF2-40B4-BE49-F238E27FC236}">
                <a16:creationId xmlns:a16="http://schemas.microsoft.com/office/drawing/2014/main" id="{311C8EEE-9F8A-A175-1052-4E47F83BB420}"/>
              </a:ext>
            </a:extLst>
          </p:cNvPr>
          <p:cNvSpPr/>
          <p:nvPr/>
        </p:nvSpPr>
        <p:spPr>
          <a:xfrm>
            <a:off x="508000" y="3149600"/>
            <a:ext cx="3556000" cy="1651000"/>
          </a:xfrm>
          <a:prstGeom prst="roundRect">
            <a:avLst/>
          </a:prstGeom>
          <a:solidFill>
            <a:srgbClr val="F5E9EE"/>
          </a:solidFill>
          <a:ln w="13970">
            <a:solidFill>
              <a:srgbClr val="8C1D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TextBox 51">
            <a:extLst>
              <a:ext uri="{FF2B5EF4-FFF2-40B4-BE49-F238E27FC236}">
                <a16:creationId xmlns:a16="http://schemas.microsoft.com/office/drawing/2014/main" id="{DFB38FDC-1798-495D-EA96-8CB2A9EC088E}"/>
              </a:ext>
            </a:extLst>
          </p:cNvPr>
          <p:cNvSpPr txBox="1"/>
          <p:nvPr/>
        </p:nvSpPr>
        <p:spPr>
          <a:xfrm>
            <a:off x="711200" y="3327400"/>
            <a:ext cx="3149600" cy="200055"/>
          </a:xfrm>
          <a:prstGeom prst="rect">
            <a:avLst/>
          </a:prstGeom>
          <a:noFill/>
        </p:spPr>
        <p:txBody>
          <a:bodyPr vert="horz" wrap="square" lIns="0" tIns="0" rIns="0" bIns="0" rtlCol="0">
            <a:spAutoFit/>
          </a:bodyPr>
          <a:lstStyle/>
          <a:p>
            <a:r>
              <a:rPr lang="en-US" sz="1300" b="1">
                <a:solidFill>
                  <a:srgbClr val="8C1D40"/>
                </a:solidFill>
                <a:latin typeface="Aptos" panose="020B0004020202020204" pitchFamily="34" charset="0"/>
              </a:rPr>
              <a:t>Trajectory design</a:t>
            </a:r>
          </a:p>
        </p:txBody>
      </p:sp>
      <p:sp>
        <p:nvSpPr>
          <p:cNvPr id="53" name="TextBox 52">
            <a:extLst>
              <a:ext uri="{FF2B5EF4-FFF2-40B4-BE49-F238E27FC236}">
                <a16:creationId xmlns:a16="http://schemas.microsoft.com/office/drawing/2014/main" id="{125B04EE-7D50-2BD2-53B8-48D4D239B9B7}"/>
              </a:ext>
            </a:extLst>
          </p:cNvPr>
          <p:cNvSpPr txBox="1"/>
          <p:nvPr/>
        </p:nvSpPr>
        <p:spPr>
          <a:xfrm>
            <a:off x="711200" y="3683000"/>
            <a:ext cx="3149600" cy="1015663"/>
          </a:xfrm>
          <a:prstGeom prst="rect">
            <a:avLst/>
          </a:prstGeom>
          <a:noFill/>
        </p:spPr>
        <p:txBody>
          <a:bodyPr vert="horz" wrap="square" lIns="0" tIns="0" rIns="0" bIns="0" rtlCol="0">
            <a:spAutoFit/>
          </a:bodyPr>
          <a:lstStyle/>
          <a:p>
            <a:r>
              <a:rPr lang="en-US" sz="1100">
                <a:solidFill>
                  <a:srgbClr val="1C1C1C"/>
                </a:solidFill>
                <a:latin typeface="Aptos" panose="020B0004020202020204" pitchFamily="34" charset="0"/>
              </a:rPr>
              <a:t>10 scene configs keep the block layout varied but symmetric.
20 quadratic Bezier arc variations sweep toward the chosen side.
Control-point lateral sweep ranges from 5 cm to 28 cm.</a:t>
            </a:r>
          </a:p>
        </p:txBody>
      </p:sp>
      <p:sp>
        <p:nvSpPr>
          <p:cNvPr id="54" name="Rectangle: Rounded Corners 53">
            <a:extLst>
              <a:ext uri="{FF2B5EF4-FFF2-40B4-BE49-F238E27FC236}">
                <a16:creationId xmlns:a16="http://schemas.microsoft.com/office/drawing/2014/main" id="{A8CD9ED4-31AE-A7E8-B0BE-2117BAA33097}"/>
              </a:ext>
            </a:extLst>
          </p:cNvPr>
          <p:cNvSpPr/>
          <p:nvPr/>
        </p:nvSpPr>
        <p:spPr>
          <a:xfrm>
            <a:off x="508000" y="4927600"/>
            <a:ext cx="3556000" cy="1574800"/>
          </a:xfrm>
          <a:prstGeom prst="roundRect">
            <a:avLst/>
          </a:prstGeom>
          <a:solidFill>
            <a:srgbClr val="F6EEDB"/>
          </a:solidFill>
          <a:ln w="13970">
            <a:solidFill>
              <a:srgbClr val="FFC62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TextBox 54">
            <a:extLst>
              <a:ext uri="{FF2B5EF4-FFF2-40B4-BE49-F238E27FC236}">
                <a16:creationId xmlns:a16="http://schemas.microsoft.com/office/drawing/2014/main" id="{0B366672-FC2F-4B40-4D36-95DDFBF2D369}"/>
              </a:ext>
            </a:extLst>
          </p:cNvPr>
          <p:cNvSpPr txBox="1"/>
          <p:nvPr/>
        </p:nvSpPr>
        <p:spPr>
          <a:xfrm>
            <a:off x="711200" y="5105400"/>
            <a:ext cx="3149600" cy="200055"/>
          </a:xfrm>
          <a:prstGeom prst="rect">
            <a:avLst/>
          </a:prstGeom>
          <a:noFill/>
        </p:spPr>
        <p:txBody>
          <a:bodyPr vert="horz" wrap="square" lIns="0" tIns="0" rIns="0" bIns="0" rtlCol="0">
            <a:spAutoFit/>
          </a:bodyPr>
          <a:lstStyle/>
          <a:p>
            <a:r>
              <a:rPr lang="en-US" sz="1300" b="1">
                <a:solidFill>
                  <a:srgbClr val="FFC627"/>
                </a:solidFill>
                <a:latin typeface="Aptos" panose="020B0004020202020204" pitchFamily="34" charset="0"/>
              </a:rPr>
              <a:t>Collection loop</a:t>
            </a:r>
          </a:p>
        </p:txBody>
      </p:sp>
      <p:sp>
        <p:nvSpPr>
          <p:cNvPr id="56" name="TextBox 55">
            <a:extLst>
              <a:ext uri="{FF2B5EF4-FFF2-40B4-BE49-F238E27FC236}">
                <a16:creationId xmlns:a16="http://schemas.microsoft.com/office/drawing/2014/main" id="{CF8A1FD4-A7B5-4F62-7FD5-A000FB2FF4CE}"/>
              </a:ext>
            </a:extLst>
          </p:cNvPr>
          <p:cNvSpPr txBox="1"/>
          <p:nvPr/>
        </p:nvSpPr>
        <p:spPr>
          <a:xfrm>
            <a:off x="711200" y="5461000"/>
            <a:ext cx="3149600" cy="846386"/>
          </a:xfrm>
          <a:prstGeom prst="rect">
            <a:avLst/>
          </a:prstGeom>
          <a:noFill/>
        </p:spPr>
        <p:txBody>
          <a:bodyPr vert="horz" wrap="square" lIns="0" tIns="0" rIns="0" bIns="0" rtlCol="0">
            <a:spAutoFit/>
          </a:bodyPr>
          <a:lstStyle/>
          <a:p>
            <a:r>
              <a:rPr lang="en-US" sz="1100">
                <a:solidFill>
                  <a:srgbClr val="1C1C1C"/>
                </a:solidFill>
                <a:latin typeface="Consolas" panose="020B0609020204030204" pitchFamily="49" charset="0"/>
              </a:rPr>
              <a:t>build config + arc schedule
-&gt; choose target side
-&gt; roll out ScriptedExpert in the env
-&gt; retry until a successful pick
-&gt; save arrays and the demo video</a:t>
            </a:r>
          </a:p>
        </p:txBody>
      </p:sp>
      <p:sp>
        <p:nvSpPr>
          <p:cNvPr id="57" name="Rectangle: Rounded Corners 56">
            <a:extLst>
              <a:ext uri="{FF2B5EF4-FFF2-40B4-BE49-F238E27FC236}">
                <a16:creationId xmlns:a16="http://schemas.microsoft.com/office/drawing/2014/main" id="{D4ECE6A8-976B-1F7D-A024-CB1ADB0B588D}"/>
              </a:ext>
            </a:extLst>
          </p:cNvPr>
          <p:cNvSpPr/>
          <p:nvPr/>
        </p:nvSpPr>
        <p:spPr>
          <a:xfrm>
            <a:off x="4318000" y="3149600"/>
            <a:ext cx="7162800" cy="3352800"/>
          </a:xfrm>
          <a:prstGeom prst="roundRect">
            <a:avLst/>
          </a:prstGeom>
          <a:solidFill>
            <a:srgbClr val="FFFFFF"/>
          </a:solidFill>
          <a:ln w="13970">
            <a:solidFill>
              <a:srgbClr val="4984C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TextBox 57">
            <a:extLst>
              <a:ext uri="{FF2B5EF4-FFF2-40B4-BE49-F238E27FC236}">
                <a16:creationId xmlns:a16="http://schemas.microsoft.com/office/drawing/2014/main" id="{02EAE6AF-4AFD-C823-8099-B5AFE96DE882}"/>
              </a:ext>
            </a:extLst>
          </p:cNvPr>
          <p:cNvSpPr txBox="1"/>
          <p:nvPr/>
        </p:nvSpPr>
        <p:spPr>
          <a:xfrm>
            <a:off x="4521200" y="3327400"/>
            <a:ext cx="6756400" cy="200055"/>
          </a:xfrm>
          <a:prstGeom prst="rect">
            <a:avLst/>
          </a:prstGeom>
          <a:noFill/>
        </p:spPr>
        <p:txBody>
          <a:bodyPr vert="horz" wrap="square" lIns="0" tIns="0" rIns="0" bIns="0" rtlCol="0">
            <a:spAutoFit/>
          </a:bodyPr>
          <a:lstStyle/>
          <a:p>
            <a:r>
              <a:rPr lang="en-US" sz="1300" b="1">
                <a:solidFill>
                  <a:srgbClr val="4984CB"/>
                </a:solidFill>
                <a:latin typeface="Aptos" panose="020B0004020202020204" pitchFamily="34" charset="0"/>
              </a:rPr>
              <a:t>What gets saved</a:t>
            </a:r>
          </a:p>
        </p:txBody>
      </p:sp>
      <p:sp>
        <p:nvSpPr>
          <p:cNvPr id="59" name="TextBox 58">
            <a:extLst>
              <a:ext uri="{FF2B5EF4-FFF2-40B4-BE49-F238E27FC236}">
                <a16:creationId xmlns:a16="http://schemas.microsoft.com/office/drawing/2014/main" id="{9ED60045-94CF-F679-0C2A-F179DDF30C70}"/>
              </a:ext>
            </a:extLst>
          </p:cNvPr>
          <p:cNvSpPr txBox="1"/>
          <p:nvPr/>
        </p:nvSpPr>
        <p:spPr>
          <a:xfrm>
            <a:off x="4521200" y="3683000"/>
            <a:ext cx="6756400" cy="1015663"/>
          </a:xfrm>
          <a:prstGeom prst="rect">
            <a:avLst/>
          </a:prstGeom>
          <a:noFill/>
        </p:spPr>
        <p:txBody>
          <a:bodyPr vert="horz" wrap="square" lIns="0" tIns="0" rIns="0" bIns="0" rtlCol="0">
            <a:spAutoFit/>
          </a:bodyPr>
          <a:lstStyle/>
          <a:p>
            <a:r>
              <a:rPr lang="en-US" sz="1100">
                <a:solidFill>
                  <a:srgbClr val="1C1C1C"/>
                </a:solidFill>
                <a:latin typeface="Consolas" panose="020B0609020204030204" pitchFamily="49" charset="0"/>
              </a:rPr>
              <a:t>obs              (N, 400, 22)   observations per timestep
actions          (N, 400, 5)    delta actions per timestep
episode_lengths  (N,)           actual stop time per episode
labels           (N,)           target block: left or right
config_ids       (N,)           which of the 10 block layouts ran
metadata_json    string         collection settings and counts</a:t>
            </a:r>
          </a:p>
        </p:txBody>
      </p:sp>
    </p:spTree>
    <p:extLst>
      <p:ext uri="{BB962C8B-B14F-4D97-AF65-F5344CB8AC3E}">
        <p14:creationId xmlns:p14="http://schemas.microsoft.com/office/powerpoint/2010/main" val="6063640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D9A9433A-8484-35FF-7E01-DD8A7A777362}"/>
              </a:ext>
            </a:extLst>
          </p:cNvPr>
          <p:cNvSpPr/>
          <p:nvPr/>
        </p:nvSpPr>
        <p:spPr>
          <a:xfrm>
            <a:off x="0" y="0"/>
            <a:ext cx="12192000" cy="6858000"/>
          </a:xfrm>
          <a:prstGeom prst="rect">
            <a:avLst/>
          </a:prstGeom>
          <a:solidFill>
            <a:srgbClr val="F8F6F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72E05C63-C6E6-E3ED-26C3-3DE254065B50}"/>
              </a:ext>
            </a:extLst>
          </p:cNvPr>
          <p:cNvSpPr txBox="1"/>
          <p:nvPr/>
        </p:nvSpPr>
        <p:spPr>
          <a:xfrm>
            <a:off x="508000" y="355600"/>
            <a:ext cx="9652000" cy="430887"/>
          </a:xfrm>
          <a:prstGeom prst="rect">
            <a:avLst/>
          </a:prstGeom>
          <a:noFill/>
        </p:spPr>
        <p:txBody>
          <a:bodyPr vert="horz" wrap="square" lIns="0" tIns="0" rIns="0" bIns="0" rtlCol="0">
            <a:spAutoFit/>
          </a:bodyPr>
          <a:lstStyle/>
          <a:p>
            <a:r>
              <a:rPr lang="en-US" sz="2800" b="1">
                <a:solidFill>
                  <a:srgbClr val="1C1C1C"/>
                </a:solidFill>
                <a:latin typeface="Aptos" panose="020B0004020202020204" pitchFamily="34" charset="0"/>
              </a:rPr>
              <a:t>Layer 1 Data Collection: demos_combined.npz</a:t>
            </a:r>
          </a:p>
        </p:txBody>
      </p:sp>
      <p:sp>
        <p:nvSpPr>
          <p:cNvPr id="36" name="TextBox 35">
            <a:extLst>
              <a:ext uri="{FF2B5EF4-FFF2-40B4-BE49-F238E27FC236}">
                <a16:creationId xmlns:a16="http://schemas.microsoft.com/office/drawing/2014/main" id="{E325E382-2D81-C548-442B-C60D283B9013}"/>
              </a:ext>
            </a:extLst>
          </p:cNvPr>
          <p:cNvSpPr txBox="1"/>
          <p:nvPr/>
        </p:nvSpPr>
        <p:spPr>
          <a:xfrm>
            <a:off x="508000" y="800100"/>
            <a:ext cx="10414000" cy="169277"/>
          </a:xfrm>
          <a:prstGeom prst="rect">
            <a:avLst/>
          </a:prstGeom>
          <a:noFill/>
        </p:spPr>
        <p:txBody>
          <a:bodyPr vert="horz" wrap="square" lIns="0" tIns="0" rIns="0" bIns="0" rtlCol="0">
            <a:spAutoFit/>
          </a:bodyPr>
          <a:lstStyle/>
          <a:p>
            <a:r>
              <a:rPr lang="en-US" sz="1100">
                <a:solidFill>
                  <a:srgbClr val="5C5C5C"/>
                </a:solidFill>
                <a:latin typeface="Aptos" panose="020B0004020202020204" pitchFamily="34" charset="0"/>
              </a:rPr>
              <a:t>collect_demos_combined.py mixes legible, neutral, and deceptive motion styles for training and steering experiments</a:t>
            </a:r>
          </a:p>
        </p:txBody>
      </p:sp>
      <p:sp>
        <p:nvSpPr>
          <p:cNvPr id="37" name="Rectangle 36">
            <a:extLst>
              <a:ext uri="{FF2B5EF4-FFF2-40B4-BE49-F238E27FC236}">
                <a16:creationId xmlns:a16="http://schemas.microsoft.com/office/drawing/2014/main" id="{0483C364-DAA9-885D-C525-B161E0D89DA1}"/>
              </a:ext>
            </a:extLst>
          </p:cNvPr>
          <p:cNvSpPr/>
          <p:nvPr/>
        </p:nvSpPr>
        <p:spPr>
          <a:xfrm>
            <a:off x="508000" y="1168400"/>
            <a:ext cx="11176000" cy="50800"/>
          </a:xfrm>
          <a:prstGeom prst="rect">
            <a:avLst/>
          </a:prstGeom>
          <a:solidFill>
            <a:srgbClr val="FFC62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a:extLst>
              <a:ext uri="{FF2B5EF4-FFF2-40B4-BE49-F238E27FC236}">
                <a16:creationId xmlns:a16="http://schemas.microsoft.com/office/drawing/2014/main" id="{5EF5AF51-482C-6773-951A-041700745FA5}"/>
              </a:ext>
            </a:extLst>
          </p:cNvPr>
          <p:cNvSpPr txBox="1"/>
          <p:nvPr/>
        </p:nvSpPr>
        <p:spPr>
          <a:xfrm>
            <a:off x="11430000" y="381000"/>
            <a:ext cx="254000" cy="153888"/>
          </a:xfrm>
          <a:prstGeom prst="rect">
            <a:avLst/>
          </a:prstGeom>
          <a:noFill/>
        </p:spPr>
        <p:txBody>
          <a:bodyPr vert="horz" wrap="square" lIns="0" tIns="0" rIns="0" bIns="0" rtlCol="0">
            <a:spAutoFit/>
          </a:bodyPr>
          <a:lstStyle/>
          <a:p>
            <a:pPr algn="r"/>
            <a:r>
              <a:rPr lang="en-US" sz="1000">
                <a:solidFill>
                  <a:srgbClr val="5C5C5C"/>
                </a:solidFill>
                <a:latin typeface="Aptos" panose="020B0004020202020204" pitchFamily="34" charset="0"/>
              </a:rPr>
              <a:t>26</a:t>
            </a:r>
          </a:p>
        </p:txBody>
      </p:sp>
      <p:sp>
        <p:nvSpPr>
          <p:cNvPr id="39" name="Rectangle: Rounded Corners 38">
            <a:extLst>
              <a:ext uri="{FF2B5EF4-FFF2-40B4-BE49-F238E27FC236}">
                <a16:creationId xmlns:a16="http://schemas.microsoft.com/office/drawing/2014/main" id="{0B66B9D9-0D24-252B-880E-D3C724E9C83F}"/>
              </a:ext>
            </a:extLst>
          </p:cNvPr>
          <p:cNvSpPr/>
          <p:nvPr/>
        </p:nvSpPr>
        <p:spPr>
          <a:xfrm>
            <a:off x="508000" y="1498600"/>
            <a:ext cx="2413000" cy="1397000"/>
          </a:xfrm>
          <a:prstGeom prst="roundRect">
            <a:avLst/>
          </a:prstGeom>
          <a:solidFill>
            <a:srgbClr val="FFFFFF"/>
          </a:solidFill>
          <a:ln w="12700">
            <a:solidFill>
              <a:srgbClr val="D2D0C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1811BAC8-D80D-F30E-0870-23F75506341C}"/>
              </a:ext>
            </a:extLst>
          </p:cNvPr>
          <p:cNvSpPr/>
          <p:nvPr/>
        </p:nvSpPr>
        <p:spPr>
          <a:xfrm>
            <a:off x="685800" y="1651000"/>
            <a:ext cx="2057400" cy="50800"/>
          </a:xfrm>
          <a:prstGeom prst="rect">
            <a:avLst/>
          </a:prstGeom>
          <a:solidFill>
            <a:srgbClr val="5B995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D593FC22-5BC5-A8A3-7711-012CCF219F93}"/>
              </a:ext>
            </a:extLst>
          </p:cNvPr>
          <p:cNvSpPr txBox="1"/>
          <p:nvPr/>
        </p:nvSpPr>
        <p:spPr>
          <a:xfrm>
            <a:off x="685800" y="1752600"/>
            <a:ext cx="2057400" cy="153888"/>
          </a:xfrm>
          <a:prstGeom prst="rect">
            <a:avLst/>
          </a:prstGeom>
          <a:noFill/>
        </p:spPr>
        <p:txBody>
          <a:bodyPr vert="horz" wrap="square" lIns="0" tIns="0" rIns="0" bIns="0" rtlCol="0">
            <a:spAutoFit/>
          </a:bodyPr>
          <a:lstStyle/>
          <a:p>
            <a:r>
              <a:rPr lang="en-US" sz="1000" b="1">
                <a:solidFill>
                  <a:srgbClr val="5C5C5C"/>
                </a:solidFill>
                <a:latin typeface="Aptos" panose="020B0004020202020204" pitchFamily="34" charset="0"/>
              </a:rPr>
              <a:t>Legible</a:t>
            </a:r>
          </a:p>
        </p:txBody>
      </p:sp>
      <p:sp>
        <p:nvSpPr>
          <p:cNvPr id="42" name="TextBox 41">
            <a:extLst>
              <a:ext uri="{FF2B5EF4-FFF2-40B4-BE49-F238E27FC236}">
                <a16:creationId xmlns:a16="http://schemas.microsoft.com/office/drawing/2014/main" id="{0975FD63-BFF2-1D35-F12F-8C31AF66ADA7}"/>
              </a:ext>
            </a:extLst>
          </p:cNvPr>
          <p:cNvSpPr txBox="1"/>
          <p:nvPr/>
        </p:nvSpPr>
        <p:spPr>
          <a:xfrm>
            <a:off x="685800" y="2032000"/>
            <a:ext cx="2057400" cy="369332"/>
          </a:xfrm>
          <a:prstGeom prst="rect">
            <a:avLst/>
          </a:prstGeom>
          <a:noFill/>
        </p:spPr>
        <p:txBody>
          <a:bodyPr vert="horz" wrap="square" lIns="0" tIns="0" rIns="0" bIns="0" rtlCol="0">
            <a:spAutoFit/>
          </a:bodyPr>
          <a:lstStyle/>
          <a:p>
            <a:r>
              <a:rPr lang="en-US" sz="2400" b="1">
                <a:solidFill>
                  <a:srgbClr val="5B995D"/>
                </a:solidFill>
                <a:latin typeface="Aptos" panose="020B0004020202020204" pitchFamily="34" charset="0"/>
              </a:rPr>
              <a:t>200</a:t>
            </a:r>
          </a:p>
        </p:txBody>
      </p:sp>
      <p:sp>
        <p:nvSpPr>
          <p:cNvPr id="43" name="TextBox 42">
            <a:extLst>
              <a:ext uri="{FF2B5EF4-FFF2-40B4-BE49-F238E27FC236}">
                <a16:creationId xmlns:a16="http://schemas.microsoft.com/office/drawing/2014/main" id="{B29CE8AC-FF54-2DBF-AF33-3AE56D8780A0}"/>
              </a:ext>
            </a:extLst>
          </p:cNvPr>
          <p:cNvSpPr txBox="1"/>
          <p:nvPr/>
        </p:nvSpPr>
        <p:spPr>
          <a:xfrm>
            <a:off x="685800" y="2514600"/>
            <a:ext cx="2057400" cy="307777"/>
          </a:xfrm>
          <a:prstGeom prst="rect">
            <a:avLst/>
          </a:prstGeom>
          <a:noFill/>
        </p:spPr>
        <p:txBody>
          <a:bodyPr vert="horz" wrap="square" lIns="0" tIns="0" rIns="0" bIns="0" rtlCol="0">
            <a:spAutoFit/>
          </a:bodyPr>
          <a:lstStyle/>
          <a:p>
            <a:r>
              <a:rPr lang="en-US" sz="1000">
                <a:solidFill>
                  <a:srgbClr val="5C5C5C"/>
                </a:solidFill>
                <a:latin typeface="Aptos" panose="020B0004020202020204" pitchFamily="34" charset="0"/>
              </a:rPr>
              <a:t>Quadratic Bezier arc toward the target side</a:t>
            </a:r>
          </a:p>
        </p:txBody>
      </p:sp>
      <p:sp>
        <p:nvSpPr>
          <p:cNvPr id="44" name="Rectangle: Rounded Corners 43">
            <a:extLst>
              <a:ext uri="{FF2B5EF4-FFF2-40B4-BE49-F238E27FC236}">
                <a16:creationId xmlns:a16="http://schemas.microsoft.com/office/drawing/2014/main" id="{76EAABD5-D432-EDF2-0C24-27D6A476ACCE}"/>
              </a:ext>
            </a:extLst>
          </p:cNvPr>
          <p:cNvSpPr/>
          <p:nvPr/>
        </p:nvSpPr>
        <p:spPr>
          <a:xfrm>
            <a:off x="3048000" y="1498600"/>
            <a:ext cx="2413000" cy="1397000"/>
          </a:xfrm>
          <a:prstGeom prst="roundRect">
            <a:avLst/>
          </a:prstGeom>
          <a:solidFill>
            <a:srgbClr val="FFFFFF"/>
          </a:solidFill>
          <a:ln w="12700">
            <a:solidFill>
              <a:srgbClr val="D2D0C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9A052DE1-F252-FCF0-883D-B87FAB322FCA}"/>
              </a:ext>
            </a:extLst>
          </p:cNvPr>
          <p:cNvSpPr/>
          <p:nvPr/>
        </p:nvSpPr>
        <p:spPr>
          <a:xfrm>
            <a:off x="3225800" y="1651000"/>
            <a:ext cx="2057400" cy="50800"/>
          </a:xfrm>
          <a:prstGeom prst="rect">
            <a:avLst/>
          </a:prstGeom>
          <a:solidFill>
            <a:srgbClr val="4984C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Box 45">
            <a:extLst>
              <a:ext uri="{FF2B5EF4-FFF2-40B4-BE49-F238E27FC236}">
                <a16:creationId xmlns:a16="http://schemas.microsoft.com/office/drawing/2014/main" id="{A1954434-EA1C-C525-F8F2-69AE2615782F}"/>
              </a:ext>
            </a:extLst>
          </p:cNvPr>
          <p:cNvSpPr txBox="1"/>
          <p:nvPr/>
        </p:nvSpPr>
        <p:spPr>
          <a:xfrm>
            <a:off x="3225800" y="1752600"/>
            <a:ext cx="2057400" cy="153888"/>
          </a:xfrm>
          <a:prstGeom prst="rect">
            <a:avLst/>
          </a:prstGeom>
          <a:noFill/>
        </p:spPr>
        <p:txBody>
          <a:bodyPr vert="horz" wrap="square" lIns="0" tIns="0" rIns="0" bIns="0" rtlCol="0">
            <a:spAutoFit/>
          </a:bodyPr>
          <a:lstStyle/>
          <a:p>
            <a:r>
              <a:rPr lang="en-US" sz="1000" b="1">
                <a:solidFill>
                  <a:srgbClr val="5C5C5C"/>
                </a:solidFill>
                <a:latin typeface="Aptos" panose="020B0004020202020204" pitchFamily="34" charset="0"/>
              </a:rPr>
              <a:t>Neutral</a:t>
            </a:r>
          </a:p>
        </p:txBody>
      </p:sp>
      <p:sp>
        <p:nvSpPr>
          <p:cNvPr id="47" name="TextBox 46">
            <a:extLst>
              <a:ext uri="{FF2B5EF4-FFF2-40B4-BE49-F238E27FC236}">
                <a16:creationId xmlns:a16="http://schemas.microsoft.com/office/drawing/2014/main" id="{CF7EA6A1-C43E-B3F7-CB39-EC4CF8A982DB}"/>
              </a:ext>
            </a:extLst>
          </p:cNvPr>
          <p:cNvSpPr txBox="1"/>
          <p:nvPr/>
        </p:nvSpPr>
        <p:spPr>
          <a:xfrm>
            <a:off x="3225800" y="2032000"/>
            <a:ext cx="2057400" cy="369332"/>
          </a:xfrm>
          <a:prstGeom prst="rect">
            <a:avLst/>
          </a:prstGeom>
          <a:noFill/>
        </p:spPr>
        <p:txBody>
          <a:bodyPr vert="horz" wrap="square" lIns="0" tIns="0" rIns="0" bIns="0" rtlCol="0">
            <a:spAutoFit/>
          </a:bodyPr>
          <a:lstStyle/>
          <a:p>
            <a:r>
              <a:rPr lang="en-US" sz="2400" b="1">
                <a:solidFill>
                  <a:srgbClr val="4984CB"/>
                </a:solidFill>
                <a:latin typeface="Aptos" panose="020B0004020202020204" pitchFamily="34" charset="0"/>
              </a:rPr>
              <a:t>100</a:t>
            </a:r>
          </a:p>
        </p:txBody>
      </p:sp>
      <p:sp>
        <p:nvSpPr>
          <p:cNvPr id="48" name="TextBox 47">
            <a:extLst>
              <a:ext uri="{FF2B5EF4-FFF2-40B4-BE49-F238E27FC236}">
                <a16:creationId xmlns:a16="http://schemas.microsoft.com/office/drawing/2014/main" id="{67AF9632-170D-2F1F-50A0-CEDE43EFC8AD}"/>
              </a:ext>
            </a:extLst>
          </p:cNvPr>
          <p:cNvSpPr txBox="1"/>
          <p:nvPr/>
        </p:nvSpPr>
        <p:spPr>
          <a:xfrm>
            <a:off x="3225800" y="2514600"/>
            <a:ext cx="2057400" cy="153888"/>
          </a:xfrm>
          <a:prstGeom prst="rect">
            <a:avLst/>
          </a:prstGeom>
          <a:noFill/>
        </p:spPr>
        <p:txBody>
          <a:bodyPr vert="horz" wrap="square" lIns="0" tIns="0" rIns="0" bIns="0" rtlCol="0">
            <a:spAutoFit/>
          </a:bodyPr>
          <a:lstStyle/>
          <a:p>
            <a:r>
              <a:rPr lang="en-US" sz="1000">
                <a:solidFill>
                  <a:srgbClr val="5C5C5C"/>
                </a:solidFill>
                <a:latin typeface="Aptos" panose="020B0004020202020204" pitchFamily="34" charset="0"/>
              </a:rPr>
              <a:t>Quadratic Bezier with cp_y fixed at 0</a:t>
            </a:r>
          </a:p>
        </p:txBody>
      </p:sp>
      <p:sp>
        <p:nvSpPr>
          <p:cNvPr id="49" name="Rectangle: Rounded Corners 48">
            <a:extLst>
              <a:ext uri="{FF2B5EF4-FFF2-40B4-BE49-F238E27FC236}">
                <a16:creationId xmlns:a16="http://schemas.microsoft.com/office/drawing/2014/main" id="{472C1614-7438-3E30-E28F-7CF0FC3C471F}"/>
              </a:ext>
            </a:extLst>
          </p:cNvPr>
          <p:cNvSpPr/>
          <p:nvPr/>
        </p:nvSpPr>
        <p:spPr>
          <a:xfrm>
            <a:off x="5588000" y="1498600"/>
            <a:ext cx="2413000" cy="1397000"/>
          </a:xfrm>
          <a:prstGeom prst="roundRect">
            <a:avLst/>
          </a:prstGeom>
          <a:solidFill>
            <a:srgbClr val="FFFFFF"/>
          </a:solidFill>
          <a:ln w="12700">
            <a:solidFill>
              <a:srgbClr val="D2D0C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C38B6C96-D308-D660-FBC3-10E2C9D5CC72}"/>
              </a:ext>
            </a:extLst>
          </p:cNvPr>
          <p:cNvSpPr/>
          <p:nvPr/>
        </p:nvSpPr>
        <p:spPr>
          <a:xfrm>
            <a:off x="5765800" y="1651000"/>
            <a:ext cx="2057400" cy="50800"/>
          </a:xfrm>
          <a:prstGeom prst="rect">
            <a:avLst/>
          </a:prstGeom>
          <a:solidFill>
            <a:srgbClr val="C95B4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TextBox 50">
            <a:extLst>
              <a:ext uri="{FF2B5EF4-FFF2-40B4-BE49-F238E27FC236}">
                <a16:creationId xmlns:a16="http://schemas.microsoft.com/office/drawing/2014/main" id="{AC37089D-81F5-E635-3C20-7A2575E12131}"/>
              </a:ext>
            </a:extLst>
          </p:cNvPr>
          <p:cNvSpPr txBox="1"/>
          <p:nvPr/>
        </p:nvSpPr>
        <p:spPr>
          <a:xfrm>
            <a:off x="5765800" y="1752600"/>
            <a:ext cx="2057400" cy="153888"/>
          </a:xfrm>
          <a:prstGeom prst="rect">
            <a:avLst/>
          </a:prstGeom>
          <a:noFill/>
        </p:spPr>
        <p:txBody>
          <a:bodyPr vert="horz" wrap="square" lIns="0" tIns="0" rIns="0" bIns="0" rtlCol="0">
            <a:spAutoFit/>
          </a:bodyPr>
          <a:lstStyle/>
          <a:p>
            <a:r>
              <a:rPr lang="en-US" sz="1000" b="1">
                <a:solidFill>
                  <a:srgbClr val="5C5C5C"/>
                </a:solidFill>
                <a:latin typeface="Aptos" panose="020B0004020202020204" pitchFamily="34" charset="0"/>
              </a:rPr>
              <a:t>Deceptive</a:t>
            </a:r>
          </a:p>
        </p:txBody>
      </p:sp>
      <p:sp>
        <p:nvSpPr>
          <p:cNvPr id="52" name="TextBox 51">
            <a:extLst>
              <a:ext uri="{FF2B5EF4-FFF2-40B4-BE49-F238E27FC236}">
                <a16:creationId xmlns:a16="http://schemas.microsoft.com/office/drawing/2014/main" id="{EDBF1D1A-AE55-C27E-2E0B-A09EF3DF567C}"/>
              </a:ext>
            </a:extLst>
          </p:cNvPr>
          <p:cNvSpPr txBox="1"/>
          <p:nvPr/>
        </p:nvSpPr>
        <p:spPr>
          <a:xfrm>
            <a:off x="5765800" y="2032000"/>
            <a:ext cx="2057400" cy="369332"/>
          </a:xfrm>
          <a:prstGeom prst="rect">
            <a:avLst/>
          </a:prstGeom>
          <a:noFill/>
        </p:spPr>
        <p:txBody>
          <a:bodyPr vert="horz" wrap="square" lIns="0" tIns="0" rIns="0" bIns="0" rtlCol="0">
            <a:spAutoFit/>
          </a:bodyPr>
          <a:lstStyle/>
          <a:p>
            <a:r>
              <a:rPr lang="en-US" sz="2400" b="1">
                <a:solidFill>
                  <a:srgbClr val="C95B48"/>
                </a:solidFill>
                <a:latin typeface="Aptos" panose="020B0004020202020204" pitchFamily="34" charset="0"/>
              </a:rPr>
              <a:t>100</a:t>
            </a:r>
          </a:p>
        </p:txBody>
      </p:sp>
      <p:sp>
        <p:nvSpPr>
          <p:cNvPr id="53" name="TextBox 52">
            <a:extLst>
              <a:ext uri="{FF2B5EF4-FFF2-40B4-BE49-F238E27FC236}">
                <a16:creationId xmlns:a16="http://schemas.microsoft.com/office/drawing/2014/main" id="{C04D36BC-0E89-7B38-3AA4-971EEC506B10}"/>
              </a:ext>
            </a:extLst>
          </p:cNvPr>
          <p:cNvSpPr txBox="1"/>
          <p:nvPr/>
        </p:nvSpPr>
        <p:spPr>
          <a:xfrm>
            <a:off x="5765800" y="2514600"/>
            <a:ext cx="2057400" cy="307777"/>
          </a:xfrm>
          <a:prstGeom prst="rect">
            <a:avLst/>
          </a:prstGeom>
          <a:noFill/>
        </p:spPr>
        <p:txBody>
          <a:bodyPr vert="horz" wrap="square" lIns="0" tIns="0" rIns="0" bIns="0" rtlCol="0">
            <a:spAutoFit/>
          </a:bodyPr>
          <a:lstStyle/>
          <a:p>
            <a:r>
              <a:rPr lang="en-US" sz="1000">
                <a:solidFill>
                  <a:srgbClr val="5C5C5C"/>
                </a:solidFill>
                <a:latin typeface="Aptos" panose="020B0004020202020204" pitchFamily="34" charset="0"/>
              </a:rPr>
              <a:t>Cubic Bezier feint wrong side, then commit</a:t>
            </a:r>
          </a:p>
        </p:txBody>
      </p:sp>
      <p:sp>
        <p:nvSpPr>
          <p:cNvPr id="54" name="Rectangle: Rounded Corners 53">
            <a:extLst>
              <a:ext uri="{FF2B5EF4-FFF2-40B4-BE49-F238E27FC236}">
                <a16:creationId xmlns:a16="http://schemas.microsoft.com/office/drawing/2014/main" id="{686E6F34-C7F3-E3A6-DA14-D9001E803254}"/>
              </a:ext>
            </a:extLst>
          </p:cNvPr>
          <p:cNvSpPr/>
          <p:nvPr/>
        </p:nvSpPr>
        <p:spPr>
          <a:xfrm>
            <a:off x="508000" y="3149600"/>
            <a:ext cx="3810000" cy="2235200"/>
          </a:xfrm>
          <a:prstGeom prst="roundRect">
            <a:avLst/>
          </a:prstGeom>
          <a:solidFill>
            <a:srgbClr val="F5E9EE"/>
          </a:solidFill>
          <a:ln w="13970">
            <a:solidFill>
              <a:srgbClr val="8C1D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TextBox 54">
            <a:extLst>
              <a:ext uri="{FF2B5EF4-FFF2-40B4-BE49-F238E27FC236}">
                <a16:creationId xmlns:a16="http://schemas.microsoft.com/office/drawing/2014/main" id="{45A0A926-43FD-B65F-4F3C-F78CDDCBE4E7}"/>
              </a:ext>
            </a:extLst>
          </p:cNvPr>
          <p:cNvSpPr txBox="1"/>
          <p:nvPr/>
        </p:nvSpPr>
        <p:spPr>
          <a:xfrm>
            <a:off x="711200" y="3327400"/>
            <a:ext cx="3403600" cy="200055"/>
          </a:xfrm>
          <a:prstGeom prst="rect">
            <a:avLst/>
          </a:prstGeom>
          <a:noFill/>
        </p:spPr>
        <p:txBody>
          <a:bodyPr vert="horz" wrap="square" lIns="0" tIns="0" rIns="0" bIns="0" rtlCol="0">
            <a:spAutoFit/>
          </a:bodyPr>
          <a:lstStyle/>
          <a:p>
            <a:r>
              <a:rPr lang="en-US" sz="1300" b="1">
                <a:solidFill>
                  <a:srgbClr val="8C1D40"/>
                </a:solidFill>
                <a:latin typeface="Aptos" panose="020B0004020202020204" pitchFamily="34" charset="0"/>
              </a:rPr>
              <a:t>Style logic</a:t>
            </a:r>
          </a:p>
        </p:txBody>
      </p:sp>
      <p:sp>
        <p:nvSpPr>
          <p:cNvPr id="56" name="TextBox 55">
            <a:extLst>
              <a:ext uri="{FF2B5EF4-FFF2-40B4-BE49-F238E27FC236}">
                <a16:creationId xmlns:a16="http://schemas.microsoft.com/office/drawing/2014/main" id="{838CF459-2ACF-C482-E3D2-F98BC0128618}"/>
              </a:ext>
            </a:extLst>
          </p:cNvPr>
          <p:cNvSpPr txBox="1"/>
          <p:nvPr/>
        </p:nvSpPr>
        <p:spPr>
          <a:xfrm>
            <a:off x="711200" y="3683000"/>
            <a:ext cx="3403600" cy="846386"/>
          </a:xfrm>
          <a:prstGeom prst="rect">
            <a:avLst/>
          </a:prstGeom>
          <a:noFill/>
        </p:spPr>
        <p:txBody>
          <a:bodyPr vert="horz" wrap="square" lIns="0" tIns="0" rIns="0" bIns="0" rtlCol="0">
            <a:spAutoFit/>
          </a:bodyPr>
          <a:lstStyle/>
          <a:p>
            <a:r>
              <a:rPr lang="en-US" sz="1100">
                <a:solidFill>
                  <a:srgbClr val="1C1C1C"/>
                </a:solidFill>
                <a:latin typeface="Consolas" panose="020B0609020204030204" pitchFamily="49" charset="0"/>
              </a:rPr>
              <a:t>legible   : lateral control point points toward the true goal
neutral   : no lateral bias before descent
deceptive : early motion suggests the wrong goal, then recovers to the right cube</a:t>
            </a:r>
          </a:p>
        </p:txBody>
      </p:sp>
      <p:sp>
        <p:nvSpPr>
          <p:cNvPr id="57" name="Rectangle: Rounded Corners 56">
            <a:extLst>
              <a:ext uri="{FF2B5EF4-FFF2-40B4-BE49-F238E27FC236}">
                <a16:creationId xmlns:a16="http://schemas.microsoft.com/office/drawing/2014/main" id="{5CAAA29C-80F7-06C1-3A22-ADECBBDAF68B}"/>
              </a:ext>
            </a:extLst>
          </p:cNvPr>
          <p:cNvSpPr/>
          <p:nvPr/>
        </p:nvSpPr>
        <p:spPr>
          <a:xfrm>
            <a:off x="508000" y="5511800"/>
            <a:ext cx="3810000" cy="990600"/>
          </a:xfrm>
          <a:prstGeom prst="roundRect">
            <a:avLst/>
          </a:prstGeom>
          <a:solidFill>
            <a:srgbClr val="F6EEDB"/>
          </a:solidFill>
          <a:ln w="13970">
            <a:solidFill>
              <a:srgbClr val="FFC62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TextBox 57">
            <a:extLst>
              <a:ext uri="{FF2B5EF4-FFF2-40B4-BE49-F238E27FC236}">
                <a16:creationId xmlns:a16="http://schemas.microsoft.com/office/drawing/2014/main" id="{1E72E9E8-792B-9D04-EBF9-10A97753F264}"/>
              </a:ext>
            </a:extLst>
          </p:cNvPr>
          <p:cNvSpPr txBox="1"/>
          <p:nvPr/>
        </p:nvSpPr>
        <p:spPr>
          <a:xfrm>
            <a:off x="711200" y="5689600"/>
            <a:ext cx="3403600" cy="200055"/>
          </a:xfrm>
          <a:prstGeom prst="rect">
            <a:avLst/>
          </a:prstGeom>
          <a:noFill/>
        </p:spPr>
        <p:txBody>
          <a:bodyPr vert="horz" wrap="square" lIns="0" tIns="0" rIns="0" bIns="0" rtlCol="0">
            <a:spAutoFit/>
          </a:bodyPr>
          <a:lstStyle/>
          <a:p>
            <a:r>
              <a:rPr lang="en-US" sz="1300" b="1">
                <a:solidFill>
                  <a:srgbClr val="FFC627"/>
                </a:solidFill>
                <a:latin typeface="Aptos" panose="020B0004020202020204" pitchFamily="34" charset="0"/>
              </a:rPr>
              <a:t>Collector detail</a:t>
            </a:r>
          </a:p>
        </p:txBody>
      </p:sp>
      <p:sp>
        <p:nvSpPr>
          <p:cNvPr id="59" name="TextBox 58">
            <a:extLst>
              <a:ext uri="{FF2B5EF4-FFF2-40B4-BE49-F238E27FC236}">
                <a16:creationId xmlns:a16="http://schemas.microsoft.com/office/drawing/2014/main" id="{57724C3A-12D1-8B6B-51A7-F8489A0D6CE5}"/>
              </a:ext>
            </a:extLst>
          </p:cNvPr>
          <p:cNvSpPr txBox="1"/>
          <p:nvPr/>
        </p:nvSpPr>
        <p:spPr>
          <a:xfrm>
            <a:off x="711200" y="6045200"/>
            <a:ext cx="3403600" cy="307777"/>
          </a:xfrm>
          <a:prstGeom prst="rect">
            <a:avLst/>
          </a:prstGeom>
          <a:noFill/>
        </p:spPr>
        <p:txBody>
          <a:bodyPr vert="horz" wrap="square" lIns="0" tIns="0" rIns="0" bIns="0" rtlCol="0">
            <a:spAutoFit/>
          </a:bodyPr>
          <a:lstStyle/>
          <a:p>
            <a:r>
              <a:rPr lang="en-US" sz="1000">
                <a:solidFill>
                  <a:srgbClr val="1C1C1C"/>
                </a:solidFill>
                <a:latin typeface="Aptos" panose="020B0004020202020204" pitchFamily="34" charset="0"/>
              </a:rPr>
              <a:t>Checkpoint and resume is built in: the script writes a _ckpt.pkl snapshot every 20 demos.</a:t>
            </a:r>
          </a:p>
        </p:txBody>
      </p:sp>
      <p:sp>
        <p:nvSpPr>
          <p:cNvPr id="60" name="Rectangle: Rounded Corners 59">
            <a:extLst>
              <a:ext uri="{FF2B5EF4-FFF2-40B4-BE49-F238E27FC236}">
                <a16:creationId xmlns:a16="http://schemas.microsoft.com/office/drawing/2014/main" id="{2989EC29-DA91-CB0D-94EB-EB51DFBEE9ED}"/>
              </a:ext>
            </a:extLst>
          </p:cNvPr>
          <p:cNvSpPr/>
          <p:nvPr/>
        </p:nvSpPr>
        <p:spPr>
          <a:xfrm>
            <a:off x="4521200" y="3149600"/>
            <a:ext cx="6959600" cy="2362200"/>
          </a:xfrm>
          <a:prstGeom prst="roundRect">
            <a:avLst/>
          </a:prstGeom>
          <a:solidFill>
            <a:srgbClr val="FFFFFF"/>
          </a:solidFill>
          <a:ln w="13970">
            <a:solidFill>
              <a:srgbClr val="4984C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TextBox 60">
            <a:extLst>
              <a:ext uri="{FF2B5EF4-FFF2-40B4-BE49-F238E27FC236}">
                <a16:creationId xmlns:a16="http://schemas.microsoft.com/office/drawing/2014/main" id="{3F792A75-DAC2-B6BC-9527-B5334F3C4034}"/>
              </a:ext>
            </a:extLst>
          </p:cNvPr>
          <p:cNvSpPr txBox="1"/>
          <p:nvPr/>
        </p:nvSpPr>
        <p:spPr>
          <a:xfrm>
            <a:off x="4724400" y="3327400"/>
            <a:ext cx="6553200" cy="200055"/>
          </a:xfrm>
          <a:prstGeom prst="rect">
            <a:avLst/>
          </a:prstGeom>
          <a:noFill/>
        </p:spPr>
        <p:txBody>
          <a:bodyPr vert="horz" wrap="square" lIns="0" tIns="0" rIns="0" bIns="0" rtlCol="0">
            <a:spAutoFit/>
          </a:bodyPr>
          <a:lstStyle/>
          <a:p>
            <a:r>
              <a:rPr lang="en-US" sz="1300" b="1">
                <a:solidFill>
                  <a:srgbClr val="4984CB"/>
                </a:solidFill>
                <a:latin typeface="Aptos" panose="020B0004020202020204" pitchFamily="34" charset="0"/>
              </a:rPr>
              <a:t>What gets saved</a:t>
            </a:r>
          </a:p>
        </p:txBody>
      </p:sp>
      <p:sp>
        <p:nvSpPr>
          <p:cNvPr id="62" name="TextBox 61">
            <a:extLst>
              <a:ext uri="{FF2B5EF4-FFF2-40B4-BE49-F238E27FC236}">
                <a16:creationId xmlns:a16="http://schemas.microsoft.com/office/drawing/2014/main" id="{C862DCD5-4EFD-EE2B-643D-63A40C9493C0}"/>
              </a:ext>
            </a:extLst>
          </p:cNvPr>
          <p:cNvSpPr txBox="1"/>
          <p:nvPr/>
        </p:nvSpPr>
        <p:spPr>
          <a:xfrm>
            <a:off x="4724400" y="3683000"/>
            <a:ext cx="6553200" cy="1523494"/>
          </a:xfrm>
          <a:prstGeom prst="rect">
            <a:avLst/>
          </a:prstGeom>
          <a:noFill/>
        </p:spPr>
        <p:txBody>
          <a:bodyPr vert="horz" wrap="square" lIns="0" tIns="0" rIns="0" bIns="0" rtlCol="0">
            <a:spAutoFit/>
          </a:bodyPr>
          <a:lstStyle/>
          <a:p>
            <a:r>
              <a:rPr lang="en-US" sz="1100">
                <a:solidFill>
                  <a:srgbClr val="1C1C1C"/>
                </a:solidFill>
                <a:latin typeface="Consolas" panose="020B0609020204030204" pitchFamily="49" charset="0"/>
              </a:rPr>
              <a:t>obs              (N, 400, 22)
actions          (N, 400, 5)
episode_lengths  (N,)
labels           (N,)    target side
style_labels     (N,)    0=legible, 1=neutral, 2=deceptive
style_names      (N,)    string label for the style
arc_idxs         (N,)    variation index within the style bucket
config_ids       (N,)    block layout id
metadata_json    string</a:t>
            </a:r>
          </a:p>
        </p:txBody>
      </p:sp>
      <p:sp>
        <p:nvSpPr>
          <p:cNvPr id="63" name="Rectangle: Rounded Corners 62">
            <a:extLst>
              <a:ext uri="{FF2B5EF4-FFF2-40B4-BE49-F238E27FC236}">
                <a16:creationId xmlns:a16="http://schemas.microsoft.com/office/drawing/2014/main" id="{7F846E4E-5994-FE61-2C12-56C1A36CD5DE}"/>
              </a:ext>
            </a:extLst>
          </p:cNvPr>
          <p:cNvSpPr/>
          <p:nvPr/>
        </p:nvSpPr>
        <p:spPr>
          <a:xfrm>
            <a:off x="4521200" y="5638800"/>
            <a:ext cx="6959600" cy="863600"/>
          </a:xfrm>
          <a:prstGeom prst="roundRect">
            <a:avLst/>
          </a:prstGeom>
          <a:solidFill>
            <a:srgbClr val="EBF5EC"/>
          </a:solidFill>
          <a:ln w="13970">
            <a:solidFill>
              <a:srgbClr val="2E86A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TextBox 63">
            <a:extLst>
              <a:ext uri="{FF2B5EF4-FFF2-40B4-BE49-F238E27FC236}">
                <a16:creationId xmlns:a16="http://schemas.microsoft.com/office/drawing/2014/main" id="{8508BE10-380D-C2E4-69CC-2702CCEA8532}"/>
              </a:ext>
            </a:extLst>
          </p:cNvPr>
          <p:cNvSpPr txBox="1"/>
          <p:nvPr/>
        </p:nvSpPr>
        <p:spPr>
          <a:xfrm>
            <a:off x="4724400" y="5816600"/>
            <a:ext cx="6553200" cy="200055"/>
          </a:xfrm>
          <a:prstGeom prst="rect">
            <a:avLst/>
          </a:prstGeom>
          <a:noFill/>
        </p:spPr>
        <p:txBody>
          <a:bodyPr vert="horz" wrap="square" lIns="0" tIns="0" rIns="0" bIns="0" rtlCol="0">
            <a:spAutoFit/>
          </a:bodyPr>
          <a:lstStyle/>
          <a:p>
            <a:r>
              <a:rPr lang="en-US" sz="1300" b="1">
                <a:solidFill>
                  <a:srgbClr val="2E86AB"/>
                </a:solidFill>
                <a:latin typeface="Aptos" panose="020B0004020202020204" pitchFamily="34" charset="0"/>
              </a:rPr>
              <a:t>Environment settings changed from demos.npz</a:t>
            </a:r>
          </a:p>
        </p:txBody>
      </p:sp>
      <p:sp>
        <p:nvSpPr>
          <p:cNvPr id="65" name="TextBox 64">
            <a:extLst>
              <a:ext uri="{FF2B5EF4-FFF2-40B4-BE49-F238E27FC236}">
                <a16:creationId xmlns:a16="http://schemas.microsoft.com/office/drawing/2014/main" id="{FB35C055-2164-53F0-8CC2-EBEE65D64746}"/>
              </a:ext>
            </a:extLst>
          </p:cNvPr>
          <p:cNvSpPr txBox="1"/>
          <p:nvPr/>
        </p:nvSpPr>
        <p:spPr>
          <a:xfrm>
            <a:off x="4724400" y="6172200"/>
            <a:ext cx="6553200" cy="307777"/>
          </a:xfrm>
          <a:prstGeom prst="rect">
            <a:avLst/>
          </a:prstGeom>
          <a:noFill/>
        </p:spPr>
        <p:txBody>
          <a:bodyPr vert="horz" wrap="square" lIns="0" tIns="0" rIns="0" bIns="0" rtlCol="0">
            <a:spAutoFit/>
          </a:bodyPr>
          <a:lstStyle/>
          <a:p>
            <a:r>
              <a:rPr lang="en-US" sz="1000">
                <a:solidFill>
                  <a:srgbClr val="1C1C1C"/>
                </a:solidFill>
                <a:latin typeface="Consolas" panose="020B0609020204030204" pitchFamily="49" charset="0"/>
              </a:rPr>
              <a:t>cube_half = 0.015 m, cube_mass = 0.08 kg, cube_lateral_friction = 2.5 for more stable grasping during mixed-style collection.</a:t>
            </a:r>
          </a:p>
        </p:txBody>
      </p:sp>
    </p:spTree>
    <p:extLst>
      <p:ext uri="{BB962C8B-B14F-4D97-AF65-F5344CB8AC3E}">
        <p14:creationId xmlns:p14="http://schemas.microsoft.com/office/powerpoint/2010/main" val="35294884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BB344CC8-623B-E55E-8A30-F085E4B640B8}"/>
              </a:ext>
            </a:extLst>
          </p:cNvPr>
          <p:cNvSpPr/>
          <p:nvPr/>
        </p:nvSpPr>
        <p:spPr>
          <a:xfrm>
            <a:off x="0" y="0"/>
            <a:ext cx="12192000" cy="6858000"/>
          </a:xfrm>
          <a:prstGeom prst="rect">
            <a:avLst/>
          </a:prstGeom>
          <a:solidFill>
            <a:srgbClr val="F8F6F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A6BA1A4F-428D-F899-AC02-204EE3A588E5}"/>
              </a:ext>
            </a:extLst>
          </p:cNvPr>
          <p:cNvSpPr txBox="1"/>
          <p:nvPr/>
        </p:nvSpPr>
        <p:spPr>
          <a:xfrm>
            <a:off x="508000" y="355600"/>
            <a:ext cx="9652000" cy="430887"/>
          </a:xfrm>
          <a:prstGeom prst="rect">
            <a:avLst/>
          </a:prstGeom>
          <a:noFill/>
        </p:spPr>
        <p:txBody>
          <a:bodyPr vert="horz" wrap="square" lIns="0" tIns="0" rIns="0" bIns="0" rtlCol="0">
            <a:spAutoFit/>
          </a:bodyPr>
          <a:lstStyle/>
          <a:p>
            <a:r>
              <a:rPr lang="en-US" sz="2800" b="1">
                <a:solidFill>
                  <a:srgbClr val="1C1C1C"/>
                </a:solidFill>
                <a:latin typeface="Aptos" panose="020B0004020202020204" pitchFamily="34" charset="0"/>
              </a:rPr>
              <a:t>Layer 1 Data Collection: demos_v2.npz</a:t>
            </a:r>
          </a:p>
        </p:txBody>
      </p:sp>
      <p:sp>
        <p:nvSpPr>
          <p:cNvPr id="36" name="TextBox 35">
            <a:extLst>
              <a:ext uri="{FF2B5EF4-FFF2-40B4-BE49-F238E27FC236}">
                <a16:creationId xmlns:a16="http://schemas.microsoft.com/office/drawing/2014/main" id="{C3FDE466-3EA1-5EAE-1ED3-0B50D9C767A8}"/>
              </a:ext>
            </a:extLst>
          </p:cNvPr>
          <p:cNvSpPr txBox="1"/>
          <p:nvPr/>
        </p:nvSpPr>
        <p:spPr>
          <a:xfrm>
            <a:off x="508000" y="800100"/>
            <a:ext cx="10414000" cy="169277"/>
          </a:xfrm>
          <a:prstGeom prst="rect">
            <a:avLst/>
          </a:prstGeom>
          <a:noFill/>
        </p:spPr>
        <p:txBody>
          <a:bodyPr vert="horz" wrap="square" lIns="0" tIns="0" rIns="0" bIns="0" rtlCol="0">
            <a:spAutoFit/>
          </a:bodyPr>
          <a:lstStyle/>
          <a:p>
            <a:r>
              <a:rPr lang="en-US" sz="1100">
                <a:solidFill>
                  <a:srgbClr val="5C5C5C"/>
                </a:solidFill>
                <a:latin typeface="Aptos" panose="020B0004020202020204" pitchFamily="34" charset="0"/>
              </a:rPr>
              <a:t>collect_demos_v2.py extends the observation with context and behavior mode so the policy can condition on more than raw robot state</a:t>
            </a:r>
          </a:p>
        </p:txBody>
      </p:sp>
      <p:sp>
        <p:nvSpPr>
          <p:cNvPr id="37" name="Rectangle 36">
            <a:extLst>
              <a:ext uri="{FF2B5EF4-FFF2-40B4-BE49-F238E27FC236}">
                <a16:creationId xmlns:a16="http://schemas.microsoft.com/office/drawing/2014/main" id="{C96BBE75-0BF0-F091-E80D-5871D4390899}"/>
              </a:ext>
            </a:extLst>
          </p:cNvPr>
          <p:cNvSpPr/>
          <p:nvPr/>
        </p:nvSpPr>
        <p:spPr>
          <a:xfrm>
            <a:off x="508000" y="1168400"/>
            <a:ext cx="11176000" cy="50800"/>
          </a:xfrm>
          <a:prstGeom prst="rect">
            <a:avLst/>
          </a:prstGeom>
          <a:solidFill>
            <a:srgbClr val="FFC62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a:extLst>
              <a:ext uri="{FF2B5EF4-FFF2-40B4-BE49-F238E27FC236}">
                <a16:creationId xmlns:a16="http://schemas.microsoft.com/office/drawing/2014/main" id="{09DB9534-9C16-7114-9AFB-3F44824F8367}"/>
              </a:ext>
            </a:extLst>
          </p:cNvPr>
          <p:cNvSpPr txBox="1"/>
          <p:nvPr/>
        </p:nvSpPr>
        <p:spPr>
          <a:xfrm>
            <a:off x="11430000" y="381000"/>
            <a:ext cx="254000" cy="153888"/>
          </a:xfrm>
          <a:prstGeom prst="rect">
            <a:avLst/>
          </a:prstGeom>
          <a:noFill/>
        </p:spPr>
        <p:txBody>
          <a:bodyPr vert="horz" wrap="square" lIns="0" tIns="0" rIns="0" bIns="0" rtlCol="0">
            <a:spAutoFit/>
          </a:bodyPr>
          <a:lstStyle/>
          <a:p>
            <a:pPr algn="r"/>
            <a:r>
              <a:rPr lang="en-US" sz="1000">
                <a:solidFill>
                  <a:srgbClr val="5C5C5C"/>
                </a:solidFill>
                <a:latin typeface="Aptos" panose="020B0004020202020204" pitchFamily="34" charset="0"/>
              </a:rPr>
              <a:t>27</a:t>
            </a:r>
          </a:p>
        </p:txBody>
      </p:sp>
      <p:sp>
        <p:nvSpPr>
          <p:cNvPr id="39" name="Rectangle: Rounded Corners 38">
            <a:extLst>
              <a:ext uri="{FF2B5EF4-FFF2-40B4-BE49-F238E27FC236}">
                <a16:creationId xmlns:a16="http://schemas.microsoft.com/office/drawing/2014/main" id="{388B5058-3988-8846-F093-1AA35E8629BE}"/>
              </a:ext>
            </a:extLst>
          </p:cNvPr>
          <p:cNvSpPr/>
          <p:nvPr/>
        </p:nvSpPr>
        <p:spPr>
          <a:xfrm>
            <a:off x="508000" y="1498600"/>
            <a:ext cx="2413000" cy="1397000"/>
          </a:xfrm>
          <a:prstGeom prst="roundRect">
            <a:avLst/>
          </a:prstGeom>
          <a:solidFill>
            <a:srgbClr val="FFFFFF"/>
          </a:solidFill>
          <a:ln w="12700">
            <a:solidFill>
              <a:srgbClr val="D2D0C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387A712F-3472-CF89-3F9C-8EF9756E98F8}"/>
              </a:ext>
            </a:extLst>
          </p:cNvPr>
          <p:cNvSpPr/>
          <p:nvPr/>
        </p:nvSpPr>
        <p:spPr>
          <a:xfrm>
            <a:off x="685800" y="1651000"/>
            <a:ext cx="2057400" cy="50800"/>
          </a:xfrm>
          <a:prstGeom prst="rect">
            <a:avLst/>
          </a:prstGeom>
          <a:solidFill>
            <a:srgbClr val="4984C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7FCF15FE-F105-D2A3-799E-E46BC9017562}"/>
              </a:ext>
            </a:extLst>
          </p:cNvPr>
          <p:cNvSpPr txBox="1"/>
          <p:nvPr/>
        </p:nvSpPr>
        <p:spPr>
          <a:xfrm>
            <a:off x="685800" y="1752600"/>
            <a:ext cx="2057400" cy="153888"/>
          </a:xfrm>
          <a:prstGeom prst="rect">
            <a:avLst/>
          </a:prstGeom>
          <a:noFill/>
        </p:spPr>
        <p:txBody>
          <a:bodyPr vert="horz" wrap="square" lIns="0" tIns="0" rIns="0" bIns="0" rtlCol="0">
            <a:spAutoFit/>
          </a:bodyPr>
          <a:lstStyle/>
          <a:p>
            <a:r>
              <a:rPr lang="en-US" sz="1000" b="1">
                <a:solidFill>
                  <a:srgbClr val="5C5C5C"/>
                </a:solidFill>
                <a:latin typeface="Aptos" panose="020B0004020202020204" pitchFamily="34" charset="0"/>
              </a:rPr>
              <a:t>Observation</a:t>
            </a:r>
          </a:p>
        </p:txBody>
      </p:sp>
      <p:sp>
        <p:nvSpPr>
          <p:cNvPr id="42" name="TextBox 41">
            <a:extLst>
              <a:ext uri="{FF2B5EF4-FFF2-40B4-BE49-F238E27FC236}">
                <a16:creationId xmlns:a16="http://schemas.microsoft.com/office/drawing/2014/main" id="{85F31A0F-7961-FBFF-76A7-E965041C7125}"/>
              </a:ext>
            </a:extLst>
          </p:cNvPr>
          <p:cNvSpPr txBox="1"/>
          <p:nvPr/>
        </p:nvSpPr>
        <p:spPr>
          <a:xfrm>
            <a:off x="685800" y="2032000"/>
            <a:ext cx="2057400" cy="369332"/>
          </a:xfrm>
          <a:prstGeom prst="rect">
            <a:avLst/>
          </a:prstGeom>
          <a:noFill/>
        </p:spPr>
        <p:txBody>
          <a:bodyPr vert="horz" wrap="square" lIns="0" tIns="0" rIns="0" bIns="0" rtlCol="0">
            <a:spAutoFit/>
          </a:bodyPr>
          <a:lstStyle/>
          <a:p>
            <a:r>
              <a:rPr lang="en-US" sz="2400" b="1">
                <a:solidFill>
                  <a:srgbClr val="4984CB"/>
                </a:solidFill>
                <a:latin typeface="Aptos" panose="020B0004020202020204" pitchFamily="34" charset="0"/>
              </a:rPr>
              <a:t>26-D</a:t>
            </a:r>
          </a:p>
        </p:txBody>
      </p:sp>
      <p:sp>
        <p:nvSpPr>
          <p:cNvPr id="43" name="TextBox 42">
            <a:extLst>
              <a:ext uri="{FF2B5EF4-FFF2-40B4-BE49-F238E27FC236}">
                <a16:creationId xmlns:a16="http://schemas.microsoft.com/office/drawing/2014/main" id="{451C0E63-DE78-E8CE-C379-61287ED4A0B5}"/>
              </a:ext>
            </a:extLst>
          </p:cNvPr>
          <p:cNvSpPr txBox="1"/>
          <p:nvPr/>
        </p:nvSpPr>
        <p:spPr>
          <a:xfrm>
            <a:off x="685800" y="2514600"/>
            <a:ext cx="2057400" cy="307777"/>
          </a:xfrm>
          <a:prstGeom prst="rect">
            <a:avLst/>
          </a:prstGeom>
          <a:noFill/>
        </p:spPr>
        <p:txBody>
          <a:bodyPr vert="horz" wrap="square" lIns="0" tIns="0" rIns="0" bIns="0" rtlCol="0">
            <a:spAutoFit/>
          </a:bodyPr>
          <a:lstStyle/>
          <a:p>
            <a:r>
              <a:rPr lang="en-US" sz="1000">
                <a:solidFill>
                  <a:srgbClr val="5C5C5C"/>
                </a:solidFill>
                <a:latin typeface="Aptos" panose="020B0004020202020204" pitchFamily="34" charset="0"/>
              </a:rPr>
              <a:t>22-D base obs + context_xyz + behavior_mode</a:t>
            </a:r>
          </a:p>
        </p:txBody>
      </p:sp>
      <p:sp>
        <p:nvSpPr>
          <p:cNvPr id="44" name="Rectangle: Rounded Corners 43">
            <a:extLst>
              <a:ext uri="{FF2B5EF4-FFF2-40B4-BE49-F238E27FC236}">
                <a16:creationId xmlns:a16="http://schemas.microsoft.com/office/drawing/2014/main" id="{7E134F63-FF77-545E-22CE-E8D12E4E8E48}"/>
              </a:ext>
            </a:extLst>
          </p:cNvPr>
          <p:cNvSpPr/>
          <p:nvPr/>
        </p:nvSpPr>
        <p:spPr>
          <a:xfrm>
            <a:off x="3048000" y="1498600"/>
            <a:ext cx="2413000" cy="1397000"/>
          </a:xfrm>
          <a:prstGeom prst="roundRect">
            <a:avLst/>
          </a:prstGeom>
          <a:solidFill>
            <a:srgbClr val="FFFFFF"/>
          </a:solidFill>
          <a:ln w="12700">
            <a:solidFill>
              <a:srgbClr val="D2D0C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C5AF7B49-D126-2F51-7946-20F258868966}"/>
              </a:ext>
            </a:extLst>
          </p:cNvPr>
          <p:cNvSpPr/>
          <p:nvPr/>
        </p:nvSpPr>
        <p:spPr>
          <a:xfrm>
            <a:off x="3225800" y="1651000"/>
            <a:ext cx="2057400" cy="50800"/>
          </a:xfrm>
          <a:prstGeom prst="rect">
            <a:avLst/>
          </a:prstGeom>
          <a:solidFill>
            <a:srgbClr val="8C1D4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Box 45">
            <a:extLst>
              <a:ext uri="{FF2B5EF4-FFF2-40B4-BE49-F238E27FC236}">
                <a16:creationId xmlns:a16="http://schemas.microsoft.com/office/drawing/2014/main" id="{B6F73D39-C94B-87F1-A08D-372977C30B26}"/>
              </a:ext>
            </a:extLst>
          </p:cNvPr>
          <p:cNvSpPr txBox="1"/>
          <p:nvPr/>
        </p:nvSpPr>
        <p:spPr>
          <a:xfrm>
            <a:off x="3225800" y="1752600"/>
            <a:ext cx="2057400" cy="153888"/>
          </a:xfrm>
          <a:prstGeom prst="rect">
            <a:avLst/>
          </a:prstGeom>
          <a:noFill/>
        </p:spPr>
        <p:txBody>
          <a:bodyPr vert="horz" wrap="square" lIns="0" tIns="0" rIns="0" bIns="0" rtlCol="0">
            <a:spAutoFit/>
          </a:bodyPr>
          <a:lstStyle/>
          <a:p>
            <a:r>
              <a:rPr lang="en-US" sz="1000" b="1">
                <a:solidFill>
                  <a:srgbClr val="5C5C5C"/>
                </a:solidFill>
                <a:latin typeface="Aptos" panose="020B0004020202020204" pitchFamily="34" charset="0"/>
              </a:rPr>
              <a:t>Planned demos</a:t>
            </a:r>
          </a:p>
        </p:txBody>
      </p:sp>
      <p:sp>
        <p:nvSpPr>
          <p:cNvPr id="47" name="TextBox 46">
            <a:extLst>
              <a:ext uri="{FF2B5EF4-FFF2-40B4-BE49-F238E27FC236}">
                <a16:creationId xmlns:a16="http://schemas.microsoft.com/office/drawing/2014/main" id="{FDD8EE01-2AF2-1B48-07A3-AEDDBB589C2A}"/>
              </a:ext>
            </a:extLst>
          </p:cNvPr>
          <p:cNvSpPr txBox="1"/>
          <p:nvPr/>
        </p:nvSpPr>
        <p:spPr>
          <a:xfrm>
            <a:off x="3225800" y="2032000"/>
            <a:ext cx="2057400" cy="369332"/>
          </a:xfrm>
          <a:prstGeom prst="rect">
            <a:avLst/>
          </a:prstGeom>
          <a:noFill/>
        </p:spPr>
        <p:txBody>
          <a:bodyPr vert="horz" wrap="square" lIns="0" tIns="0" rIns="0" bIns="0" rtlCol="0">
            <a:spAutoFit/>
          </a:bodyPr>
          <a:lstStyle/>
          <a:p>
            <a:r>
              <a:rPr lang="en-US" sz="2400" b="1">
                <a:solidFill>
                  <a:srgbClr val="8C1D40"/>
                </a:solidFill>
                <a:latin typeface="Aptos" panose="020B0004020202020204" pitchFamily="34" charset="0"/>
              </a:rPr>
              <a:t>500</a:t>
            </a:r>
          </a:p>
        </p:txBody>
      </p:sp>
      <p:sp>
        <p:nvSpPr>
          <p:cNvPr id="48" name="TextBox 47">
            <a:extLst>
              <a:ext uri="{FF2B5EF4-FFF2-40B4-BE49-F238E27FC236}">
                <a16:creationId xmlns:a16="http://schemas.microsoft.com/office/drawing/2014/main" id="{EE8CE2A9-17A1-0DE1-FDFF-E4DEA47E264E}"/>
              </a:ext>
            </a:extLst>
          </p:cNvPr>
          <p:cNvSpPr txBox="1"/>
          <p:nvPr/>
        </p:nvSpPr>
        <p:spPr>
          <a:xfrm>
            <a:off x="3225800" y="2514600"/>
            <a:ext cx="2057400" cy="307777"/>
          </a:xfrm>
          <a:prstGeom prst="rect">
            <a:avLst/>
          </a:prstGeom>
          <a:noFill/>
        </p:spPr>
        <p:txBody>
          <a:bodyPr vert="horz" wrap="square" lIns="0" tIns="0" rIns="0" bIns="0" rtlCol="0">
            <a:spAutoFit/>
          </a:bodyPr>
          <a:lstStyle/>
          <a:p>
            <a:r>
              <a:rPr lang="en-US" sz="1000">
                <a:solidFill>
                  <a:srgbClr val="5C5C5C"/>
                </a:solidFill>
                <a:latin typeface="Aptos" panose="020B0004020202020204" pitchFamily="34" charset="0"/>
              </a:rPr>
              <a:t>200 legible, 100 predictable, 100 grounding, 100 safety split</a:t>
            </a:r>
          </a:p>
        </p:txBody>
      </p:sp>
      <p:sp>
        <p:nvSpPr>
          <p:cNvPr id="49" name="Rectangle: Rounded Corners 48">
            <a:extLst>
              <a:ext uri="{FF2B5EF4-FFF2-40B4-BE49-F238E27FC236}">
                <a16:creationId xmlns:a16="http://schemas.microsoft.com/office/drawing/2014/main" id="{450CF890-669F-E87E-D44E-0F9476B6EC51}"/>
              </a:ext>
            </a:extLst>
          </p:cNvPr>
          <p:cNvSpPr/>
          <p:nvPr/>
        </p:nvSpPr>
        <p:spPr>
          <a:xfrm>
            <a:off x="5588000" y="1498600"/>
            <a:ext cx="2413000" cy="1397000"/>
          </a:xfrm>
          <a:prstGeom prst="roundRect">
            <a:avLst/>
          </a:prstGeom>
          <a:solidFill>
            <a:srgbClr val="FFFFFF"/>
          </a:solidFill>
          <a:ln w="12700">
            <a:solidFill>
              <a:srgbClr val="D2D0C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C4B2D748-F3CE-40AF-E4EE-1966F6F1845E}"/>
              </a:ext>
            </a:extLst>
          </p:cNvPr>
          <p:cNvSpPr/>
          <p:nvPr/>
        </p:nvSpPr>
        <p:spPr>
          <a:xfrm>
            <a:off x="5765800" y="1651000"/>
            <a:ext cx="2057400" cy="50800"/>
          </a:xfrm>
          <a:prstGeom prst="rect">
            <a:avLst/>
          </a:prstGeom>
          <a:solidFill>
            <a:srgbClr val="5B995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TextBox 50">
            <a:extLst>
              <a:ext uri="{FF2B5EF4-FFF2-40B4-BE49-F238E27FC236}">
                <a16:creationId xmlns:a16="http://schemas.microsoft.com/office/drawing/2014/main" id="{17DAD9E6-8721-E755-B08E-5751BB2AECE1}"/>
              </a:ext>
            </a:extLst>
          </p:cNvPr>
          <p:cNvSpPr txBox="1"/>
          <p:nvPr/>
        </p:nvSpPr>
        <p:spPr>
          <a:xfrm>
            <a:off x="5765800" y="1752600"/>
            <a:ext cx="2057400" cy="153888"/>
          </a:xfrm>
          <a:prstGeom prst="rect">
            <a:avLst/>
          </a:prstGeom>
          <a:noFill/>
        </p:spPr>
        <p:txBody>
          <a:bodyPr vert="horz" wrap="square" lIns="0" tIns="0" rIns="0" bIns="0" rtlCol="0">
            <a:spAutoFit/>
          </a:bodyPr>
          <a:lstStyle/>
          <a:p>
            <a:r>
              <a:rPr lang="en-US" sz="1000" b="1">
                <a:solidFill>
                  <a:srgbClr val="5C5C5C"/>
                </a:solidFill>
                <a:latin typeface="Aptos" panose="020B0004020202020204" pitchFamily="34" charset="0"/>
              </a:rPr>
              <a:t>Saved labels</a:t>
            </a:r>
          </a:p>
        </p:txBody>
      </p:sp>
      <p:sp>
        <p:nvSpPr>
          <p:cNvPr id="52" name="TextBox 51">
            <a:extLst>
              <a:ext uri="{FF2B5EF4-FFF2-40B4-BE49-F238E27FC236}">
                <a16:creationId xmlns:a16="http://schemas.microsoft.com/office/drawing/2014/main" id="{69ABA1B1-BAD3-162C-AFF6-452059904655}"/>
              </a:ext>
            </a:extLst>
          </p:cNvPr>
          <p:cNvSpPr txBox="1"/>
          <p:nvPr/>
        </p:nvSpPr>
        <p:spPr>
          <a:xfrm>
            <a:off x="5765800" y="2032000"/>
            <a:ext cx="2057400" cy="369332"/>
          </a:xfrm>
          <a:prstGeom prst="rect">
            <a:avLst/>
          </a:prstGeom>
          <a:noFill/>
        </p:spPr>
        <p:txBody>
          <a:bodyPr vert="horz" wrap="square" lIns="0" tIns="0" rIns="0" bIns="0" rtlCol="0">
            <a:spAutoFit/>
          </a:bodyPr>
          <a:lstStyle/>
          <a:p>
            <a:r>
              <a:rPr lang="en-US" sz="2400" b="1">
                <a:solidFill>
                  <a:srgbClr val="5B995D"/>
                </a:solidFill>
                <a:latin typeface="Aptos" panose="020B0004020202020204" pitchFamily="34" charset="0"/>
              </a:rPr>
              <a:t>5 types</a:t>
            </a:r>
          </a:p>
        </p:txBody>
      </p:sp>
      <p:sp>
        <p:nvSpPr>
          <p:cNvPr id="53" name="TextBox 52">
            <a:extLst>
              <a:ext uri="{FF2B5EF4-FFF2-40B4-BE49-F238E27FC236}">
                <a16:creationId xmlns:a16="http://schemas.microsoft.com/office/drawing/2014/main" id="{35FE40C2-4B88-0E8C-85E9-1067A8063870}"/>
              </a:ext>
            </a:extLst>
          </p:cNvPr>
          <p:cNvSpPr txBox="1"/>
          <p:nvPr/>
        </p:nvSpPr>
        <p:spPr>
          <a:xfrm>
            <a:off x="5765800" y="2514600"/>
            <a:ext cx="2057400" cy="307777"/>
          </a:xfrm>
          <a:prstGeom prst="rect">
            <a:avLst/>
          </a:prstGeom>
          <a:noFill/>
        </p:spPr>
        <p:txBody>
          <a:bodyPr vert="horz" wrap="square" lIns="0" tIns="0" rIns="0" bIns="0" rtlCol="0">
            <a:spAutoFit/>
          </a:bodyPr>
          <a:lstStyle/>
          <a:p>
            <a:r>
              <a:rPr lang="en-US" sz="1000">
                <a:solidFill>
                  <a:srgbClr val="5C5C5C"/>
                </a:solidFill>
                <a:latin typeface="Aptos" panose="020B0004020202020204" pitchFamily="34" charset="0"/>
              </a:rPr>
              <a:t>legible, predictable, safety_legible, safety_predictable, grounding</a:t>
            </a:r>
          </a:p>
        </p:txBody>
      </p:sp>
      <p:sp>
        <p:nvSpPr>
          <p:cNvPr id="54" name="Rectangle: Rounded Corners 53">
            <a:extLst>
              <a:ext uri="{FF2B5EF4-FFF2-40B4-BE49-F238E27FC236}">
                <a16:creationId xmlns:a16="http://schemas.microsoft.com/office/drawing/2014/main" id="{136C60FC-7DB0-A885-85B9-764DF4F6521D}"/>
              </a:ext>
            </a:extLst>
          </p:cNvPr>
          <p:cNvSpPr/>
          <p:nvPr/>
        </p:nvSpPr>
        <p:spPr>
          <a:xfrm>
            <a:off x="508000" y="3149600"/>
            <a:ext cx="3810000" cy="1574800"/>
          </a:xfrm>
          <a:prstGeom prst="roundRect">
            <a:avLst/>
          </a:prstGeom>
          <a:solidFill>
            <a:srgbClr val="E8F1F9"/>
          </a:solidFill>
          <a:ln w="13970">
            <a:solidFill>
              <a:srgbClr val="4984C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TextBox 54">
            <a:extLst>
              <a:ext uri="{FF2B5EF4-FFF2-40B4-BE49-F238E27FC236}">
                <a16:creationId xmlns:a16="http://schemas.microsoft.com/office/drawing/2014/main" id="{4588141B-CFAA-A53D-8DEF-072B0743F2EF}"/>
              </a:ext>
            </a:extLst>
          </p:cNvPr>
          <p:cNvSpPr txBox="1"/>
          <p:nvPr/>
        </p:nvSpPr>
        <p:spPr>
          <a:xfrm>
            <a:off x="711200" y="3327400"/>
            <a:ext cx="3403600" cy="200055"/>
          </a:xfrm>
          <a:prstGeom prst="rect">
            <a:avLst/>
          </a:prstGeom>
          <a:noFill/>
        </p:spPr>
        <p:txBody>
          <a:bodyPr vert="horz" wrap="square" lIns="0" tIns="0" rIns="0" bIns="0" rtlCol="0">
            <a:spAutoFit/>
          </a:bodyPr>
          <a:lstStyle/>
          <a:p>
            <a:r>
              <a:rPr lang="en-US" sz="1300" b="1">
                <a:solidFill>
                  <a:srgbClr val="4984CB"/>
                </a:solidFill>
                <a:latin typeface="Aptos" panose="020B0004020202020204" pitchFamily="34" charset="0"/>
              </a:rPr>
              <a:t>Observation extension</a:t>
            </a:r>
          </a:p>
        </p:txBody>
      </p:sp>
      <p:sp>
        <p:nvSpPr>
          <p:cNvPr id="56" name="TextBox 55">
            <a:extLst>
              <a:ext uri="{FF2B5EF4-FFF2-40B4-BE49-F238E27FC236}">
                <a16:creationId xmlns:a16="http://schemas.microsoft.com/office/drawing/2014/main" id="{7E84F8FD-0306-3E9B-0DE4-311F8AD215C9}"/>
              </a:ext>
            </a:extLst>
          </p:cNvPr>
          <p:cNvSpPr txBox="1"/>
          <p:nvPr/>
        </p:nvSpPr>
        <p:spPr>
          <a:xfrm>
            <a:off x="711200" y="3683000"/>
            <a:ext cx="3403600" cy="1015663"/>
          </a:xfrm>
          <a:prstGeom prst="rect">
            <a:avLst/>
          </a:prstGeom>
          <a:noFill/>
        </p:spPr>
        <p:txBody>
          <a:bodyPr vert="horz" wrap="square" lIns="0" tIns="0" rIns="0" bIns="0" rtlCol="0">
            <a:spAutoFit/>
          </a:bodyPr>
          <a:lstStyle/>
          <a:p>
            <a:r>
              <a:rPr lang="en-US" sz="1100">
                <a:solidFill>
                  <a:srgbClr val="1C1C1C"/>
                </a:solidFill>
                <a:latin typeface="Consolas" panose="020B0609020204030204" pitchFamily="49" charset="0"/>
              </a:rPr>
              <a:t>22-D env state
+ context_xyz(3)
+ behavior_mode(1)
behavior_mode: +1 legible, -1 predictable, 0 grounding</a:t>
            </a:r>
          </a:p>
        </p:txBody>
      </p:sp>
      <p:sp>
        <p:nvSpPr>
          <p:cNvPr id="57" name="Rectangle: Rounded Corners 56">
            <a:extLst>
              <a:ext uri="{FF2B5EF4-FFF2-40B4-BE49-F238E27FC236}">
                <a16:creationId xmlns:a16="http://schemas.microsoft.com/office/drawing/2014/main" id="{93CB93A9-C34F-7176-F979-C60CE06AE643}"/>
              </a:ext>
            </a:extLst>
          </p:cNvPr>
          <p:cNvSpPr/>
          <p:nvPr/>
        </p:nvSpPr>
        <p:spPr>
          <a:xfrm>
            <a:off x="508000" y="4851400"/>
            <a:ext cx="3810000" cy="1854200"/>
          </a:xfrm>
          <a:prstGeom prst="roundRect">
            <a:avLst/>
          </a:prstGeom>
          <a:solidFill>
            <a:srgbClr val="F5E9EE"/>
          </a:solidFill>
          <a:ln w="13970">
            <a:solidFill>
              <a:srgbClr val="8C1D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TextBox 57">
            <a:extLst>
              <a:ext uri="{FF2B5EF4-FFF2-40B4-BE49-F238E27FC236}">
                <a16:creationId xmlns:a16="http://schemas.microsoft.com/office/drawing/2014/main" id="{2CE3DAC1-0427-CC7D-8BFB-890C4D1CBFC3}"/>
              </a:ext>
            </a:extLst>
          </p:cNvPr>
          <p:cNvSpPr txBox="1"/>
          <p:nvPr/>
        </p:nvSpPr>
        <p:spPr>
          <a:xfrm>
            <a:off x="711200" y="5029200"/>
            <a:ext cx="3403600" cy="200055"/>
          </a:xfrm>
          <a:prstGeom prst="rect">
            <a:avLst/>
          </a:prstGeom>
          <a:noFill/>
        </p:spPr>
        <p:txBody>
          <a:bodyPr vert="horz" wrap="square" lIns="0" tIns="0" rIns="0" bIns="0" rtlCol="0">
            <a:spAutoFit/>
          </a:bodyPr>
          <a:lstStyle/>
          <a:p>
            <a:r>
              <a:rPr lang="en-US" sz="1300" b="1">
                <a:solidFill>
                  <a:srgbClr val="8C1D40"/>
                </a:solidFill>
                <a:latin typeface="Aptos" panose="020B0004020202020204" pitchFamily="34" charset="0"/>
              </a:rPr>
              <a:t>Behavior schedule</a:t>
            </a:r>
          </a:p>
        </p:txBody>
      </p:sp>
      <p:sp>
        <p:nvSpPr>
          <p:cNvPr id="59" name="TextBox 58">
            <a:extLst>
              <a:ext uri="{FF2B5EF4-FFF2-40B4-BE49-F238E27FC236}">
                <a16:creationId xmlns:a16="http://schemas.microsoft.com/office/drawing/2014/main" id="{CA53F066-F619-AF6B-E877-F2DBA2F145B4}"/>
              </a:ext>
            </a:extLst>
          </p:cNvPr>
          <p:cNvSpPr txBox="1"/>
          <p:nvPr/>
        </p:nvSpPr>
        <p:spPr>
          <a:xfrm>
            <a:off x="711200" y="5384800"/>
            <a:ext cx="3403600" cy="1231106"/>
          </a:xfrm>
          <a:prstGeom prst="rect">
            <a:avLst/>
          </a:prstGeom>
          <a:noFill/>
        </p:spPr>
        <p:txBody>
          <a:bodyPr vert="horz" wrap="square" lIns="0" tIns="0" rIns="0" bIns="0" rtlCol="0">
            <a:spAutoFit/>
          </a:bodyPr>
          <a:lstStyle/>
          <a:p>
            <a:r>
              <a:rPr lang="en-US" sz="1000">
                <a:solidFill>
                  <a:srgbClr val="1C1C1C"/>
                </a:solidFill>
                <a:latin typeface="Consolas" panose="020B0609020204030204" pitchFamily="49" charset="0"/>
              </a:rPr>
              <a:t>200 legible
100 predictable
50 safety_legible
50 safety_predictable
100 grounding
Safety adds obstacle context.
Grounding adds waypoint context.</a:t>
            </a:r>
          </a:p>
        </p:txBody>
      </p:sp>
      <p:sp>
        <p:nvSpPr>
          <p:cNvPr id="60" name="Rectangle: Rounded Corners 59">
            <a:extLst>
              <a:ext uri="{FF2B5EF4-FFF2-40B4-BE49-F238E27FC236}">
                <a16:creationId xmlns:a16="http://schemas.microsoft.com/office/drawing/2014/main" id="{49A8ECFB-4439-565A-10FB-27E6814F93C2}"/>
              </a:ext>
            </a:extLst>
          </p:cNvPr>
          <p:cNvSpPr/>
          <p:nvPr/>
        </p:nvSpPr>
        <p:spPr>
          <a:xfrm>
            <a:off x="4521200" y="3149600"/>
            <a:ext cx="6959600" cy="2311400"/>
          </a:xfrm>
          <a:prstGeom prst="roundRect">
            <a:avLst/>
          </a:prstGeom>
          <a:solidFill>
            <a:srgbClr val="FFFFFF"/>
          </a:solidFill>
          <a:ln w="13970">
            <a:solidFill>
              <a:srgbClr val="4984C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TextBox 60">
            <a:extLst>
              <a:ext uri="{FF2B5EF4-FFF2-40B4-BE49-F238E27FC236}">
                <a16:creationId xmlns:a16="http://schemas.microsoft.com/office/drawing/2014/main" id="{227DC175-C589-CEC4-703E-90493360B40F}"/>
              </a:ext>
            </a:extLst>
          </p:cNvPr>
          <p:cNvSpPr txBox="1"/>
          <p:nvPr/>
        </p:nvSpPr>
        <p:spPr>
          <a:xfrm>
            <a:off x="4724400" y="3327400"/>
            <a:ext cx="6553200" cy="200055"/>
          </a:xfrm>
          <a:prstGeom prst="rect">
            <a:avLst/>
          </a:prstGeom>
          <a:noFill/>
        </p:spPr>
        <p:txBody>
          <a:bodyPr vert="horz" wrap="square" lIns="0" tIns="0" rIns="0" bIns="0" rtlCol="0">
            <a:spAutoFit/>
          </a:bodyPr>
          <a:lstStyle/>
          <a:p>
            <a:r>
              <a:rPr lang="en-US" sz="1300" b="1">
                <a:solidFill>
                  <a:srgbClr val="4984CB"/>
                </a:solidFill>
                <a:latin typeface="Aptos" panose="020B0004020202020204" pitchFamily="34" charset="0"/>
              </a:rPr>
              <a:t>What gets saved</a:t>
            </a:r>
          </a:p>
        </p:txBody>
      </p:sp>
      <p:sp>
        <p:nvSpPr>
          <p:cNvPr id="62" name="TextBox 61">
            <a:extLst>
              <a:ext uri="{FF2B5EF4-FFF2-40B4-BE49-F238E27FC236}">
                <a16:creationId xmlns:a16="http://schemas.microsoft.com/office/drawing/2014/main" id="{BB7D0C68-4ACB-C3BF-1BFE-693E4FD5775E}"/>
              </a:ext>
            </a:extLst>
          </p:cNvPr>
          <p:cNvSpPr txBox="1"/>
          <p:nvPr/>
        </p:nvSpPr>
        <p:spPr>
          <a:xfrm>
            <a:off x="4724400" y="3683000"/>
            <a:ext cx="6553200" cy="1184940"/>
          </a:xfrm>
          <a:prstGeom prst="rect">
            <a:avLst/>
          </a:prstGeom>
          <a:noFill/>
        </p:spPr>
        <p:txBody>
          <a:bodyPr vert="horz" wrap="square" lIns="0" tIns="0" rIns="0" bIns="0" rtlCol="0">
            <a:spAutoFit/>
          </a:bodyPr>
          <a:lstStyle/>
          <a:p>
            <a:r>
              <a:rPr lang="en-US" sz="1100">
                <a:solidFill>
                  <a:srgbClr val="1C1C1C"/>
                </a:solidFill>
                <a:latin typeface="Consolas" panose="020B0609020204030204" pitchFamily="49" charset="0"/>
              </a:rPr>
              <a:t>obs              (N, 400, 26)
actions          (N, 400, 5)
episode_lengths  (N,)
types            (N,)    behavior label string
targets          (N,)    left or right block
behavior_modes   (N,)    +1.0, -1.0, or 0.0
metadata_json    string</a:t>
            </a:r>
          </a:p>
        </p:txBody>
      </p:sp>
      <p:sp>
        <p:nvSpPr>
          <p:cNvPr id="63" name="Rectangle: Rounded Corners 62">
            <a:extLst>
              <a:ext uri="{FF2B5EF4-FFF2-40B4-BE49-F238E27FC236}">
                <a16:creationId xmlns:a16="http://schemas.microsoft.com/office/drawing/2014/main" id="{B9B37AC9-1DCD-6786-D874-93D0B03BB88D}"/>
              </a:ext>
            </a:extLst>
          </p:cNvPr>
          <p:cNvSpPr/>
          <p:nvPr/>
        </p:nvSpPr>
        <p:spPr>
          <a:xfrm>
            <a:off x="4521200" y="5588000"/>
            <a:ext cx="6959600" cy="914400"/>
          </a:xfrm>
          <a:prstGeom prst="roundRect">
            <a:avLst/>
          </a:prstGeom>
          <a:solidFill>
            <a:srgbClr val="F6EEDB"/>
          </a:solidFill>
          <a:ln w="13970">
            <a:solidFill>
              <a:srgbClr val="FFC62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TextBox 63">
            <a:extLst>
              <a:ext uri="{FF2B5EF4-FFF2-40B4-BE49-F238E27FC236}">
                <a16:creationId xmlns:a16="http://schemas.microsoft.com/office/drawing/2014/main" id="{19314B08-E891-ACDE-2B23-FDF18988D833}"/>
              </a:ext>
            </a:extLst>
          </p:cNvPr>
          <p:cNvSpPr txBox="1"/>
          <p:nvPr/>
        </p:nvSpPr>
        <p:spPr>
          <a:xfrm>
            <a:off x="4724400" y="5765800"/>
            <a:ext cx="6553200" cy="200055"/>
          </a:xfrm>
          <a:prstGeom prst="rect">
            <a:avLst/>
          </a:prstGeom>
          <a:noFill/>
        </p:spPr>
        <p:txBody>
          <a:bodyPr vert="horz" wrap="square" lIns="0" tIns="0" rIns="0" bIns="0" rtlCol="0">
            <a:spAutoFit/>
          </a:bodyPr>
          <a:lstStyle/>
          <a:p>
            <a:r>
              <a:rPr lang="en-US" sz="1300" b="1">
                <a:solidFill>
                  <a:srgbClr val="FFC627"/>
                </a:solidFill>
                <a:latin typeface="Aptos" panose="020B0004020202020204" pitchFamily="34" charset="0"/>
              </a:rPr>
              <a:t>Collector detail</a:t>
            </a:r>
          </a:p>
        </p:txBody>
      </p:sp>
      <p:sp>
        <p:nvSpPr>
          <p:cNvPr id="65" name="TextBox 64">
            <a:extLst>
              <a:ext uri="{FF2B5EF4-FFF2-40B4-BE49-F238E27FC236}">
                <a16:creationId xmlns:a16="http://schemas.microsoft.com/office/drawing/2014/main" id="{B304A917-A32B-1D2E-EB11-FA3BB99CFE99}"/>
              </a:ext>
            </a:extLst>
          </p:cNvPr>
          <p:cNvSpPr txBox="1"/>
          <p:nvPr/>
        </p:nvSpPr>
        <p:spPr>
          <a:xfrm>
            <a:off x="4724400" y="6121400"/>
            <a:ext cx="6553200" cy="307777"/>
          </a:xfrm>
          <a:prstGeom prst="rect">
            <a:avLst/>
          </a:prstGeom>
          <a:noFill/>
        </p:spPr>
        <p:txBody>
          <a:bodyPr vert="horz" wrap="square" lIns="0" tIns="0" rIns="0" bIns="0" rtlCol="0">
            <a:spAutoFit/>
          </a:bodyPr>
          <a:lstStyle/>
          <a:p>
            <a:r>
              <a:rPr lang="en-US" sz="1000">
                <a:solidFill>
                  <a:srgbClr val="1C1C1C"/>
                </a:solidFill>
                <a:latin typeface="Aptos" panose="020B0004020202020204" pitchFamily="34" charset="0"/>
              </a:rPr>
              <a:t>Only the first few videos per type are exported for preview. Episodes that still fail after 10 retries are skipped, so the final saved N can be below the planned 500.</a:t>
            </a:r>
          </a:p>
        </p:txBody>
      </p:sp>
    </p:spTree>
    <p:extLst>
      <p:ext uri="{BB962C8B-B14F-4D97-AF65-F5344CB8AC3E}">
        <p14:creationId xmlns:p14="http://schemas.microsoft.com/office/powerpoint/2010/main" val="22371213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6DB54103-EC33-6DD9-7C87-5FEE0819227C}"/>
              </a:ext>
            </a:extLst>
          </p:cNvPr>
          <p:cNvSpPr/>
          <p:nvPr/>
        </p:nvSpPr>
        <p:spPr>
          <a:xfrm>
            <a:off x="0" y="0"/>
            <a:ext cx="12192000" cy="6858000"/>
          </a:xfrm>
          <a:prstGeom prst="rect">
            <a:avLst/>
          </a:prstGeom>
          <a:solidFill>
            <a:srgbClr val="F8F6F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933AFC12-9F8B-A93C-C948-C3B46FC48FA6}"/>
              </a:ext>
            </a:extLst>
          </p:cNvPr>
          <p:cNvSpPr txBox="1"/>
          <p:nvPr/>
        </p:nvSpPr>
        <p:spPr>
          <a:xfrm>
            <a:off x="508000" y="355600"/>
            <a:ext cx="9906000" cy="430887"/>
          </a:xfrm>
          <a:prstGeom prst="rect">
            <a:avLst/>
          </a:prstGeom>
          <a:noFill/>
        </p:spPr>
        <p:txBody>
          <a:bodyPr vert="horz" wrap="square" lIns="0" tIns="0" rIns="0" bIns="0" rtlCol="0">
            <a:spAutoFit/>
          </a:bodyPr>
          <a:lstStyle/>
          <a:p>
            <a:r>
              <a:rPr lang="en-US" sz="2800" b="1">
                <a:solidFill>
                  <a:srgbClr val="1C1C1C"/>
                </a:solidFill>
                <a:latin typeface="Aptos" panose="020B0004020202020204" pitchFamily="34" charset="0"/>
              </a:rPr>
              <a:t>Data Distribution &amp; Diversity: demos.npz</a:t>
            </a:r>
          </a:p>
        </p:txBody>
      </p:sp>
      <p:sp>
        <p:nvSpPr>
          <p:cNvPr id="35" name="TextBox 34">
            <a:extLst>
              <a:ext uri="{FF2B5EF4-FFF2-40B4-BE49-F238E27FC236}">
                <a16:creationId xmlns:a16="http://schemas.microsoft.com/office/drawing/2014/main" id="{E6D3C638-72FF-FD3B-C6F8-6101F11D3206}"/>
              </a:ext>
            </a:extLst>
          </p:cNvPr>
          <p:cNvSpPr txBox="1"/>
          <p:nvPr/>
        </p:nvSpPr>
        <p:spPr>
          <a:xfrm>
            <a:off x="508000" y="800100"/>
            <a:ext cx="10668000" cy="169277"/>
          </a:xfrm>
          <a:prstGeom prst="rect">
            <a:avLst/>
          </a:prstGeom>
          <a:noFill/>
        </p:spPr>
        <p:txBody>
          <a:bodyPr vert="horz" wrap="square" lIns="0" tIns="0" rIns="0" bIns="0" rtlCol="0">
            <a:spAutoFit/>
          </a:bodyPr>
          <a:lstStyle/>
          <a:p>
            <a:r>
              <a:rPr lang="en-US" sz="1100">
                <a:solidFill>
                  <a:srgbClr val="5C5C5C"/>
                </a:solidFill>
                <a:latin typeface="Aptos" panose="020B0004020202020204" pitchFamily="34" charset="0"/>
              </a:rPr>
              <a:t>The first dataset varies scene geometry and arc size, but keeps motion style fixed to legible trajectories only</a:t>
            </a:r>
          </a:p>
        </p:txBody>
      </p:sp>
      <p:sp>
        <p:nvSpPr>
          <p:cNvPr id="36" name="Rectangle 35">
            <a:extLst>
              <a:ext uri="{FF2B5EF4-FFF2-40B4-BE49-F238E27FC236}">
                <a16:creationId xmlns:a16="http://schemas.microsoft.com/office/drawing/2014/main" id="{7723180D-4B22-42E1-F6FC-9302B27B5F3A}"/>
              </a:ext>
            </a:extLst>
          </p:cNvPr>
          <p:cNvSpPr/>
          <p:nvPr/>
        </p:nvSpPr>
        <p:spPr>
          <a:xfrm>
            <a:off x="508000" y="1168400"/>
            <a:ext cx="11176000" cy="50800"/>
          </a:xfrm>
          <a:prstGeom prst="rect">
            <a:avLst/>
          </a:prstGeom>
          <a:solidFill>
            <a:srgbClr val="FFC62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E8C57F5E-D04D-AD26-D2B0-F9A1FCAED057}"/>
              </a:ext>
            </a:extLst>
          </p:cNvPr>
          <p:cNvSpPr txBox="1"/>
          <p:nvPr/>
        </p:nvSpPr>
        <p:spPr>
          <a:xfrm>
            <a:off x="11430000" y="381000"/>
            <a:ext cx="254000" cy="153888"/>
          </a:xfrm>
          <a:prstGeom prst="rect">
            <a:avLst/>
          </a:prstGeom>
          <a:noFill/>
        </p:spPr>
        <p:txBody>
          <a:bodyPr vert="horz" wrap="square" lIns="0" tIns="0" rIns="0" bIns="0" rtlCol="0">
            <a:spAutoFit/>
          </a:bodyPr>
          <a:lstStyle/>
          <a:p>
            <a:pPr algn="r"/>
            <a:r>
              <a:rPr lang="en-US" sz="1000">
                <a:solidFill>
                  <a:srgbClr val="5C5C5C"/>
                </a:solidFill>
                <a:latin typeface="Aptos" panose="020B0004020202020204" pitchFamily="34" charset="0"/>
              </a:rPr>
              <a:t>28</a:t>
            </a:r>
          </a:p>
        </p:txBody>
      </p:sp>
      <p:sp>
        <p:nvSpPr>
          <p:cNvPr id="38" name="Rectangle: Rounded Corners 37">
            <a:extLst>
              <a:ext uri="{FF2B5EF4-FFF2-40B4-BE49-F238E27FC236}">
                <a16:creationId xmlns:a16="http://schemas.microsoft.com/office/drawing/2014/main" id="{7114161E-EEFD-A6FF-57EC-46AE2DF94616}"/>
              </a:ext>
            </a:extLst>
          </p:cNvPr>
          <p:cNvSpPr/>
          <p:nvPr/>
        </p:nvSpPr>
        <p:spPr>
          <a:xfrm>
            <a:off x="508000" y="1498600"/>
            <a:ext cx="2286000" cy="1371600"/>
          </a:xfrm>
          <a:prstGeom prst="roundRect">
            <a:avLst/>
          </a:prstGeom>
          <a:solidFill>
            <a:srgbClr val="FFFFFF"/>
          </a:solidFill>
          <a:ln w="12700">
            <a:solidFill>
              <a:srgbClr val="D2D0C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EB932B16-28C2-94AC-095D-6E77BCC7002C}"/>
              </a:ext>
            </a:extLst>
          </p:cNvPr>
          <p:cNvSpPr/>
          <p:nvPr/>
        </p:nvSpPr>
        <p:spPr>
          <a:xfrm>
            <a:off x="685800" y="1651000"/>
            <a:ext cx="1930400" cy="50800"/>
          </a:xfrm>
          <a:prstGeom prst="rect">
            <a:avLst/>
          </a:prstGeom>
          <a:solidFill>
            <a:srgbClr val="8C1D4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a:extLst>
              <a:ext uri="{FF2B5EF4-FFF2-40B4-BE49-F238E27FC236}">
                <a16:creationId xmlns:a16="http://schemas.microsoft.com/office/drawing/2014/main" id="{7CE95739-6CCE-0D97-28DC-C4E43B662D2D}"/>
              </a:ext>
            </a:extLst>
          </p:cNvPr>
          <p:cNvSpPr txBox="1"/>
          <p:nvPr/>
        </p:nvSpPr>
        <p:spPr>
          <a:xfrm>
            <a:off x="685800" y="1752600"/>
            <a:ext cx="1930400" cy="153888"/>
          </a:xfrm>
          <a:prstGeom prst="rect">
            <a:avLst/>
          </a:prstGeom>
          <a:noFill/>
        </p:spPr>
        <p:txBody>
          <a:bodyPr vert="horz" wrap="square" lIns="0" tIns="0" rIns="0" bIns="0" rtlCol="0">
            <a:spAutoFit/>
          </a:bodyPr>
          <a:lstStyle/>
          <a:p>
            <a:r>
              <a:rPr lang="en-US" sz="1000" b="1">
                <a:solidFill>
                  <a:srgbClr val="5C5C5C"/>
                </a:solidFill>
                <a:latin typeface="Aptos" panose="020B0004020202020204" pitchFamily="34" charset="0"/>
              </a:rPr>
              <a:t>Total</a:t>
            </a:r>
          </a:p>
        </p:txBody>
      </p:sp>
      <p:sp>
        <p:nvSpPr>
          <p:cNvPr id="41" name="TextBox 40">
            <a:extLst>
              <a:ext uri="{FF2B5EF4-FFF2-40B4-BE49-F238E27FC236}">
                <a16:creationId xmlns:a16="http://schemas.microsoft.com/office/drawing/2014/main" id="{943EB04E-C2E3-D958-1EBF-D19E750BCE36}"/>
              </a:ext>
            </a:extLst>
          </p:cNvPr>
          <p:cNvSpPr txBox="1"/>
          <p:nvPr/>
        </p:nvSpPr>
        <p:spPr>
          <a:xfrm>
            <a:off x="685800" y="2032000"/>
            <a:ext cx="1930400" cy="338554"/>
          </a:xfrm>
          <a:prstGeom prst="rect">
            <a:avLst/>
          </a:prstGeom>
          <a:noFill/>
        </p:spPr>
        <p:txBody>
          <a:bodyPr vert="horz" wrap="square" lIns="0" tIns="0" rIns="0" bIns="0" rtlCol="0">
            <a:spAutoFit/>
          </a:bodyPr>
          <a:lstStyle/>
          <a:p>
            <a:r>
              <a:rPr lang="en-US" sz="2200" b="1">
                <a:solidFill>
                  <a:srgbClr val="8C1D40"/>
                </a:solidFill>
                <a:latin typeface="Aptos" panose="020B0004020202020204" pitchFamily="34" charset="0"/>
              </a:rPr>
              <a:t>400</a:t>
            </a:r>
          </a:p>
        </p:txBody>
      </p:sp>
      <p:sp>
        <p:nvSpPr>
          <p:cNvPr id="42" name="TextBox 41">
            <a:extLst>
              <a:ext uri="{FF2B5EF4-FFF2-40B4-BE49-F238E27FC236}">
                <a16:creationId xmlns:a16="http://schemas.microsoft.com/office/drawing/2014/main" id="{8A767714-1EA6-ABC3-2F57-6C75B8032A38}"/>
              </a:ext>
            </a:extLst>
          </p:cNvPr>
          <p:cNvSpPr txBox="1"/>
          <p:nvPr/>
        </p:nvSpPr>
        <p:spPr>
          <a:xfrm>
            <a:off x="685800" y="2463800"/>
            <a:ext cx="1930400" cy="153888"/>
          </a:xfrm>
          <a:prstGeom prst="rect">
            <a:avLst/>
          </a:prstGeom>
          <a:noFill/>
        </p:spPr>
        <p:txBody>
          <a:bodyPr vert="horz" wrap="square" lIns="0" tIns="0" rIns="0" bIns="0" rtlCol="0">
            <a:spAutoFit/>
          </a:bodyPr>
          <a:lstStyle/>
          <a:p>
            <a:r>
              <a:rPr lang="it-IT" sz="1000">
                <a:solidFill>
                  <a:srgbClr val="5C5C5C"/>
                </a:solidFill>
                <a:latin typeface="Aptos" panose="020B0004020202020204" pitchFamily="34" charset="0"/>
              </a:rPr>
              <a:t>10 configs x 40 episodes per config</a:t>
            </a:r>
            <a:endParaRPr lang="en-US" sz="1000">
              <a:solidFill>
                <a:srgbClr val="5C5C5C"/>
              </a:solidFill>
              <a:latin typeface="Aptos" panose="020B0004020202020204" pitchFamily="34" charset="0"/>
            </a:endParaRPr>
          </a:p>
        </p:txBody>
      </p:sp>
      <p:sp>
        <p:nvSpPr>
          <p:cNvPr id="43" name="Rectangle: Rounded Corners 42">
            <a:extLst>
              <a:ext uri="{FF2B5EF4-FFF2-40B4-BE49-F238E27FC236}">
                <a16:creationId xmlns:a16="http://schemas.microsoft.com/office/drawing/2014/main" id="{81774CCA-ADA4-E729-550D-01C8D3772235}"/>
              </a:ext>
            </a:extLst>
          </p:cNvPr>
          <p:cNvSpPr/>
          <p:nvPr/>
        </p:nvSpPr>
        <p:spPr>
          <a:xfrm>
            <a:off x="2921000" y="1498600"/>
            <a:ext cx="2286000" cy="1371600"/>
          </a:xfrm>
          <a:prstGeom prst="roundRect">
            <a:avLst/>
          </a:prstGeom>
          <a:solidFill>
            <a:srgbClr val="FFFFFF"/>
          </a:solidFill>
          <a:ln w="12700">
            <a:solidFill>
              <a:srgbClr val="D2D0C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10598E57-319A-0A1C-09E9-B5586E8C5378}"/>
              </a:ext>
            </a:extLst>
          </p:cNvPr>
          <p:cNvSpPr/>
          <p:nvPr/>
        </p:nvSpPr>
        <p:spPr>
          <a:xfrm>
            <a:off x="3098800" y="1651000"/>
            <a:ext cx="1930400" cy="50800"/>
          </a:xfrm>
          <a:prstGeom prst="rect">
            <a:avLst/>
          </a:prstGeom>
          <a:solidFill>
            <a:srgbClr val="4984C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extBox 44">
            <a:extLst>
              <a:ext uri="{FF2B5EF4-FFF2-40B4-BE49-F238E27FC236}">
                <a16:creationId xmlns:a16="http://schemas.microsoft.com/office/drawing/2014/main" id="{A8C5BBCD-FB11-C557-4E0F-D3C4591F3C5A}"/>
              </a:ext>
            </a:extLst>
          </p:cNvPr>
          <p:cNvSpPr txBox="1"/>
          <p:nvPr/>
        </p:nvSpPr>
        <p:spPr>
          <a:xfrm>
            <a:off x="3098800" y="1752600"/>
            <a:ext cx="1930400" cy="153888"/>
          </a:xfrm>
          <a:prstGeom prst="rect">
            <a:avLst/>
          </a:prstGeom>
          <a:noFill/>
        </p:spPr>
        <p:txBody>
          <a:bodyPr vert="horz" wrap="square" lIns="0" tIns="0" rIns="0" bIns="0" rtlCol="0">
            <a:spAutoFit/>
          </a:bodyPr>
          <a:lstStyle/>
          <a:p>
            <a:r>
              <a:rPr lang="en-US" sz="1000" b="1">
                <a:solidFill>
                  <a:srgbClr val="5C5C5C"/>
                </a:solidFill>
                <a:latin typeface="Aptos" panose="020B0004020202020204" pitchFamily="34" charset="0"/>
              </a:rPr>
              <a:t>Targets</a:t>
            </a:r>
          </a:p>
        </p:txBody>
      </p:sp>
      <p:sp>
        <p:nvSpPr>
          <p:cNvPr id="46" name="TextBox 45">
            <a:extLst>
              <a:ext uri="{FF2B5EF4-FFF2-40B4-BE49-F238E27FC236}">
                <a16:creationId xmlns:a16="http://schemas.microsoft.com/office/drawing/2014/main" id="{997A2C7F-B437-4D05-68BA-8D42B4F8AC89}"/>
              </a:ext>
            </a:extLst>
          </p:cNvPr>
          <p:cNvSpPr txBox="1"/>
          <p:nvPr/>
        </p:nvSpPr>
        <p:spPr>
          <a:xfrm>
            <a:off x="3098800" y="2032000"/>
            <a:ext cx="1930400" cy="338554"/>
          </a:xfrm>
          <a:prstGeom prst="rect">
            <a:avLst/>
          </a:prstGeom>
          <a:noFill/>
        </p:spPr>
        <p:txBody>
          <a:bodyPr vert="horz" wrap="square" lIns="0" tIns="0" rIns="0" bIns="0" rtlCol="0">
            <a:spAutoFit/>
          </a:bodyPr>
          <a:lstStyle/>
          <a:p>
            <a:r>
              <a:rPr lang="en-US" sz="2200" b="1">
                <a:solidFill>
                  <a:srgbClr val="4984CB"/>
                </a:solidFill>
                <a:latin typeface="Aptos" panose="020B0004020202020204" pitchFamily="34" charset="0"/>
              </a:rPr>
              <a:t>200 / 200</a:t>
            </a:r>
          </a:p>
        </p:txBody>
      </p:sp>
      <p:sp>
        <p:nvSpPr>
          <p:cNvPr id="47" name="TextBox 46">
            <a:extLst>
              <a:ext uri="{FF2B5EF4-FFF2-40B4-BE49-F238E27FC236}">
                <a16:creationId xmlns:a16="http://schemas.microsoft.com/office/drawing/2014/main" id="{2541AB12-BEE6-570F-1D7C-A04E54C890C4}"/>
              </a:ext>
            </a:extLst>
          </p:cNvPr>
          <p:cNvSpPr txBox="1"/>
          <p:nvPr/>
        </p:nvSpPr>
        <p:spPr>
          <a:xfrm>
            <a:off x="3098800" y="2463800"/>
            <a:ext cx="1930400" cy="153888"/>
          </a:xfrm>
          <a:prstGeom prst="rect">
            <a:avLst/>
          </a:prstGeom>
          <a:noFill/>
        </p:spPr>
        <p:txBody>
          <a:bodyPr vert="horz" wrap="square" lIns="0" tIns="0" rIns="0" bIns="0" rtlCol="0">
            <a:spAutoFit/>
          </a:bodyPr>
          <a:lstStyle/>
          <a:p>
            <a:r>
              <a:rPr lang="en-US" sz="1000">
                <a:solidFill>
                  <a:srgbClr val="5C5C5C"/>
                </a:solidFill>
                <a:latin typeface="Aptos" panose="020B0004020202020204" pitchFamily="34" charset="0"/>
              </a:rPr>
              <a:t>Balanced left and right picks</a:t>
            </a:r>
          </a:p>
        </p:txBody>
      </p:sp>
      <p:sp>
        <p:nvSpPr>
          <p:cNvPr id="48" name="Rectangle: Rounded Corners 47">
            <a:extLst>
              <a:ext uri="{FF2B5EF4-FFF2-40B4-BE49-F238E27FC236}">
                <a16:creationId xmlns:a16="http://schemas.microsoft.com/office/drawing/2014/main" id="{6066BCF7-7D91-ECDF-9650-7B9A221FF19C}"/>
              </a:ext>
            </a:extLst>
          </p:cNvPr>
          <p:cNvSpPr/>
          <p:nvPr/>
        </p:nvSpPr>
        <p:spPr>
          <a:xfrm>
            <a:off x="5334000" y="1498600"/>
            <a:ext cx="2286000" cy="1371600"/>
          </a:xfrm>
          <a:prstGeom prst="roundRect">
            <a:avLst/>
          </a:prstGeom>
          <a:solidFill>
            <a:srgbClr val="FFFFFF"/>
          </a:solidFill>
          <a:ln w="12700">
            <a:solidFill>
              <a:srgbClr val="D2D0C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38C61CFD-BD3E-0396-A98D-C49A82144A37}"/>
              </a:ext>
            </a:extLst>
          </p:cNvPr>
          <p:cNvSpPr/>
          <p:nvPr/>
        </p:nvSpPr>
        <p:spPr>
          <a:xfrm>
            <a:off x="5511800" y="1651000"/>
            <a:ext cx="1930400" cy="50800"/>
          </a:xfrm>
          <a:prstGeom prst="rect">
            <a:avLst/>
          </a:prstGeom>
          <a:solidFill>
            <a:srgbClr val="5B995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TextBox 49">
            <a:extLst>
              <a:ext uri="{FF2B5EF4-FFF2-40B4-BE49-F238E27FC236}">
                <a16:creationId xmlns:a16="http://schemas.microsoft.com/office/drawing/2014/main" id="{284DBC78-700A-AFAC-FF17-E733D27E6DF7}"/>
              </a:ext>
            </a:extLst>
          </p:cNvPr>
          <p:cNvSpPr txBox="1"/>
          <p:nvPr/>
        </p:nvSpPr>
        <p:spPr>
          <a:xfrm>
            <a:off x="5511800" y="1752600"/>
            <a:ext cx="1930400" cy="153888"/>
          </a:xfrm>
          <a:prstGeom prst="rect">
            <a:avLst/>
          </a:prstGeom>
          <a:noFill/>
        </p:spPr>
        <p:txBody>
          <a:bodyPr vert="horz" wrap="square" lIns="0" tIns="0" rIns="0" bIns="0" rtlCol="0">
            <a:spAutoFit/>
          </a:bodyPr>
          <a:lstStyle/>
          <a:p>
            <a:r>
              <a:rPr lang="en-US" sz="1000" b="1">
                <a:solidFill>
                  <a:srgbClr val="5C5C5C"/>
                </a:solidFill>
                <a:latin typeface="Aptos" panose="020B0004020202020204" pitchFamily="34" charset="0"/>
              </a:rPr>
              <a:t>Arc family</a:t>
            </a:r>
          </a:p>
        </p:txBody>
      </p:sp>
      <p:sp>
        <p:nvSpPr>
          <p:cNvPr id="51" name="TextBox 50">
            <a:extLst>
              <a:ext uri="{FF2B5EF4-FFF2-40B4-BE49-F238E27FC236}">
                <a16:creationId xmlns:a16="http://schemas.microsoft.com/office/drawing/2014/main" id="{E9FB900F-6A54-2A15-2D13-E71C56482258}"/>
              </a:ext>
            </a:extLst>
          </p:cNvPr>
          <p:cNvSpPr txBox="1"/>
          <p:nvPr/>
        </p:nvSpPr>
        <p:spPr>
          <a:xfrm>
            <a:off x="5511800" y="2032000"/>
            <a:ext cx="1930400" cy="338554"/>
          </a:xfrm>
          <a:prstGeom prst="rect">
            <a:avLst/>
          </a:prstGeom>
          <a:noFill/>
        </p:spPr>
        <p:txBody>
          <a:bodyPr vert="horz" wrap="square" lIns="0" tIns="0" rIns="0" bIns="0" rtlCol="0">
            <a:spAutoFit/>
          </a:bodyPr>
          <a:lstStyle/>
          <a:p>
            <a:r>
              <a:rPr lang="en-US" sz="2200" b="1">
                <a:solidFill>
                  <a:srgbClr val="5B995D"/>
                </a:solidFill>
                <a:latin typeface="Aptos" panose="020B0004020202020204" pitchFamily="34" charset="0"/>
              </a:rPr>
              <a:t>20 / side</a:t>
            </a:r>
          </a:p>
        </p:txBody>
      </p:sp>
      <p:sp>
        <p:nvSpPr>
          <p:cNvPr id="52" name="TextBox 51">
            <a:extLst>
              <a:ext uri="{FF2B5EF4-FFF2-40B4-BE49-F238E27FC236}">
                <a16:creationId xmlns:a16="http://schemas.microsoft.com/office/drawing/2014/main" id="{D64E6348-CEE9-55BA-BEF3-849CBA90BC6F}"/>
              </a:ext>
            </a:extLst>
          </p:cNvPr>
          <p:cNvSpPr txBox="1"/>
          <p:nvPr/>
        </p:nvSpPr>
        <p:spPr>
          <a:xfrm>
            <a:off x="5511800" y="2463800"/>
            <a:ext cx="1930400" cy="153888"/>
          </a:xfrm>
          <a:prstGeom prst="rect">
            <a:avLst/>
          </a:prstGeom>
          <a:noFill/>
        </p:spPr>
        <p:txBody>
          <a:bodyPr vert="horz" wrap="square" lIns="0" tIns="0" rIns="0" bIns="0" rtlCol="0">
            <a:spAutoFit/>
          </a:bodyPr>
          <a:lstStyle/>
          <a:p>
            <a:r>
              <a:rPr lang="en-US" sz="1000">
                <a:solidFill>
                  <a:srgbClr val="5C5C5C"/>
                </a:solidFill>
                <a:latin typeface="Aptos" panose="020B0004020202020204" pitchFamily="34" charset="0"/>
              </a:rPr>
              <a:t>All are quadratic Bezier and legible</a:t>
            </a:r>
          </a:p>
        </p:txBody>
      </p:sp>
      <p:sp>
        <p:nvSpPr>
          <p:cNvPr id="53" name="Rectangle: Rounded Corners 52">
            <a:extLst>
              <a:ext uri="{FF2B5EF4-FFF2-40B4-BE49-F238E27FC236}">
                <a16:creationId xmlns:a16="http://schemas.microsoft.com/office/drawing/2014/main" id="{178C0E19-CA26-A399-B7B8-96E5B80B548E}"/>
              </a:ext>
            </a:extLst>
          </p:cNvPr>
          <p:cNvSpPr/>
          <p:nvPr/>
        </p:nvSpPr>
        <p:spPr>
          <a:xfrm>
            <a:off x="7747000" y="1498600"/>
            <a:ext cx="2286000" cy="1371600"/>
          </a:xfrm>
          <a:prstGeom prst="roundRect">
            <a:avLst/>
          </a:prstGeom>
          <a:solidFill>
            <a:srgbClr val="FFFFFF"/>
          </a:solidFill>
          <a:ln w="12700">
            <a:solidFill>
              <a:srgbClr val="D2D0C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a:extLst>
              <a:ext uri="{FF2B5EF4-FFF2-40B4-BE49-F238E27FC236}">
                <a16:creationId xmlns:a16="http://schemas.microsoft.com/office/drawing/2014/main" id="{0D663C12-E4DF-9AC1-0A79-F374D8300BAC}"/>
              </a:ext>
            </a:extLst>
          </p:cNvPr>
          <p:cNvSpPr/>
          <p:nvPr/>
        </p:nvSpPr>
        <p:spPr>
          <a:xfrm>
            <a:off x="7924800" y="1651000"/>
            <a:ext cx="1930400" cy="50800"/>
          </a:xfrm>
          <a:prstGeom prst="rect">
            <a:avLst/>
          </a:prstGeom>
          <a:solidFill>
            <a:srgbClr val="FFC62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TextBox 54">
            <a:extLst>
              <a:ext uri="{FF2B5EF4-FFF2-40B4-BE49-F238E27FC236}">
                <a16:creationId xmlns:a16="http://schemas.microsoft.com/office/drawing/2014/main" id="{2568071A-A756-4BF3-9FEB-94B95E7BDFA1}"/>
              </a:ext>
            </a:extLst>
          </p:cNvPr>
          <p:cNvSpPr txBox="1"/>
          <p:nvPr/>
        </p:nvSpPr>
        <p:spPr>
          <a:xfrm>
            <a:off x="7924800" y="1752600"/>
            <a:ext cx="1930400" cy="153888"/>
          </a:xfrm>
          <a:prstGeom prst="rect">
            <a:avLst/>
          </a:prstGeom>
          <a:noFill/>
        </p:spPr>
        <p:txBody>
          <a:bodyPr vert="horz" wrap="square" lIns="0" tIns="0" rIns="0" bIns="0" rtlCol="0">
            <a:spAutoFit/>
          </a:bodyPr>
          <a:lstStyle/>
          <a:p>
            <a:r>
              <a:rPr lang="en-US" sz="1000" b="1">
                <a:solidFill>
                  <a:srgbClr val="5C5C5C"/>
                </a:solidFill>
                <a:latin typeface="Aptos" panose="020B0004020202020204" pitchFamily="34" charset="0"/>
              </a:rPr>
              <a:t>Behavior modes</a:t>
            </a:r>
          </a:p>
        </p:txBody>
      </p:sp>
      <p:sp>
        <p:nvSpPr>
          <p:cNvPr id="56" name="TextBox 55">
            <a:extLst>
              <a:ext uri="{FF2B5EF4-FFF2-40B4-BE49-F238E27FC236}">
                <a16:creationId xmlns:a16="http://schemas.microsoft.com/office/drawing/2014/main" id="{680B0179-D3F1-49A4-3C34-B97A51BB0B66}"/>
              </a:ext>
            </a:extLst>
          </p:cNvPr>
          <p:cNvSpPr txBox="1"/>
          <p:nvPr/>
        </p:nvSpPr>
        <p:spPr>
          <a:xfrm>
            <a:off x="7924800" y="2032000"/>
            <a:ext cx="1930400" cy="338554"/>
          </a:xfrm>
          <a:prstGeom prst="rect">
            <a:avLst/>
          </a:prstGeom>
          <a:noFill/>
        </p:spPr>
        <p:txBody>
          <a:bodyPr vert="horz" wrap="square" lIns="0" tIns="0" rIns="0" bIns="0" rtlCol="0">
            <a:spAutoFit/>
          </a:bodyPr>
          <a:lstStyle/>
          <a:p>
            <a:r>
              <a:rPr lang="en-US" sz="2200" b="1">
                <a:solidFill>
                  <a:srgbClr val="FFC627"/>
                </a:solidFill>
                <a:latin typeface="Aptos" panose="020B0004020202020204" pitchFamily="34" charset="0"/>
              </a:rPr>
              <a:t>1</a:t>
            </a:r>
          </a:p>
        </p:txBody>
      </p:sp>
      <p:sp>
        <p:nvSpPr>
          <p:cNvPr id="57" name="TextBox 56">
            <a:extLst>
              <a:ext uri="{FF2B5EF4-FFF2-40B4-BE49-F238E27FC236}">
                <a16:creationId xmlns:a16="http://schemas.microsoft.com/office/drawing/2014/main" id="{EF421461-13EE-6BBF-A32A-16914E1E538B}"/>
              </a:ext>
            </a:extLst>
          </p:cNvPr>
          <p:cNvSpPr txBox="1"/>
          <p:nvPr/>
        </p:nvSpPr>
        <p:spPr>
          <a:xfrm>
            <a:off x="7924800" y="2463800"/>
            <a:ext cx="1930400" cy="307777"/>
          </a:xfrm>
          <a:prstGeom prst="rect">
            <a:avLst/>
          </a:prstGeom>
          <a:noFill/>
        </p:spPr>
        <p:txBody>
          <a:bodyPr vert="horz" wrap="square" lIns="0" tIns="0" rIns="0" bIns="0" rtlCol="0">
            <a:spAutoFit/>
          </a:bodyPr>
          <a:lstStyle/>
          <a:p>
            <a:r>
              <a:rPr lang="en-US" sz="1000">
                <a:solidFill>
                  <a:srgbClr val="5C5C5C"/>
                </a:solidFill>
                <a:latin typeface="Aptos" panose="020B0004020202020204" pitchFamily="34" charset="0"/>
              </a:rPr>
              <a:t>Single behavior only: no safety, grounding, or predictable mode</a:t>
            </a:r>
          </a:p>
        </p:txBody>
      </p:sp>
      <p:sp>
        <p:nvSpPr>
          <p:cNvPr id="58" name="Rectangle: Rounded Corners 57">
            <a:extLst>
              <a:ext uri="{FF2B5EF4-FFF2-40B4-BE49-F238E27FC236}">
                <a16:creationId xmlns:a16="http://schemas.microsoft.com/office/drawing/2014/main" id="{5C60973C-DB66-E48E-D928-FC4951447456}"/>
              </a:ext>
            </a:extLst>
          </p:cNvPr>
          <p:cNvSpPr/>
          <p:nvPr/>
        </p:nvSpPr>
        <p:spPr>
          <a:xfrm>
            <a:off x="508000" y="3098800"/>
            <a:ext cx="11176000" cy="2616200"/>
          </a:xfrm>
          <a:prstGeom prst="roundRect">
            <a:avLst/>
          </a:prstGeom>
          <a:solidFill>
            <a:srgbClr val="FFFFFF"/>
          </a:solidFill>
          <a:ln w="13970">
            <a:solidFill>
              <a:srgbClr val="4984C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TextBox 58">
            <a:extLst>
              <a:ext uri="{FF2B5EF4-FFF2-40B4-BE49-F238E27FC236}">
                <a16:creationId xmlns:a16="http://schemas.microsoft.com/office/drawing/2014/main" id="{47FCF430-54C0-50BB-AA18-AB047092B64C}"/>
              </a:ext>
            </a:extLst>
          </p:cNvPr>
          <p:cNvSpPr txBox="1"/>
          <p:nvPr/>
        </p:nvSpPr>
        <p:spPr>
          <a:xfrm>
            <a:off x="711200" y="3276600"/>
            <a:ext cx="10769600" cy="200055"/>
          </a:xfrm>
          <a:prstGeom prst="rect">
            <a:avLst/>
          </a:prstGeom>
          <a:noFill/>
        </p:spPr>
        <p:txBody>
          <a:bodyPr vert="horz" wrap="square" lIns="0" tIns="0" rIns="0" bIns="0" rtlCol="0">
            <a:spAutoFit/>
          </a:bodyPr>
          <a:lstStyle/>
          <a:p>
            <a:r>
              <a:rPr lang="en-US" sz="1300" b="1">
                <a:solidFill>
                  <a:srgbClr val="4984CB"/>
                </a:solidFill>
                <a:latin typeface="Aptos" panose="020B0004020202020204" pitchFamily="34" charset="0"/>
              </a:rPr>
              <a:t>Axes of variation</a:t>
            </a:r>
          </a:p>
        </p:txBody>
      </p:sp>
      <p:sp>
        <p:nvSpPr>
          <p:cNvPr id="60" name="TextBox 59">
            <a:extLst>
              <a:ext uri="{FF2B5EF4-FFF2-40B4-BE49-F238E27FC236}">
                <a16:creationId xmlns:a16="http://schemas.microsoft.com/office/drawing/2014/main" id="{B8E262E6-74AB-55E7-D2C8-08A65DDCB122}"/>
              </a:ext>
            </a:extLst>
          </p:cNvPr>
          <p:cNvSpPr txBox="1"/>
          <p:nvPr/>
        </p:nvSpPr>
        <p:spPr>
          <a:xfrm>
            <a:off x="711200" y="3632200"/>
            <a:ext cx="10769600" cy="1692771"/>
          </a:xfrm>
          <a:prstGeom prst="rect">
            <a:avLst/>
          </a:prstGeom>
          <a:noFill/>
        </p:spPr>
        <p:txBody>
          <a:bodyPr vert="horz" wrap="square" lIns="0" tIns="0" rIns="0" bIns="0" rtlCol="0">
            <a:spAutoFit/>
          </a:bodyPr>
          <a:lstStyle/>
          <a:p>
            <a:r>
              <a:rPr lang="en-US" sz="1000">
                <a:solidFill>
                  <a:srgbClr val="1C1C1C"/>
                </a:solidFill>
                <a:latin typeface="Consolas" panose="020B0609020204030204" pitchFamily="49" charset="0"/>
              </a:rPr>
              <a:t>Target side             200 left + 200 right (balanced)
Block configs           10 configs x 40 episodes per config
Type A (4)              both blocks shifted symmetrically; dx in {-5, 0, +5} mm; one dy = +/-4 mm
Type B (3)              only left block shifted: (-5,0), (+5,0), (0,+4) mm
Type C (3)              only right block shifted: same offset set as Type B
Arc variations / side   20 quadratic Bezier arcs, all legible and curved toward target
Control-point sweep     cp_y_mag: 5 cm to 28 cm
Control-point height    cp_z: 0.56 m to 0.68 m
Control-point depth     cp_x: 0.38 m to 0.28 m
Approach height         randomized per episode: 6 cm to 12 cm
Behavior label          none; this dataset stores target only</a:t>
            </a:r>
          </a:p>
        </p:txBody>
      </p:sp>
      <p:sp>
        <p:nvSpPr>
          <p:cNvPr id="61" name="Rectangle: Rounded Corners 60">
            <a:extLst>
              <a:ext uri="{FF2B5EF4-FFF2-40B4-BE49-F238E27FC236}">
                <a16:creationId xmlns:a16="http://schemas.microsoft.com/office/drawing/2014/main" id="{B97D6C18-8BE9-FFD6-25EB-198A15686FAF}"/>
              </a:ext>
            </a:extLst>
          </p:cNvPr>
          <p:cNvSpPr/>
          <p:nvPr/>
        </p:nvSpPr>
        <p:spPr>
          <a:xfrm>
            <a:off x="508000" y="5765800"/>
            <a:ext cx="11176000" cy="812800"/>
          </a:xfrm>
          <a:prstGeom prst="roundRect">
            <a:avLst/>
          </a:prstGeom>
          <a:solidFill>
            <a:srgbClr val="F5E9EE"/>
          </a:solidFill>
          <a:ln w="13970">
            <a:solidFill>
              <a:srgbClr val="8C1D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TextBox 61">
            <a:extLst>
              <a:ext uri="{FF2B5EF4-FFF2-40B4-BE49-F238E27FC236}">
                <a16:creationId xmlns:a16="http://schemas.microsoft.com/office/drawing/2014/main" id="{C10F9CDA-8EB8-1CAC-1D72-491D52D3806A}"/>
              </a:ext>
            </a:extLst>
          </p:cNvPr>
          <p:cNvSpPr txBox="1"/>
          <p:nvPr/>
        </p:nvSpPr>
        <p:spPr>
          <a:xfrm>
            <a:off x="711200" y="5943600"/>
            <a:ext cx="10769600" cy="200055"/>
          </a:xfrm>
          <a:prstGeom prst="rect">
            <a:avLst/>
          </a:prstGeom>
          <a:noFill/>
        </p:spPr>
        <p:txBody>
          <a:bodyPr vert="horz" wrap="square" lIns="0" tIns="0" rIns="0" bIns="0" rtlCol="0">
            <a:spAutoFit/>
          </a:bodyPr>
          <a:lstStyle/>
          <a:p>
            <a:r>
              <a:rPr lang="en-US" sz="1300" b="1">
                <a:solidFill>
                  <a:srgbClr val="8C1D40"/>
                </a:solidFill>
                <a:latin typeface="Aptos" panose="020B0004020202020204" pitchFamily="34" charset="0"/>
              </a:rPr>
              <a:t>Takeaway</a:t>
            </a:r>
          </a:p>
        </p:txBody>
      </p:sp>
      <p:sp>
        <p:nvSpPr>
          <p:cNvPr id="63" name="TextBox 62">
            <a:extLst>
              <a:ext uri="{FF2B5EF4-FFF2-40B4-BE49-F238E27FC236}">
                <a16:creationId xmlns:a16="http://schemas.microsoft.com/office/drawing/2014/main" id="{C6FB65D5-CFCB-2870-5C5F-8242E89F6AE3}"/>
              </a:ext>
            </a:extLst>
          </p:cNvPr>
          <p:cNvSpPr txBox="1"/>
          <p:nvPr/>
        </p:nvSpPr>
        <p:spPr>
          <a:xfrm>
            <a:off x="711200" y="6299200"/>
            <a:ext cx="10769600" cy="153888"/>
          </a:xfrm>
          <a:prstGeom prst="rect">
            <a:avLst/>
          </a:prstGeom>
          <a:noFill/>
        </p:spPr>
        <p:txBody>
          <a:bodyPr vert="horz" wrap="square" lIns="0" tIns="0" rIns="0" bIns="0" rtlCol="0">
            <a:spAutoFit/>
          </a:bodyPr>
          <a:lstStyle/>
          <a:p>
            <a:r>
              <a:rPr lang="en-US" sz="1000">
                <a:solidFill>
                  <a:srgbClr val="1C1C1C"/>
                </a:solidFill>
                <a:latin typeface="Aptos" panose="020B0004020202020204" pitchFamily="34" charset="0"/>
              </a:rPr>
              <a:t>This is a purely legible arc dataset. Diversity comes from left/right goals, block placement, and arc magnitude, not from multiple behavior types.</a:t>
            </a:r>
          </a:p>
        </p:txBody>
      </p:sp>
    </p:spTree>
    <p:extLst>
      <p:ext uri="{BB962C8B-B14F-4D97-AF65-F5344CB8AC3E}">
        <p14:creationId xmlns:p14="http://schemas.microsoft.com/office/powerpoint/2010/main" val="21627594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8CADA139-2970-EA69-8B12-9AEEA4364674}"/>
              </a:ext>
            </a:extLst>
          </p:cNvPr>
          <p:cNvSpPr/>
          <p:nvPr/>
        </p:nvSpPr>
        <p:spPr>
          <a:xfrm>
            <a:off x="0" y="0"/>
            <a:ext cx="12192000" cy="6858000"/>
          </a:xfrm>
          <a:prstGeom prst="rect">
            <a:avLst/>
          </a:prstGeom>
          <a:solidFill>
            <a:srgbClr val="F8F6F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3EDE4578-B73D-E9CF-A0CF-84DD28F00A1F}"/>
              </a:ext>
            </a:extLst>
          </p:cNvPr>
          <p:cNvSpPr txBox="1"/>
          <p:nvPr/>
        </p:nvSpPr>
        <p:spPr>
          <a:xfrm>
            <a:off x="508000" y="355600"/>
            <a:ext cx="9906000" cy="430887"/>
          </a:xfrm>
          <a:prstGeom prst="rect">
            <a:avLst/>
          </a:prstGeom>
          <a:noFill/>
        </p:spPr>
        <p:txBody>
          <a:bodyPr vert="horz" wrap="square" lIns="0" tIns="0" rIns="0" bIns="0" rtlCol="0">
            <a:spAutoFit/>
          </a:bodyPr>
          <a:lstStyle/>
          <a:p>
            <a:r>
              <a:rPr lang="en-US" sz="2800" b="1">
                <a:solidFill>
                  <a:srgbClr val="1C1C1C"/>
                </a:solidFill>
                <a:latin typeface="Aptos" panose="020B0004020202020204" pitchFamily="34" charset="0"/>
              </a:rPr>
              <a:t>Data Distribution &amp; Diversity: demos_combined.npz</a:t>
            </a:r>
          </a:p>
        </p:txBody>
      </p:sp>
      <p:sp>
        <p:nvSpPr>
          <p:cNvPr id="35" name="TextBox 34">
            <a:extLst>
              <a:ext uri="{FF2B5EF4-FFF2-40B4-BE49-F238E27FC236}">
                <a16:creationId xmlns:a16="http://schemas.microsoft.com/office/drawing/2014/main" id="{7664FE1D-461F-0197-C0F5-5507FC5EE65F}"/>
              </a:ext>
            </a:extLst>
          </p:cNvPr>
          <p:cNvSpPr txBox="1"/>
          <p:nvPr/>
        </p:nvSpPr>
        <p:spPr>
          <a:xfrm>
            <a:off x="508000" y="800100"/>
            <a:ext cx="10668000" cy="169277"/>
          </a:xfrm>
          <a:prstGeom prst="rect">
            <a:avLst/>
          </a:prstGeom>
          <a:noFill/>
        </p:spPr>
        <p:txBody>
          <a:bodyPr vert="horz" wrap="square" lIns="0" tIns="0" rIns="0" bIns="0" rtlCol="0">
            <a:spAutoFit/>
          </a:bodyPr>
          <a:lstStyle/>
          <a:p>
            <a:r>
              <a:rPr lang="en-US" sz="1100">
                <a:solidFill>
                  <a:srgbClr val="5C5C5C"/>
                </a:solidFill>
                <a:latin typeface="Aptos" panose="020B0004020202020204" pitchFamily="34" charset="0"/>
              </a:rPr>
              <a:t>The second dataset keeps the same scene structure but adds style diversity: legible, neutral, and deceptive motion</a:t>
            </a:r>
          </a:p>
        </p:txBody>
      </p:sp>
      <p:sp>
        <p:nvSpPr>
          <p:cNvPr id="36" name="Rectangle 35">
            <a:extLst>
              <a:ext uri="{FF2B5EF4-FFF2-40B4-BE49-F238E27FC236}">
                <a16:creationId xmlns:a16="http://schemas.microsoft.com/office/drawing/2014/main" id="{7F071FCF-8FE7-18F7-1118-672CF62CD1F9}"/>
              </a:ext>
            </a:extLst>
          </p:cNvPr>
          <p:cNvSpPr/>
          <p:nvPr/>
        </p:nvSpPr>
        <p:spPr>
          <a:xfrm>
            <a:off x="508000" y="1168400"/>
            <a:ext cx="11176000" cy="50800"/>
          </a:xfrm>
          <a:prstGeom prst="rect">
            <a:avLst/>
          </a:prstGeom>
          <a:solidFill>
            <a:srgbClr val="FFC62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3B6F4487-AC9A-618A-7D9E-C628A4664FE8}"/>
              </a:ext>
            </a:extLst>
          </p:cNvPr>
          <p:cNvSpPr txBox="1"/>
          <p:nvPr/>
        </p:nvSpPr>
        <p:spPr>
          <a:xfrm>
            <a:off x="11430000" y="381000"/>
            <a:ext cx="254000" cy="153888"/>
          </a:xfrm>
          <a:prstGeom prst="rect">
            <a:avLst/>
          </a:prstGeom>
          <a:noFill/>
        </p:spPr>
        <p:txBody>
          <a:bodyPr vert="horz" wrap="square" lIns="0" tIns="0" rIns="0" bIns="0" rtlCol="0">
            <a:spAutoFit/>
          </a:bodyPr>
          <a:lstStyle/>
          <a:p>
            <a:pPr algn="r"/>
            <a:r>
              <a:rPr lang="en-US" sz="1000">
                <a:solidFill>
                  <a:srgbClr val="5C5C5C"/>
                </a:solidFill>
                <a:latin typeface="Aptos" panose="020B0004020202020204" pitchFamily="34" charset="0"/>
              </a:rPr>
              <a:t>29</a:t>
            </a:r>
          </a:p>
        </p:txBody>
      </p:sp>
      <p:sp>
        <p:nvSpPr>
          <p:cNvPr id="38" name="Rectangle: Rounded Corners 37">
            <a:extLst>
              <a:ext uri="{FF2B5EF4-FFF2-40B4-BE49-F238E27FC236}">
                <a16:creationId xmlns:a16="http://schemas.microsoft.com/office/drawing/2014/main" id="{E35F8F25-9CD1-597B-FF29-3A9585E24773}"/>
              </a:ext>
            </a:extLst>
          </p:cNvPr>
          <p:cNvSpPr/>
          <p:nvPr/>
        </p:nvSpPr>
        <p:spPr>
          <a:xfrm>
            <a:off x="508000" y="1498600"/>
            <a:ext cx="2286000" cy="1371600"/>
          </a:xfrm>
          <a:prstGeom prst="roundRect">
            <a:avLst/>
          </a:prstGeom>
          <a:solidFill>
            <a:srgbClr val="FFFFFF"/>
          </a:solidFill>
          <a:ln w="12700">
            <a:solidFill>
              <a:srgbClr val="D2D0C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5C658738-D5AE-F979-E835-F29E8FA33EFC}"/>
              </a:ext>
            </a:extLst>
          </p:cNvPr>
          <p:cNvSpPr/>
          <p:nvPr/>
        </p:nvSpPr>
        <p:spPr>
          <a:xfrm>
            <a:off x="685800" y="1651000"/>
            <a:ext cx="1930400" cy="50800"/>
          </a:xfrm>
          <a:prstGeom prst="rect">
            <a:avLst/>
          </a:prstGeom>
          <a:solidFill>
            <a:srgbClr val="8C1D4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a:extLst>
              <a:ext uri="{FF2B5EF4-FFF2-40B4-BE49-F238E27FC236}">
                <a16:creationId xmlns:a16="http://schemas.microsoft.com/office/drawing/2014/main" id="{61E00C95-516D-A35A-770B-63621C799C83}"/>
              </a:ext>
            </a:extLst>
          </p:cNvPr>
          <p:cNvSpPr txBox="1"/>
          <p:nvPr/>
        </p:nvSpPr>
        <p:spPr>
          <a:xfrm>
            <a:off x="685800" y="1752600"/>
            <a:ext cx="1930400" cy="153888"/>
          </a:xfrm>
          <a:prstGeom prst="rect">
            <a:avLst/>
          </a:prstGeom>
          <a:noFill/>
        </p:spPr>
        <p:txBody>
          <a:bodyPr vert="horz" wrap="square" lIns="0" tIns="0" rIns="0" bIns="0" rtlCol="0">
            <a:spAutoFit/>
          </a:bodyPr>
          <a:lstStyle/>
          <a:p>
            <a:r>
              <a:rPr lang="en-US" sz="1000" b="1">
                <a:solidFill>
                  <a:srgbClr val="5C5C5C"/>
                </a:solidFill>
                <a:latin typeface="Aptos" panose="020B0004020202020204" pitchFamily="34" charset="0"/>
              </a:rPr>
              <a:t>Total</a:t>
            </a:r>
          </a:p>
        </p:txBody>
      </p:sp>
      <p:sp>
        <p:nvSpPr>
          <p:cNvPr id="41" name="TextBox 40">
            <a:extLst>
              <a:ext uri="{FF2B5EF4-FFF2-40B4-BE49-F238E27FC236}">
                <a16:creationId xmlns:a16="http://schemas.microsoft.com/office/drawing/2014/main" id="{6B4C1EF2-F9E1-1CFC-CD28-57328B75C97E}"/>
              </a:ext>
            </a:extLst>
          </p:cNvPr>
          <p:cNvSpPr txBox="1"/>
          <p:nvPr/>
        </p:nvSpPr>
        <p:spPr>
          <a:xfrm>
            <a:off x="685800" y="2032000"/>
            <a:ext cx="1930400" cy="338554"/>
          </a:xfrm>
          <a:prstGeom prst="rect">
            <a:avLst/>
          </a:prstGeom>
          <a:noFill/>
        </p:spPr>
        <p:txBody>
          <a:bodyPr vert="horz" wrap="square" lIns="0" tIns="0" rIns="0" bIns="0" rtlCol="0">
            <a:spAutoFit/>
          </a:bodyPr>
          <a:lstStyle/>
          <a:p>
            <a:r>
              <a:rPr lang="en-US" sz="2200" b="1">
                <a:solidFill>
                  <a:srgbClr val="8C1D40"/>
                </a:solidFill>
                <a:latin typeface="Aptos" panose="020B0004020202020204" pitchFamily="34" charset="0"/>
              </a:rPr>
              <a:t>400</a:t>
            </a:r>
          </a:p>
        </p:txBody>
      </p:sp>
      <p:sp>
        <p:nvSpPr>
          <p:cNvPr id="42" name="TextBox 41">
            <a:extLst>
              <a:ext uri="{FF2B5EF4-FFF2-40B4-BE49-F238E27FC236}">
                <a16:creationId xmlns:a16="http://schemas.microsoft.com/office/drawing/2014/main" id="{9174F6C5-196A-8528-0839-1BC8A93D7E0C}"/>
              </a:ext>
            </a:extLst>
          </p:cNvPr>
          <p:cNvSpPr txBox="1"/>
          <p:nvPr/>
        </p:nvSpPr>
        <p:spPr>
          <a:xfrm>
            <a:off x="685800" y="2463800"/>
            <a:ext cx="1930400" cy="153888"/>
          </a:xfrm>
          <a:prstGeom prst="rect">
            <a:avLst/>
          </a:prstGeom>
          <a:noFill/>
        </p:spPr>
        <p:txBody>
          <a:bodyPr vert="horz" wrap="square" lIns="0" tIns="0" rIns="0" bIns="0" rtlCol="0">
            <a:spAutoFit/>
          </a:bodyPr>
          <a:lstStyle/>
          <a:p>
            <a:r>
              <a:rPr lang="en-US" sz="1000">
                <a:solidFill>
                  <a:srgbClr val="5C5C5C"/>
                </a:solidFill>
                <a:latin typeface="Aptos" panose="020B0004020202020204" pitchFamily="34" charset="0"/>
              </a:rPr>
              <a:t>Same 10 config x 40 episode recipe</a:t>
            </a:r>
          </a:p>
        </p:txBody>
      </p:sp>
      <p:sp>
        <p:nvSpPr>
          <p:cNvPr id="43" name="Rectangle: Rounded Corners 42">
            <a:extLst>
              <a:ext uri="{FF2B5EF4-FFF2-40B4-BE49-F238E27FC236}">
                <a16:creationId xmlns:a16="http://schemas.microsoft.com/office/drawing/2014/main" id="{05288C7A-CCD3-10B4-BFAA-6EA18D825C2C}"/>
              </a:ext>
            </a:extLst>
          </p:cNvPr>
          <p:cNvSpPr/>
          <p:nvPr/>
        </p:nvSpPr>
        <p:spPr>
          <a:xfrm>
            <a:off x="2921000" y="1498600"/>
            <a:ext cx="2286000" cy="1371600"/>
          </a:xfrm>
          <a:prstGeom prst="roundRect">
            <a:avLst/>
          </a:prstGeom>
          <a:solidFill>
            <a:srgbClr val="FFFFFF"/>
          </a:solidFill>
          <a:ln w="12700">
            <a:solidFill>
              <a:srgbClr val="D2D0C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895AE58E-3B49-66D0-B402-2514B130E44F}"/>
              </a:ext>
            </a:extLst>
          </p:cNvPr>
          <p:cNvSpPr/>
          <p:nvPr/>
        </p:nvSpPr>
        <p:spPr>
          <a:xfrm>
            <a:off x="3098800" y="1651000"/>
            <a:ext cx="1930400" cy="50800"/>
          </a:xfrm>
          <a:prstGeom prst="rect">
            <a:avLst/>
          </a:prstGeom>
          <a:solidFill>
            <a:srgbClr val="5B995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extBox 44">
            <a:extLst>
              <a:ext uri="{FF2B5EF4-FFF2-40B4-BE49-F238E27FC236}">
                <a16:creationId xmlns:a16="http://schemas.microsoft.com/office/drawing/2014/main" id="{94A13DCC-5CA2-C820-8B45-C0B015F220E5}"/>
              </a:ext>
            </a:extLst>
          </p:cNvPr>
          <p:cNvSpPr txBox="1"/>
          <p:nvPr/>
        </p:nvSpPr>
        <p:spPr>
          <a:xfrm>
            <a:off x="3098800" y="1752600"/>
            <a:ext cx="1930400" cy="153888"/>
          </a:xfrm>
          <a:prstGeom prst="rect">
            <a:avLst/>
          </a:prstGeom>
          <a:noFill/>
        </p:spPr>
        <p:txBody>
          <a:bodyPr vert="horz" wrap="square" lIns="0" tIns="0" rIns="0" bIns="0" rtlCol="0">
            <a:spAutoFit/>
          </a:bodyPr>
          <a:lstStyle/>
          <a:p>
            <a:r>
              <a:rPr lang="en-US" sz="1000" b="1">
                <a:solidFill>
                  <a:srgbClr val="5C5C5C"/>
                </a:solidFill>
                <a:latin typeface="Aptos" panose="020B0004020202020204" pitchFamily="34" charset="0"/>
              </a:rPr>
              <a:t>Style split</a:t>
            </a:r>
          </a:p>
        </p:txBody>
      </p:sp>
      <p:sp>
        <p:nvSpPr>
          <p:cNvPr id="46" name="TextBox 45">
            <a:extLst>
              <a:ext uri="{FF2B5EF4-FFF2-40B4-BE49-F238E27FC236}">
                <a16:creationId xmlns:a16="http://schemas.microsoft.com/office/drawing/2014/main" id="{CC142ADF-2152-445A-4CF3-72938AD10539}"/>
              </a:ext>
            </a:extLst>
          </p:cNvPr>
          <p:cNvSpPr txBox="1"/>
          <p:nvPr/>
        </p:nvSpPr>
        <p:spPr>
          <a:xfrm>
            <a:off x="3098800" y="2032000"/>
            <a:ext cx="1930400" cy="338554"/>
          </a:xfrm>
          <a:prstGeom prst="rect">
            <a:avLst/>
          </a:prstGeom>
          <a:noFill/>
        </p:spPr>
        <p:txBody>
          <a:bodyPr vert="horz" wrap="square" lIns="0" tIns="0" rIns="0" bIns="0" rtlCol="0">
            <a:spAutoFit/>
          </a:bodyPr>
          <a:lstStyle/>
          <a:p>
            <a:r>
              <a:rPr lang="en-US" sz="2200" b="1">
                <a:solidFill>
                  <a:srgbClr val="5B995D"/>
                </a:solidFill>
                <a:latin typeface="Aptos" panose="020B0004020202020204" pitchFamily="34" charset="0"/>
              </a:rPr>
              <a:t>200 / 100 / 100</a:t>
            </a:r>
          </a:p>
        </p:txBody>
      </p:sp>
      <p:sp>
        <p:nvSpPr>
          <p:cNvPr id="47" name="TextBox 46">
            <a:extLst>
              <a:ext uri="{FF2B5EF4-FFF2-40B4-BE49-F238E27FC236}">
                <a16:creationId xmlns:a16="http://schemas.microsoft.com/office/drawing/2014/main" id="{DC58A743-B30B-3BC7-C64E-E076CD395F42}"/>
              </a:ext>
            </a:extLst>
          </p:cNvPr>
          <p:cNvSpPr txBox="1"/>
          <p:nvPr/>
        </p:nvSpPr>
        <p:spPr>
          <a:xfrm>
            <a:off x="3098800" y="2463800"/>
            <a:ext cx="1930400" cy="153888"/>
          </a:xfrm>
          <a:prstGeom prst="rect">
            <a:avLst/>
          </a:prstGeom>
          <a:noFill/>
        </p:spPr>
        <p:txBody>
          <a:bodyPr vert="horz" wrap="square" lIns="0" tIns="0" rIns="0" bIns="0" rtlCol="0">
            <a:spAutoFit/>
          </a:bodyPr>
          <a:lstStyle/>
          <a:p>
            <a:r>
              <a:rPr lang="en-US" sz="1000">
                <a:solidFill>
                  <a:srgbClr val="5C5C5C"/>
                </a:solidFill>
                <a:latin typeface="Aptos" panose="020B0004020202020204" pitchFamily="34" charset="0"/>
              </a:rPr>
              <a:t>Legible, neutral, deceptive</a:t>
            </a:r>
          </a:p>
        </p:txBody>
      </p:sp>
      <p:sp>
        <p:nvSpPr>
          <p:cNvPr id="48" name="Rectangle: Rounded Corners 47">
            <a:extLst>
              <a:ext uri="{FF2B5EF4-FFF2-40B4-BE49-F238E27FC236}">
                <a16:creationId xmlns:a16="http://schemas.microsoft.com/office/drawing/2014/main" id="{668C3C81-3803-4B87-7CFA-982BB5CAB8B4}"/>
              </a:ext>
            </a:extLst>
          </p:cNvPr>
          <p:cNvSpPr/>
          <p:nvPr/>
        </p:nvSpPr>
        <p:spPr>
          <a:xfrm>
            <a:off x="5334000" y="1498600"/>
            <a:ext cx="2286000" cy="1371600"/>
          </a:xfrm>
          <a:prstGeom prst="roundRect">
            <a:avLst/>
          </a:prstGeom>
          <a:solidFill>
            <a:srgbClr val="FFFFFF"/>
          </a:solidFill>
          <a:ln w="12700">
            <a:solidFill>
              <a:srgbClr val="D2D0C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2D24B5D6-6403-0AC7-062E-F28EF4089B33}"/>
              </a:ext>
            </a:extLst>
          </p:cNvPr>
          <p:cNvSpPr/>
          <p:nvPr/>
        </p:nvSpPr>
        <p:spPr>
          <a:xfrm>
            <a:off x="5511800" y="1651000"/>
            <a:ext cx="1930400" cy="50800"/>
          </a:xfrm>
          <a:prstGeom prst="rect">
            <a:avLst/>
          </a:prstGeom>
          <a:solidFill>
            <a:srgbClr val="4984C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TextBox 49">
            <a:extLst>
              <a:ext uri="{FF2B5EF4-FFF2-40B4-BE49-F238E27FC236}">
                <a16:creationId xmlns:a16="http://schemas.microsoft.com/office/drawing/2014/main" id="{29DE0B94-AD76-972D-86BC-0F47DE53C51A}"/>
              </a:ext>
            </a:extLst>
          </p:cNvPr>
          <p:cNvSpPr txBox="1"/>
          <p:nvPr/>
        </p:nvSpPr>
        <p:spPr>
          <a:xfrm>
            <a:off x="5511800" y="1752600"/>
            <a:ext cx="1930400" cy="153888"/>
          </a:xfrm>
          <a:prstGeom prst="rect">
            <a:avLst/>
          </a:prstGeom>
          <a:noFill/>
        </p:spPr>
        <p:txBody>
          <a:bodyPr vert="horz" wrap="square" lIns="0" tIns="0" rIns="0" bIns="0" rtlCol="0">
            <a:spAutoFit/>
          </a:bodyPr>
          <a:lstStyle/>
          <a:p>
            <a:r>
              <a:rPr lang="en-US" sz="1000" b="1">
                <a:solidFill>
                  <a:srgbClr val="5C5C5C"/>
                </a:solidFill>
                <a:latin typeface="Aptos" panose="020B0004020202020204" pitchFamily="34" charset="0"/>
              </a:rPr>
              <a:t>Targets</a:t>
            </a:r>
          </a:p>
        </p:txBody>
      </p:sp>
      <p:sp>
        <p:nvSpPr>
          <p:cNvPr id="51" name="TextBox 50">
            <a:extLst>
              <a:ext uri="{FF2B5EF4-FFF2-40B4-BE49-F238E27FC236}">
                <a16:creationId xmlns:a16="http://schemas.microsoft.com/office/drawing/2014/main" id="{CF9B3A27-DE38-A14E-6728-969E2B1F5499}"/>
              </a:ext>
            </a:extLst>
          </p:cNvPr>
          <p:cNvSpPr txBox="1"/>
          <p:nvPr/>
        </p:nvSpPr>
        <p:spPr>
          <a:xfrm>
            <a:off x="5511800" y="2032000"/>
            <a:ext cx="1930400" cy="338554"/>
          </a:xfrm>
          <a:prstGeom prst="rect">
            <a:avLst/>
          </a:prstGeom>
          <a:noFill/>
        </p:spPr>
        <p:txBody>
          <a:bodyPr vert="horz" wrap="square" lIns="0" tIns="0" rIns="0" bIns="0" rtlCol="0">
            <a:spAutoFit/>
          </a:bodyPr>
          <a:lstStyle/>
          <a:p>
            <a:r>
              <a:rPr lang="en-US" sz="2200" b="1">
                <a:solidFill>
                  <a:srgbClr val="4984CB"/>
                </a:solidFill>
                <a:latin typeface="Aptos" panose="020B0004020202020204" pitchFamily="34" charset="0"/>
              </a:rPr>
              <a:t>200 / 200</a:t>
            </a:r>
          </a:p>
        </p:txBody>
      </p:sp>
      <p:sp>
        <p:nvSpPr>
          <p:cNvPr id="52" name="TextBox 51">
            <a:extLst>
              <a:ext uri="{FF2B5EF4-FFF2-40B4-BE49-F238E27FC236}">
                <a16:creationId xmlns:a16="http://schemas.microsoft.com/office/drawing/2014/main" id="{E718240B-9C7C-A3E0-97E5-1C1ECCE335C6}"/>
              </a:ext>
            </a:extLst>
          </p:cNvPr>
          <p:cNvSpPr txBox="1"/>
          <p:nvPr/>
        </p:nvSpPr>
        <p:spPr>
          <a:xfrm>
            <a:off x="5511800" y="2463800"/>
            <a:ext cx="1930400" cy="153888"/>
          </a:xfrm>
          <a:prstGeom prst="rect">
            <a:avLst/>
          </a:prstGeom>
          <a:noFill/>
        </p:spPr>
        <p:txBody>
          <a:bodyPr vert="horz" wrap="square" lIns="0" tIns="0" rIns="0" bIns="0" rtlCol="0">
            <a:spAutoFit/>
          </a:bodyPr>
          <a:lstStyle/>
          <a:p>
            <a:r>
              <a:rPr lang="en-US" sz="1000">
                <a:solidFill>
                  <a:srgbClr val="5C5C5C"/>
                </a:solidFill>
                <a:latin typeface="Aptos" panose="020B0004020202020204" pitchFamily="34" charset="0"/>
              </a:rPr>
              <a:t>Balanced left and right picks</a:t>
            </a:r>
          </a:p>
        </p:txBody>
      </p:sp>
      <p:sp>
        <p:nvSpPr>
          <p:cNvPr id="53" name="Rectangle: Rounded Corners 52">
            <a:extLst>
              <a:ext uri="{FF2B5EF4-FFF2-40B4-BE49-F238E27FC236}">
                <a16:creationId xmlns:a16="http://schemas.microsoft.com/office/drawing/2014/main" id="{D19C61A0-F1A9-51DF-890B-4CA241A5BB92}"/>
              </a:ext>
            </a:extLst>
          </p:cNvPr>
          <p:cNvSpPr/>
          <p:nvPr/>
        </p:nvSpPr>
        <p:spPr>
          <a:xfrm>
            <a:off x="7747000" y="1498600"/>
            <a:ext cx="2286000" cy="1371600"/>
          </a:xfrm>
          <a:prstGeom prst="roundRect">
            <a:avLst/>
          </a:prstGeom>
          <a:solidFill>
            <a:srgbClr val="FFFFFF"/>
          </a:solidFill>
          <a:ln w="12700">
            <a:solidFill>
              <a:srgbClr val="D2D0C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a:extLst>
              <a:ext uri="{FF2B5EF4-FFF2-40B4-BE49-F238E27FC236}">
                <a16:creationId xmlns:a16="http://schemas.microsoft.com/office/drawing/2014/main" id="{26286EDB-4D94-3945-9D08-CDA854B7AA10}"/>
              </a:ext>
            </a:extLst>
          </p:cNvPr>
          <p:cNvSpPr/>
          <p:nvPr/>
        </p:nvSpPr>
        <p:spPr>
          <a:xfrm>
            <a:off x="7924800" y="1651000"/>
            <a:ext cx="1930400" cy="50800"/>
          </a:xfrm>
          <a:prstGeom prst="rect">
            <a:avLst/>
          </a:prstGeom>
          <a:solidFill>
            <a:srgbClr val="FFC62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TextBox 54">
            <a:extLst>
              <a:ext uri="{FF2B5EF4-FFF2-40B4-BE49-F238E27FC236}">
                <a16:creationId xmlns:a16="http://schemas.microsoft.com/office/drawing/2014/main" id="{5B50863C-3286-0578-1FCF-EAF5E8367CF3}"/>
              </a:ext>
            </a:extLst>
          </p:cNvPr>
          <p:cNvSpPr txBox="1"/>
          <p:nvPr/>
        </p:nvSpPr>
        <p:spPr>
          <a:xfrm>
            <a:off x="7924800" y="1752600"/>
            <a:ext cx="1930400" cy="153888"/>
          </a:xfrm>
          <a:prstGeom prst="rect">
            <a:avLst/>
          </a:prstGeom>
          <a:noFill/>
        </p:spPr>
        <p:txBody>
          <a:bodyPr vert="horz" wrap="square" lIns="0" tIns="0" rIns="0" bIns="0" rtlCol="0">
            <a:spAutoFit/>
          </a:bodyPr>
          <a:lstStyle/>
          <a:p>
            <a:r>
              <a:rPr lang="en-US" sz="1000" b="1">
                <a:solidFill>
                  <a:srgbClr val="5C5C5C"/>
                </a:solidFill>
                <a:latin typeface="Aptos" panose="020B0004020202020204" pitchFamily="34" charset="0"/>
              </a:rPr>
              <a:t>Key addition</a:t>
            </a:r>
          </a:p>
        </p:txBody>
      </p:sp>
      <p:sp>
        <p:nvSpPr>
          <p:cNvPr id="56" name="TextBox 55">
            <a:extLst>
              <a:ext uri="{FF2B5EF4-FFF2-40B4-BE49-F238E27FC236}">
                <a16:creationId xmlns:a16="http://schemas.microsoft.com/office/drawing/2014/main" id="{2C456A30-BCD0-9900-8C1B-33324738A8CB}"/>
              </a:ext>
            </a:extLst>
          </p:cNvPr>
          <p:cNvSpPr txBox="1"/>
          <p:nvPr/>
        </p:nvSpPr>
        <p:spPr>
          <a:xfrm>
            <a:off x="7924800" y="2032000"/>
            <a:ext cx="1930400" cy="338554"/>
          </a:xfrm>
          <a:prstGeom prst="rect">
            <a:avLst/>
          </a:prstGeom>
          <a:noFill/>
        </p:spPr>
        <p:txBody>
          <a:bodyPr vert="horz" wrap="square" lIns="0" tIns="0" rIns="0" bIns="0" rtlCol="0">
            <a:spAutoFit/>
          </a:bodyPr>
          <a:lstStyle/>
          <a:p>
            <a:r>
              <a:rPr lang="en-US" sz="2200" b="1">
                <a:solidFill>
                  <a:srgbClr val="FFC627"/>
                </a:solidFill>
                <a:latin typeface="Aptos" panose="020B0004020202020204" pitchFamily="34" charset="0"/>
              </a:rPr>
              <a:t>Style</a:t>
            </a:r>
          </a:p>
        </p:txBody>
      </p:sp>
      <p:sp>
        <p:nvSpPr>
          <p:cNvPr id="57" name="TextBox 56">
            <a:extLst>
              <a:ext uri="{FF2B5EF4-FFF2-40B4-BE49-F238E27FC236}">
                <a16:creationId xmlns:a16="http://schemas.microsoft.com/office/drawing/2014/main" id="{9BCDFB39-2979-3EB1-985E-A1921E48D80D}"/>
              </a:ext>
            </a:extLst>
          </p:cNvPr>
          <p:cNvSpPr txBox="1"/>
          <p:nvPr/>
        </p:nvSpPr>
        <p:spPr>
          <a:xfrm>
            <a:off x="7924800" y="2463800"/>
            <a:ext cx="1930400" cy="307777"/>
          </a:xfrm>
          <a:prstGeom prst="rect">
            <a:avLst/>
          </a:prstGeom>
          <a:noFill/>
        </p:spPr>
        <p:txBody>
          <a:bodyPr vert="horz" wrap="square" lIns="0" tIns="0" rIns="0" bIns="0" rtlCol="0">
            <a:spAutoFit/>
          </a:bodyPr>
          <a:lstStyle/>
          <a:p>
            <a:r>
              <a:rPr lang="en-US" sz="1000">
                <a:solidFill>
                  <a:srgbClr val="5C5C5C"/>
                </a:solidFill>
                <a:latin typeface="Aptos" panose="020B0004020202020204" pitchFamily="34" charset="0"/>
              </a:rPr>
              <a:t>This is where intent expression becomes a dataset variable</a:t>
            </a:r>
          </a:p>
        </p:txBody>
      </p:sp>
      <p:sp>
        <p:nvSpPr>
          <p:cNvPr id="58" name="Rectangle: Rounded Corners 57">
            <a:extLst>
              <a:ext uri="{FF2B5EF4-FFF2-40B4-BE49-F238E27FC236}">
                <a16:creationId xmlns:a16="http://schemas.microsoft.com/office/drawing/2014/main" id="{27451CE7-8698-AF91-83D7-5D2C39D0D50D}"/>
              </a:ext>
            </a:extLst>
          </p:cNvPr>
          <p:cNvSpPr/>
          <p:nvPr/>
        </p:nvSpPr>
        <p:spPr>
          <a:xfrm>
            <a:off x="508000" y="3098800"/>
            <a:ext cx="11176000" cy="2616200"/>
          </a:xfrm>
          <a:prstGeom prst="roundRect">
            <a:avLst/>
          </a:prstGeom>
          <a:solidFill>
            <a:srgbClr val="FFFFFF"/>
          </a:solidFill>
          <a:ln w="13970">
            <a:solidFill>
              <a:srgbClr val="4984C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TextBox 58">
            <a:extLst>
              <a:ext uri="{FF2B5EF4-FFF2-40B4-BE49-F238E27FC236}">
                <a16:creationId xmlns:a16="http://schemas.microsoft.com/office/drawing/2014/main" id="{D46B0B98-6A7E-41B5-8047-AB74CD860AAD}"/>
              </a:ext>
            </a:extLst>
          </p:cNvPr>
          <p:cNvSpPr txBox="1"/>
          <p:nvPr/>
        </p:nvSpPr>
        <p:spPr>
          <a:xfrm>
            <a:off x="711200" y="3276600"/>
            <a:ext cx="10769600" cy="200055"/>
          </a:xfrm>
          <a:prstGeom prst="rect">
            <a:avLst/>
          </a:prstGeom>
          <a:noFill/>
        </p:spPr>
        <p:txBody>
          <a:bodyPr vert="horz" wrap="square" lIns="0" tIns="0" rIns="0" bIns="0" rtlCol="0">
            <a:spAutoFit/>
          </a:bodyPr>
          <a:lstStyle/>
          <a:p>
            <a:r>
              <a:rPr lang="en-US" sz="1300" b="1">
                <a:solidFill>
                  <a:srgbClr val="4984CB"/>
                </a:solidFill>
                <a:latin typeface="Aptos" panose="020B0004020202020204" pitchFamily="34" charset="0"/>
              </a:rPr>
              <a:t>Axes of variation</a:t>
            </a:r>
          </a:p>
        </p:txBody>
      </p:sp>
      <p:sp>
        <p:nvSpPr>
          <p:cNvPr id="60" name="TextBox 59">
            <a:extLst>
              <a:ext uri="{FF2B5EF4-FFF2-40B4-BE49-F238E27FC236}">
                <a16:creationId xmlns:a16="http://schemas.microsoft.com/office/drawing/2014/main" id="{7A88C3ED-5AAF-6613-1EB2-2C644148739F}"/>
              </a:ext>
            </a:extLst>
          </p:cNvPr>
          <p:cNvSpPr txBox="1"/>
          <p:nvPr/>
        </p:nvSpPr>
        <p:spPr>
          <a:xfrm>
            <a:off x="711200" y="3632200"/>
            <a:ext cx="10769600" cy="1384995"/>
          </a:xfrm>
          <a:prstGeom prst="rect">
            <a:avLst/>
          </a:prstGeom>
          <a:noFill/>
        </p:spPr>
        <p:txBody>
          <a:bodyPr vert="horz" wrap="square" lIns="0" tIns="0" rIns="0" bIns="0" rtlCol="0">
            <a:spAutoFit/>
          </a:bodyPr>
          <a:lstStyle/>
          <a:p>
            <a:r>
              <a:rPr lang="en-US" sz="1000">
                <a:solidFill>
                  <a:srgbClr val="1C1C1C"/>
                </a:solidFill>
                <a:latin typeface="Consolas" panose="020B0609020204030204" pitchFamily="49" charset="0"/>
              </a:rPr>
              <a:t>Style split             200 legible (50%) + 100 neutral (25%) + 100 deceptive (25%)
Target side             200 left + 200 right (balanced)
Block configs           10 configs x 40 episodes per config
Legible arcs            10 per side; quadratic Bezier; cp_y_mag 5 cm to 28 cm toward target
Neutral arcs            5 per side; quadratic Bezier; cp_y fixed at 0 for no lateral bias
Deceptive arcs          5 per side; cubic Bezier; P1 feints wrong side, P2 commits correct side
Feint timing            wrong-side cue around t~0.3, most ambiguous around t~0.5, committed by t~0.7
Cube physics            cube_half = 1.5 cm, cube_mass = 0.08 kg, friction = 2.5
Saved labels            target side + style label + style name + arc index + config id</a:t>
            </a:r>
          </a:p>
        </p:txBody>
      </p:sp>
      <p:sp>
        <p:nvSpPr>
          <p:cNvPr id="61" name="Rectangle: Rounded Corners 60">
            <a:extLst>
              <a:ext uri="{FF2B5EF4-FFF2-40B4-BE49-F238E27FC236}">
                <a16:creationId xmlns:a16="http://schemas.microsoft.com/office/drawing/2014/main" id="{FDAAA5A6-1C08-4686-BC48-B258E2E0A7C0}"/>
              </a:ext>
            </a:extLst>
          </p:cNvPr>
          <p:cNvSpPr/>
          <p:nvPr/>
        </p:nvSpPr>
        <p:spPr>
          <a:xfrm>
            <a:off x="508000" y="5765800"/>
            <a:ext cx="11176000" cy="812800"/>
          </a:xfrm>
          <a:prstGeom prst="roundRect">
            <a:avLst/>
          </a:prstGeom>
          <a:solidFill>
            <a:srgbClr val="F5E9EE"/>
          </a:solidFill>
          <a:ln w="13970">
            <a:solidFill>
              <a:srgbClr val="8C1D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TextBox 61">
            <a:extLst>
              <a:ext uri="{FF2B5EF4-FFF2-40B4-BE49-F238E27FC236}">
                <a16:creationId xmlns:a16="http://schemas.microsoft.com/office/drawing/2014/main" id="{A4AEB777-4DD1-6BB4-3C42-1000DE7CCFE8}"/>
              </a:ext>
            </a:extLst>
          </p:cNvPr>
          <p:cNvSpPr txBox="1"/>
          <p:nvPr/>
        </p:nvSpPr>
        <p:spPr>
          <a:xfrm>
            <a:off x="711200" y="5943600"/>
            <a:ext cx="10769600" cy="200055"/>
          </a:xfrm>
          <a:prstGeom prst="rect">
            <a:avLst/>
          </a:prstGeom>
          <a:noFill/>
        </p:spPr>
        <p:txBody>
          <a:bodyPr vert="horz" wrap="square" lIns="0" tIns="0" rIns="0" bIns="0" rtlCol="0">
            <a:spAutoFit/>
          </a:bodyPr>
          <a:lstStyle/>
          <a:p>
            <a:r>
              <a:rPr lang="en-US" sz="1300" b="1">
                <a:solidFill>
                  <a:srgbClr val="8C1D40"/>
                </a:solidFill>
                <a:latin typeface="Aptos" panose="020B0004020202020204" pitchFamily="34" charset="0"/>
              </a:rPr>
              <a:t>Takeaway</a:t>
            </a:r>
          </a:p>
        </p:txBody>
      </p:sp>
      <p:sp>
        <p:nvSpPr>
          <p:cNvPr id="63" name="TextBox 62">
            <a:extLst>
              <a:ext uri="{FF2B5EF4-FFF2-40B4-BE49-F238E27FC236}">
                <a16:creationId xmlns:a16="http://schemas.microsoft.com/office/drawing/2014/main" id="{89CF653F-74C6-9005-C55A-DC01AD230678}"/>
              </a:ext>
            </a:extLst>
          </p:cNvPr>
          <p:cNvSpPr txBox="1"/>
          <p:nvPr/>
        </p:nvSpPr>
        <p:spPr>
          <a:xfrm>
            <a:off x="711200" y="6299200"/>
            <a:ext cx="10769600" cy="153888"/>
          </a:xfrm>
          <a:prstGeom prst="rect">
            <a:avLst/>
          </a:prstGeom>
          <a:noFill/>
        </p:spPr>
        <p:txBody>
          <a:bodyPr vert="horz" wrap="square" lIns="0" tIns="0" rIns="0" bIns="0" rtlCol="0">
            <a:spAutoFit/>
          </a:bodyPr>
          <a:lstStyle/>
          <a:p>
            <a:r>
              <a:rPr lang="en-US" sz="1000">
                <a:solidFill>
                  <a:srgbClr val="1C1C1C"/>
                </a:solidFill>
                <a:latin typeface="Aptos" panose="020B0004020202020204" pitchFamily="34" charset="0"/>
              </a:rPr>
              <a:t>Compared with demos.npz, the main gain is style diversity. The dataset now includes ambiguous and actively misleading trajectories, not just more or less curved legible ones.</a:t>
            </a:r>
          </a:p>
        </p:txBody>
      </p:sp>
    </p:spTree>
    <p:extLst>
      <p:ext uri="{BB962C8B-B14F-4D97-AF65-F5344CB8AC3E}">
        <p14:creationId xmlns:p14="http://schemas.microsoft.com/office/powerpoint/2010/main" val="8429671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DFDEAA43-B9B8-319E-0D64-3B2023DCDFB9}"/>
              </a:ext>
            </a:extLst>
          </p:cNvPr>
          <p:cNvSpPr/>
          <p:nvPr/>
        </p:nvSpPr>
        <p:spPr>
          <a:xfrm>
            <a:off x="0" y="0"/>
            <a:ext cx="12192000" cy="6858000"/>
          </a:xfrm>
          <a:prstGeom prst="rect">
            <a:avLst/>
          </a:prstGeom>
          <a:solidFill>
            <a:srgbClr val="F8F6F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0F212064-F2EF-C077-E50C-06E00D73F14C}"/>
              </a:ext>
            </a:extLst>
          </p:cNvPr>
          <p:cNvSpPr txBox="1"/>
          <p:nvPr/>
        </p:nvSpPr>
        <p:spPr>
          <a:xfrm>
            <a:off x="508000" y="355600"/>
            <a:ext cx="9906000" cy="430887"/>
          </a:xfrm>
          <a:prstGeom prst="rect">
            <a:avLst/>
          </a:prstGeom>
          <a:noFill/>
        </p:spPr>
        <p:txBody>
          <a:bodyPr vert="horz" wrap="square" lIns="0" tIns="0" rIns="0" bIns="0" rtlCol="0">
            <a:spAutoFit/>
          </a:bodyPr>
          <a:lstStyle/>
          <a:p>
            <a:r>
              <a:rPr lang="en-US" sz="2800" b="1">
                <a:solidFill>
                  <a:srgbClr val="1C1C1C"/>
                </a:solidFill>
                <a:latin typeface="Aptos" panose="020B0004020202020204" pitchFamily="34" charset="0"/>
              </a:rPr>
              <a:t>Data Distribution &amp; Diversity: demos_v2.npz</a:t>
            </a:r>
          </a:p>
        </p:txBody>
      </p:sp>
      <p:sp>
        <p:nvSpPr>
          <p:cNvPr id="35" name="TextBox 34">
            <a:extLst>
              <a:ext uri="{FF2B5EF4-FFF2-40B4-BE49-F238E27FC236}">
                <a16:creationId xmlns:a16="http://schemas.microsoft.com/office/drawing/2014/main" id="{A2F23126-371F-7920-7581-00A8CE9FEE6B}"/>
              </a:ext>
            </a:extLst>
          </p:cNvPr>
          <p:cNvSpPr txBox="1"/>
          <p:nvPr/>
        </p:nvSpPr>
        <p:spPr>
          <a:xfrm>
            <a:off x="508000" y="800100"/>
            <a:ext cx="10668000" cy="169277"/>
          </a:xfrm>
          <a:prstGeom prst="rect">
            <a:avLst/>
          </a:prstGeom>
          <a:noFill/>
        </p:spPr>
        <p:txBody>
          <a:bodyPr vert="horz" wrap="square" lIns="0" tIns="0" rIns="0" bIns="0" rtlCol="0">
            <a:spAutoFit/>
          </a:bodyPr>
          <a:lstStyle/>
          <a:p>
            <a:r>
              <a:rPr lang="en-US" sz="1100">
                <a:solidFill>
                  <a:srgbClr val="5C5C5C"/>
                </a:solidFill>
                <a:latin typeface="Aptos" panose="020B0004020202020204" pitchFamily="34" charset="0"/>
              </a:rPr>
              <a:t>The third dataset adds conditioning context and behavior-mode signals on top of scene and trajectory diversity</a:t>
            </a:r>
          </a:p>
        </p:txBody>
      </p:sp>
      <p:sp>
        <p:nvSpPr>
          <p:cNvPr id="36" name="Rectangle 35">
            <a:extLst>
              <a:ext uri="{FF2B5EF4-FFF2-40B4-BE49-F238E27FC236}">
                <a16:creationId xmlns:a16="http://schemas.microsoft.com/office/drawing/2014/main" id="{600C2A29-AE82-8C83-E4E7-0DDC815895E3}"/>
              </a:ext>
            </a:extLst>
          </p:cNvPr>
          <p:cNvSpPr/>
          <p:nvPr/>
        </p:nvSpPr>
        <p:spPr>
          <a:xfrm>
            <a:off x="508000" y="1168400"/>
            <a:ext cx="11176000" cy="50800"/>
          </a:xfrm>
          <a:prstGeom prst="rect">
            <a:avLst/>
          </a:prstGeom>
          <a:solidFill>
            <a:srgbClr val="FFC62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34748518-4F24-2BB1-496D-EF6A45982423}"/>
              </a:ext>
            </a:extLst>
          </p:cNvPr>
          <p:cNvSpPr txBox="1"/>
          <p:nvPr/>
        </p:nvSpPr>
        <p:spPr>
          <a:xfrm>
            <a:off x="11430000" y="381000"/>
            <a:ext cx="254000" cy="153888"/>
          </a:xfrm>
          <a:prstGeom prst="rect">
            <a:avLst/>
          </a:prstGeom>
          <a:noFill/>
        </p:spPr>
        <p:txBody>
          <a:bodyPr vert="horz" wrap="square" lIns="0" tIns="0" rIns="0" bIns="0" rtlCol="0">
            <a:spAutoFit/>
          </a:bodyPr>
          <a:lstStyle/>
          <a:p>
            <a:pPr algn="r"/>
            <a:r>
              <a:rPr lang="en-US" sz="1000">
                <a:solidFill>
                  <a:srgbClr val="5C5C5C"/>
                </a:solidFill>
                <a:latin typeface="Aptos" panose="020B0004020202020204" pitchFamily="34" charset="0"/>
              </a:rPr>
              <a:t>30</a:t>
            </a:r>
          </a:p>
        </p:txBody>
      </p:sp>
      <p:sp>
        <p:nvSpPr>
          <p:cNvPr id="38" name="Rectangle: Rounded Corners 37">
            <a:extLst>
              <a:ext uri="{FF2B5EF4-FFF2-40B4-BE49-F238E27FC236}">
                <a16:creationId xmlns:a16="http://schemas.microsoft.com/office/drawing/2014/main" id="{CE9912C0-E763-1447-E9EA-FA1916B268DD}"/>
              </a:ext>
            </a:extLst>
          </p:cNvPr>
          <p:cNvSpPr/>
          <p:nvPr/>
        </p:nvSpPr>
        <p:spPr>
          <a:xfrm>
            <a:off x="508000" y="1498600"/>
            <a:ext cx="2286000" cy="1371600"/>
          </a:xfrm>
          <a:prstGeom prst="roundRect">
            <a:avLst/>
          </a:prstGeom>
          <a:solidFill>
            <a:srgbClr val="FFFFFF"/>
          </a:solidFill>
          <a:ln w="12700">
            <a:solidFill>
              <a:srgbClr val="D2D0C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0D3A6866-4670-A73D-2897-0C9D5DE53F8E}"/>
              </a:ext>
            </a:extLst>
          </p:cNvPr>
          <p:cNvSpPr/>
          <p:nvPr/>
        </p:nvSpPr>
        <p:spPr>
          <a:xfrm>
            <a:off x="685800" y="1651000"/>
            <a:ext cx="1930400" cy="50800"/>
          </a:xfrm>
          <a:prstGeom prst="rect">
            <a:avLst/>
          </a:prstGeom>
          <a:solidFill>
            <a:srgbClr val="8C1D4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a:extLst>
              <a:ext uri="{FF2B5EF4-FFF2-40B4-BE49-F238E27FC236}">
                <a16:creationId xmlns:a16="http://schemas.microsoft.com/office/drawing/2014/main" id="{16DFBB38-8A23-B1B6-72EA-F255589C9FFD}"/>
              </a:ext>
            </a:extLst>
          </p:cNvPr>
          <p:cNvSpPr txBox="1"/>
          <p:nvPr/>
        </p:nvSpPr>
        <p:spPr>
          <a:xfrm>
            <a:off x="685800" y="1752600"/>
            <a:ext cx="1930400" cy="153888"/>
          </a:xfrm>
          <a:prstGeom prst="rect">
            <a:avLst/>
          </a:prstGeom>
          <a:noFill/>
        </p:spPr>
        <p:txBody>
          <a:bodyPr vert="horz" wrap="square" lIns="0" tIns="0" rIns="0" bIns="0" rtlCol="0">
            <a:spAutoFit/>
          </a:bodyPr>
          <a:lstStyle/>
          <a:p>
            <a:r>
              <a:rPr lang="en-US" sz="1000" b="1">
                <a:solidFill>
                  <a:srgbClr val="5C5C5C"/>
                </a:solidFill>
                <a:latin typeface="Aptos" panose="020B0004020202020204" pitchFamily="34" charset="0"/>
              </a:rPr>
              <a:t>Planned total</a:t>
            </a:r>
          </a:p>
        </p:txBody>
      </p:sp>
      <p:sp>
        <p:nvSpPr>
          <p:cNvPr id="41" name="TextBox 40">
            <a:extLst>
              <a:ext uri="{FF2B5EF4-FFF2-40B4-BE49-F238E27FC236}">
                <a16:creationId xmlns:a16="http://schemas.microsoft.com/office/drawing/2014/main" id="{44A09682-489E-C32B-E11D-7DD1F5622875}"/>
              </a:ext>
            </a:extLst>
          </p:cNvPr>
          <p:cNvSpPr txBox="1"/>
          <p:nvPr/>
        </p:nvSpPr>
        <p:spPr>
          <a:xfrm>
            <a:off x="685800" y="2032000"/>
            <a:ext cx="1930400" cy="338554"/>
          </a:xfrm>
          <a:prstGeom prst="rect">
            <a:avLst/>
          </a:prstGeom>
          <a:noFill/>
        </p:spPr>
        <p:txBody>
          <a:bodyPr vert="horz" wrap="square" lIns="0" tIns="0" rIns="0" bIns="0" rtlCol="0">
            <a:spAutoFit/>
          </a:bodyPr>
          <a:lstStyle/>
          <a:p>
            <a:r>
              <a:rPr lang="en-US" sz="2200" b="1">
                <a:solidFill>
                  <a:srgbClr val="8C1D40"/>
                </a:solidFill>
                <a:latin typeface="Aptos" panose="020B0004020202020204" pitchFamily="34" charset="0"/>
              </a:rPr>
              <a:t>~500</a:t>
            </a:r>
          </a:p>
        </p:txBody>
      </p:sp>
      <p:sp>
        <p:nvSpPr>
          <p:cNvPr id="42" name="TextBox 41">
            <a:extLst>
              <a:ext uri="{FF2B5EF4-FFF2-40B4-BE49-F238E27FC236}">
                <a16:creationId xmlns:a16="http://schemas.microsoft.com/office/drawing/2014/main" id="{8A1F7E1E-C5D8-9B00-8189-AD4D0B831EA0}"/>
              </a:ext>
            </a:extLst>
          </p:cNvPr>
          <p:cNvSpPr txBox="1"/>
          <p:nvPr/>
        </p:nvSpPr>
        <p:spPr>
          <a:xfrm>
            <a:off x="685800" y="2463800"/>
            <a:ext cx="1930400" cy="307777"/>
          </a:xfrm>
          <a:prstGeom prst="rect">
            <a:avLst/>
          </a:prstGeom>
          <a:noFill/>
        </p:spPr>
        <p:txBody>
          <a:bodyPr vert="horz" wrap="square" lIns="0" tIns="0" rIns="0" bIns="0" rtlCol="0">
            <a:spAutoFit/>
          </a:bodyPr>
          <a:lstStyle/>
          <a:p>
            <a:r>
              <a:rPr lang="en-US" sz="1000">
                <a:solidFill>
                  <a:srgbClr val="5C5C5C"/>
                </a:solidFill>
                <a:latin typeface="Aptos" panose="020B0004020202020204" pitchFamily="34" charset="0"/>
              </a:rPr>
              <a:t>May be slightly lower because failed episodes can be skipped</a:t>
            </a:r>
          </a:p>
        </p:txBody>
      </p:sp>
      <p:sp>
        <p:nvSpPr>
          <p:cNvPr id="43" name="Rectangle: Rounded Corners 42">
            <a:extLst>
              <a:ext uri="{FF2B5EF4-FFF2-40B4-BE49-F238E27FC236}">
                <a16:creationId xmlns:a16="http://schemas.microsoft.com/office/drawing/2014/main" id="{99BD55C2-42F6-CA56-DA24-6DF623B0A5CE}"/>
              </a:ext>
            </a:extLst>
          </p:cNvPr>
          <p:cNvSpPr/>
          <p:nvPr/>
        </p:nvSpPr>
        <p:spPr>
          <a:xfrm>
            <a:off x="2921000" y="1498600"/>
            <a:ext cx="2286000" cy="1371600"/>
          </a:xfrm>
          <a:prstGeom prst="roundRect">
            <a:avLst/>
          </a:prstGeom>
          <a:solidFill>
            <a:srgbClr val="FFFFFF"/>
          </a:solidFill>
          <a:ln w="12700">
            <a:solidFill>
              <a:srgbClr val="D2D0C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C109A6F7-3257-19D7-24DE-5924E21B4DA1}"/>
              </a:ext>
            </a:extLst>
          </p:cNvPr>
          <p:cNvSpPr/>
          <p:nvPr/>
        </p:nvSpPr>
        <p:spPr>
          <a:xfrm>
            <a:off x="3098800" y="1651000"/>
            <a:ext cx="1930400" cy="50800"/>
          </a:xfrm>
          <a:prstGeom prst="rect">
            <a:avLst/>
          </a:prstGeom>
          <a:solidFill>
            <a:srgbClr val="4984C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extBox 44">
            <a:extLst>
              <a:ext uri="{FF2B5EF4-FFF2-40B4-BE49-F238E27FC236}">
                <a16:creationId xmlns:a16="http://schemas.microsoft.com/office/drawing/2014/main" id="{4636CA69-BCAA-CEE3-0FCD-96E55DF9E4F8}"/>
              </a:ext>
            </a:extLst>
          </p:cNvPr>
          <p:cNvSpPr txBox="1"/>
          <p:nvPr/>
        </p:nvSpPr>
        <p:spPr>
          <a:xfrm>
            <a:off x="3098800" y="1752600"/>
            <a:ext cx="1930400" cy="153888"/>
          </a:xfrm>
          <a:prstGeom prst="rect">
            <a:avLst/>
          </a:prstGeom>
          <a:noFill/>
        </p:spPr>
        <p:txBody>
          <a:bodyPr vert="horz" wrap="square" lIns="0" tIns="0" rIns="0" bIns="0" rtlCol="0">
            <a:spAutoFit/>
          </a:bodyPr>
          <a:lstStyle/>
          <a:p>
            <a:r>
              <a:rPr lang="en-US" sz="1000" b="1">
                <a:solidFill>
                  <a:srgbClr val="5C5C5C"/>
                </a:solidFill>
                <a:latin typeface="Aptos" panose="020B0004020202020204" pitchFamily="34" charset="0"/>
              </a:rPr>
              <a:t>Observation</a:t>
            </a:r>
          </a:p>
        </p:txBody>
      </p:sp>
      <p:sp>
        <p:nvSpPr>
          <p:cNvPr id="46" name="TextBox 45">
            <a:extLst>
              <a:ext uri="{FF2B5EF4-FFF2-40B4-BE49-F238E27FC236}">
                <a16:creationId xmlns:a16="http://schemas.microsoft.com/office/drawing/2014/main" id="{A1909588-56E4-86F5-ED70-B3A56D50A913}"/>
              </a:ext>
            </a:extLst>
          </p:cNvPr>
          <p:cNvSpPr txBox="1"/>
          <p:nvPr/>
        </p:nvSpPr>
        <p:spPr>
          <a:xfrm>
            <a:off x="3098800" y="2032000"/>
            <a:ext cx="1930400" cy="338554"/>
          </a:xfrm>
          <a:prstGeom prst="rect">
            <a:avLst/>
          </a:prstGeom>
          <a:noFill/>
        </p:spPr>
        <p:txBody>
          <a:bodyPr vert="horz" wrap="square" lIns="0" tIns="0" rIns="0" bIns="0" rtlCol="0">
            <a:spAutoFit/>
          </a:bodyPr>
          <a:lstStyle/>
          <a:p>
            <a:r>
              <a:rPr lang="en-US" sz="2200" b="1">
                <a:solidFill>
                  <a:srgbClr val="4984CB"/>
                </a:solidFill>
                <a:latin typeface="Aptos" panose="020B0004020202020204" pitchFamily="34" charset="0"/>
              </a:rPr>
              <a:t>26-D</a:t>
            </a:r>
          </a:p>
        </p:txBody>
      </p:sp>
      <p:sp>
        <p:nvSpPr>
          <p:cNvPr id="47" name="TextBox 46">
            <a:extLst>
              <a:ext uri="{FF2B5EF4-FFF2-40B4-BE49-F238E27FC236}">
                <a16:creationId xmlns:a16="http://schemas.microsoft.com/office/drawing/2014/main" id="{2E6E8E21-6048-4C5A-3CD1-0D02F274D2C8}"/>
              </a:ext>
            </a:extLst>
          </p:cNvPr>
          <p:cNvSpPr txBox="1"/>
          <p:nvPr/>
        </p:nvSpPr>
        <p:spPr>
          <a:xfrm>
            <a:off x="3098800" y="2463800"/>
            <a:ext cx="1930400" cy="307777"/>
          </a:xfrm>
          <a:prstGeom prst="rect">
            <a:avLst/>
          </a:prstGeom>
          <a:noFill/>
        </p:spPr>
        <p:txBody>
          <a:bodyPr vert="horz" wrap="square" lIns="0" tIns="0" rIns="0" bIns="0" rtlCol="0">
            <a:spAutoFit/>
          </a:bodyPr>
          <a:lstStyle/>
          <a:p>
            <a:r>
              <a:rPr lang="en-US" sz="1000">
                <a:solidFill>
                  <a:srgbClr val="5C5C5C"/>
                </a:solidFill>
                <a:latin typeface="Aptos" panose="020B0004020202020204" pitchFamily="34" charset="0"/>
              </a:rPr>
              <a:t>22 base + 3 context_xyz + 1 behavior_mode</a:t>
            </a:r>
          </a:p>
        </p:txBody>
      </p:sp>
      <p:sp>
        <p:nvSpPr>
          <p:cNvPr id="48" name="Rectangle: Rounded Corners 47">
            <a:extLst>
              <a:ext uri="{FF2B5EF4-FFF2-40B4-BE49-F238E27FC236}">
                <a16:creationId xmlns:a16="http://schemas.microsoft.com/office/drawing/2014/main" id="{69717387-87AD-8168-3D4E-68DD1D8E17A4}"/>
              </a:ext>
            </a:extLst>
          </p:cNvPr>
          <p:cNvSpPr/>
          <p:nvPr/>
        </p:nvSpPr>
        <p:spPr>
          <a:xfrm>
            <a:off x="5334000" y="1498600"/>
            <a:ext cx="2286000" cy="1371600"/>
          </a:xfrm>
          <a:prstGeom prst="roundRect">
            <a:avLst/>
          </a:prstGeom>
          <a:solidFill>
            <a:srgbClr val="FFFFFF"/>
          </a:solidFill>
          <a:ln w="12700">
            <a:solidFill>
              <a:srgbClr val="D2D0C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A51A1A75-E0C6-FFE3-B69D-9D93BE353A34}"/>
              </a:ext>
            </a:extLst>
          </p:cNvPr>
          <p:cNvSpPr/>
          <p:nvPr/>
        </p:nvSpPr>
        <p:spPr>
          <a:xfrm>
            <a:off x="5511800" y="1651000"/>
            <a:ext cx="1930400" cy="50800"/>
          </a:xfrm>
          <a:prstGeom prst="rect">
            <a:avLst/>
          </a:prstGeom>
          <a:solidFill>
            <a:srgbClr val="5B995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TextBox 49">
            <a:extLst>
              <a:ext uri="{FF2B5EF4-FFF2-40B4-BE49-F238E27FC236}">
                <a16:creationId xmlns:a16="http://schemas.microsoft.com/office/drawing/2014/main" id="{B64EE6E0-3B46-1610-537B-49D502E45A3F}"/>
              </a:ext>
            </a:extLst>
          </p:cNvPr>
          <p:cNvSpPr txBox="1"/>
          <p:nvPr/>
        </p:nvSpPr>
        <p:spPr>
          <a:xfrm>
            <a:off x="5511800" y="1752600"/>
            <a:ext cx="1930400" cy="153888"/>
          </a:xfrm>
          <a:prstGeom prst="rect">
            <a:avLst/>
          </a:prstGeom>
          <a:noFill/>
        </p:spPr>
        <p:txBody>
          <a:bodyPr vert="horz" wrap="square" lIns="0" tIns="0" rIns="0" bIns="0" rtlCol="0">
            <a:spAutoFit/>
          </a:bodyPr>
          <a:lstStyle/>
          <a:p>
            <a:r>
              <a:rPr lang="en-US" sz="1000" b="1">
                <a:solidFill>
                  <a:srgbClr val="5C5C5C"/>
                </a:solidFill>
                <a:latin typeface="Aptos" panose="020B0004020202020204" pitchFamily="34" charset="0"/>
              </a:rPr>
              <a:t>Behavior types</a:t>
            </a:r>
          </a:p>
        </p:txBody>
      </p:sp>
      <p:sp>
        <p:nvSpPr>
          <p:cNvPr id="51" name="TextBox 50">
            <a:extLst>
              <a:ext uri="{FF2B5EF4-FFF2-40B4-BE49-F238E27FC236}">
                <a16:creationId xmlns:a16="http://schemas.microsoft.com/office/drawing/2014/main" id="{8BDE633F-8BDC-6C06-87DD-072AA9952973}"/>
              </a:ext>
            </a:extLst>
          </p:cNvPr>
          <p:cNvSpPr txBox="1"/>
          <p:nvPr/>
        </p:nvSpPr>
        <p:spPr>
          <a:xfrm>
            <a:off x="5511800" y="2032000"/>
            <a:ext cx="1930400" cy="338554"/>
          </a:xfrm>
          <a:prstGeom prst="rect">
            <a:avLst/>
          </a:prstGeom>
          <a:noFill/>
        </p:spPr>
        <p:txBody>
          <a:bodyPr vert="horz" wrap="square" lIns="0" tIns="0" rIns="0" bIns="0" rtlCol="0">
            <a:spAutoFit/>
          </a:bodyPr>
          <a:lstStyle/>
          <a:p>
            <a:r>
              <a:rPr lang="en-US" sz="2200" b="1">
                <a:solidFill>
                  <a:srgbClr val="5B995D"/>
                </a:solidFill>
                <a:latin typeface="Aptos" panose="020B0004020202020204" pitchFamily="34" charset="0"/>
              </a:rPr>
              <a:t>5</a:t>
            </a:r>
          </a:p>
        </p:txBody>
      </p:sp>
      <p:sp>
        <p:nvSpPr>
          <p:cNvPr id="52" name="TextBox 51">
            <a:extLst>
              <a:ext uri="{FF2B5EF4-FFF2-40B4-BE49-F238E27FC236}">
                <a16:creationId xmlns:a16="http://schemas.microsoft.com/office/drawing/2014/main" id="{F5654C50-DA0F-B87C-7905-E0E03273ABD3}"/>
              </a:ext>
            </a:extLst>
          </p:cNvPr>
          <p:cNvSpPr txBox="1"/>
          <p:nvPr/>
        </p:nvSpPr>
        <p:spPr>
          <a:xfrm>
            <a:off x="5511800" y="2463800"/>
            <a:ext cx="1930400" cy="307777"/>
          </a:xfrm>
          <a:prstGeom prst="rect">
            <a:avLst/>
          </a:prstGeom>
          <a:noFill/>
        </p:spPr>
        <p:txBody>
          <a:bodyPr vert="horz" wrap="square" lIns="0" tIns="0" rIns="0" bIns="0" rtlCol="0">
            <a:spAutoFit/>
          </a:bodyPr>
          <a:lstStyle/>
          <a:p>
            <a:r>
              <a:rPr lang="en-US" sz="1000">
                <a:solidFill>
                  <a:srgbClr val="5C5C5C"/>
                </a:solidFill>
                <a:latin typeface="Aptos" panose="020B0004020202020204" pitchFamily="34" charset="0"/>
              </a:rPr>
              <a:t>legible, predictable, safety_legible, safety_predictable, grounding</a:t>
            </a:r>
          </a:p>
        </p:txBody>
      </p:sp>
      <p:sp>
        <p:nvSpPr>
          <p:cNvPr id="53" name="Rectangle: Rounded Corners 52">
            <a:extLst>
              <a:ext uri="{FF2B5EF4-FFF2-40B4-BE49-F238E27FC236}">
                <a16:creationId xmlns:a16="http://schemas.microsoft.com/office/drawing/2014/main" id="{00C4C58D-B839-B983-F359-34B483547475}"/>
              </a:ext>
            </a:extLst>
          </p:cNvPr>
          <p:cNvSpPr/>
          <p:nvPr/>
        </p:nvSpPr>
        <p:spPr>
          <a:xfrm>
            <a:off x="7747000" y="1498600"/>
            <a:ext cx="2286000" cy="1371600"/>
          </a:xfrm>
          <a:prstGeom prst="roundRect">
            <a:avLst/>
          </a:prstGeom>
          <a:solidFill>
            <a:srgbClr val="FFFFFF"/>
          </a:solidFill>
          <a:ln w="12700">
            <a:solidFill>
              <a:srgbClr val="D2D0C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a:extLst>
              <a:ext uri="{FF2B5EF4-FFF2-40B4-BE49-F238E27FC236}">
                <a16:creationId xmlns:a16="http://schemas.microsoft.com/office/drawing/2014/main" id="{E187C444-1B26-BEE0-43E3-AC502F1471AA}"/>
              </a:ext>
            </a:extLst>
          </p:cNvPr>
          <p:cNvSpPr/>
          <p:nvPr/>
        </p:nvSpPr>
        <p:spPr>
          <a:xfrm>
            <a:off x="7924800" y="1651000"/>
            <a:ext cx="1930400" cy="50800"/>
          </a:xfrm>
          <a:prstGeom prst="rect">
            <a:avLst/>
          </a:prstGeom>
          <a:solidFill>
            <a:srgbClr val="FFC62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TextBox 54">
            <a:extLst>
              <a:ext uri="{FF2B5EF4-FFF2-40B4-BE49-F238E27FC236}">
                <a16:creationId xmlns:a16="http://schemas.microsoft.com/office/drawing/2014/main" id="{917EB9F7-BA1E-6622-2A55-42FA02D19327}"/>
              </a:ext>
            </a:extLst>
          </p:cNvPr>
          <p:cNvSpPr txBox="1"/>
          <p:nvPr/>
        </p:nvSpPr>
        <p:spPr>
          <a:xfrm>
            <a:off x="7924800" y="1752600"/>
            <a:ext cx="1930400" cy="153888"/>
          </a:xfrm>
          <a:prstGeom prst="rect">
            <a:avLst/>
          </a:prstGeom>
          <a:noFill/>
        </p:spPr>
        <p:txBody>
          <a:bodyPr vert="horz" wrap="square" lIns="0" tIns="0" rIns="0" bIns="0" rtlCol="0">
            <a:spAutoFit/>
          </a:bodyPr>
          <a:lstStyle/>
          <a:p>
            <a:r>
              <a:rPr lang="en-US" sz="1000" b="1">
                <a:solidFill>
                  <a:srgbClr val="5C5C5C"/>
                </a:solidFill>
                <a:latin typeface="Aptos" panose="020B0004020202020204" pitchFamily="34" charset="0"/>
              </a:rPr>
              <a:t>Mode values</a:t>
            </a:r>
          </a:p>
        </p:txBody>
      </p:sp>
      <p:sp>
        <p:nvSpPr>
          <p:cNvPr id="56" name="TextBox 55">
            <a:extLst>
              <a:ext uri="{FF2B5EF4-FFF2-40B4-BE49-F238E27FC236}">
                <a16:creationId xmlns:a16="http://schemas.microsoft.com/office/drawing/2014/main" id="{F9A07337-AC75-E60D-E09C-805E1669A48E}"/>
              </a:ext>
            </a:extLst>
          </p:cNvPr>
          <p:cNvSpPr txBox="1"/>
          <p:nvPr/>
        </p:nvSpPr>
        <p:spPr>
          <a:xfrm>
            <a:off x="7924800" y="2032000"/>
            <a:ext cx="1930400" cy="338554"/>
          </a:xfrm>
          <a:prstGeom prst="rect">
            <a:avLst/>
          </a:prstGeom>
          <a:noFill/>
        </p:spPr>
        <p:txBody>
          <a:bodyPr vert="horz" wrap="square" lIns="0" tIns="0" rIns="0" bIns="0" rtlCol="0">
            <a:spAutoFit/>
          </a:bodyPr>
          <a:lstStyle/>
          <a:p>
            <a:r>
              <a:rPr lang="en-US" sz="2200" b="1">
                <a:solidFill>
                  <a:srgbClr val="FFC627"/>
                </a:solidFill>
                <a:latin typeface="Aptos" panose="020B0004020202020204" pitchFamily="34" charset="0"/>
              </a:rPr>
              <a:t>+1 / -1 / 0</a:t>
            </a:r>
          </a:p>
        </p:txBody>
      </p:sp>
      <p:sp>
        <p:nvSpPr>
          <p:cNvPr id="57" name="TextBox 56">
            <a:extLst>
              <a:ext uri="{FF2B5EF4-FFF2-40B4-BE49-F238E27FC236}">
                <a16:creationId xmlns:a16="http://schemas.microsoft.com/office/drawing/2014/main" id="{396156DE-63BF-4AEA-186C-2869D122FD81}"/>
              </a:ext>
            </a:extLst>
          </p:cNvPr>
          <p:cNvSpPr txBox="1"/>
          <p:nvPr/>
        </p:nvSpPr>
        <p:spPr>
          <a:xfrm>
            <a:off x="7924800" y="2463800"/>
            <a:ext cx="1930400" cy="153888"/>
          </a:xfrm>
          <a:prstGeom prst="rect">
            <a:avLst/>
          </a:prstGeom>
          <a:noFill/>
        </p:spPr>
        <p:txBody>
          <a:bodyPr vert="horz" wrap="square" lIns="0" tIns="0" rIns="0" bIns="0" rtlCol="0">
            <a:spAutoFit/>
          </a:bodyPr>
          <a:lstStyle/>
          <a:p>
            <a:r>
              <a:rPr lang="en-US" sz="1000">
                <a:solidFill>
                  <a:srgbClr val="5C5C5C"/>
                </a:solidFill>
                <a:latin typeface="Aptos" panose="020B0004020202020204" pitchFamily="34" charset="0"/>
              </a:rPr>
              <a:t>Legible, predictable, grounding</a:t>
            </a:r>
          </a:p>
        </p:txBody>
      </p:sp>
      <p:sp>
        <p:nvSpPr>
          <p:cNvPr id="58" name="Rectangle: Rounded Corners 57">
            <a:extLst>
              <a:ext uri="{FF2B5EF4-FFF2-40B4-BE49-F238E27FC236}">
                <a16:creationId xmlns:a16="http://schemas.microsoft.com/office/drawing/2014/main" id="{8E688CD1-955D-06F6-3174-152BDDD62CCE}"/>
              </a:ext>
            </a:extLst>
          </p:cNvPr>
          <p:cNvSpPr/>
          <p:nvPr/>
        </p:nvSpPr>
        <p:spPr>
          <a:xfrm>
            <a:off x="508000" y="3098800"/>
            <a:ext cx="11176000" cy="2616200"/>
          </a:xfrm>
          <a:prstGeom prst="roundRect">
            <a:avLst/>
          </a:prstGeom>
          <a:solidFill>
            <a:srgbClr val="FFFFFF"/>
          </a:solidFill>
          <a:ln w="13970">
            <a:solidFill>
              <a:srgbClr val="4984C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TextBox 58">
            <a:extLst>
              <a:ext uri="{FF2B5EF4-FFF2-40B4-BE49-F238E27FC236}">
                <a16:creationId xmlns:a16="http://schemas.microsoft.com/office/drawing/2014/main" id="{2C4C96B8-2ADC-1DA9-0412-455F77EBD9CD}"/>
              </a:ext>
            </a:extLst>
          </p:cNvPr>
          <p:cNvSpPr txBox="1"/>
          <p:nvPr/>
        </p:nvSpPr>
        <p:spPr>
          <a:xfrm>
            <a:off x="711200" y="3276600"/>
            <a:ext cx="10769600" cy="200055"/>
          </a:xfrm>
          <a:prstGeom prst="rect">
            <a:avLst/>
          </a:prstGeom>
          <a:noFill/>
        </p:spPr>
        <p:txBody>
          <a:bodyPr vert="horz" wrap="square" lIns="0" tIns="0" rIns="0" bIns="0" rtlCol="0">
            <a:spAutoFit/>
          </a:bodyPr>
          <a:lstStyle/>
          <a:p>
            <a:r>
              <a:rPr lang="en-US" sz="1300" b="1">
                <a:solidFill>
                  <a:srgbClr val="4984CB"/>
                </a:solidFill>
                <a:latin typeface="Aptos" panose="020B0004020202020204" pitchFamily="34" charset="0"/>
              </a:rPr>
              <a:t>Axes of variation</a:t>
            </a:r>
          </a:p>
        </p:txBody>
      </p:sp>
      <p:sp>
        <p:nvSpPr>
          <p:cNvPr id="60" name="TextBox 59">
            <a:extLst>
              <a:ext uri="{FF2B5EF4-FFF2-40B4-BE49-F238E27FC236}">
                <a16:creationId xmlns:a16="http://schemas.microsoft.com/office/drawing/2014/main" id="{E147D3FE-85F3-EFD4-050B-5EDC9703F694}"/>
              </a:ext>
            </a:extLst>
          </p:cNvPr>
          <p:cNvSpPr txBox="1"/>
          <p:nvPr/>
        </p:nvSpPr>
        <p:spPr>
          <a:xfrm>
            <a:off x="711200" y="3632200"/>
            <a:ext cx="10769600" cy="1538883"/>
          </a:xfrm>
          <a:prstGeom prst="rect">
            <a:avLst/>
          </a:prstGeom>
          <a:noFill/>
        </p:spPr>
        <p:txBody>
          <a:bodyPr vert="horz" wrap="square" lIns="0" tIns="0" rIns="0" bIns="0" rtlCol="0">
            <a:spAutoFit/>
          </a:bodyPr>
          <a:lstStyle/>
          <a:p>
            <a:r>
              <a:rPr lang="en-US" sz="1000">
                <a:solidFill>
                  <a:srgbClr val="1C1C1C"/>
                </a:solidFill>
                <a:latin typeface="Consolas" panose="020B0609020204030204" pitchFamily="49" charset="0"/>
              </a:rPr>
              <a:t>Behavior split          200 legible + 100 predictable + 50 safety_legible + 50 safety_predictable + 100 grounding
Target side             balanced left/right within each behavior family
Block configs           same 10 block-position configs as earlier datasets
Legible vars            10 vars; quadratic Bezier toward target; cp_y_mag 8 cm to 28 cm
Predictable vars        5 vars; quasi-straight quadratic path via midpoint upward bulge; approach_h 6 cm to 12 cm
Safety-legible          obstacle placed on straight path at x=0.46, y~+/-2 cm; wider arcs 12 cm to 28 cm
Safety-predictable      obstacle placed on curved path at x=0.38, y~+/-11 cm
Obstacle                cyan cylinder, radius 3.5 cm, height 18 cm, visual-only; xyz goes into context
Grounding               5 waypoints x 2 sides; home -&gt; hover waypoint -&gt; rise -&gt; transit -&gt; pick
Context signal          [0,0,0] for legible/predictable; obstacle xyz for safety; waypoint xyz for grounding</a:t>
            </a:r>
          </a:p>
        </p:txBody>
      </p:sp>
      <p:sp>
        <p:nvSpPr>
          <p:cNvPr id="61" name="Rectangle: Rounded Corners 60">
            <a:extLst>
              <a:ext uri="{FF2B5EF4-FFF2-40B4-BE49-F238E27FC236}">
                <a16:creationId xmlns:a16="http://schemas.microsoft.com/office/drawing/2014/main" id="{61DE4978-106D-72A2-C318-583E5D22711F}"/>
              </a:ext>
            </a:extLst>
          </p:cNvPr>
          <p:cNvSpPr/>
          <p:nvPr/>
        </p:nvSpPr>
        <p:spPr>
          <a:xfrm>
            <a:off x="508000" y="5765800"/>
            <a:ext cx="11176000" cy="812800"/>
          </a:xfrm>
          <a:prstGeom prst="roundRect">
            <a:avLst/>
          </a:prstGeom>
          <a:solidFill>
            <a:srgbClr val="F5E9EE"/>
          </a:solidFill>
          <a:ln w="13970">
            <a:solidFill>
              <a:srgbClr val="8C1D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TextBox 61">
            <a:extLst>
              <a:ext uri="{FF2B5EF4-FFF2-40B4-BE49-F238E27FC236}">
                <a16:creationId xmlns:a16="http://schemas.microsoft.com/office/drawing/2014/main" id="{22E74B26-3204-7277-28D0-AEE6747305AA}"/>
              </a:ext>
            </a:extLst>
          </p:cNvPr>
          <p:cNvSpPr txBox="1"/>
          <p:nvPr/>
        </p:nvSpPr>
        <p:spPr>
          <a:xfrm>
            <a:off x="711200" y="5943600"/>
            <a:ext cx="10769600" cy="200055"/>
          </a:xfrm>
          <a:prstGeom prst="rect">
            <a:avLst/>
          </a:prstGeom>
          <a:noFill/>
        </p:spPr>
        <p:txBody>
          <a:bodyPr vert="horz" wrap="square" lIns="0" tIns="0" rIns="0" bIns="0" rtlCol="0">
            <a:spAutoFit/>
          </a:bodyPr>
          <a:lstStyle/>
          <a:p>
            <a:r>
              <a:rPr lang="en-US" sz="1300" b="1">
                <a:solidFill>
                  <a:srgbClr val="8C1D40"/>
                </a:solidFill>
                <a:latin typeface="Aptos" panose="020B0004020202020204" pitchFamily="34" charset="0"/>
              </a:rPr>
              <a:t>Takeaway</a:t>
            </a:r>
          </a:p>
        </p:txBody>
      </p:sp>
      <p:sp>
        <p:nvSpPr>
          <p:cNvPr id="63" name="TextBox 62">
            <a:extLst>
              <a:ext uri="{FF2B5EF4-FFF2-40B4-BE49-F238E27FC236}">
                <a16:creationId xmlns:a16="http://schemas.microsoft.com/office/drawing/2014/main" id="{FE984AE9-D292-7E7D-ACE9-3F83BB4DEF63}"/>
              </a:ext>
            </a:extLst>
          </p:cNvPr>
          <p:cNvSpPr txBox="1"/>
          <p:nvPr/>
        </p:nvSpPr>
        <p:spPr>
          <a:xfrm>
            <a:off x="711200" y="6299200"/>
            <a:ext cx="10769600" cy="153888"/>
          </a:xfrm>
          <a:prstGeom prst="rect">
            <a:avLst/>
          </a:prstGeom>
          <a:noFill/>
        </p:spPr>
        <p:txBody>
          <a:bodyPr vert="horz" wrap="square" lIns="0" tIns="0" rIns="0" bIns="0" rtlCol="0">
            <a:spAutoFit/>
          </a:bodyPr>
          <a:lstStyle/>
          <a:p>
            <a:r>
              <a:rPr lang="en-US" sz="1000">
                <a:solidFill>
                  <a:srgbClr val="1C1C1C"/>
                </a:solidFill>
                <a:latin typeface="Aptos" panose="020B0004020202020204" pitchFamily="34" charset="0"/>
              </a:rPr>
              <a:t>This dataset adds both richer behavior diversity and explicit context conditioning, making it the most suitable set for CFG-style conditioning and behavior steering experiments.</a:t>
            </a:r>
          </a:p>
        </p:txBody>
      </p:sp>
    </p:spTree>
    <p:extLst>
      <p:ext uri="{BB962C8B-B14F-4D97-AF65-F5344CB8AC3E}">
        <p14:creationId xmlns:p14="http://schemas.microsoft.com/office/powerpoint/2010/main" val="33578648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F69BBEC1-5722-BCEA-3F2E-2E8419C6E7CF}"/>
              </a:ext>
            </a:extLst>
          </p:cNvPr>
          <p:cNvSpPr/>
          <p:nvPr/>
        </p:nvSpPr>
        <p:spPr>
          <a:xfrm>
            <a:off x="0" y="0"/>
            <a:ext cx="12192000" cy="6858000"/>
          </a:xfrm>
          <a:prstGeom prst="rect">
            <a:avLst/>
          </a:prstGeom>
          <a:solidFill>
            <a:srgbClr val="F8F6F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92353FB6-80FD-350E-C846-DA1BFAC4D677}"/>
              </a:ext>
            </a:extLst>
          </p:cNvPr>
          <p:cNvSpPr txBox="1"/>
          <p:nvPr/>
        </p:nvSpPr>
        <p:spPr>
          <a:xfrm>
            <a:off x="508000" y="355600"/>
            <a:ext cx="10414000" cy="430887"/>
          </a:xfrm>
          <a:prstGeom prst="rect">
            <a:avLst/>
          </a:prstGeom>
          <a:noFill/>
        </p:spPr>
        <p:txBody>
          <a:bodyPr vert="horz" wrap="square" lIns="0" tIns="0" rIns="0" bIns="0" rtlCol="0">
            <a:spAutoFit/>
          </a:bodyPr>
          <a:lstStyle/>
          <a:p>
            <a:r>
              <a:rPr lang="en-US" sz="2800" b="1">
                <a:solidFill>
                  <a:srgbClr val="1C1C1C"/>
                </a:solidFill>
                <a:latin typeface="Aptos" panose="020B0004020202020204" pitchFamily="34" charset="0"/>
              </a:rPr>
              <a:t>Video Examples: Legible Arc Magnitude</a:t>
            </a:r>
          </a:p>
        </p:txBody>
      </p:sp>
      <p:sp>
        <p:nvSpPr>
          <p:cNvPr id="18" name="TextBox 17">
            <a:extLst>
              <a:ext uri="{FF2B5EF4-FFF2-40B4-BE49-F238E27FC236}">
                <a16:creationId xmlns:a16="http://schemas.microsoft.com/office/drawing/2014/main" id="{A9E40381-FB48-08C4-DF3F-11A5F6C26F2C}"/>
              </a:ext>
            </a:extLst>
          </p:cNvPr>
          <p:cNvSpPr txBox="1"/>
          <p:nvPr/>
        </p:nvSpPr>
        <p:spPr>
          <a:xfrm>
            <a:off x="508000" y="800100"/>
            <a:ext cx="10922000" cy="169277"/>
          </a:xfrm>
          <a:prstGeom prst="rect">
            <a:avLst/>
          </a:prstGeom>
          <a:noFill/>
        </p:spPr>
        <p:txBody>
          <a:bodyPr vert="horz" wrap="square" lIns="0" tIns="0" rIns="0" bIns="0" rtlCol="0">
            <a:spAutoFit/>
          </a:bodyPr>
          <a:lstStyle/>
          <a:p>
            <a:r>
              <a:rPr lang="en-US" sz="1100">
                <a:solidFill>
                  <a:srgbClr val="5C5C5C"/>
                </a:solidFill>
                <a:latin typeface="Aptos" panose="020B0004020202020204" pitchFamily="34" charset="0"/>
              </a:rPr>
              <a:t>Same goal and scene from demos.npz, but different arc sizes show different levels of early lateral commitment</a:t>
            </a:r>
          </a:p>
        </p:txBody>
      </p:sp>
      <p:sp>
        <p:nvSpPr>
          <p:cNvPr id="19" name="Rectangle 18">
            <a:extLst>
              <a:ext uri="{FF2B5EF4-FFF2-40B4-BE49-F238E27FC236}">
                <a16:creationId xmlns:a16="http://schemas.microsoft.com/office/drawing/2014/main" id="{21BC9BE2-D07D-E3B1-91F0-037BC15CEF77}"/>
              </a:ext>
            </a:extLst>
          </p:cNvPr>
          <p:cNvSpPr/>
          <p:nvPr/>
        </p:nvSpPr>
        <p:spPr>
          <a:xfrm>
            <a:off x="508000" y="1168400"/>
            <a:ext cx="11176000" cy="50800"/>
          </a:xfrm>
          <a:prstGeom prst="rect">
            <a:avLst/>
          </a:prstGeom>
          <a:solidFill>
            <a:srgbClr val="FFC62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E86B2E4C-E875-7470-01FA-81C530E68B6D}"/>
              </a:ext>
            </a:extLst>
          </p:cNvPr>
          <p:cNvSpPr txBox="1"/>
          <p:nvPr/>
        </p:nvSpPr>
        <p:spPr>
          <a:xfrm>
            <a:off x="11430000" y="381000"/>
            <a:ext cx="254000" cy="153888"/>
          </a:xfrm>
          <a:prstGeom prst="rect">
            <a:avLst/>
          </a:prstGeom>
          <a:noFill/>
        </p:spPr>
        <p:txBody>
          <a:bodyPr vert="horz" wrap="square" lIns="0" tIns="0" rIns="0" bIns="0" rtlCol="0">
            <a:spAutoFit/>
          </a:bodyPr>
          <a:lstStyle/>
          <a:p>
            <a:pPr algn="r"/>
            <a:r>
              <a:rPr lang="en-US" sz="1000">
                <a:solidFill>
                  <a:srgbClr val="5C5C5C"/>
                </a:solidFill>
                <a:latin typeface="Aptos" panose="020B0004020202020204" pitchFamily="34" charset="0"/>
              </a:rPr>
              <a:t>31</a:t>
            </a:r>
          </a:p>
        </p:txBody>
      </p:sp>
      <p:sp>
        <p:nvSpPr>
          <p:cNvPr id="21" name="Rectangle: Rounded Corners 20">
            <a:extLst>
              <a:ext uri="{FF2B5EF4-FFF2-40B4-BE49-F238E27FC236}">
                <a16:creationId xmlns:a16="http://schemas.microsoft.com/office/drawing/2014/main" id="{70C31E00-6D78-D932-9E24-4716EA16FADA}"/>
              </a:ext>
            </a:extLst>
          </p:cNvPr>
          <p:cNvSpPr/>
          <p:nvPr/>
        </p:nvSpPr>
        <p:spPr>
          <a:xfrm>
            <a:off x="685800" y="1574800"/>
            <a:ext cx="5156200" cy="3937000"/>
          </a:xfrm>
          <a:prstGeom prst="roundRect">
            <a:avLst/>
          </a:prstGeom>
          <a:solidFill>
            <a:srgbClr val="FFFFFF"/>
          </a:solidFill>
          <a:ln w="15240">
            <a:solidFill>
              <a:srgbClr val="4984C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cfg00_left_arc00">
            <a:hlinkClick r:id="" action="ppaction://media"/>
            <a:extLst>
              <a:ext uri="{FF2B5EF4-FFF2-40B4-BE49-F238E27FC236}">
                <a16:creationId xmlns:a16="http://schemas.microsoft.com/office/drawing/2014/main" id="{07865BF2-CDA6-1E7A-E276-40537AEFF8A3}"/>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812800" y="1701800"/>
            <a:ext cx="4368800" cy="3276600"/>
          </a:xfrm>
          <a:prstGeom prst="rect">
            <a:avLst/>
          </a:prstGeom>
        </p:spPr>
      </p:pic>
      <p:sp>
        <p:nvSpPr>
          <p:cNvPr id="23" name="TextBox 22">
            <a:extLst>
              <a:ext uri="{FF2B5EF4-FFF2-40B4-BE49-F238E27FC236}">
                <a16:creationId xmlns:a16="http://schemas.microsoft.com/office/drawing/2014/main" id="{E78824A8-94A1-3242-21A3-3F1F36C7FF55}"/>
              </a:ext>
            </a:extLst>
          </p:cNvPr>
          <p:cNvSpPr txBox="1"/>
          <p:nvPr/>
        </p:nvSpPr>
        <p:spPr>
          <a:xfrm>
            <a:off x="838200" y="5054600"/>
            <a:ext cx="4851400" cy="153888"/>
          </a:xfrm>
          <a:prstGeom prst="rect">
            <a:avLst/>
          </a:prstGeom>
          <a:noFill/>
        </p:spPr>
        <p:txBody>
          <a:bodyPr vert="horz" wrap="square" lIns="0" tIns="0" rIns="0" bIns="0" rtlCol="0">
            <a:spAutoFit/>
          </a:bodyPr>
          <a:lstStyle/>
          <a:p>
            <a:pPr algn="ctr"/>
            <a:r>
              <a:rPr lang="en-US" sz="1000">
                <a:solidFill>
                  <a:srgbClr val="5C5C5C"/>
                </a:solidFill>
                <a:latin typeface="Aptos" panose="020B0004020202020204" pitchFamily="34" charset="0"/>
              </a:rPr>
              <a:t>cfg00_left_arc00.mp4  |  smaller legible arc</a:t>
            </a:r>
          </a:p>
        </p:txBody>
      </p:sp>
      <p:sp>
        <p:nvSpPr>
          <p:cNvPr id="24" name="Rectangle: Rounded Corners 23">
            <a:extLst>
              <a:ext uri="{FF2B5EF4-FFF2-40B4-BE49-F238E27FC236}">
                <a16:creationId xmlns:a16="http://schemas.microsoft.com/office/drawing/2014/main" id="{3FDDF97D-D502-731C-E9F6-C10498F88928}"/>
              </a:ext>
            </a:extLst>
          </p:cNvPr>
          <p:cNvSpPr/>
          <p:nvPr/>
        </p:nvSpPr>
        <p:spPr>
          <a:xfrm>
            <a:off x="6350000" y="1574800"/>
            <a:ext cx="5156200" cy="3937000"/>
          </a:xfrm>
          <a:prstGeom prst="roundRect">
            <a:avLst/>
          </a:prstGeom>
          <a:solidFill>
            <a:srgbClr val="FFFFFF"/>
          </a:solidFill>
          <a:ln w="15240">
            <a:solidFill>
              <a:srgbClr val="5B99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5" name="cfg00_left_arc15">
            <a:hlinkClick r:id="" action="ppaction://media"/>
            <a:extLst>
              <a:ext uri="{FF2B5EF4-FFF2-40B4-BE49-F238E27FC236}">
                <a16:creationId xmlns:a16="http://schemas.microsoft.com/office/drawing/2014/main" id="{F5A3BF1B-987A-647D-8436-5FF7E50BED37}"/>
              </a:ext>
            </a:extLst>
          </p:cNvPr>
          <p:cNvPicPr>
            <a:picLocks noChangeAspect="1"/>
          </p:cNvPicPr>
          <p:nvPr>
            <a:videoFile r:link="rId4"/>
            <p:extLst>
              <p:ext uri="{DAA4B4D4-6D71-4841-9C94-3DE7FCFB9230}">
                <p14:media xmlns:p14="http://schemas.microsoft.com/office/powerpoint/2010/main" r:embed="rId3"/>
              </p:ext>
            </p:extLst>
          </p:nvPr>
        </p:nvPicPr>
        <p:blipFill>
          <a:blip r:embed="rId7"/>
          <a:stretch>
            <a:fillRect/>
          </a:stretch>
        </p:blipFill>
        <p:spPr>
          <a:xfrm>
            <a:off x="6477000" y="1701800"/>
            <a:ext cx="4368800" cy="3276600"/>
          </a:xfrm>
          <a:prstGeom prst="rect">
            <a:avLst/>
          </a:prstGeom>
        </p:spPr>
      </p:pic>
      <p:sp>
        <p:nvSpPr>
          <p:cNvPr id="26" name="TextBox 25">
            <a:extLst>
              <a:ext uri="{FF2B5EF4-FFF2-40B4-BE49-F238E27FC236}">
                <a16:creationId xmlns:a16="http://schemas.microsoft.com/office/drawing/2014/main" id="{8D0D4E8C-20A2-47D2-D42E-8104E8B1A9E4}"/>
              </a:ext>
            </a:extLst>
          </p:cNvPr>
          <p:cNvSpPr txBox="1"/>
          <p:nvPr/>
        </p:nvSpPr>
        <p:spPr>
          <a:xfrm>
            <a:off x="6502400" y="5054600"/>
            <a:ext cx="4851400" cy="153888"/>
          </a:xfrm>
          <a:prstGeom prst="rect">
            <a:avLst/>
          </a:prstGeom>
          <a:noFill/>
        </p:spPr>
        <p:txBody>
          <a:bodyPr vert="horz" wrap="square" lIns="0" tIns="0" rIns="0" bIns="0" rtlCol="0">
            <a:spAutoFit/>
          </a:bodyPr>
          <a:lstStyle/>
          <a:p>
            <a:pPr algn="ctr"/>
            <a:r>
              <a:rPr lang="en-US" sz="1000">
                <a:solidFill>
                  <a:srgbClr val="5C5C5C"/>
                </a:solidFill>
                <a:latin typeface="Aptos" panose="020B0004020202020204" pitchFamily="34" charset="0"/>
              </a:rPr>
              <a:t>cfg00_left_arc15.mp4  |  larger legible arc</a:t>
            </a:r>
          </a:p>
        </p:txBody>
      </p:sp>
      <p:sp>
        <p:nvSpPr>
          <p:cNvPr id="27" name="Rectangle: Rounded Corners 26">
            <a:extLst>
              <a:ext uri="{FF2B5EF4-FFF2-40B4-BE49-F238E27FC236}">
                <a16:creationId xmlns:a16="http://schemas.microsoft.com/office/drawing/2014/main" id="{0198B4DD-CC66-C687-D444-3ACB635F8C26}"/>
              </a:ext>
            </a:extLst>
          </p:cNvPr>
          <p:cNvSpPr/>
          <p:nvPr/>
        </p:nvSpPr>
        <p:spPr>
          <a:xfrm>
            <a:off x="685800" y="5613400"/>
            <a:ext cx="10820400" cy="889000"/>
          </a:xfrm>
          <a:prstGeom prst="roundRect">
            <a:avLst/>
          </a:prstGeom>
          <a:solidFill>
            <a:srgbClr val="F5E9EE"/>
          </a:solidFill>
          <a:ln w="13970">
            <a:solidFill>
              <a:srgbClr val="8C1D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B35E07C6-77DA-8DB0-B016-3F420B980DEA}"/>
              </a:ext>
            </a:extLst>
          </p:cNvPr>
          <p:cNvSpPr txBox="1"/>
          <p:nvPr/>
        </p:nvSpPr>
        <p:spPr>
          <a:xfrm>
            <a:off x="889000" y="5765800"/>
            <a:ext cx="10414000" cy="200055"/>
          </a:xfrm>
          <a:prstGeom prst="rect">
            <a:avLst/>
          </a:prstGeom>
          <a:noFill/>
        </p:spPr>
        <p:txBody>
          <a:bodyPr vert="horz" wrap="square" lIns="0" tIns="0" rIns="0" bIns="0" rtlCol="0">
            <a:spAutoFit/>
          </a:bodyPr>
          <a:lstStyle/>
          <a:p>
            <a:r>
              <a:rPr lang="en-US" sz="1300" b="1">
                <a:solidFill>
                  <a:srgbClr val="8C1D40"/>
                </a:solidFill>
                <a:latin typeface="Aptos" panose="020B0004020202020204" pitchFamily="34" charset="0"/>
              </a:rPr>
              <a:t>What to say</a:t>
            </a:r>
          </a:p>
        </p:txBody>
      </p:sp>
      <p:sp>
        <p:nvSpPr>
          <p:cNvPr id="29" name="TextBox 28">
            <a:extLst>
              <a:ext uri="{FF2B5EF4-FFF2-40B4-BE49-F238E27FC236}">
                <a16:creationId xmlns:a16="http://schemas.microsoft.com/office/drawing/2014/main" id="{92B0A0DE-2F78-2E6C-7C17-FFC8B3C5C140}"/>
              </a:ext>
            </a:extLst>
          </p:cNvPr>
          <p:cNvSpPr txBox="1"/>
          <p:nvPr/>
        </p:nvSpPr>
        <p:spPr>
          <a:xfrm>
            <a:off x="889000" y="6096000"/>
            <a:ext cx="10414000" cy="338554"/>
          </a:xfrm>
          <a:prstGeom prst="rect">
            <a:avLst/>
          </a:prstGeom>
          <a:noFill/>
        </p:spPr>
        <p:txBody>
          <a:bodyPr vert="horz" wrap="square" lIns="0" tIns="0" rIns="0" bIns="0" rtlCol="0">
            <a:spAutoFit/>
          </a:bodyPr>
          <a:lstStyle/>
          <a:p>
            <a:r>
              <a:rPr lang="en-US" sz="1100">
                <a:solidFill>
                  <a:srgbClr val="1C1C1C"/>
                </a:solidFill>
                <a:latin typeface="Aptos" panose="020B0004020202020204" pitchFamily="34" charset="0"/>
              </a:rPr>
              <a:t>Both trajectories reach the same left target. The difference is path shape: the larger arc communicates commitment earlier because the lateral sweep away from center is more obvious.</a:t>
            </a:r>
          </a:p>
        </p:txBody>
      </p:sp>
    </p:spTree>
    <p:extLst>
      <p:ext uri="{BB962C8B-B14F-4D97-AF65-F5344CB8AC3E}">
        <p14:creationId xmlns:p14="http://schemas.microsoft.com/office/powerpoint/2010/main" val="2252367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267" fill="hold"/>
                                        <p:tgtEl>
                                          <p:spTgt spid="22"/>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0100" fill="hold"/>
                                        <p:tgtEl>
                                          <p:spTgt spid="2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2"/>
                </p:tgtEl>
              </p:cMediaNode>
            </p:video>
            <p:seq concurrent="1" nextAc="seek">
              <p:cTn id="12" restart="whenNotActive" fill="hold" evtFilter="cancelBubble" nodeType="interactiveSeq">
                <p:stCondLst>
                  <p:cond evt="onClick" delay="0">
                    <p:tgtEl>
                      <p:spTgt spid="22"/>
                    </p:tgtEl>
                  </p:cond>
                </p:stCondLst>
                <p:endSync evt="end" delay="0">
                  <p:rtn val="all"/>
                </p:endSync>
                <p:childTnLst>
                  <p:par>
                    <p:cTn id="13" fill="hold">
                      <p:stCondLst>
                        <p:cond delay="0"/>
                      </p:stCondLst>
                      <p:childTnLst>
                        <p:par>
                          <p:cTn id="14" fill="hold">
                            <p:stCondLst>
                              <p:cond delay="0"/>
                            </p:stCondLst>
                            <p:childTnLst>
                              <p:par>
                                <p:cTn id="15" presetID="2" presetClass="mediacall" presetSubtype="0" fill="hold" nodeType="clickEffect">
                                  <p:stCondLst>
                                    <p:cond delay="0"/>
                                  </p:stCondLst>
                                  <p:childTnLst>
                                    <p:cmd type="call" cmd="togglePause">
                                      <p:cBhvr>
                                        <p:cTn id="16" dur="1" fill="hold"/>
                                        <p:tgtEl>
                                          <p:spTgt spid="22"/>
                                        </p:tgtEl>
                                      </p:cBhvr>
                                    </p:cmd>
                                  </p:childTnLst>
                                </p:cTn>
                              </p:par>
                            </p:childTnLst>
                          </p:cTn>
                        </p:par>
                      </p:childTnLst>
                    </p:cTn>
                  </p:par>
                </p:childTnLst>
              </p:cTn>
              <p:nextCondLst>
                <p:cond evt="onClick" delay="0">
                  <p:tgtEl>
                    <p:spTgt spid="22"/>
                  </p:tgtEl>
                </p:cond>
              </p:nextCondLst>
            </p:seq>
            <p:video>
              <p:cMediaNode vol="80000">
                <p:cTn id="17" fill="hold" display="0">
                  <p:stCondLst>
                    <p:cond delay="indefinite"/>
                  </p:stCondLst>
                </p:cTn>
                <p:tgtEl>
                  <p:spTgt spid="25"/>
                </p:tgtEl>
              </p:cMediaNode>
            </p:video>
            <p:seq concurrent="1" nextAc="seek">
              <p:cTn id="18" restart="whenNotActive" fill="hold" evtFilter="cancelBubble" nodeType="interactiveSeq">
                <p:stCondLst>
                  <p:cond evt="onClick" delay="0">
                    <p:tgtEl>
                      <p:spTgt spid="25"/>
                    </p:tgtEl>
                  </p:cond>
                </p:stCondLst>
                <p:endSync evt="end" delay="0">
                  <p:rtn val="all"/>
                </p:endSync>
                <p:childTnLst>
                  <p:par>
                    <p:cTn id="19" fill="hold">
                      <p:stCondLst>
                        <p:cond delay="0"/>
                      </p:stCondLst>
                      <p:childTnLst>
                        <p:par>
                          <p:cTn id="20" fill="hold">
                            <p:stCondLst>
                              <p:cond delay="0"/>
                            </p:stCondLst>
                            <p:childTnLst>
                              <p:par>
                                <p:cTn id="21" presetID="2" presetClass="mediacall" presetSubtype="0" fill="hold" nodeType="clickEffect">
                                  <p:stCondLst>
                                    <p:cond delay="0"/>
                                  </p:stCondLst>
                                  <p:childTnLst>
                                    <p:cmd type="call" cmd="togglePause">
                                      <p:cBhvr>
                                        <p:cTn id="22" dur="1" fill="hold"/>
                                        <p:tgtEl>
                                          <p:spTgt spid="25"/>
                                        </p:tgtEl>
                                      </p:cBhvr>
                                    </p:cmd>
                                  </p:childTnLst>
                                </p:cTn>
                              </p:par>
                            </p:childTnLst>
                          </p:cTn>
                        </p:par>
                      </p:childTnLst>
                    </p:cTn>
                  </p:par>
                </p:childTnLst>
              </p:cTn>
              <p:nextCondLst>
                <p:cond evt="onClick" delay="0">
                  <p:tgtEl>
                    <p:spTgt spid="25"/>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61C3CAF3-82C8-9494-D7AD-78808319B5A4}"/>
              </a:ext>
            </a:extLst>
          </p:cNvPr>
          <p:cNvSpPr/>
          <p:nvPr/>
        </p:nvSpPr>
        <p:spPr>
          <a:xfrm>
            <a:off x="0" y="0"/>
            <a:ext cx="12192000" cy="6858000"/>
          </a:xfrm>
          <a:prstGeom prst="rect">
            <a:avLst/>
          </a:prstGeom>
          <a:solidFill>
            <a:srgbClr val="F8F6F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512463BD-3707-F27A-0DB4-6072471E95E5}"/>
              </a:ext>
            </a:extLst>
          </p:cNvPr>
          <p:cNvSpPr txBox="1"/>
          <p:nvPr/>
        </p:nvSpPr>
        <p:spPr>
          <a:xfrm>
            <a:off x="508000" y="355600"/>
            <a:ext cx="10414000" cy="430887"/>
          </a:xfrm>
          <a:prstGeom prst="rect">
            <a:avLst/>
          </a:prstGeom>
          <a:noFill/>
        </p:spPr>
        <p:txBody>
          <a:bodyPr vert="horz" wrap="square" lIns="0" tIns="0" rIns="0" bIns="0" rtlCol="0">
            <a:spAutoFit/>
          </a:bodyPr>
          <a:lstStyle/>
          <a:p>
            <a:r>
              <a:rPr lang="en-US" sz="2800" b="1">
                <a:solidFill>
                  <a:srgbClr val="1C1C1C"/>
                </a:solidFill>
                <a:latin typeface="Aptos" panose="020B0004020202020204" pitchFamily="34" charset="0"/>
              </a:rPr>
              <a:t>Video Examples: Neutral Vs Deceptive</a:t>
            </a:r>
          </a:p>
        </p:txBody>
      </p:sp>
      <p:sp>
        <p:nvSpPr>
          <p:cNvPr id="18" name="TextBox 17">
            <a:extLst>
              <a:ext uri="{FF2B5EF4-FFF2-40B4-BE49-F238E27FC236}">
                <a16:creationId xmlns:a16="http://schemas.microsoft.com/office/drawing/2014/main" id="{7B16C0D0-C1A1-AE82-4C42-0C11D6EDE55A}"/>
              </a:ext>
            </a:extLst>
          </p:cNvPr>
          <p:cNvSpPr txBox="1"/>
          <p:nvPr/>
        </p:nvSpPr>
        <p:spPr>
          <a:xfrm>
            <a:off x="508000" y="800100"/>
            <a:ext cx="10922000" cy="169277"/>
          </a:xfrm>
          <a:prstGeom prst="rect">
            <a:avLst/>
          </a:prstGeom>
          <a:noFill/>
        </p:spPr>
        <p:txBody>
          <a:bodyPr vert="horz" wrap="square" lIns="0" tIns="0" rIns="0" bIns="0" rtlCol="0">
            <a:spAutoFit/>
          </a:bodyPr>
          <a:lstStyle/>
          <a:p>
            <a:r>
              <a:rPr lang="en-US" sz="1100">
                <a:solidFill>
                  <a:srgbClr val="5C5C5C"/>
                </a:solidFill>
                <a:latin typeface="Aptos" panose="020B0004020202020204" pitchFamily="34" charset="0"/>
              </a:rPr>
              <a:t>Qualitative examples from the mixed-style dataset show the difference between ambiguous motion and actively misleading motion</a:t>
            </a:r>
          </a:p>
        </p:txBody>
      </p:sp>
      <p:sp>
        <p:nvSpPr>
          <p:cNvPr id="19" name="Rectangle 18">
            <a:extLst>
              <a:ext uri="{FF2B5EF4-FFF2-40B4-BE49-F238E27FC236}">
                <a16:creationId xmlns:a16="http://schemas.microsoft.com/office/drawing/2014/main" id="{A88BC76E-4C73-710B-0AA7-C1F34FBB7C30}"/>
              </a:ext>
            </a:extLst>
          </p:cNvPr>
          <p:cNvSpPr/>
          <p:nvPr/>
        </p:nvSpPr>
        <p:spPr>
          <a:xfrm>
            <a:off x="508000" y="1168400"/>
            <a:ext cx="11176000" cy="50800"/>
          </a:xfrm>
          <a:prstGeom prst="rect">
            <a:avLst/>
          </a:prstGeom>
          <a:solidFill>
            <a:srgbClr val="FFC62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4E3ADD08-1A17-F98E-304C-A209590C8DD6}"/>
              </a:ext>
            </a:extLst>
          </p:cNvPr>
          <p:cNvSpPr txBox="1"/>
          <p:nvPr/>
        </p:nvSpPr>
        <p:spPr>
          <a:xfrm>
            <a:off x="11430000" y="381000"/>
            <a:ext cx="254000" cy="153888"/>
          </a:xfrm>
          <a:prstGeom prst="rect">
            <a:avLst/>
          </a:prstGeom>
          <a:noFill/>
        </p:spPr>
        <p:txBody>
          <a:bodyPr vert="horz" wrap="square" lIns="0" tIns="0" rIns="0" bIns="0" rtlCol="0">
            <a:spAutoFit/>
          </a:bodyPr>
          <a:lstStyle/>
          <a:p>
            <a:pPr algn="r"/>
            <a:r>
              <a:rPr lang="en-US" sz="1000">
                <a:solidFill>
                  <a:srgbClr val="5C5C5C"/>
                </a:solidFill>
                <a:latin typeface="Aptos" panose="020B0004020202020204" pitchFamily="34" charset="0"/>
              </a:rPr>
              <a:t>32</a:t>
            </a:r>
          </a:p>
        </p:txBody>
      </p:sp>
      <p:sp>
        <p:nvSpPr>
          <p:cNvPr id="21" name="Rectangle: Rounded Corners 20">
            <a:extLst>
              <a:ext uri="{FF2B5EF4-FFF2-40B4-BE49-F238E27FC236}">
                <a16:creationId xmlns:a16="http://schemas.microsoft.com/office/drawing/2014/main" id="{00767C99-04FA-5DE6-5069-286CB15748F1}"/>
              </a:ext>
            </a:extLst>
          </p:cNvPr>
          <p:cNvSpPr/>
          <p:nvPr/>
        </p:nvSpPr>
        <p:spPr>
          <a:xfrm>
            <a:off x="685800" y="1574800"/>
            <a:ext cx="5156200" cy="3937000"/>
          </a:xfrm>
          <a:prstGeom prst="roundRect">
            <a:avLst/>
          </a:prstGeom>
          <a:solidFill>
            <a:srgbClr val="FFFFFF"/>
          </a:solidFill>
          <a:ln w="15240">
            <a:solidFill>
              <a:srgbClr val="4984C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preview_neutral_left_var04">
            <a:hlinkClick r:id="" action="ppaction://media"/>
            <a:extLst>
              <a:ext uri="{FF2B5EF4-FFF2-40B4-BE49-F238E27FC236}">
                <a16:creationId xmlns:a16="http://schemas.microsoft.com/office/drawing/2014/main" id="{2501767D-F2F8-411E-622B-ACD1EAA2CEC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812800" y="1701800"/>
            <a:ext cx="4368800" cy="3276600"/>
          </a:xfrm>
          <a:prstGeom prst="rect">
            <a:avLst/>
          </a:prstGeom>
        </p:spPr>
      </p:pic>
      <p:sp>
        <p:nvSpPr>
          <p:cNvPr id="23" name="TextBox 22">
            <a:extLst>
              <a:ext uri="{FF2B5EF4-FFF2-40B4-BE49-F238E27FC236}">
                <a16:creationId xmlns:a16="http://schemas.microsoft.com/office/drawing/2014/main" id="{258B7A4D-7BB0-CDE7-4DFC-9BEDC1E92355}"/>
              </a:ext>
            </a:extLst>
          </p:cNvPr>
          <p:cNvSpPr txBox="1"/>
          <p:nvPr/>
        </p:nvSpPr>
        <p:spPr>
          <a:xfrm>
            <a:off x="838200" y="5054600"/>
            <a:ext cx="4851400" cy="153888"/>
          </a:xfrm>
          <a:prstGeom prst="rect">
            <a:avLst/>
          </a:prstGeom>
          <a:noFill/>
        </p:spPr>
        <p:txBody>
          <a:bodyPr vert="horz" wrap="square" lIns="0" tIns="0" rIns="0" bIns="0" rtlCol="0">
            <a:spAutoFit/>
          </a:bodyPr>
          <a:lstStyle/>
          <a:p>
            <a:pPr algn="ctr"/>
            <a:r>
              <a:rPr lang="en-US" sz="1000">
                <a:solidFill>
                  <a:srgbClr val="5C5C5C"/>
                </a:solidFill>
                <a:latin typeface="Aptos" panose="020B0004020202020204" pitchFamily="34" charset="0"/>
              </a:rPr>
              <a:t>preview_neutral_left_var04.mp4  |  neutral</a:t>
            </a:r>
          </a:p>
        </p:txBody>
      </p:sp>
      <p:sp>
        <p:nvSpPr>
          <p:cNvPr id="24" name="Rectangle: Rounded Corners 23">
            <a:extLst>
              <a:ext uri="{FF2B5EF4-FFF2-40B4-BE49-F238E27FC236}">
                <a16:creationId xmlns:a16="http://schemas.microsoft.com/office/drawing/2014/main" id="{62911B33-3AD3-89BA-E39D-107E23FBC7B2}"/>
              </a:ext>
            </a:extLst>
          </p:cNvPr>
          <p:cNvSpPr/>
          <p:nvPr/>
        </p:nvSpPr>
        <p:spPr>
          <a:xfrm>
            <a:off x="6350000" y="1574800"/>
            <a:ext cx="5156200" cy="3937000"/>
          </a:xfrm>
          <a:prstGeom prst="roundRect">
            <a:avLst/>
          </a:prstGeom>
          <a:solidFill>
            <a:srgbClr val="FFFFFF"/>
          </a:solidFill>
          <a:ln w="15240">
            <a:solidFill>
              <a:srgbClr val="E68F2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5" name="preview_deceptive_left_var04">
            <a:hlinkClick r:id="" action="ppaction://media"/>
            <a:extLst>
              <a:ext uri="{FF2B5EF4-FFF2-40B4-BE49-F238E27FC236}">
                <a16:creationId xmlns:a16="http://schemas.microsoft.com/office/drawing/2014/main" id="{11112460-ED99-EA9A-9A45-035AC625C99D}"/>
              </a:ext>
            </a:extLst>
          </p:cNvPr>
          <p:cNvPicPr>
            <a:picLocks noChangeAspect="1"/>
          </p:cNvPicPr>
          <p:nvPr>
            <a:videoFile r:link="rId4"/>
            <p:extLst>
              <p:ext uri="{DAA4B4D4-6D71-4841-9C94-3DE7FCFB9230}">
                <p14:media xmlns:p14="http://schemas.microsoft.com/office/powerpoint/2010/main" r:embed="rId3"/>
              </p:ext>
            </p:extLst>
          </p:nvPr>
        </p:nvPicPr>
        <p:blipFill>
          <a:blip r:embed="rId7"/>
          <a:stretch>
            <a:fillRect/>
          </a:stretch>
        </p:blipFill>
        <p:spPr>
          <a:xfrm>
            <a:off x="6477000" y="1701800"/>
            <a:ext cx="4368800" cy="3276600"/>
          </a:xfrm>
          <a:prstGeom prst="rect">
            <a:avLst/>
          </a:prstGeom>
        </p:spPr>
      </p:pic>
      <p:sp>
        <p:nvSpPr>
          <p:cNvPr id="26" name="TextBox 25">
            <a:extLst>
              <a:ext uri="{FF2B5EF4-FFF2-40B4-BE49-F238E27FC236}">
                <a16:creationId xmlns:a16="http://schemas.microsoft.com/office/drawing/2014/main" id="{7390A04A-69AA-C73A-3A64-3107EFC6C856}"/>
              </a:ext>
            </a:extLst>
          </p:cNvPr>
          <p:cNvSpPr txBox="1"/>
          <p:nvPr/>
        </p:nvSpPr>
        <p:spPr>
          <a:xfrm>
            <a:off x="6502400" y="5054600"/>
            <a:ext cx="4851400" cy="153888"/>
          </a:xfrm>
          <a:prstGeom prst="rect">
            <a:avLst/>
          </a:prstGeom>
          <a:noFill/>
        </p:spPr>
        <p:txBody>
          <a:bodyPr vert="horz" wrap="square" lIns="0" tIns="0" rIns="0" bIns="0" rtlCol="0">
            <a:spAutoFit/>
          </a:bodyPr>
          <a:lstStyle/>
          <a:p>
            <a:pPr algn="ctr"/>
            <a:r>
              <a:rPr lang="en-US" sz="1000">
                <a:solidFill>
                  <a:srgbClr val="5C5C5C"/>
                </a:solidFill>
                <a:latin typeface="Aptos" panose="020B0004020202020204" pitchFamily="34" charset="0"/>
              </a:rPr>
              <a:t>preview_deceptive_left_var04.mp4  |  deceptive</a:t>
            </a:r>
          </a:p>
        </p:txBody>
      </p:sp>
      <p:sp>
        <p:nvSpPr>
          <p:cNvPr id="27" name="Rectangle: Rounded Corners 26">
            <a:extLst>
              <a:ext uri="{FF2B5EF4-FFF2-40B4-BE49-F238E27FC236}">
                <a16:creationId xmlns:a16="http://schemas.microsoft.com/office/drawing/2014/main" id="{91F6A729-05E8-5D23-AA68-6C42E3DF2891}"/>
              </a:ext>
            </a:extLst>
          </p:cNvPr>
          <p:cNvSpPr/>
          <p:nvPr/>
        </p:nvSpPr>
        <p:spPr>
          <a:xfrm>
            <a:off x="685800" y="5613400"/>
            <a:ext cx="10820400" cy="889000"/>
          </a:xfrm>
          <a:prstGeom prst="roundRect">
            <a:avLst/>
          </a:prstGeom>
          <a:solidFill>
            <a:srgbClr val="F5E9EE"/>
          </a:solidFill>
          <a:ln w="13970">
            <a:solidFill>
              <a:srgbClr val="8C1D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923788C9-8DAE-1A5C-DE62-5C873B0B70CD}"/>
              </a:ext>
            </a:extLst>
          </p:cNvPr>
          <p:cNvSpPr txBox="1"/>
          <p:nvPr/>
        </p:nvSpPr>
        <p:spPr>
          <a:xfrm>
            <a:off x="889000" y="5765800"/>
            <a:ext cx="10414000" cy="200055"/>
          </a:xfrm>
          <a:prstGeom prst="rect">
            <a:avLst/>
          </a:prstGeom>
          <a:noFill/>
        </p:spPr>
        <p:txBody>
          <a:bodyPr vert="horz" wrap="square" lIns="0" tIns="0" rIns="0" bIns="0" rtlCol="0">
            <a:spAutoFit/>
          </a:bodyPr>
          <a:lstStyle/>
          <a:p>
            <a:r>
              <a:rPr lang="en-US" sz="1300" b="1">
                <a:solidFill>
                  <a:srgbClr val="8C1D40"/>
                </a:solidFill>
                <a:latin typeface="Aptos" panose="020B0004020202020204" pitchFamily="34" charset="0"/>
              </a:rPr>
              <a:t>What to say</a:t>
            </a:r>
          </a:p>
        </p:txBody>
      </p:sp>
      <p:sp>
        <p:nvSpPr>
          <p:cNvPr id="29" name="TextBox 28">
            <a:extLst>
              <a:ext uri="{FF2B5EF4-FFF2-40B4-BE49-F238E27FC236}">
                <a16:creationId xmlns:a16="http://schemas.microsoft.com/office/drawing/2014/main" id="{854182DA-0C93-4E67-FA15-723A73B0FD77}"/>
              </a:ext>
            </a:extLst>
          </p:cNvPr>
          <p:cNvSpPr txBox="1"/>
          <p:nvPr/>
        </p:nvSpPr>
        <p:spPr>
          <a:xfrm>
            <a:off x="889000" y="6096000"/>
            <a:ext cx="10414000" cy="338554"/>
          </a:xfrm>
          <a:prstGeom prst="rect">
            <a:avLst/>
          </a:prstGeom>
          <a:noFill/>
        </p:spPr>
        <p:txBody>
          <a:bodyPr vert="horz" wrap="square" lIns="0" tIns="0" rIns="0" bIns="0" rtlCol="0">
            <a:spAutoFit/>
          </a:bodyPr>
          <a:lstStyle/>
          <a:p>
            <a:r>
              <a:rPr lang="en-US" sz="1100">
                <a:solidFill>
                  <a:srgbClr val="1C1C1C"/>
                </a:solidFill>
                <a:latin typeface="Aptos" panose="020B0004020202020204" pitchFamily="34" charset="0"/>
              </a:rPr>
              <a:t>The neutral motion hides directional information until late in the trajectory. The deceptive motion is stronger: it first suggests the wrong side, then later commits back to the true target.</a:t>
            </a:r>
          </a:p>
        </p:txBody>
      </p:sp>
    </p:spTree>
    <p:extLst>
      <p:ext uri="{BB962C8B-B14F-4D97-AF65-F5344CB8AC3E}">
        <p14:creationId xmlns:p14="http://schemas.microsoft.com/office/powerpoint/2010/main" val="18923033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134" fill="hold"/>
                                        <p:tgtEl>
                                          <p:spTgt spid="22"/>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0134" fill="hold"/>
                                        <p:tgtEl>
                                          <p:spTgt spid="2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2"/>
                </p:tgtEl>
              </p:cMediaNode>
            </p:video>
            <p:seq concurrent="1" nextAc="seek">
              <p:cTn id="12" restart="whenNotActive" fill="hold" evtFilter="cancelBubble" nodeType="interactiveSeq">
                <p:stCondLst>
                  <p:cond evt="onClick" delay="0">
                    <p:tgtEl>
                      <p:spTgt spid="22"/>
                    </p:tgtEl>
                  </p:cond>
                </p:stCondLst>
                <p:endSync evt="end" delay="0">
                  <p:rtn val="all"/>
                </p:endSync>
                <p:childTnLst>
                  <p:par>
                    <p:cTn id="13" fill="hold">
                      <p:stCondLst>
                        <p:cond delay="0"/>
                      </p:stCondLst>
                      <p:childTnLst>
                        <p:par>
                          <p:cTn id="14" fill="hold">
                            <p:stCondLst>
                              <p:cond delay="0"/>
                            </p:stCondLst>
                            <p:childTnLst>
                              <p:par>
                                <p:cTn id="15" presetID="2" presetClass="mediacall" presetSubtype="0" fill="hold" nodeType="clickEffect">
                                  <p:stCondLst>
                                    <p:cond delay="0"/>
                                  </p:stCondLst>
                                  <p:childTnLst>
                                    <p:cmd type="call" cmd="togglePause">
                                      <p:cBhvr>
                                        <p:cTn id="16" dur="1" fill="hold"/>
                                        <p:tgtEl>
                                          <p:spTgt spid="22"/>
                                        </p:tgtEl>
                                      </p:cBhvr>
                                    </p:cmd>
                                  </p:childTnLst>
                                </p:cTn>
                              </p:par>
                            </p:childTnLst>
                          </p:cTn>
                        </p:par>
                      </p:childTnLst>
                    </p:cTn>
                  </p:par>
                </p:childTnLst>
              </p:cTn>
              <p:nextCondLst>
                <p:cond evt="onClick" delay="0">
                  <p:tgtEl>
                    <p:spTgt spid="22"/>
                  </p:tgtEl>
                </p:cond>
              </p:nextCondLst>
            </p:seq>
            <p:video>
              <p:cMediaNode vol="80000">
                <p:cTn id="17" fill="hold" display="0">
                  <p:stCondLst>
                    <p:cond delay="indefinite"/>
                  </p:stCondLst>
                </p:cTn>
                <p:tgtEl>
                  <p:spTgt spid="25"/>
                </p:tgtEl>
              </p:cMediaNode>
            </p:video>
            <p:seq concurrent="1" nextAc="seek">
              <p:cTn id="18" restart="whenNotActive" fill="hold" evtFilter="cancelBubble" nodeType="interactiveSeq">
                <p:stCondLst>
                  <p:cond evt="onClick" delay="0">
                    <p:tgtEl>
                      <p:spTgt spid="25"/>
                    </p:tgtEl>
                  </p:cond>
                </p:stCondLst>
                <p:endSync evt="end" delay="0">
                  <p:rtn val="all"/>
                </p:endSync>
                <p:childTnLst>
                  <p:par>
                    <p:cTn id="19" fill="hold">
                      <p:stCondLst>
                        <p:cond delay="0"/>
                      </p:stCondLst>
                      <p:childTnLst>
                        <p:par>
                          <p:cTn id="20" fill="hold">
                            <p:stCondLst>
                              <p:cond delay="0"/>
                            </p:stCondLst>
                            <p:childTnLst>
                              <p:par>
                                <p:cTn id="21" presetID="2" presetClass="mediacall" presetSubtype="0" fill="hold" nodeType="clickEffect">
                                  <p:stCondLst>
                                    <p:cond delay="0"/>
                                  </p:stCondLst>
                                  <p:childTnLst>
                                    <p:cmd type="call" cmd="togglePause">
                                      <p:cBhvr>
                                        <p:cTn id="22" dur="1" fill="hold"/>
                                        <p:tgtEl>
                                          <p:spTgt spid="25"/>
                                        </p:tgtEl>
                                      </p:cBhvr>
                                    </p:cmd>
                                  </p:childTnLst>
                                </p:cTn>
                              </p:par>
                            </p:childTnLst>
                          </p:cTn>
                        </p:par>
                      </p:childTnLst>
                    </p:cTn>
                  </p:par>
                </p:childTnLst>
              </p:cTn>
              <p:nextCondLst>
                <p:cond evt="onClick" delay="0">
                  <p:tgtEl>
                    <p:spTgt spid="25"/>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A538C1C5-CCA0-5F1A-52BB-86E2BDDBAD17}"/>
              </a:ext>
            </a:extLst>
          </p:cNvPr>
          <p:cNvSpPr/>
          <p:nvPr/>
        </p:nvSpPr>
        <p:spPr>
          <a:xfrm>
            <a:off x="0" y="0"/>
            <a:ext cx="12192000" cy="6858000"/>
          </a:xfrm>
          <a:prstGeom prst="rect">
            <a:avLst/>
          </a:prstGeom>
          <a:solidFill>
            <a:srgbClr val="F8F6F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D5A5A681-CC8D-D64F-238E-5B4683B17068}"/>
              </a:ext>
            </a:extLst>
          </p:cNvPr>
          <p:cNvSpPr txBox="1"/>
          <p:nvPr/>
        </p:nvSpPr>
        <p:spPr>
          <a:xfrm>
            <a:off x="508000" y="355600"/>
            <a:ext cx="10414000" cy="430887"/>
          </a:xfrm>
          <a:prstGeom prst="rect">
            <a:avLst/>
          </a:prstGeom>
          <a:noFill/>
        </p:spPr>
        <p:txBody>
          <a:bodyPr vert="horz" wrap="square" lIns="0" tIns="0" rIns="0" bIns="0" rtlCol="0">
            <a:spAutoFit/>
          </a:bodyPr>
          <a:lstStyle/>
          <a:p>
            <a:r>
              <a:rPr lang="en-US" sz="2800" b="1">
                <a:solidFill>
                  <a:srgbClr val="1C1C1C"/>
                </a:solidFill>
                <a:latin typeface="Aptos" panose="020B0004020202020204" pitchFamily="34" charset="0"/>
              </a:rPr>
              <a:t>Video Example: Grounding Behavior</a:t>
            </a:r>
          </a:p>
        </p:txBody>
      </p:sp>
      <p:sp>
        <p:nvSpPr>
          <p:cNvPr id="15" name="TextBox 14">
            <a:extLst>
              <a:ext uri="{FF2B5EF4-FFF2-40B4-BE49-F238E27FC236}">
                <a16:creationId xmlns:a16="http://schemas.microsoft.com/office/drawing/2014/main" id="{DB8D253B-9AD2-22AA-9830-27320479C5B5}"/>
              </a:ext>
            </a:extLst>
          </p:cNvPr>
          <p:cNvSpPr txBox="1"/>
          <p:nvPr/>
        </p:nvSpPr>
        <p:spPr>
          <a:xfrm>
            <a:off x="508000" y="800100"/>
            <a:ext cx="10922000" cy="169277"/>
          </a:xfrm>
          <a:prstGeom prst="rect">
            <a:avLst/>
          </a:prstGeom>
          <a:noFill/>
        </p:spPr>
        <p:txBody>
          <a:bodyPr vert="horz" wrap="square" lIns="0" tIns="0" rIns="0" bIns="0" rtlCol="0">
            <a:spAutoFit/>
          </a:bodyPr>
          <a:lstStyle/>
          <a:p>
            <a:r>
              <a:rPr lang="en-US" sz="1100">
                <a:solidFill>
                  <a:srgbClr val="5C5C5C"/>
                </a:solidFill>
                <a:latin typeface="Aptos" panose="020B0004020202020204" pitchFamily="34" charset="0"/>
              </a:rPr>
              <a:t>A V2 grounding example where the policy-relevant context is a waypoint, not only the final pick target</a:t>
            </a:r>
          </a:p>
        </p:txBody>
      </p:sp>
      <p:sp>
        <p:nvSpPr>
          <p:cNvPr id="16" name="Rectangle 15">
            <a:extLst>
              <a:ext uri="{FF2B5EF4-FFF2-40B4-BE49-F238E27FC236}">
                <a16:creationId xmlns:a16="http://schemas.microsoft.com/office/drawing/2014/main" id="{D48B32F6-D59B-DF6D-D87A-5DB7EC20A8DD}"/>
              </a:ext>
            </a:extLst>
          </p:cNvPr>
          <p:cNvSpPr/>
          <p:nvPr/>
        </p:nvSpPr>
        <p:spPr>
          <a:xfrm>
            <a:off x="508000" y="1168400"/>
            <a:ext cx="11176000" cy="50800"/>
          </a:xfrm>
          <a:prstGeom prst="rect">
            <a:avLst/>
          </a:prstGeom>
          <a:solidFill>
            <a:srgbClr val="FFC62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BE4448A3-BC6F-D727-8212-B509AE1D71F0}"/>
              </a:ext>
            </a:extLst>
          </p:cNvPr>
          <p:cNvSpPr txBox="1"/>
          <p:nvPr/>
        </p:nvSpPr>
        <p:spPr>
          <a:xfrm>
            <a:off x="11430000" y="381000"/>
            <a:ext cx="254000" cy="153888"/>
          </a:xfrm>
          <a:prstGeom prst="rect">
            <a:avLst/>
          </a:prstGeom>
          <a:noFill/>
        </p:spPr>
        <p:txBody>
          <a:bodyPr vert="horz" wrap="square" lIns="0" tIns="0" rIns="0" bIns="0" rtlCol="0">
            <a:spAutoFit/>
          </a:bodyPr>
          <a:lstStyle/>
          <a:p>
            <a:pPr algn="r"/>
            <a:r>
              <a:rPr lang="en-US" sz="1000">
                <a:solidFill>
                  <a:srgbClr val="5C5C5C"/>
                </a:solidFill>
                <a:latin typeface="Aptos" panose="020B0004020202020204" pitchFamily="34" charset="0"/>
              </a:rPr>
              <a:t>33</a:t>
            </a:r>
          </a:p>
        </p:txBody>
      </p:sp>
      <p:sp>
        <p:nvSpPr>
          <p:cNvPr id="18" name="Rectangle: Rounded Corners 17">
            <a:extLst>
              <a:ext uri="{FF2B5EF4-FFF2-40B4-BE49-F238E27FC236}">
                <a16:creationId xmlns:a16="http://schemas.microsoft.com/office/drawing/2014/main" id="{0C530785-9C4C-EE9E-7166-110593B72942}"/>
              </a:ext>
            </a:extLst>
          </p:cNvPr>
          <p:cNvSpPr/>
          <p:nvPr/>
        </p:nvSpPr>
        <p:spPr>
          <a:xfrm>
            <a:off x="1524000" y="1574800"/>
            <a:ext cx="9144000" cy="4191000"/>
          </a:xfrm>
          <a:prstGeom prst="roundRect">
            <a:avLst/>
          </a:prstGeom>
          <a:solidFill>
            <a:srgbClr val="FFFFFF"/>
          </a:solidFill>
          <a:ln w="15240">
            <a:solidFill>
              <a:srgbClr val="2E86A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grounding_left_cfg05_v00">
            <a:hlinkClick r:id="" action="ppaction://media"/>
            <a:extLst>
              <a:ext uri="{FF2B5EF4-FFF2-40B4-BE49-F238E27FC236}">
                <a16:creationId xmlns:a16="http://schemas.microsoft.com/office/drawing/2014/main" id="{764ED359-0028-AB5C-2A85-F3EA3D9EA4AF}"/>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1651001" y="1701800"/>
            <a:ext cx="4707467" cy="3530600"/>
          </a:xfrm>
          <a:prstGeom prst="rect">
            <a:avLst/>
          </a:prstGeom>
        </p:spPr>
      </p:pic>
      <p:sp>
        <p:nvSpPr>
          <p:cNvPr id="20" name="TextBox 19">
            <a:extLst>
              <a:ext uri="{FF2B5EF4-FFF2-40B4-BE49-F238E27FC236}">
                <a16:creationId xmlns:a16="http://schemas.microsoft.com/office/drawing/2014/main" id="{0E7B43D9-DD85-11E9-1325-336554F53349}"/>
              </a:ext>
            </a:extLst>
          </p:cNvPr>
          <p:cNvSpPr txBox="1"/>
          <p:nvPr/>
        </p:nvSpPr>
        <p:spPr>
          <a:xfrm>
            <a:off x="1676400" y="5308600"/>
            <a:ext cx="8839200" cy="153888"/>
          </a:xfrm>
          <a:prstGeom prst="rect">
            <a:avLst/>
          </a:prstGeom>
          <a:noFill/>
        </p:spPr>
        <p:txBody>
          <a:bodyPr vert="horz" wrap="square" lIns="0" tIns="0" rIns="0" bIns="0" rtlCol="0">
            <a:spAutoFit/>
          </a:bodyPr>
          <a:lstStyle/>
          <a:p>
            <a:pPr algn="ctr"/>
            <a:r>
              <a:rPr lang="en-US" sz="1000">
                <a:solidFill>
                  <a:srgbClr val="5C5C5C"/>
                </a:solidFill>
                <a:latin typeface="Aptos" panose="020B0004020202020204" pitchFamily="34" charset="0"/>
              </a:rPr>
              <a:t>grounding_left_cfg05_v00.mp4</a:t>
            </a:r>
          </a:p>
        </p:txBody>
      </p:sp>
      <p:sp>
        <p:nvSpPr>
          <p:cNvPr id="21" name="Rectangle: Rounded Corners 20">
            <a:extLst>
              <a:ext uri="{FF2B5EF4-FFF2-40B4-BE49-F238E27FC236}">
                <a16:creationId xmlns:a16="http://schemas.microsoft.com/office/drawing/2014/main" id="{758129BB-FF88-4287-D911-67C646254513}"/>
              </a:ext>
            </a:extLst>
          </p:cNvPr>
          <p:cNvSpPr/>
          <p:nvPr/>
        </p:nvSpPr>
        <p:spPr>
          <a:xfrm>
            <a:off x="1524000" y="5638800"/>
            <a:ext cx="9144000" cy="863600"/>
          </a:xfrm>
          <a:prstGeom prst="roundRect">
            <a:avLst/>
          </a:prstGeom>
          <a:solidFill>
            <a:srgbClr val="F6EEDB"/>
          </a:solidFill>
          <a:ln w="13970">
            <a:solidFill>
              <a:srgbClr val="FFC62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0C7AAFAF-FEF6-FC36-A1AB-01A00402AF55}"/>
              </a:ext>
            </a:extLst>
          </p:cNvPr>
          <p:cNvSpPr txBox="1"/>
          <p:nvPr/>
        </p:nvSpPr>
        <p:spPr>
          <a:xfrm>
            <a:off x="1727200" y="5791200"/>
            <a:ext cx="8737600" cy="200055"/>
          </a:xfrm>
          <a:prstGeom prst="rect">
            <a:avLst/>
          </a:prstGeom>
          <a:noFill/>
        </p:spPr>
        <p:txBody>
          <a:bodyPr vert="horz" wrap="square" lIns="0" tIns="0" rIns="0" bIns="0" rtlCol="0">
            <a:spAutoFit/>
          </a:bodyPr>
          <a:lstStyle/>
          <a:p>
            <a:r>
              <a:rPr lang="en-US" sz="1300" b="1">
                <a:solidFill>
                  <a:srgbClr val="FFC627"/>
                </a:solidFill>
                <a:latin typeface="Aptos" panose="020B0004020202020204" pitchFamily="34" charset="0"/>
              </a:rPr>
              <a:t>What to say</a:t>
            </a:r>
          </a:p>
        </p:txBody>
      </p:sp>
      <p:sp>
        <p:nvSpPr>
          <p:cNvPr id="23" name="TextBox 22">
            <a:extLst>
              <a:ext uri="{FF2B5EF4-FFF2-40B4-BE49-F238E27FC236}">
                <a16:creationId xmlns:a16="http://schemas.microsoft.com/office/drawing/2014/main" id="{653543AB-9D83-F9B5-B196-45ABDF8881F9}"/>
              </a:ext>
            </a:extLst>
          </p:cNvPr>
          <p:cNvSpPr txBox="1"/>
          <p:nvPr/>
        </p:nvSpPr>
        <p:spPr>
          <a:xfrm>
            <a:off x="1727200" y="6121400"/>
            <a:ext cx="8737600" cy="307777"/>
          </a:xfrm>
          <a:prstGeom prst="rect">
            <a:avLst/>
          </a:prstGeom>
          <a:noFill/>
        </p:spPr>
        <p:txBody>
          <a:bodyPr vert="horz" wrap="square" lIns="0" tIns="0" rIns="0" bIns="0" rtlCol="0">
            <a:spAutoFit/>
          </a:bodyPr>
          <a:lstStyle/>
          <a:p>
            <a:r>
              <a:rPr lang="en-US" sz="1000">
                <a:solidFill>
                  <a:srgbClr val="1C1C1C"/>
                </a:solidFill>
                <a:latin typeface="Aptos" panose="020B0004020202020204" pitchFamily="34" charset="0"/>
              </a:rPr>
              <a:t>This behavior first hovers over the waypoint context, then transitions toward the left pick. It is useful because the context signal changes the motion plan before the final grasp.</a:t>
            </a:r>
          </a:p>
        </p:txBody>
      </p:sp>
    </p:spTree>
    <p:extLst>
      <p:ext uri="{BB962C8B-B14F-4D97-AF65-F5344CB8AC3E}">
        <p14:creationId xmlns:p14="http://schemas.microsoft.com/office/powerpoint/2010/main" val="41486327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8467" fill="hold"/>
                                        <p:tgtEl>
                                          <p:spTgt spid="19"/>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9"/>
                </p:tgtEl>
              </p:cMediaNode>
            </p:video>
            <p:seq concurrent="1" nextAc="seek">
              <p:cTn id="8" restart="whenNotActive" fill="hold" evtFilter="cancelBubble" nodeType="interactiveSeq">
                <p:stCondLst>
                  <p:cond evt="onClick" delay="0">
                    <p:tgtEl>
                      <p:spTgt spid="19"/>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9"/>
                                        </p:tgtEl>
                                      </p:cBhvr>
                                    </p:cmd>
                                  </p:childTnLst>
                                </p:cTn>
                              </p:par>
                            </p:childTnLst>
                          </p:cTn>
                        </p:par>
                      </p:childTnLst>
                    </p:cTn>
                  </p:par>
                </p:childTnLst>
              </p:cTn>
              <p:nextCondLst>
                <p:cond evt="onClick" delay="0">
                  <p:tgtEl>
                    <p:spTgt spid="19"/>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15F863ED-4059-411E-FEE7-DDE2FE51F244}"/>
              </a:ext>
            </a:extLst>
          </p:cNvPr>
          <p:cNvSpPr/>
          <p:nvPr/>
        </p:nvSpPr>
        <p:spPr>
          <a:xfrm>
            <a:off x="0" y="0"/>
            <a:ext cx="12192000" cy="6858000"/>
          </a:xfrm>
          <a:prstGeom prst="rect">
            <a:avLst/>
          </a:prstGeom>
          <a:solidFill>
            <a:srgbClr val="F8F6F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04F64A10-F45D-1A19-A590-0974FB2685B2}"/>
              </a:ext>
            </a:extLst>
          </p:cNvPr>
          <p:cNvSpPr txBox="1"/>
          <p:nvPr/>
        </p:nvSpPr>
        <p:spPr>
          <a:xfrm>
            <a:off x="508000" y="355600"/>
            <a:ext cx="10414000" cy="430887"/>
          </a:xfrm>
          <a:prstGeom prst="rect">
            <a:avLst/>
          </a:prstGeom>
          <a:noFill/>
        </p:spPr>
        <p:txBody>
          <a:bodyPr vert="horz" wrap="square" lIns="0" tIns="0" rIns="0" bIns="0" rtlCol="0">
            <a:spAutoFit/>
          </a:bodyPr>
          <a:lstStyle/>
          <a:p>
            <a:r>
              <a:rPr lang="en-US" sz="2800" b="1">
                <a:solidFill>
                  <a:srgbClr val="1C1C1C"/>
                </a:solidFill>
                <a:latin typeface="Aptos" panose="020B0004020202020204" pitchFamily="34" charset="0"/>
              </a:rPr>
              <a:t>Video Examples: Safety-Legible Vs Safety-Predictable</a:t>
            </a:r>
          </a:p>
        </p:txBody>
      </p:sp>
      <p:sp>
        <p:nvSpPr>
          <p:cNvPr id="18" name="TextBox 17">
            <a:extLst>
              <a:ext uri="{FF2B5EF4-FFF2-40B4-BE49-F238E27FC236}">
                <a16:creationId xmlns:a16="http://schemas.microsoft.com/office/drawing/2014/main" id="{D605FE59-B79D-E45B-3D4C-D824C2BEC27A}"/>
              </a:ext>
            </a:extLst>
          </p:cNvPr>
          <p:cNvSpPr txBox="1"/>
          <p:nvPr/>
        </p:nvSpPr>
        <p:spPr>
          <a:xfrm>
            <a:off x="508000" y="800100"/>
            <a:ext cx="10922000" cy="169277"/>
          </a:xfrm>
          <a:prstGeom prst="rect">
            <a:avLst/>
          </a:prstGeom>
          <a:noFill/>
        </p:spPr>
        <p:txBody>
          <a:bodyPr vert="horz" wrap="square" lIns="0" tIns="0" rIns="0" bIns="0" rtlCol="0">
            <a:spAutoFit/>
          </a:bodyPr>
          <a:lstStyle/>
          <a:p>
            <a:r>
              <a:rPr lang="en-US" sz="1100">
                <a:solidFill>
                  <a:srgbClr val="5C5C5C"/>
                </a:solidFill>
                <a:latin typeface="Aptos" panose="020B0004020202020204" pitchFamily="34" charset="0"/>
              </a:rPr>
              <a:t>Both behaviors are obstacle-aware, but they express intent differently depending on where the obstacle is placed</a:t>
            </a:r>
          </a:p>
        </p:txBody>
      </p:sp>
      <p:sp>
        <p:nvSpPr>
          <p:cNvPr id="19" name="Rectangle 18">
            <a:extLst>
              <a:ext uri="{FF2B5EF4-FFF2-40B4-BE49-F238E27FC236}">
                <a16:creationId xmlns:a16="http://schemas.microsoft.com/office/drawing/2014/main" id="{4195405B-B5EE-6B37-E2C0-286859B3BFB8}"/>
              </a:ext>
            </a:extLst>
          </p:cNvPr>
          <p:cNvSpPr/>
          <p:nvPr/>
        </p:nvSpPr>
        <p:spPr>
          <a:xfrm>
            <a:off x="508000" y="1168400"/>
            <a:ext cx="11176000" cy="50800"/>
          </a:xfrm>
          <a:prstGeom prst="rect">
            <a:avLst/>
          </a:prstGeom>
          <a:solidFill>
            <a:srgbClr val="FFC62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C77F5D48-B786-283B-AA34-C601F2AAF52C}"/>
              </a:ext>
            </a:extLst>
          </p:cNvPr>
          <p:cNvSpPr txBox="1"/>
          <p:nvPr/>
        </p:nvSpPr>
        <p:spPr>
          <a:xfrm>
            <a:off x="11430000" y="381000"/>
            <a:ext cx="254000" cy="153888"/>
          </a:xfrm>
          <a:prstGeom prst="rect">
            <a:avLst/>
          </a:prstGeom>
          <a:noFill/>
        </p:spPr>
        <p:txBody>
          <a:bodyPr vert="horz" wrap="square" lIns="0" tIns="0" rIns="0" bIns="0" rtlCol="0">
            <a:spAutoFit/>
          </a:bodyPr>
          <a:lstStyle/>
          <a:p>
            <a:pPr algn="r"/>
            <a:r>
              <a:rPr lang="en-US" sz="1000">
                <a:solidFill>
                  <a:srgbClr val="5C5C5C"/>
                </a:solidFill>
                <a:latin typeface="Aptos" panose="020B0004020202020204" pitchFamily="34" charset="0"/>
              </a:rPr>
              <a:t>34</a:t>
            </a:r>
          </a:p>
        </p:txBody>
      </p:sp>
      <p:sp>
        <p:nvSpPr>
          <p:cNvPr id="21" name="Rectangle: Rounded Corners 20">
            <a:extLst>
              <a:ext uri="{FF2B5EF4-FFF2-40B4-BE49-F238E27FC236}">
                <a16:creationId xmlns:a16="http://schemas.microsoft.com/office/drawing/2014/main" id="{A4626DB5-7D97-796E-D973-D44D308BC80E}"/>
              </a:ext>
            </a:extLst>
          </p:cNvPr>
          <p:cNvSpPr/>
          <p:nvPr/>
        </p:nvSpPr>
        <p:spPr>
          <a:xfrm>
            <a:off x="685800" y="1574800"/>
            <a:ext cx="5156200" cy="3937000"/>
          </a:xfrm>
          <a:prstGeom prst="roundRect">
            <a:avLst/>
          </a:prstGeom>
          <a:solidFill>
            <a:srgbClr val="FFFFFF"/>
          </a:solidFill>
          <a:ln w="15240">
            <a:solidFill>
              <a:srgbClr val="5B99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safety_legible_left_cfg03_v01">
            <a:hlinkClick r:id="" action="ppaction://media"/>
            <a:extLst>
              <a:ext uri="{FF2B5EF4-FFF2-40B4-BE49-F238E27FC236}">
                <a16:creationId xmlns:a16="http://schemas.microsoft.com/office/drawing/2014/main" id="{6B96EA2F-EDAB-91DF-9A13-86C198501BB5}"/>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812800" y="1701800"/>
            <a:ext cx="4368800" cy="3276600"/>
          </a:xfrm>
          <a:prstGeom prst="rect">
            <a:avLst/>
          </a:prstGeom>
        </p:spPr>
      </p:pic>
      <p:sp>
        <p:nvSpPr>
          <p:cNvPr id="23" name="TextBox 22">
            <a:extLst>
              <a:ext uri="{FF2B5EF4-FFF2-40B4-BE49-F238E27FC236}">
                <a16:creationId xmlns:a16="http://schemas.microsoft.com/office/drawing/2014/main" id="{5C31806C-DE66-DD13-7624-C6124D4EAAAB}"/>
              </a:ext>
            </a:extLst>
          </p:cNvPr>
          <p:cNvSpPr txBox="1"/>
          <p:nvPr/>
        </p:nvSpPr>
        <p:spPr>
          <a:xfrm>
            <a:off x="838200" y="5054600"/>
            <a:ext cx="4851400" cy="153888"/>
          </a:xfrm>
          <a:prstGeom prst="rect">
            <a:avLst/>
          </a:prstGeom>
          <a:noFill/>
        </p:spPr>
        <p:txBody>
          <a:bodyPr vert="horz" wrap="square" lIns="0" tIns="0" rIns="0" bIns="0" rtlCol="0">
            <a:spAutoFit/>
          </a:bodyPr>
          <a:lstStyle/>
          <a:p>
            <a:pPr algn="ctr"/>
            <a:r>
              <a:rPr lang="en-US" sz="1000">
                <a:solidFill>
                  <a:srgbClr val="5C5C5C"/>
                </a:solidFill>
                <a:latin typeface="Aptos" panose="020B0004020202020204" pitchFamily="34" charset="0"/>
              </a:rPr>
              <a:t>safety_legible_left_cfg03_v01.mp4  |  obstacle on straight path -&gt; take curve</a:t>
            </a:r>
          </a:p>
        </p:txBody>
      </p:sp>
      <p:sp>
        <p:nvSpPr>
          <p:cNvPr id="24" name="Rectangle: Rounded Corners 23">
            <a:extLst>
              <a:ext uri="{FF2B5EF4-FFF2-40B4-BE49-F238E27FC236}">
                <a16:creationId xmlns:a16="http://schemas.microsoft.com/office/drawing/2014/main" id="{924ED4D2-F3DF-C4F6-40DD-9DCDC7804B36}"/>
              </a:ext>
            </a:extLst>
          </p:cNvPr>
          <p:cNvSpPr/>
          <p:nvPr/>
        </p:nvSpPr>
        <p:spPr>
          <a:xfrm>
            <a:off x="6350000" y="1574800"/>
            <a:ext cx="5156200" cy="3937000"/>
          </a:xfrm>
          <a:prstGeom prst="roundRect">
            <a:avLst/>
          </a:prstGeom>
          <a:solidFill>
            <a:srgbClr val="FFFFFF"/>
          </a:solidFill>
          <a:ln w="15240">
            <a:solidFill>
              <a:srgbClr val="4984C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5" name="safety_predictable_left_cfg04_v04">
            <a:hlinkClick r:id="" action="ppaction://media"/>
            <a:extLst>
              <a:ext uri="{FF2B5EF4-FFF2-40B4-BE49-F238E27FC236}">
                <a16:creationId xmlns:a16="http://schemas.microsoft.com/office/drawing/2014/main" id="{47B0006E-12D0-F707-A8AE-D9D966EBF6BA}"/>
              </a:ext>
            </a:extLst>
          </p:cNvPr>
          <p:cNvPicPr>
            <a:picLocks noChangeAspect="1"/>
          </p:cNvPicPr>
          <p:nvPr>
            <a:videoFile r:link="rId4"/>
            <p:extLst>
              <p:ext uri="{DAA4B4D4-6D71-4841-9C94-3DE7FCFB9230}">
                <p14:media xmlns:p14="http://schemas.microsoft.com/office/powerpoint/2010/main" r:embed="rId3"/>
              </p:ext>
            </p:extLst>
          </p:nvPr>
        </p:nvPicPr>
        <p:blipFill>
          <a:blip r:embed="rId7"/>
          <a:stretch>
            <a:fillRect/>
          </a:stretch>
        </p:blipFill>
        <p:spPr>
          <a:xfrm>
            <a:off x="6477000" y="1701800"/>
            <a:ext cx="4368800" cy="3276600"/>
          </a:xfrm>
          <a:prstGeom prst="rect">
            <a:avLst/>
          </a:prstGeom>
        </p:spPr>
      </p:pic>
      <p:sp>
        <p:nvSpPr>
          <p:cNvPr id="26" name="TextBox 25">
            <a:extLst>
              <a:ext uri="{FF2B5EF4-FFF2-40B4-BE49-F238E27FC236}">
                <a16:creationId xmlns:a16="http://schemas.microsoft.com/office/drawing/2014/main" id="{67F6E15B-9EC3-7285-B272-71A5BF9D9D2D}"/>
              </a:ext>
            </a:extLst>
          </p:cNvPr>
          <p:cNvSpPr txBox="1"/>
          <p:nvPr/>
        </p:nvSpPr>
        <p:spPr>
          <a:xfrm>
            <a:off x="6502400" y="5054600"/>
            <a:ext cx="4851400" cy="153888"/>
          </a:xfrm>
          <a:prstGeom prst="rect">
            <a:avLst/>
          </a:prstGeom>
          <a:noFill/>
        </p:spPr>
        <p:txBody>
          <a:bodyPr vert="horz" wrap="square" lIns="0" tIns="0" rIns="0" bIns="0" rtlCol="0">
            <a:spAutoFit/>
          </a:bodyPr>
          <a:lstStyle/>
          <a:p>
            <a:pPr algn="ctr"/>
            <a:r>
              <a:rPr lang="en-US" sz="1000">
                <a:solidFill>
                  <a:srgbClr val="5C5C5C"/>
                </a:solidFill>
                <a:latin typeface="Aptos" panose="020B0004020202020204" pitchFamily="34" charset="0"/>
              </a:rPr>
              <a:t>safety_predictable_left_cfg04_v04.mp4  |  obstacle on curved path -&gt; go straighter</a:t>
            </a:r>
          </a:p>
        </p:txBody>
      </p:sp>
      <p:sp>
        <p:nvSpPr>
          <p:cNvPr id="27" name="Rectangle: Rounded Corners 26">
            <a:extLst>
              <a:ext uri="{FF2B5EF4-FFF2-40B4-BE49-F238E27FC236}">
                <a16:creationId xmlns:a16="http://schemas.microsoft.com/office/drawing/2014/main" id="{3AFC3A11-F15F-E805-FDCA-921ED3A2078D}"/>
              </a:ext>
            </a:extLst>
          </p:cNvPr>
          <p:cNvSpPr/>
          <p:nvPr/>
        </p:nvSpPr>
        <p:spPr>
          <a:xfrm>
            <a:off x="685800" y="5613400"/>
            <a:ext cx="10820400" cy="889000"/>
          </a:xfrm>
          <a:prstGeom prst="roundRect">
            <a:avLst/>
          </a:prstGeom>
          <a:solidFill>
            <a:srgbClr val="F5E9EE"/>
          </a:solidFill>
          <a:ln w="13970">
            <a:solidFill>
              <a:srgbClr val="8C1D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6677AA89-8D2E-B3B5-BEA8-517AC66BDAEF}"/>
              </a:ext>
            </a:extLst>
          </p:cNvPr>
          <p:cNvSpPr txBox="1"/>
          <p:nvPr/>
        </p:nvSpPr>
        <p:spPr>
          <a:xfrm>
            <a:off x="889000" y="5765800"/>
            <a:ext cx="10414000" cy="200055"/>
          </a:xfrm>
          <a:prstGeom prst="rect">
            <a:avLst/>
          </a:prstGeom>
          <a:noFill/>
        </p:spPr>
        <p:txBody>
          <a:bodyPr vert="horz" wrap="square" lIns="0" tIns="0" rIns="0" bIns="0" rtlCol="0">
            <a:spAutoFit/>
          </a:bodyPr>
          <a:lstStyle/>
          <a:p>
            <a:r>
              <a:rPr lang="en-US" sz="1300" b="1">
                <a:solidFill>
                  <a:srgbClr val="8C1D40"/>
                </a:solidFill>
                <a:latin typeface="Aptos" panose="020B0004020202020204" pitchFamily="34" charset="0"/>
              </a:rPr>
              <a:t>What to say</a:t>
            </a:r>
          </a:p>
        </p:txBody>
      </p:sp>
      <p:sp>
        <p:nvSpPr>
          <p:cNvPr id="29" name="TextBox 28">
            <a:extLst>
              <a:ext uri="{FF2B5EF4-FFF2-40B4-BE49-F238E27FC236}">
                <a16:creationId xmlns:a16="http://schemas.microsoft.com/office/drawing/2014/main" id="{A301272D-FADA-0D45-2EDE-B9D1B217321E}"/>
              </a:ext>
            </a:extLst>
          </p:cNvPr>
          <p:cNvSpPr txBox="1"/>
          <p:nvPr/>
        </p:nvSpPr>
        <p:spPr>
          <a:xfrm>
            <a:off x="889000" y="6096000"/>
            <a:ext cx="10414000" cy="338554"/>
          </a:xfrm>
          <a:prstGeom prst="rect">
            <a:avLst/>
          </a:prstGeom>
          <a:noFill/>
        </p:spPr>
        <p:txBody>
          <a:bodyPr vert="horz" wrap="square" lIns="0" tIns="0" rIns="0" bIns="0" rtlCol="0">
            <a:spAutoFit/>
          </a:bodyPr>
          <a:lstStyle/>
          <a:p>
            <a:r>
              <a:rPr lang="en-US" sz="1100">
                <a:solidFill>
                  <a:srgbClr val="1C1C1C"/>
                </a:solidFill>
                <a:latin typeface="Aptos" panose="020B0004020202020204" pitchFamily="34" charset="0"/>
              </a:rPr>
              <a:t>In safety-legible motion, the straight path is blocked so the robot uses a wider curved approach. In safety-predictable motion, the obstacle sits on the curved side, so the robot takes the more direct path instead.</a:t>
            </a:r>
          </a:p>
        </p:txBody>
      </p:sp>
    </p:spTree>
    <p:extLst>
      <p:ext uri="{BB962C8B-B14F-4D97-AF65-F5344CB8AC3E}">
        <p14:creationId xmlns:p14="http://schemas.microsoft.com/office/powerpoint/2010/main" val="9242634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134" fill="hold"/>
                                        <p:tgtEl>
                                          <p:spTgt spid="22"/>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0434" fill="hold"/>
                                        <p:tgtEl>
                                          <p:spTgt spid="2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2"/>
                </p:tgtEl>
              </p:cMediaNode>
            </p:video>
            <p:seq concurrent="1" nextAc="seek">
              <p:cTn id="12" restart="whenNotActive" fill="hold" evtFilter="cancelBubble" nodeType="interactiveSeq">
                <p:stCondLst>
                  <p:cond evt="onClick" delay="0">
                    <p:tgtEl>
                      <p:spTgt spid="22"/>
                    </p:tgtEl>
                  </p:cond>
                </p:stCondLst>
                <p:endSync evt="end" delay="0">
                  <p:rtn val="all"/>
                </p:endSync>
                <p:childTnLst>
                  <p:par>
                    <p:cTn id="13" fill="hold">
                      <p:stCondLst>
                        <p:cond delay="0"/>
                      </p:stCondLst>
                      <p:childTnLst>
                        <p:par>
                          <p:cTn id="14" fill="hold">
                            <p:stCondLst>
                              <p:cond delay="0"/>
                            </p:stCondLst>
                            <p:childTnLst>
                              <p:par>
                                <p:cTn id="15" presetID="2" presetClass="mediacall" presetSubtype="0" fill="hold" nodeType="clickEffect">
                                  <p:stCondLst>
                                    <p:cond delay="0"/>
                                  </p:stCondLst>
                                  <p:childTnLst>
                                    <p:cmd type="call" cmd="togglePause">
                                      <p:cBhvr>
                                        <p:cTn id="16" dur="1" fill="hold"/>
                                        <p:tgtEl>
                                          <p:spTgt spid="22"/>
                                        </p:tgtEl>
                                      </p:cBhvr>
                                    </p:cmd>
                                  </p:childTnLst>
                                </p:cTn>
                              </p:par>
                            </p:childTnLst>
                          </p:cTn>
                        </p:par>
                      </p:childTnLst>
                    </p:cTn>
                  </p:par>
                </p:childTnLst>
              </p:cTn>
              <p:nextCondLst>
                <p:cond evt="onClick" delay="0">
                  <p:tgtEl>
                    <p:spTgt spid="22"/>
                  </p:tgtEl>
                </p:cond>
              </p:nextCondLst>
            </p:seq>
            <p:video>
              <p:cMediaNode vol="80000">
                <p:cTn id="17" fill="hold" display="0">
                  <p:stCondLst>
                    <p:cond delay="indefinite"/>
                  </p:stCondLst>
                </p:cTn>
                <p:tgtEl>
                  <p:spTgt spid="25"/>
                </p:tgtEl>
              </p:cMediaNode>
            </p:video>
            <p:seq concurrent="1" nextAc="seek">
              <p:cTn id="18" restart="whenNotActive" fill="hold" evtFilter="cancelBubble" nodeType="interactiveSeq">
                <p:stCondLst>
                  <p:cond evt="onClick" delay="0">
                    <p:tgtEl>
                      <p:spTgt spid="25"/>
                    </p:tgtEl>
                  </p:cond>
                </p:stCondLst>
                <p:endSync evt="end" delay="0">
                  <p:rtn val="all"/>
                </p:endSync>
                <p:childTnLst>
                  <p:par>
                    <p:cTn id="19" fill="hold">
                      <p:stCondLst>
                        <p:cond delay="0"/>
                      </p:stCondLst>
                      <p:childTnLst>
                        <p:par>
                          <p:cTn id="20" fill="hold">
                            <p:stCondLst>
                              <p:cond delay="0"/>
                            </p:stCondLst>
                            <p:childTnLst>
                              <p:par>
                                <p:cTn id="21" presetID="2" presetClass="mediacall" presetSubtype="0" fill="hold" nodeType="clickEffect">
                                  <p:stCondLst>
                                    <p:cond delay="0"/>
                                  </p:stCondLst>
                                  <p:childTnLst>
                                    <p:cmd type="call" cmd="togglePause">
                                      <p:cBhvr>
                                        <p:cTn id="22" dur="1" fill="hold"/>
                                        <p:tgtEl>
                                          <p:spTgt spid="25"/>
                                        </p:tgtEl>
                                      </p:cBhvr>
                                    </p:cmd>
                                  </p:childTnLst>
                                </p:cTn>
                              </p:par>
                            </p:childTnLst>
                          </p:cTn>
                        </p:par>
                      </p:childTnLst>
                    </p:cTn>
                  </p:par>
                </p:childTnLst>
              </p:cTn>
              <p:nextCondLst>
                <p:cond evt="onClick" delay="0">
                  <p:tgtEl>
                    <p:spTgt spid="25"/>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Rectangle 38">
            <a:extLst>
              <a:ext uri="{FF2B5EF4-FFF2-40B4-BE49-F238E27FC236}">
                <a16:creationId xmlns:a16="http://schemas.microsoft.com/office/drawing/2014/main" id="{9AF3A4B5-9AC6-49C5-22DA-D07408224E98}"/>
              </a:ext>
            </a:extLst>
          </p:cNvPr>
          <p:cNvSpPr/>
          <p:nvPr/>
        </p:nvSpPr>
        <p:spPr>
          <a:xfrm>
            <a:off x="0" y="0"/>
            <a:ext cx="12192000" cy="6858000"/>
          </a:xfrm>
          <a:prstGeom prst="rect">
            <a:avLst/>
          </a:prstGeom>
          <a:solidFill>
            <a:srgbClr val="F8F6F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a:extLst>
              <a:ext uri="{FF2B5EF4-FFF2-40B4-BE49-F238E27FC236}">
                <a16:creationId xmlns:a16="http://schemas.microsoft.com/office/drawing/2014/main" id="{1388FE8D-7B26-928E-0AAA-C9A42B1C28D1}"/>
              </a:ext>
            </a:extLst>
          </p:cNvPr>
          <p:cNvSpPr txBox="1"/>
          <p:nvPr/>
        </p:nvSpPr>
        <p:spPr>
          <a:xfrm>
            <a:off x="508000" y="355600"/>
            <a:ext cx="9906000" cy="430887"/>
          </a:xfrm>
          <a:prstGeom prst="rect">
            <a:avLst/>
          </a:prstGeom>
          <a:noFill/>
        </p:spPr>
        <p:txBody>
          <a:bodyPr vert="horz" wrap="square" lIns="0" tIns="0" rIns="0" bIns="0" rtlCol="0">
            <a:spAutoFit/>
          </a:bodyPr>
          <a:lstStyle/>
          <a:p>
            <a:r>
              <a:rPr lang="en-US" sz="2800" b="1">
                <a:solidFill>
                  <a:srgbClr val="1C1C1C"/>
                </a:solidFill>
                <a:latin typeface="Aptos" panose="020B0004020202020204" pitchFamily="34" charset="0"/>
              </a:rPr>
              <a:t>Training Data And Learning Setup</a:t>
            </a:r>
          </a:p>
        </p:txBody>
      </p:sp>
      <p:sp>
        <p:nvSpPr>
          <p:cNvPr id="41" name="TextBox 40">
            <a:extLst>
              <a:ext uri="{FF2B5EF4-FFF2-40B4-BE49-F238E27FC236}">
                <a16:creationId xmlns:a16="http://schemas.microsoft.com/office/drawing/2014/main" id="{A10EA2E9-8B25-2DFC-51B9-A4E78299FC78}"/>
              </a:ext>
            </a:extLst>
          </p:cNvPr>
          <p:cNvSpPr txBox="1"/>
          <p:nvPr/>
        </p:nvSpPr>
        <p:spPr>
          <a:xfrm>
            <a:off x="508000" y="800100"/>
            <a:ext cx="10668000" cy="169277"/>
          </a:xfrm>
          <a:prstGeom prst="rect">
            <a:avLst/>
          </a:prstGeom>
          <a:noFill/>
        </p:spPr>
        <p:txBody>
          <a:bodyPr vert="horz" wrap="square" lIns="0" tIns="0" rIns="0" bIns="0" rtlCol="0">
            <a:spAutoFit/>
          </a:bodyPr>
          <a:lstStyle/>
          <a:p>
            <a:r>
              <a:rPr lang="en-US" sz="1100">
                <a:solidFill>
                  <a:srgbClr val="5C5C5C"/>
                </a:solidFill>
                <a:latin typeface="Aptos" panose="020B0004020202020204" pitchFamily="34" charset="0"/>
              </a:rPr>
              <a:t>train.py turns demonstration episodes into observation-conditioned action chunks, then normalizes them before diffusion training</a:t>
            </a:r>
          </a:p>
        </p:txBody>
      </p:sp>
      <p:sp>
        <p:nvSpPr>
          <p:cNvPr id="42" name="Rectangle 41">
            <a:extLst>
              <a:ext uri="{FF2B5EF4-FFF2-40B4-BE49-F238E27FC236}">
                <a16:creationId xmlns:a16="http://schemas.microsoft.com/office/drawing/2014/main" id="{1EAE6232-1CE3-9793-11E5-D19B41B90240}"/>
              </a:ext>
            </a:extLst>
          </p:cNvPr>
          <p:cNvSpPr/>
          <p:nvPr/>
        </p:nvSpPr>
        <p:spPr>
          <a:xfrm>
            <a:off x="508000" y="1168400"/>
            <a:ext cx="11176000" cy="50800"/>
          </a:xfrm>
          <a:prstGeom prst="rect">
            <a:avLst/>
          </a:prstGeom>
          <a:solidFill>
            <a:srgbClr val="FFC62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a:extLst>
              <a:ext uri="{FF2B5EF4-FFF2-40B4-BE49-F238E27FC236}">
                <a16:creationId xmlns:a16="http://schemas.microsoft.com/office/drawing/2014/main" id="{7FC05B78-4E81-BBCA-72D6-4656CF9E6309}"/>
              </a:ext>
            </a:extLst>
          </p:cNvPr>
          <p:cNvSpPr txBox="1"/>
          <p:nvPr/>
        </p:nvSpPr>
        <p:spPr>
          <a:xfrm>
            <a:off x="11430000" y="381000"/>
            <a:ext cx="254000" cy="153888"/>
          </a:xfrm>
          <a:prstGeom prst="rect">
            <a:avLst/>
          </a:prstGeom>
          <a:noFill/>
        </p:spPr>
        <p:txBody>
          <a:bodyPr vert="horz" wrap="square" lIns="0" tIns="0" rIns="0" bIns="0" rtlCol="0">
            <a:spAutoFit/>
          </a:bodyPr>
          <a:lstStyle/>
          <a:p>
            <a:pPr algn="r"/>
            <a:r>
              <a:rPr lang="en-US" sz="1000">
                <a:solidFill>
                  <a:srgbClr val="5C5C5C"/>
                </a:solidFill>
                <a:latin typeface="Aptos" panose="020B0004020202020204" pitchFamily="34" charset="0"/>
              </a:rPr>
              <a:t>35</a:t>
            </a:r>
          </a:p>
        </p:txBody>
      </p:sp>
      <p:sp>
        <p:nvSpPr>
          <p:cNvPr id="44" name="Rectangle: Rounded Corners 43">
            <a:extLst>
              <a:ext uri="{FF2B5EF4-FFF2-40B4-BE49-F238E27FC236}">
                <a16:creationId xmlns:a16="http://schemas.microsoft.com/office/drawing/2014/main" id="{9294A623-42C1-AA7D-55FC-EC458F7E3C62}"/>
              </a:ext>
            </a:extLst>
          </p:cNvPr>
          <p:cNvSpPr/>
          <p:nvPr/>
        </p:nvSpPr>
        <p:spPr>
          <a:xfrm>
            <a:off x="508000" y="1498600"/>
            <a:ext cx="2286000" cy="1346200"/>
          </a:xfrm>
          <a:prstGeom prst="roundRect">
            <a:avLst/>
          </a:prstGeom>
          <a:solidFill>
            <a:srgbClr val="FFFFFF"/>
          </a:solidFill>
          <a:ln w="12700">
            <a:solidFill>
              <a:srgbClr val="D2D0C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F953BBB2-693E-E7C7-C095-DAF1DE8A80DB}"/>
              </a:ext>
            </a:extLst>
          </p:cNvPr>
          <p:cNvSpPr/>
          <p:nvPr/>
        </p:nvSpPr>
        <p:spPr>
          <a:xfrm>
            <a:off x="685800" y="1651000"/>
            <a:ext cx="1930400" cy="50800"/>
          </a:xfrm>
          <a:prstGeom prst="rect">
            <a:avLst/>
          </a:prstGeom>
          <a:solidFill>
            <a:srgbClr val="8C1D4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Box 45">
            <a:extLst>
              <a:ext uri="{FF2B5EF4-FFF2-40B4-BE49-F238E27FC236}">
                <a16:creationId xmlns:a16="http://schemas.microsoft.com/office/drawing/2014/main" id="{856C0FFD-5E19-3323-0916-DFB345287C09}"/>
              </a:ext>
            </a:extLst>
          </p:cNvPr>
          <p:cNvSpPr txBox="1"/>
          <p:nvPr/>
        </p:nvSpPr>
        <p:spPr>
          <a:xfrm>
            <a:off x="685800" y="1752600"/>
            <a:ext cx="1930400" cy="153888"/>
          </a:xfrm>
          <a:prstGeom prst="rect">
            <a:avLst/>
          </a:prstGeom>
          <a:noFill/>
        </p:spPr>
        <p:txBody>
          <a:bodyPr vert="horz" wrap="square" lIns="0" tIns="0" rIns="0" bIns="0" rtlCol="0">
            <a:spAutoFit/>
          </a:bodyPr>
          <a:lstStyle/>
          <a:p>
            <a:r>
              <a:rPr lang="en-US" sz="1000" b="1">
                <a:solidFill>
                  <a:srgbClr val="5C5C5C"/>
                </a:solidFill>
                <a:latin typeface="Aptos" panose="020B0004020202020204" pitchFamily="34" charset="0"/>
              </a:rPr>
              <a:t>Input file</a:t>
            </a:r>
          </a:p>
        </p:txBody>
      </p:sp>
      <p:sp>
        <p:nvSpPr>
          <p:cNvPr id="47" name="TextBox 46">
            <a:extLst>
              <a:ext uri="{FF2B5EF4-FFF2-40B4-BE49-F238E27FC236}">
                <a16:creationId xmlns:a16="http://schemas.microsoft.com/office/drawing/2014/main" id="{82D2159C-9C33-EEE0-520E-9D1F798AF993}"/>
              </a:ext>
            </a:extLst>
          </p:cNvPr>
          <p:cNvSpPr txBox="1"/>
          <p:nvPr/>
        </p:nvSpPr>
        <p:spPr>
          <a:xfrm>
            <a:off x="685800" y="2032000"/>
            <a:ext cx="1930400" cy="338554"/>
          </a:xfrm>
          <a:prstGeom prst="rect">
            <a:avLst/>
          </a:prstGeom>
          <a:noFill/>
        </p:spPr>
        <p:txBody>
          <a:bodyPr vert="horz" wrap="square" lIns="0" tIns="0" rIns="0" bIns="0" rtlCol="0">
            <a:spAutoFit/>
          </a:bodyPr>
          <a:lstStyle/>
          <a:p>
            <a:r>
              <a:rPr lang="en-US" sz="2200" b="1">
                <a:solidFill>
                  <a:srgbClr val="8C1D40"/>
                </a:solidFill>
                <a:latin typeface="Aptos" panose="020B0004020202020204" pitchFamily="34" charset="0"/>
              </a:rPr>
              <a:t>.npz demos</a:t>
            </a:r>
          </a:p>
        </p:txBody>
      </p:sp>
      <p:sp>
        <p:nvSpPr>
          <p:cNvPr id="48" name="TextBox 47">
            <a:extLst>
              <a:ext uri="{FF2B5EF4-FFF2-40B4-BE49-F238E27FC236}">
                <a16:creationId xmlns:a16="http://schemas.microsoft.com/office/drawing/2014/main" id="{5E6B5F45-9DF8-C554-71C8-4001187894BE}"/>
              </a:ext>
            </a:extLst>
          </p:cNvPr>
          <p:cNvSpPr txBox="1"/>
          <p:nvPr/>
        </p:nvSpPr>
        <p:spPr>
          <a:xfrm>
            <a:off x="685800" y="2438400"/>
            <a:ext cx="1930400" cy="307777"/>
          </a:xfrm>
          <a:prstGeom prst="rect">
            <a:avLst/>
          </a:prstGeom>
          <a:noFill/>
        </p:spPr>
        <p:txBody>
          <a:bodyPr vert="horz" wrap="square" lIns="0" tIns="0" rIns="0" bIns="0" rtlCol="0">
            <a:spAutoFit/>
          </a:bodyPr>
          <a:lstStyle/>
          <a:p>
            <a:r>
              <a:rPr lang="en-US" sz="1000">
                <a:solidFill>
                  <a:srgbClr val="5C5C5C"/>
                </a:solidFill>
                <a:latin typeface="Aptos" panose="020B0004020202020204" pitchFamily="34" charset="0"/>
              </a:rPr>
              <a:t>obs, actions, and episode_lengths from the collected datasets</a:t>
            </a:r>
          </a:p>
        </p:txBody>
      </p:sp>
      <p:sp>
        <p:nvSpPr>
          <p:cNvPr id="49" name="Rectangle: Rounded Corners 48">
            <a:extLst>
              <a:ext uri="{FF2B5EF4-FFF2-40B4-BE49-F238E27FC236}">
                <a16:creationId xmlns:a16="http://schemas.microsoft.com/office/drawing/2014/main" id="{CFE53FD7-49CB-39FC-FE52-80433470FEA5}"/>
              </a:ext>
            </a:extLst>
          </p:cNvPr>
          <p:cNvSpPr/>
          <p:nvPr/>
        </p:nvSpPr>
        <p:spPr>
          <a:xfrm>
            <a:off x="2921000" y="1498600"/>
            <a:ext cx="2286000" cy="1346200"/>
          </a:xfrm>
          <a:prstGeom prst="roundRect">
            <a:avLst/>
          </a:prstGeom>
          <a:solidFill>
            <a:srgbClr val="FFFFFF"/>
          </a:solidFill>
          <a:ln w="12700">
            <a:solidFill>
              <a:srgbClr val="D2D0C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F587FCF4-2A2B-7EFD-256F-C772C1FE80DA}"/>
              </a:ext>
            </a:extLst>
          </p:cNvPr>
          <p:cNvSpPr/>
          <p:nvPr/>
        </p:nvSpPr>
        <p:spPr>
          <a:xfrm>
            <a:off x="3098800" y="1651000"/>
            <a:ext cx="1930400" cy="50800"/>
          </a:xfrm>
          <a:prstGeom prst="rect">
            <a:avLst/>
          </a:prstGeom>
          <a:solidFill>
            <a:srgbClr val="4984C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TextBox 50">
            <a:extLst>
              <a:ext uri="{FF2B5EF4-FFF2-40B4-BE49-F238E27FC236}">
                <a16:creationId xmlns:a16="http://schemas.microsoft.com/office/drawing/2014/main" id="{6DE37893-3536-AD4C-59D5-046921C01E20}"/>
              </a:ext>
            </a:extLst>
          </p:cNvPr>
          <p:cNvSpPr txBox="1"/>
          <p:nvPr/>
        </p:nvSpPr>
        <p:spPr>
          <a:xfrm>
            <a:off x="3098800" y="1752600"/>
            <a:ext cx="1930400" cy="153888"/>
          </a:xfrm>
          <a:prstGeom prst="rect">
            <a:avLst/>
          </a:prstGeom>
          <a:noFill/>
        </p:spPr>
        <p:txBody>
          <a:bodyPr vert="horz" wrap="square" lIns="0" tIns="0" rIns="0" bIns="0" rtlCol="0">
            <a:spAutoFit/>
          </a:bodyPr>
          <a:lstStyle/>
          <a:p>
            <a:r>
              <a:rPr lang="en-US" sz="1000" b="1">
                <a:solidFill>
                  <a:srgbClr val="5C5C5C"/>
                </a:solidFill>
                <a:latin typeface="Aptos" panose="020B0004020202020204" pitchFamily="34" charset="0"/>
              </a:rPr>
              <a:t>Training sample</a:t>
            </a:r>
          </a:p>
        </p:txBody>
      </p:sp>
      <p:sp>
        <p:nvSpPr>
          <p:cNvPr id="52" name="TextBox 51">
            <a:extLst>
              <a:ext uri="{FF2B5EF4-FFF2-40B4-BE49-F238E27FC236}">
                <a16:creationId xmlns:a16="http://schemas.microsoft.com/office/drawing/2014/main" id="{06D6DECB-15D8-81DB-967E-6246901E0F76}"/>
              </a:ext>
            </a:extLst>
          </p:cNvPr>
          <p:cNvSpPr txBox="1"/>
          <p:nvPr/>
        </p:nvSpPr>
        <p:spPr>
          <a:xfrm>
            <a:off x="3098800" y="2032000"/>
            <a:ext cx="1930400" cy="338554"/>
          </a:xfrm>
          <a:prstGeom prst="rect">
            <a:avLst/>
          </a:prstGeom>
          <a:noFill/>
        </p:spPr>
        <p:txBody>
          <a:bodyPr vert="horz" wrap="square" lIns="0" tIns="0" rIns="0" bIns="0" rtlCol="0">
            <a:spAutoFit/>
          </a:bodyPr>
          <a:lstStyle/>
          <a:p>
            <a:r>
              <a:rPr lang="en-US" sz="2200" b="1">
                <a:solidFill>
                  <a:srgbClr val="4984CB"/>
                </a:solidFill>
                <a:latin typeface="Aptos" panose="020B0004020202020204" pitchFamily="34" charset="0"/>
              </a:rPr>
              <a:t>obs_t + plan_H</a:t>
            </a:r>
          </a:p>
        </p:txBody>
      </p:sp>
      <p:sp>
        <p:nvSpPr>
          <p:cNvPr id="53" name="TextBox 52">
            <a:extLst>
              <a:ext uri="{FF2B5EF4-FFF2-40B4-BE49-F238E27FC236}">
                <a16:creationId xmlns:a16="http://schemas.microsoft.com/office/drawing/2014/main" id="{D62120DC-391A-BE3C-6BE0-EBAC8E27F74D}"/>
              </a:ext>
            </a:extLst>
          </p:cNvPr>
          <p:cNvSpPr txBox="1"/>
          <p:nvPr/>
        </p:nvSpPr>
        <p:spPr>
          <a:xfrm>
            <a:off x="3098800" y="2438400"/>
            <a:ext cx="1930400" cy="461665"/>
          </a:xfrm>
          <a:prstGeom prst="rect">
            <a:avLst/>
          </a:prstGeom>
          <a:noFill/>
        </p:spPr>
        <p:txBody>
          <a:bodyPr vert="horz" wrap="square" lIns="0" tIns="0" rIns="0" bIns="0" rtlCol="0">
            <a:spAutoFit/>
          </a:bodyPr>
          <a:lstStyle/>
          <a:p>
            <a:r>
              <a:rPr lang="en-US" sz="1000">
                <a:solidFill>
                  <a:srgbClr val="5C5C5C"/>
                </a:solidFill>
                <a:latin typeface="Aptos" panose="020B0004020202020204" pitchFamily="34" charset="0"/>
              </a:rPr>
              <a:t>One current observation plus one future horizon-length action sequence</a:t>
            </a:r>
          </a:p>
        </p:txBody>
      </p:sp>
      <p:sp>
        <p:nvSpPr>
          <p:cNvPr id="54" name="Rectangle: Rounded Corners 53">
            <a:extLst>
              <a:ext uri="{FF2B5EF4-FFF2-40B4-BE49-F238E27FC236}">
                <a16:creationId xmlns:a16="http://schemas.microsoft.com/office/drawing/2014/main" id="{29D45E1F-516C-D766-11FB-BD658610EE04}"/>
              </a:ext>
            </a:extLst>
          </p:cNvPr>
          <p:cNvSpPr/>
          <p:nvPr/>
        </p:nvSpPr>
        <p:spPr>
          <a:xfrm>
            <a:off x="5334000" y="1498600"/>
            <a:ext cx="2286000" cy="1346200"/>
          </a:xfrm>
          <a:prstGeom prst="roundRect">
            <a:avLst/>
          </a:prstGeom>
          <a:solidFill>
            <a:srgbClr val="FFFFFF"/>
          </a:solidFill>
          <a:ln w="12700">
            <a:solidFill>
              <a:srgbClr val="D2D0C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F438A27D-5FB1-5BD1-48E8-C26EAA614C42}"/>
              </a:ext>
            </a:extLst>
          </p:cNvPr>
          <p:cNvSpPr/>
          <p:nvPr/>
        </p:nvSpPr>
        <p:spPr>
          <a:xfrm>
            <a:off x="5511800" y="1651000"/>
            <a:ext cx="1930400" cy="50800"/>
          </a:xfrm>
          <a:prstGeom prst="rect">
            <a:avLst/>
          </a:prstGeom>
          <a:solidFill>
            <a:srgbClr val="5B995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TextBox 55">
            <a:extLst>
              <a:ext uri="{FF2B5EF4-FFF2-40B4-BE49-F238E27FC236}">
                <a16:creationId xmlns:a16="http://schemas.microsoft.com/office/drawing/2014/main" id="{B0FD953D-F8D3-1476-331F-F03D75FDEF1C}"/>
              </a:ext>
            </a:extLst>
          </p:cNvPr>
          <p:cNvSpPr txBox="1"/>
          <p:nvPr/>
        </p:nvSpPr>
        <p:spPr>
          <a:xfrm>
            <a:off x="5511800" y="1752600"/>
            <a:ext cx="1930400" cy="153888"/>
          </a:xfrm>
          <a:prstGeom prst="rect">
            <a:avLst/>
          </a:prstGeom>
          <a:noFill/>
        </p:spPr>
        <p:txBody>
          <a:bodyPr vert="horz" wrap="square" lIns="0" tIns="0" rIns="0" bIns="0" rtlCol="0">
            <a:spAutoFit/>
          </a:bodyPr>
          <a:lstStyle/>
          <a:p>
            <a:r>
              <a:rPr lang="en-US" sz="1000" b="1">
                <a:solidFill>
                  <a:srgbClr val="5C5C5C"/>
                </a:solidFill>
                <a:latin typeface="Aptos" panose="020B0004020202020204" pitchFamily="34" charset="0"/>
              </a:rPr>
              <a:t>Chunk stride</a:t>
            </a:r>
          </a:p>
        </p:txBody>
      </p:sp>
      <p:sp>
        <p:nvSpPr>
          <p:cNvPr id="57" name="TextBox 56">
            <a:extLst>
              <a:ext uri="{FF2B5EF4-FFF2-40B4-BE49-F238E27FC236}">
                <a16:creationId xmlns:a16="http://schemas.microsoft.com/office/drawing/2014/main" id="{8B248882-264A-EB93-EF6E-7AC1D4AF36CC}"/>
              </a:ext>
            </a:extLst>
          </p:cNvPr>
          <p:cNvSpPr txBox="1"/>
          <p:nvPr/>
        </p:nvSpPr>
        <p:spPr>
          <a:xfrm>
            <a:off x="5511800" y="2032000"/>
            <a:ext cx="1930400" cy="338554"/>
          </a:xfrm>
          <a:prstGeom prst="rect">
            <a:avLst/>
          </a:prstGeom>
          <a:noFill/>
        </p:spPr>
        <p:txBody>
          <a:bodyPr vert="horz" wrap="square" lIns="0" tIns="0" rIns="0" bIns="0" rtlCol="0">
            <a:spAutoFit/>
          </a:bodyPr>
          <a:lstStyle/>
          <a:p>
            <a:r>
              <a:rPr lang="en-US" sz="2200" b="1">
                <a:solidFill>
                  <a:srgbClr val="5B995D"/>
                </a:solidFill>
                <a:latin typeface="Aptos" panose="020B0004020202020204" pitchFamily="34" charset="0"/>
              </a:rPr>
              <a:t>H / 2</a:t>
            </a:r>
          </a:p>
        </p:txBody>
      </p:sp>
      <p:sp>
        <p:nvSpPr>
          <p:cNvPr id="58" name="TextBox 57">
            <a:extLst>
              <a:ext uri="{FF2B5EF4-FFF2-40B4-BE49-F238E27FC236}">
                <a16:creationId xmlns:a16="http://schemas.microsoft.com/office/drawing/2014/main" id="{7F495557-238D-55B0-E8D5-88493D07E425}"/>
              </a:ext>
            </a:extLst>
          </p:cNvPr>
          <p:cNvSpPr txBox="1"/>
          <p:nvPr/>
        </p:nvSpPr>
        <p:spPr>
          <a:xfrm>
            <a:off x="5511800" y="2438400"/>
            <a:ext cx="1930400" cy="307777"/>
          </a:xfrm>
          <a:prstGeom prst="rect">
            <a:avLst/>
          </a:prstGeom>
          <a:noFill/>
        </p:spPr>
        <p:txBody>
          <a:bodyPr vert="horz" wrap="square" lIns="0" tIns="0" rIns="0" bIns="0" rtlCol="0">
            <a:spAutoFit/>
          </a:bodyPr>
          <a:lstStyle/>
          <a:p>
            <a:r>
              <a:rPr lang="en-US" sz="1000">
                <a:solidFill>
                  <a:srgbClr val="5C5C5C"/>
                </a:solidFill>
                <a:latin typeface="Aptos" panose="020B0004020202020204" pitchFamily="34" charset="0"/>
              </a:rPr>
              <a:t>Overlapping chunks are extracted every horizon/2 steps</a:t>
            </a:r>
          </a:p>
        </p:txBody>
      </p:sp>
      <p:sp>
        <p:nvSpPr>
          <p:cNvPr id="59" name="Rectangle: Rounded Corners 58">
            <a:extLst>
              <a:ext uri="{FF2B5EF4-FFF2-40B4-BE49-F238E27FC236}">
                <a16:creationId xmlns:a16="http://schemas.microsoft.com/office/drawing/2014/main" id="{ACAC93EB-6877-18AB-F120-1E4FAE0DEE18}"/>
              </a:ext>
            </a:extLst>
          </p:cNvPr>
          <p:cNvSpPr/>
          <p:nvPr/>
        </p:nvSpPr>
        <p:spPr>
          <a:xfrm>
            <a:off x="7747000" y="1498600"/>
            <a:ext cx="2286000" cy="1346200"/>
          </a:xfrm>
          <a:prstGeom prst="roundRect">
            <a:avLst/>
          </a:prstGeom>
          <a:solidFill>
            <a:srgbClr val="FFFFFF"/>
          </a:solidFill>
          <a:ln w="12700">
            <a:solidFill>
              <a:srgbClr val="D2D0C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a:extLst>
              <a:ext uri="{FF2B5EF4-FFF2-40B4-BE49-F238E27FC236}">
                <a16:creationId xmlns:a16="http://schemas.microsoft.com/office/drawing/2014/main" id="{7FEF13C1-D1C6-0852-CB55-B1C195F8AD17}"/>
              </a:ext>
            </a:extLst>
          </p:cNvPr>
          <p:cNvSpPr/>
          <p:nvPr/>
        </p:nvSpPr>
        <p:spPr>
          <a:xfrm>
            <a:off x="7924800" y="1651000"/>
            <a:ext cx="1930400" cy="50800"/>
          </a:xfrm>
          <a:prstGeom prst="rect">
            <a:avLst/>
          </a:prstGeom>
          <a:solidFill>
            <a:srgbClr val="FFC62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TextBox 60">
            <a:extLst>
              <a:ext uri="{FF2B5EF4-FFF2-40B4-BE49-F238E27FC236}">
                <a16:creationId xmlns:a16="http://schemas.microsoft.com/office/drawing/2014/main" id="{0A959B05-9490-F19B-E06A-6690AA9B1214}"/>
              </a:ext>
            </a:extLst>
          </p:cNvPr>
          <p:cNvSpPr txBox="1"/>
          <p:nvPr/>
        </p:nvSpPr>
        <p:spPr>
          <a:xfrm>
            <a:off x="7924800" y="1752600"/>
            <a:ext cx="1930400" cy="153888"/>
          </a:xfrm>
          <a:prstGeom prst="rect">
            <a:avLst/>
          </a:prstGeom>
          <a:noFill/>
        </p:spPr>
        <p:txBody>
          <a:bodyPr vert="horz" wrap="square" lIns="0" tIns="0" rIns="0" bIns="0" rtlCol="0">
            <a:spAutoFit/>
          </a:bodyPr>
          <a:lstStyle/>
          <a:p>
            <a:r>
              <a:rPr lang="en-US" sz="1000" b="1">
                <a:solidFill>
                  <a:srgbClr val="5C5C5C"/>
                </a:solidFill>
                <a:latin typeface="Aptos" panose="020B0004020202020204" pitchFamily="34" charset="0"/>
              </a:rPr>
              <a:t>Batching</a:t>
            </a:r>
          </a:p>
        </p:txBody>
      </p:sp>
      <p:sp>
        <p:nvSpPr>
          <p:cNvPr id="62" name="TextBox 61">
            <a:extLst>
              <a:ext uri="{FF2B5EF4-FFF2-40B4-BE49-F238E27FC236}">
                <a16:creationId xmlns:a16="http://schemas.microsoft.com/office/drawing/2014/main" id="{BC6AE567-9F6D-B50C-8574-06E28FC4D6C4}"/>
              </a:ext>
            </a:extLst>
          </p:cNvPr>
          <p:cNvSpPr txBox="1"/>
          <p:nvPr/>
        </p:nvSpPr>
        <p:spPr>
          <a:xfrm>
            <a:off x="7924800" y="2032000"/>
            <a:ext cx="1930400" cy="338554"/>
          </a:xfrm>
          <a:prstGeom prst="rect">
            <a:avLst/>
          </a:prstGeom>
          <a:noFill/>
        </p:spPr>
        <p:txBody>
          <a:bodyPr vert="horz" wrap="square" lIns="0" tIns="0" rIns="0" bIns="0" rtlCol="0">
            <a:spAutoFit/>
          </a:bodyPr>
          <a:lstStyle/>
          <a:p>
            <a:r>
              <a:rPr lang="en-US" sz="2200" b="1">
                <a:solidFill>
                  <a:srgbClr val="FFC627"/>
                </a:solidFill>
                <a:latin typeface="Aptos" panose="020B0004020202020204" pitchFamily="34" charset="0"/>
              </a:rPr>
              <a:t>64</a:t>
            </a:r>
          </a:p>
        </p:txBody>
      </p:sp>
      <p:sp>
        <p:nvSpPr>
          <p:cNvPr id="63" name="TextBox 62">
            <a:extLst>
              <a:ext uri="{FF2B5EF4-FFF2-40B4-BE49-F238E27FC236}">
                <a16:creationId xmlns:a16="http://schemas.microsoft.com/office/drawing/2014/main" id="{2F26CC46-94C6-D707-8BF2-174E5ADC13DF}"/>
              </a:ext>
            </a:extLst>
          </p:cNvPr>
          <p:cNvSpPr txBox="1"/>
          <p:nvPr/>
        </p:nvSpPr>
        <p:spPr>
          <a:xfrm>
            <a:off x="7924800" y="2438400"/>
            <a:ext cx="1930400" cy="307777"/>
          </a:xfrm>
          <a:prstGeom prst="rect">
            <a:avLst/>
          </a:prstGeom>
          <a:noFill/>
        </p:spPr>
        <p:txBody>
          <a:bodyPr vert="horz" wrap="square" lIns="0" tIns="0" rIns="0" bIns="0" rtlCol="0">
            <a:spAutoFit/>
          </a:bodyPr>
          <a:lstStyle/>
          <a:p>
            <a:r>
              <a:rPr lang="en-US" sz="1000">
                <a:solidFill>
                  <a:srgbClr val="5C5C5C"/>
                </a:solidFill>
                <a:latin typeface="Aptos" panose="020B0004020202020204" pitchFamily="34" charset="0"/>
              </a:rPr>
              <a:t>DataLoader shuffles normalized chunks during training</a:t>
            </a:r>
          </a:p>
        </p:txBody>
      </p:sp>
      <p:sp>
        <p:nvSpPr>
          <p:cNvPr id="64" name="Rectangle: Rounded Corners 63">
            <a:extLst>
              <a:ext uri="{FF2B5EF4-FFF2-40B4-BE49-F238E27FC236}">
                <a16:creationId xmlns:a16="http://schemas.microsoft.com/office/drawing/2014/main" id="{9511F89E-2BE0-E173-4A53-AC4310BA9AC0}"/>
              </a:ext>
            </a:extLst>
          </p:cNvPr>
          <p:cNvSpPr/>
          <p:nvPr/>
        </p:nvSpPr>
        <p:spPr>
          <a:xfrm>
            <a:off x="508000" y="3073400"/>
            <a:ext cx="4064000" cy="2514600"/>
          </a:xfrm>
          <a:prstGeom prst="roundRect">
            <a:avLst/>
          </a:prstGeom>
          <a:solidFill>
            <a:srgbClr val="F5E9EE"/>
          </a:solidFill>
          <a:ln w="13970">
            <a:solidFill>
              <a:srgbClr val="8C1D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TextBox 64">
            <a:extLst>
              <a:ext uri="{FF2B5EF4-FFF2-40B4-BE49-F238E27FC236}">
                <a16:creationId xmlns:a16="http://schemas.microsoft.com/office/drawing/2014/main" id="{ACCFA242-AF62-580A-456F-8B626750ED80}"/>
              </a:ext>
            </a:extLst>
          </p:cNvPr>
          <p:cNvSpPr txBox="1"/>
          <p:nvPr/>
        </p:nvSpPr>
        <p:spPr>
          <a:xfrm>
            <a:off x="711200" y="3251200"/>
            <a:ext cx="3657600" cy="200055"/>
          </a:xfrm>
          <a:prstGeom prst="rect">
            <a:avLst/>
          </a:prstGeom>
          <a:noFill/>
        </p:spPr>
        <p:txBody>
          <a:bodyPr vert="horz" wrap="square" lIns="0" tIns="0" rIns="0" bIns="0" rtlCol="0">
            <a:spAutoFit/>
          </a:bodyPr>
          <a:lstStyle/>
          <a:p>
            <a:r>
              <a:rPr lang="en-US" sz="1300" b="1">
                <a:solidFill>
                  <a:srgbClr val="8C1D40"/>
                </a:solidFill>
                <a:latin typeface="Aptos" panose="020B0004020202020204" pitchFamily="34" charset="0"/>
              </a:rPr>
              <a:t>What DemoDataset does</a:t>
            </a:r>
          </a:p>
        </p:txBody>
      </p:sp>
      <p:sp>
        <p:nvSpPr>
          <p:cNvPr id="66" name="TextBox 65">
            <a:extLst>
              <a:ext uri="{FF2B5EF4-FFF2-40B4-BE49-F238E27FC236}">
                <a16:creationId xmlns:a16="http://schemas.microsoft.com/office/drawing/2014/main" id="{EB0C0F88-A101-9862-AB66-96FFFF35C582}"/>
              </a:ext>
            </a:extLst>
          </p:cNvPr>
          <p:cNvSpPr txBox="1"/>
          <p:nvPr/>
        </p:nvSpPr>
        <p:spPr>
          <a:xfrm>
            <a:off x="711200" y="3606800"/>
            <a:ext cx="3657600" cy="846386"/>
          </a:xfrm>
          <a:prstGeom prst="rect">
            <a:avLst/>
          </a:prstGeom>
          <a:noFill/>
        </p:spPr>
        <p:txBody>
          <a:bodyPr vert="horz" wrap="square" lIns="0" tIns="0" rIns="0" bIns="0" rtlCol="0">
            <a:spAutoFit/>
          </a:bodyPr>
          <a:lstStyle/>
          <a:p>
            <a:r>
              <a:rPr lang="en-US" sz="1100">
                <a:solidFill>
                  <a:srgbClr val="1C1C1C"/>
                </a:solidFill>
                <a:latin typeface="Aptos" panose="020B0004020202020204" pitchFamily="34" charset="0"/>
              </a:rPr>
              <a:t>1. Load obs, actions, and episode_lengths.
2. Cut each episode into horizon-sized action chunks.
3. Pair each chunk with the observation at its start time.
4. Compute global mean and std over all valid timesteps.
5. Return normalized tensors for training.</a:t>
            </a:r>
          </a:p>
        </p:txBody>
      </p:sp>
      <p:sp>
        <p:nvSpPr>
          <p:cNvPr id="67" name="Rectangle: Rounded Corners 66">
            <a:extLst>
              <a:ext uri="{FF2B5EF4-FFF2-40B4-BE49-F238E27FC236}">
                <a16:creationId xmlns:a16="http://schemas.microsoft.com/office/drawing/2014/main" id="{EC533C6F-9E4D-7091-68BA-15BF734FF0F8}"/>
              </a:ext>
            </a:extLst>
          </p:cNvPr>
          <p:cNvSpPr/>
          <p:nvPr/>
        </p:nvSpPr>
        <p:spPr>
          <a:xfrm>
            <a:off x="4826000" y="3073400"/>
            <a:ext cx="6858000" cy="1422400"/>
          </a:xfrm>
          <a:prstGeom prst="roundRect">
            <a:avLst/>
          </a:prstGeom>
          <a:solidFill>
            <a:srgbClr val="E8F1F9"/>
          </a:solidFill>
          <a:ln w="13970">
            <a:solidFill>
              <a:srgbClr val="4984C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TextBox 67">
            <a:extLst>
              <a:ext uri="{FF2B5EF4-FFF2-40B4-BE49-F238E27FC236}">
                <a16:creationId xmlns:a16="http://schemas.microsoft.com/office/drawing/2014/main" id="{5B58254C-F5CF-CF0E-1FE6-89A5AFE36240}"/>
              </a:ext>
            </a:extLst>
          </p:cNvPr>
          <p:cNvSpPr txBox="1"/>
          <p:nvPr/>
        </p:nvSpPr>
        <p:spPr>
          <a:xfrm>
            <a:off x="5029200" y="3251200"/>
            <a:ext cx="6451600" cy="200055"/>
          </a:xfrm>
          <a:prstGeom prst="rect">
            <a:avLst/>
          </a:prstGeom>
          <a:noFill/>
        </p:spPr>
        <p:txBody>
          <a:bodyPr vert="horz" wrap="square" lIns="0" tIns="0" rIns="0" bIns="0" rtlCol="0">
            <a:spAutoFit/>
          </a:bodyPr>
          <a:lstStyle/>
          <a:p>
            <a:r>
              <a:rPr lang="en-US" sz="1300" b="1">
                <a:solidFill>
                  <a:srgbClr val="4984CB"/>
                </a:solidFill>
                <a:latin typeface="Aptos" panose="020B0004020202020204" pitchFamily="34" charset="0"/>
              </a:rPr>
              <a:t>Normalization used in train.py</a:t>
            </a:r>
          </a:p>
        </p:txBody>
      </p:sp>
      <p:sp>
        <p:nvSpPr>
          <p:cNvPr id="69" name="TextBox 68">
            <a:extLst>
              <a:ext uri="{FF2B5EF4-FFF2-40B4-BE49-F238E27FC236}">
                <a16:creationId xmlns:a16="http://schemas.microsoft.com/office/drawing/2014/main" id="{686AEC0D-F3FB-50BE-C601-197FD3093BE9}"/>
              </a:ext>
            </a:extLst>
          </p:cNvPr>
          <p:cNvSpPr txBox="1"/>
          <p:nvPr/>
        </p:nvSpPr>
        <p:spPr>
          <a:xfrm>
            <a:off x="5029200" y="3606800"/>
            <a:ext cx="6451600" cy="923330"/>
          </a:xfrm>
          <a:prstGeom prst="rect">
            <a:avLst/>
          </a:prstGeom>
          <a:noFill/>
        </p:spPr>
        <p:txBody>
          <a:bodyPr vert="horz" wrap="square" lIns="0" tIns="0" rIns="0" bIns="0" rtlCol="0">
            <a:spAutoFit/>
          </a:bodyPr>
          <a:lstStyle/>
          <a:p>
            <a:r>
              <a:rPr lang="en-US" sz="1200">
                <a:solidFill>
                  <a:srgbClr val="1C1C1C"/>
                </a:solidFill>
                <a:latin typeface="Consolas" panose="020B0609020204030204" pitchFamily="49" charset="0"/>
              </a:rPr>
              <a:t>obs_norm = (obs - mu_obs) / sigma_obs
action_norm = (action - mu_act) / sigma_act
The script stores these statistics in the checkpoint so evaluation uses the same scale.</a:t>
            </a:r>
          </a:p>
        </p:txBody>
      </p:sp>
      <p:sp>
        <p:nvSpPr>
          <p:cNvPr id="70" name="Rectangle: Rounded Corners 69">
            <a:extLst>
              <a:ext uri="{FF2B5EF4-FFF2-40B4-BE49-F238E27FC236}">
                <a16:creationId xmlns:a16="http://schemas.microsoft.com/office/drawing/2014/main" id="{6CF1774D-A58D-CE22-8161-18F6D7692E4C}"/>
              </a:ext>
            </a:extLst>
          </p:cNvPr>
          <p:cNvSpPr/>
          <p:nvPr/>
        </p:nvSpPr>
        <p:spPr>
          <a:xfrm>
            <a:off x="4826000" y="4648200"/>
            <a:ext cx="6858000" cy="1854200"/>
          </a:xfrm>
          <a:prstGeom prst="roundRect">
            <a:avLst/>
          </a:prstGeom>
          <a:solidFill>
            <a:srgbClr val="F6EEDB"/>
          </a:solidFill>
          <a:ln w="13970">
            <a:solidFill>
              <a:srgbClr val="FFC62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TextBox 70">
            <a:extLst>
              <a:ext uri="{FF2B5EF4-FFF2-40B4-BE49-F238E27FC236}">
                <a16:creationId xmlns:a16="http://schemas.microsoft.com/office/drawing/2014/main" id="{4EC586A7-71D7-8E71-E1C4-EACAA92E235E}"/>
              </a:ext>
            </a:extLst>
          </p:cNvPr>
          <p:cNvSpPr txBox="1"/>
          <p:nvPr/>
        </p:nvSpPr>
        <p:spPr>
          <a:xfrm>
            <a:off x="5029200" y="4826000"/>
            <a:ext cx="6451600" cy="200055"/>
          </a:xfrm>
          <a:prstGeom prst="rect">
            <a:avLst/>
          </a:prstGeom>
          <a:noFill/>
        </p:spPr>
        <p:txBody>
          <a:bodyPr vert="horz" wrap="square" lIns="0" tIns="0" rIns="0" bIns="0" rtlCol="0">
            <a:spAutoFit/>
          </a:bodyPr>
          <a:lstStyle/>
          <a:p>
            <a:r>
              <a:rPr lang="en-US" sz="1300" b="1">
                <a:solidFill>
                  <a:srgbClr val="FFC627"/>
                </a:solidFill>
                <a:latin typeface="Aptos" panose="020B0004020202020204" pitchFamily="34" charset="0"/>
              </a:rPr>
              <a:t>Simple thesis explanation</a:t>
            </a:r>
          </a:p>
        </p:txBody>
      </p:sp>
      <p:sp>
        <p:nvSpPr>
          <p:cNvPr id="72" name="TextBox 71">
            <a:extLst>
              <a:ext uri="{FF2B5EF4-FFF2-40B4-BE49-F238E27FC236}">
                <a16:creationId xmlns:a16="http://schemas.microsoft.com/office/drawing/2014/main" id="{53A3B93C-46C5-C11D-8C51-27961F2EE8D2}"/>
              </a:ext>
            </a:extLst>
          </p:cNvPr>
          <p:cNvSpPr txBox="1"/>
          <p:nvPr/>
        </p:nvSpPr>
        <p:spPr>
          <a:xfrm>
            <a:off x="5029200" y="5181600"/>
            <a:ext cx="6451600" cy="507831"/>
          </a:xfrm>
          <a:prstGeom prst="rect">
            <a:avLst/>
          </a:prstGeom>
          <a:noFill/>
        </p:spPr>
        <p:txBody>
          <a:bodyPr vert="horz" wrap="square" lIns="0" tIns="0" rIns="0" bIns="0" rtlCol="0">
            <a:spAutoFit/>
          </a:bodyPr>
          <a:lstStyle/>
          <a:p>
            <a:r>
              <a:rPr lang="en-US" sz="1100">
                <a:solidFill>
                  <a:srgbClr val="1C1C1C"/>
                </a:solidFill>
                <a:latin typeface="Aptos" panose="020B0004020202020204" pitchFamily="34" charset="0"/>
              </a:rPr>
              <a:t>Instead of predicting one action at a time, the model learns a short future action plan. Each training example says: given the robot state now, what should the next horizon of actions look like? Diffusion training then learns this plan as a denoising problem.</a:t>
            </a:r>
          </a:p>
        </p:txBody>
      </p:sp>
      <p:sp>
        <p:nvSpPr>
          <p:cNvPr id="73" name="Rectangle: Rounded Corners 72">
            <a:extLst>
              <a:ext uri="{FF2B5EF4-FFF2-40B4-BE49-F238E27FC236}">
                <a16:creationId xmlns:a16="http://schemas.microsoft.com/office/drawing/2014/main" id="{1714D86B-F2EE-5089-7F30-AE4A321C8DBC}"/>
              </a:ext>
            </a:extLst>
          </p:cNvPr>
          <p:cNvSpPr/>
          <p:nvPr/>
        </p:nvSpPr>
        <p:spPr>
          <a:xfrm>
            <a:off x="508000" y="5740400"/>
            <a:ext cx="4064000" cy="762000"/>
          </a:xfrm>
          <a:prstGeom prst="roundRect">
            <a:avLst/>
          </a:prstGeom>
          <a:solidFill>
            <a:srgbClr val="EBF5EC"/>
          </a:solidFill>
          <a:ln w="13970">
            <a:solidFill>
              <a:srgbClr val="2E86A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TextBox 73">
            <a:extLst>
              <a:ext uri="{FF2B5EF4-FFF2-40B4-BE49-F238E27FC236}">
                <a16:creationId xmlns:a16="http://schemas.microsoft.com/office/drawing/2014/main" id="{25B91228-0DA5-3C99-305E-BEB7B6A979D3}"/>
              </a:ext>
            </a:extLst>
          </p:cNvPr>
          <p:cNvSpPr txBox="1"/>
          <p:nvPr/>
        </p:nvSpPr>
        <p:spPr>
          <a:xfrm>
            <a:off x="711200" y="5918200"/>
            <a:ext cx="3657600" cy="200055"/>
          </a:xfrm>
          <a:prstGeom prst="rect">
            <a:avLst/>
          </a:prstGeom>
          <a:noFill/>
        </p:spPr>
        <p:txBody>
          <a:bodyPr vert="horz" wrap="square" lIns="0" tIns="0" rIns="0" bIns="0" rtlCol="0">
            <a:spAutoFit/>
          </a:bodyPr>
          <a:lstStyle/>
          <a:p>
            <a:r>
              <a:rPr lang="en-US" sz="1300" b="1">
                <a:solidFill>
                  <a:srgbClr val="2E86AB"/>
                </a:solidFill>
                <a:latin typeface="Aptos" panose="020B0004020202020204" pitchFamily="34" charset="0"/>
              </a:rPr>
              <a:t>Useful note</a:t>
            </a:r>
          </a:p>
        </p:txBody>
      </p:sp>
      <p:sp>
        <p:nvSpPr>
          <p:cNvPr id="75" name="TextBox 74">
            <a:extLst>
              <a:ext uri="{FF2B5EF4-FFF2-40B4-BE49-F238E27FC236}">
                <a16:creationId xmlns:a16="http://schemas.microsoft.com/office/drawing/2014/main" id="{11EDB410-0776-D014-A6FC-29018F5E62D6}"/>
              </a:ext>
            </a:extLst>
          </p:cNvPr>
          <p:cNvSpPr txBox="1"/>
          <p:nvPr/>
        </p:nvSpPr>
        <p:spPr>
          <a:xfrm>
            <a:off x="711200" y="6273800"/>
            <a:ext cx="3657600" cy="307777"/>
          </a:xfrm>
          <a:prstGeom prst="rect">
            <a:avLst/>
          </a:prstGeom>
          <a:noFill/>
        </p:spPr>
        <p:txBody>
          <a:bodyPr vert="horz" wrap="square" lIns="0" tIns="0" rIns="0" bIns="0" rtlCol="0">
            <a:spAutoFit/>
          </a:bodyPr>
          <a:lstStyle/>
          <a:p>
            <a:r>
              <a:rPr lang="en-US" sz="1000">
                <a:solidFill>
                  <a:srgbClr val="1C1C1C"/>
                </a:solidFill>
                <a:latin typeface="Aptos" panose="020B0004020202020204" pitchFamily="34" charset="0"/>
              </a:rPr>
              <a:t>train.py is GPU-only and saves checkpoints at epochs 50, 100, and the final epoch.</a:t>
            </a:r>
          </a:p>
        </p:txBody>
      </p:sp>
    </p:spTree>
    <p:extLst>
      <p:ext uri="{BB962C8B-B14F-4D97-AF65-F5344CB8AC3E}">
        <p14:creationId xmlns:p14="http://schemas.microsoft.com/office/powerpoint/2010/main" val="285681159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Rectangle 47">
            <a:extLst>
              <a:ext uri="{FF2B5EF4-FFF2-40B4-BE49-F238E27FC236}">
                <a16:creationId xmlns:a16="http://schemas.microsoft.com/office/drawing/2014/main" id="{2E747F9D-04F5-7958-DAE3-AAB7685F39C3}"/>
              </a:ext>
            </a:extLst>
          </p:cNvPr>
          <p:cNvSpPr/>
          <p:nvPr/>
        </p:nvSpPr>
        <p:spPr>
          <a:xfrm>
            <a:off x="0" y="0"/>
            <a:ext cx="12192000" cy="6858000"/>
          </a:xfrm>
          <a:prstGeom prst="rect">
            <a:avLst/>
          </a:prstGeom>
          <a:solidFill>
            <a:srgbClr val="F8F6F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TextBox 48">
            <a:extLst>
              <a:ext uri="{FF2B5EF4-FFF2-40B4-BE49-F238E27FC236}">
                <a16:creationId xmlns:a16="http://schemas.microsoft.com/office/drawing/2014/main" id="{EB96EEFB-8658-FBB1-B3B4-C599BB5E6108}"/>
              </a:ext>
            </a:extLst>
          </p:cNvPr>
          <p:cNvSpPr txBox="1"/>
          <p:nvPr/>
        </p:nvSpPr>
        <p:spPr>
          <a:xfrm>
            <a:off x="508000" y="355600"/>
            <a:ext cx="9906000" cy="430887"/>
          </a:xfrm>
          <a:prstGeom prst="rect">
            <a:avLst/>
          </a:prstGeom>
          <a:noFill/>
        </p:spPr>
        <p:txBody>
          <a:bodyPr vert="horz" wrap="square" lIns="0" tIns="0" rIns="0" bIns="0" rtlCol="0">
            <a:spAutoFit/>
          </a:bodyPr>
          <a:lstStyle/>
          <a:p>
            <a:r>
              <a:rPr lang="en-US" sz="2800" b="1">
                <a:solidFill>
                  <a:srgbClr val="1C1C1C"/>
                </a:solidFill>
                <a:latin typeface="Aptos" panose="020B0004020202020204" pitchFamily="34" charset="0"/>
              </a:rPr>
              <a:t>Diffusion Policy Architecture And Objective</a:t>
            </a:r>
          </a:p>
        </p:txBody>
      </p:sp>
      <p:sp>
        <p:nvSpPr>
          <p:cNvPr id="50" name="TextBox 49">
            <a:extLst>
              <a:ext uri="{FF2B5EF4-FFF2-40B4-BE49-F238E27FC236}">
                <a16:creationId xmlns:a16="http://schemas.microsoft.com/office/drawing/2014/main" id="{2F797CE3-14A3-849C-5902-DCF4F859F4FE}"/>
              </a:ext>
            </a:extLst>
          </p:cNvPr>
          <p:cNvSpPr txBox="1"/>
          <p:nvPr/>
        </p:nvSpPr>
        <p:spPr>
          <a:xfrm>
            <a:off x="508000" y="800100"/>
            <a:ext cx="10668000" cy="169277"/>
          </a:xfrm>
          <a:prstGeom prst="rect">
            <a:avLst/>
          </a:prstGeom>
          <a:noFill/>
        </p:spPr>
        <p:txBody>
          <a:bodyPr vert="horz" wrap="square" lIns="0" tIns="0" rIns="0" bIns="0" rtlCol="0">
            <a:spAutoFit/>
          </a:bodyPr>
          <a:lstStyle/>
          <a:p>
            <a:r>
              <a:rPr lang="en-US" sz="1100">
                <a:solidFill>
                  <a:srgbClr val="5C5C5C"/>
                </a:solidFill>
                <a:latin typeface="Aptos" panose="020B0004020202020204" pitchFamily="34" charset="0"/>
              </a:rPr>
              <a:t>The model takes a noisy action sequence, a diffusion timestep, and the current observation, then predicts the noise that should be removed</a:t>
            </a:r>
          </a:p>
        </p:txBody>
      </p:sp>
      <p:sp>
        <p:nvSpPr>
          <p:cNvPr id="51" name="Rectangle 50">
            <a:extLst>
              <a:ext uri="{FF2B5EF4-FFF2-40B4-BE49-F238E27FC236}">
                <a16:creationId xmlns:a16="http://schemas.microsoft.com/office/drawing/2014/main" id="{EE1EE513-66AB-8F76-4D25-FE68E151BDB6}"/>
              </a:ext>
            </a:extLst>
          </p:cNvPr>
          <p:cNvSpPr/>
          <p:nvPr/>
        </p:nvSpPr>
        <p:spPr>
          <a:xfrm>
            <a:off x="508000" y="1168400"/>
            <a:ext cx="11176000" cy="50800"/>
          </a:xfrm>
          <a:prstGeom prst="rect">
            <a:avLst/>
          </a:prstGeom>
          <a:solidFill>
            <a:srgbClr val="FFC62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TextBox 51">
            <a:extLst>
              <a:ext uri="{FF2B5EF4-FFF2-40B4-BE49-F238E27FC236}">
                <a16:creationId xmlns:a16="http://schemas.microsoft.com/office/drawing/2014/main" id="{F1A18801-C473-92CD-98DD-C058C56673F0}"/>
              </a:ext>
            </a:extLst>
          </p:cNvPr>
          <p:cNvSpPr txBox="1"/>
          <p:nvPr/>
        </p:nvSpPr>
        <p:spPr>
          <a:xfrm>
            <a:off x="11430000" y="381000"/>
            <a:ext cx="254000" cy="153888"/>
          </a:xfrm>
          <a:prstGeom prst="rect">
            <a:avLst/>
          </a:prstGeom>
          <a:noFill/>
        </p:spPr>
        <p:txBody>
          <a:bodyPr vert="horz" wrap="square" lIns="0" tIns="0" rIns="0" bIns="0" rtlCol="0">
            <a:spAutoFit/>
          </a:bodyPr>
          <a:lstStyle/>
          <a:p>
            <a:pPr algn="r"/>
            <a:r>
              <a:rPr lang="en-US" sz="1000">
                <a:solidFill>
                  <a:srgbClr val="5C5C5C"/>
                </a:solidFill>
                <a:latin typeface="Aptos" panose="020B0004020202020204" pitchFamily="34" charset="0"/>
              </a:rPr>
              <a:t>36</a:t>
            </a:r>
          </a:p>
        </p:txBody>
      </p:sp>
      <p:sp>
        <p:nvSpPr>
          <p:cNvPr id="53" name="Rectangle: Rounded Corners 52">
            <a:extLst>
              <a:ext uri="{FF2B5EF4-FFF2-40B4-BE49-F238E27FC236}">
                <a16:creationId xmlns:a16="http://schemas.microsoft.com/office/drawing/2014/main" id="{3B1F2AF8-3AB8-D9F7-E8AF-5CA6B4111C8A}"/>
              </a:ext>
            </a:extLst>
          </p:cNvPr>
          <p:cNvSpPr/>
          <p:nvPr/>
        </p:nvSpPr>
        <p:spPr>
          <a:xfrm>
            <a:off x="508000" y="1498600"/>
            <a:ext cx="2286000" cy="1346200"/>
          </a:xfrm>
          <a:prstGeom prst="roundRect">
            <a:avLst/>
          </a:prstGeom>
          <a:solidFill>
            <a:srgbClr val="FFFFFF"/>
          </a:solidFill>
          <a:ln w="12700">
            <a:solidFill>
              <a:srgbClr val="D2D0C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a:extLst>
              <a:ext uri="{FF2B5EF4-FFF2-40B4-BE49-F238E27FC236}">
                <a16:creationId xmlns:a16="http://schemas.microsoft.com/office/drawing/2014/main" id="{744F5AF3-34BC-8FB9-D6AE-C9242D321646}"/>
              </a:ext>
            </a:extLst>
          </p:cNvPr>
          <p:cNvSpPr/>
          <p:nvPr/>
        </p:nvSpPr>
        <p:spPr>
          <a:xfrm>
            <a:off x="685800" y="1651000"/>
            <a:ext cx="1930400" cy="50800"/>
          </a:xfrm>
          <a:prstGeom prst="rect">
            <a:avLst/>
          </a:prstGeom>
          <a:solidFill>
            <a:srgbClr val="8C1D4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TextBox 54">
            <a:extLst>
              <a:ext uri="{FF2B5EF4-FFF2-40B4-BE49-F238E27FC236}">
                <a16:creationId xmlns:a16="http://schemas.microsoft.com/office/drawing/2014/main" id="{3111CE96-4796-2460-82E1-7802F4CDF4E2}"/>
              </a:ext>
            </a:extLst>
          </p:cNvPr>
          <p:cNvSpPr txBox="1"/>
          <p:nvPr/>
        </p:nvSpPr>
        <p:spPr>
          <a:xfrm>
            <a:off x="685800" y="1752600"/>
            <a:ext cx="1930400" cy="153888"/>
          </a:xfrm>
          <a:prstGeom prst="rect">
            <a:avLst/>
          </a:prstGeom>
          <a:noFill/>
        </p:spPr>
        <p:txBody>
          <a:bodyPr vert="horz" wrap="square" lIns="0" tIns="0" rIns="0" bIns="0" rtlCol="0">
            <a:spAutoFit/>
          </a:bodyPr>
          <a:lstStyle/>
          <a:p>
            <a:r>
              <a:rPr lang="en-US" sz="1000" b="1">
                <a:solidFill>
                  <a:srgbClr val="5C5C5C"/>
                </a:solidFill>
                <a:latin typeface="Aptos" panose="020B0004020202020204" pitchFamily="34" charset="0"/>
              </a:rPr>
              <a:t>Input 1</a:t>
            </a:r>
          </a:p>
        </p:txBody>
      </p:sp>
      <p:sp>
        <p:nvSpPr>
          <p:cNvPr id="56" name="TextBox 55">
            <a:extLst>
              <a:ext uri="{FF2B5EF4-FFF2-40B4-BE49-F238E27FC236}">
                <a16:creationId xmlns:a16="http://schemas.microsoft.com/office/drawing/2014/main" id="{F6DCC63B-8728-E985-24E5-9569BC3BC26F}"/>
              </a:ext>
            </a:extLst>
          </p:cNvPr>
          <p:cNvSpPr txBox="1"/>
          <p:nvPr/>
        </p:nvSpPr>
        <p:spPr>
          <a:xfrm>
            <a:off x="685800" y="2032000"/>
            <a:ext cx="1930400" cy="338554"/>
          </a:xfrm>
          <a:prstGeom prst="rect">
            <a:avLst/>
          </a:prstGeom>
          <a:noFill/>
        </p:spPr>
        <p:txBody>
          <a:bodyPr vert="horz" wrap="square" lIns="0" tIns="0" rIns="0" bIns="0" rtlCol="0">
            <a:spAutoFit/>
          </a:bodyPr>
          <a:lstStyle/>
          <a:p>
            <a:r>
              <a:rPr lang="en-US" sz="2200" b="1">
                <a:solidFill>
                  <a:srgbClr val="8C1D40"/>
                </a:solidFill>
                <a:latin typeface="Aptos" panose="020B0004020202020204" pitchFamily="34" charset="0"/>
              </a:rPr>
              <a:t>noisy actions</a:t>
            </a:r>
          </a:p>
        </p:txBody>
      </p:sp>
      <p:sp>
        <p:nvSpPr>
          <p:cNvPr id="57" name="TextBox 56">
            <a:extLst>
              <a:ext uri="{FF2B5EF4-FFF2-40B4-BE49-F238E27FC236}">
                <a16:creationId xmlns:a16="http://schemas.microsoft.com/office/drawing/2014/main" id="{2FB85757-4605-4650-B46B-E142BE1C6151}"/>
              </a:ext>
            </a:extLst>
          </p:cNvPr>
          <p:cNvSpPr txBox="1"/>
          <p:nvPr/>
        </p:nvSpPr>
        <p:spPr>
          <a:xfrm>
            <a:off x="685800" y="2438400"/>
            <a:ext cx="1930400" cy="307777"/>
          </a:xfrm>
          <a:prstGeom prst="rect">
            <a:avLst/>
          </a:prstGeom>
          <a:noFill/>
        </p:spPr>
        <p:txBody>
          <a:bodyPr vert="horz" wrap="square" lIns="0" tIns="0" rIns="0" bIns="0" rtlCol="0">
            <a:spAutoFit/>
          </a:bodyPr>
          <a:lstStyle/>
          <a:p>
            <a:r>
              <a:rPr lang="en-US" sz="1000">
                <a:solidFill>
                  <a:srgbClr val="5C5C5C"/>
                </a:solidFill>
                <a:latin typeface="Aptos" panose="020B0004020202020204" pitchFamily="34" charset="0"/>
              </a:rPr>
              <a:t>A horizon-length action sequence with Gaussian noise added</a:t>
            </a:r>
          </a:p>
        </p:txBody>
      </p:sp>
      <p:sp>
        <p:nvSpPr>
          <p:cNvPr id="58" name="Rectangle: Rounded Corners 57">
            <a:extLst>
              <a:ext uri="{FF2B5EF4-FFF2-40B4-BE49-F238E27FC236}">
                <a16:creationId xmlns:a16="http://schemas.microsoft.com/office/drawing/2014/main" id="{4BB4C9BD-4DB4-E9F6-3E54-24C201FCD04F}"/>
              </a:ext>
            </a:extLst>
          </p:cNvPr>
          <p:cNvSpPr/>
          <p:nvPr/>
        </p:nvSpPr>
        <p:spPr>
          <a:xfrm>
            <a:off x="2921000" y="1498600"/>
            <a:ext cx="2286000" cy="1346200"/>
          </a:xfrm>
          <a:prstGeom prst="roundRect">
            <a:avLst/>
          </a:prstGeom>
          <a:solidFill>
            <a:srgbClr val="FFFFFF"/>
          </a:solidFill>
          <a:ln w="12700">
            <a:solidFill>
              <a:srgbClr val="D2D0C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C8D45313-ADBC-D9A5-CA31-6EF50392E574}"/>
              </a:ext>
            </a:extLst>
          </p:cNvPr>
          <p:cNvSpPr/>
          <p:nvPr/>
        </p:nvSpPr>
        <p:spPr>
          <a:xfrm>
            <a:off x="3098800" y="1651000"/>
            <a:ext cx="1930400" cy="50800"/>
          </a:xfrm>
          <a:prstGeom prst="rect">
            <a:avLst/>
          </a:prstGeom>
          <a:solidFill>
            <a:srgbClr val="4984C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TextBox 59">
            <a:extLst>
              <a:ext uri="{FF2B5EF4-FFF2-40B4-BE49-F238E27FC236}">
                <a16:creationId xmlns:a16="http://schemas.microsoft.com/office/drawing/2014/main" id="{265943D0-DEE9-28CC-0FB8-2D43C027ADEB}"/>
              </a:ext>
            </a:extLst>
          </p:cNvPr>
          <p:cNvSpPr txBox="1"/>
          <p:nvPr/>
        </p:nvSpPr>
        <p:spPr>
          <a:xfrm>
            <a:off x="3098800" y="1752600"/>
            <a:ext cx="1930400" cy="153888"/>
          </a:xfrm>
          <a:prstGeom prst="rect">
            <a:avLst/>
          </a:prstGeom>
          <a:noFill/>
        </p:spPr>
        <p:txBody>
          <a:bodyPr vert="horz" wrap="square" lIns="0" tIns="0" rIns="0" bIns="0" rtlCol="0">
            <a:spAutoFit/>
          </a:bodyPr>
          <a:lstStyle/>
          <a:p>
            <a:r>
              <a:rPr lang="en-US" sz="1000" b="1">
                <a:solidFill>
                  <a:srgbClr val="5C5C5C"/>
                </a:solidFill>
                <a:latin typeface="Aptos" panose="020B0004020202020204" pitchFamily="34" charset="0"/>
              </a:rPr>
              <a:t>Input 2</a:t>
            </a:r>
          </a:p>
        </p:txBody>
      </p:sp>
      <p:sp>
        <p:nvSpPr>
          <p:cNvPr id="61" name="TextBox 60">
            <a:extLst>
              <a:ext uri="{FF2B5EF4-FFF2-40B4-BE49-F238E27FC236}">
                <a16:creationId xmlns:a16="http://schemas.microsoft.com/office/drawing/2014/main" id="{2C7D08A5-32E3-AFC3-5647-8BC8B122AB62}"/>
              </a:ext>
            </a:extLst>
          </p:cNvPr>
          <p:cNvSpPr txBox="1"/>
          <p:nvPr/>
        </p:nvSpPr>
        <p:spPr>
          <a:xfrm>
            <a:off x="3098800" y="2032000"/>
            <a:ext cx="1930400" cy="338554"/>
          </a:xfrm>
          <a:prstGeom prst="rect">
            <a:avLst/>
          </a:prstGeom>
          <a:noFill/>
        </p:spPr>
        <p:txBody>
          <a:bodyPr vert="horz" wrap="square" lIns="0" tIns="0" rIns="0" bIns="0" rtlCol="0">
            <a:spAutoFit/>
          </a:bodyPr>
          <a:lstStyle/>
          <a:p>
            <a:r>
              <a:rPr lang="en-US" sz="2200" b="1">
                <a:solidFill>
                  <a:srgbClr val="4984CB"/>
                </a:solidFill>
                <a:latin typeface="Aptos" panose="020B0004020202020204" pitchFamily="34" charset="0"/>
              </a:rPr>
              <a:t>timestep t</a:t>
            </a:r>
          </a:p>
        </p:txBody>
      </p:sp>
      <p:sp>
        <p:nvSpPr>
          <p:cNvPr id="62" name="TextBox 61">
            <a:extLst>
              <a:ext uri="{FF2B5EF4-FFF2-40B4-BE49-F238E27FC236}">
                <a16:creationId xmlns:a16="http://schemas.microsoft.com/office/drawing/2014/main" id="{873532D4-6994-7EAB-6C3E-0CE42E51E888}"/>
              </a:ext>
            </a:extLst>
          </p:cNvPr>
          <p:cNvSpPr txBox="1"/>
          <p:nvPr/>
        </p:nvSpPr>
        <p:spPr>
          <a:xfrm>
            <a:off x="3098800" y="2438400"/>
            <a:ext cx="1930400" cy="307777"/>
          </a:xfrm>
          <a:prstGeom prst="rect">
            <a:avLst/>
          </a:prstGeom>
          <a:noFill/>
        </p:spPr>
        <p:txBody>
          <a:bodyPr vert="horz" wrap="square" lIns="0" tIns="0" rIns="0" bIns="0" rtlCol="0">
            <a:spAutoFit/>
          </a:bodyPr>
          <a:lstStyle/>
          <a:p>
            <a:r>
              <a:rPr lang="en-US" sz="1000">
                <a:solidFill>
                  <a:srgbClr val="5C5C5C"/>
                </a:solidFill>
                <a:latin typeface="Aptos" panose="020B0004020202020204" pitchFamily="34" charset="0"/>
              </a:rPr>
              <a:t>Sinusoidal time embedding tells the model how noisy the sample is</a:t>
            </a:r>
          </a:p>
        </p:txBody>
      </p:sp>
      <p:sp>
        <p:nvSpPr>
          <p:cNvPr id="63" name="Rectangle: Rounded Corners 62">
            <a:extLst>
              <a:ext uri="{FF2B5EF4-FFF2-40B4-BE49-F238E27FC236}">
                <a16:creationId xmlns:a16="http://schemas.microsoft.com/office/drawing/2014/main" id="{218CCC71-BBAC-1E97-63C7-DDC7517846C0}"/>
              </a:ext>
            </a:extLst>
          </p:cNvPr>
          <p:cNvSpPr/>
          <p:nvPr/>
        </p:nvSpPr>
        <p:spPr>
          <a:xfrm>
            <a:off x="5334000" y="1498600"/>
            <a:ext cx="2286000" cy="1346200"/>
          </a:xfrm>
          <a:prstGeom prst="roundRect">
            <a:avLst/>
          </a:prstGeom>
          <a:solidFill>
            <a:srgbClr val="FFFFFF"/>
          </a:solidFill>
          <a:ln w="12700">
            <a:solidFill>
              <a:srgbClr val="D2D0C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ectangle 63">
            <a:extLst>
              <a:ext uri="{FF2B5EF4-FFF2-40B4-BE49-F238E27FC236}">
                <a16:creationId xmlns:a16="http://schemas.microsoft.com/office/drawing/2014/main" id="{D271F006-14B7-EE45-B953-84283C53181D}"/>
              </a:ext>
            </a:extLst>
          </p:cNvPr>
          <p:cNvSpPr/>
          <p:nvPr/>
        </p:nvSpPr>
        <p:spPr>
          <a:xfrm>
            <a:off x="5511800" y="1651000"/>
            <a:ext cx="1930400" cy="50800"/>
          </a:xfrm>
          <a:prstGeom prst="rect">
            <a:avLst/>
          </a:prstGeom>
          <a:solidFill>
            <a:srgbClr val="5B995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TextBox 64">
            <a:extLst>
              <a:ext uri="{FF2B5EF4-FFF2-40B4-BE49-F238E27FC236}">
                <a16:creationId xmlns:a16="http://schemas.microsoft.com/office/drawing/2014/main" id="{7DE7D90C-E2CB-3D05-2447-AD52A6070548}"/>
              </a:ext>
            </a:extLst>
          </p:cNvPr>
          <p:cNvSpPr txBox="1"/>
          <p:nvPr/>
        </p:nvSpPr>
        <p:spPr>
          <a:xfrm>
            <a:off x="5511800" y="1752600"/>
            <a:ext cx="1930400" cy="153888"/>
          </a:xfrm>
          <a:prstGeom prst="rect">
            <a:avLst/>
          </a:prstGeom>
          <a:noFill/>
        </p:spPr>
        <p:txBody>
          <a:bodyPr vert="horz" wrap="square" lIns="0" tIns="0" rIns="0" bIns="0" rtlCol="0">
            <a:spAutoFit/>
          </a:bodyPr>
          <a:lstStyle/>
          <a:p>
            <a:r>
              <a:rPr lang="en-US" sz="1000" b="1">
                <a:solidFill>
                  <a:srgbClr val="5C5C5C"/>
                </a:solidFill>
                <a:latin typeface="Aptos" panose="020B0004020202020204" pitchFamily="34" charset="0"/>
              </a:rPr>
              <a:t>Input 3</a:t>
            </a:r>
          </a:p>
        </p:txBody>
      </p:sp>
      <p:sp>
        <p:nvSpPr>
          <p:cNvPr id="66" name="TextBox 65">
            <a:extLst>
              <a:ext uri="{FF2B5EF4-FFF2-40B4-BE49-F238E27FC236}">
                <a16:creationId xmlns:a16="http://schemas.microsoft.com/office/drawing/2014/main" id="{EEFF9FF8-3098-134A-E741-863CEA991312}"/>
              </a:ext>
            </a:extLst>
          </p:cNvPr>
          <p:cNvSpPr txBox="1"/>
          <p:nvPr/>
        </p:nvSpPr>
        <p:spPr>
          <a:xfrm>
            <a:off x="5511800" y="2032000"/>
            <a:ext cx="1930400" cy="338554"/>
          </a:xfrm>
          <a:prstGeom prst="rect">
            <a:avLst/>
          </a:prstGeom>
          <a:noFill/>
        </p:spPr>
        <p:txBody>
          <a:bodyPr vert="horz" wrap="square" lIns="0" tIns="0" rIns="0" bIns="0" rtlCol="0">
            <a:spAutoFit/>
          </a:bodyPr>
          <a:lstStyle/>
          <a:p>
            <a:r>
              <a:rPr lang="en-US" sz="2200" b="1">
                <a:solidFill>
                  <a:srgbClr val="5B995D"/>
                </a:solidFill>
                <a:latin typeface="Aptos" panose="020B0004020202020204" pitchFamily="34" charset="0"/>
              </a:rPr>
              <a:t>current obs</a:t>
            </a:r>
          </a:p>
        </p:txBody>
      </p:sp>
      <p:sp>
        <p:nvSpPr>
          <p:cNvPr id="67" name="TextBox 66">
            <a:extLst>
              <a:ext uri="{FF2B5EF4-FFF2-40B4-BE49-F238E27FC236}">
                <a16:creationId xmlns:a16="http://schemas.microsoft.com/office/drawing/2014/main" id="{B3AD76FB-8020-3867-07B0-E80B486E10C7}"/>
              </a:ext>
            </a:extLst>
          </p:cNvPr>
          <p:cNvSpPr txBox="1"/>
          <p:nvPr/>
        </p:nvSpPr>
        <p:spPr>
          <a:xfrm>
            <a:off x="5511800" y="2438400"/>
            <a:ext cx="1930400" cy="461665"/>
          </a:xfrm>
          <a:prstGeom prst="rect">
            <a:avLst/>
          </a:prstGeom>
          <a:noFill/>
        </p:spPr>
        <p:txBody>
          <a:bodyPr vert="horz" wrap="square" lIns="0" tIns="0" rIns="0" bIns="0" rtlCol="0">
            <a:spAutoFit/>
          </a:bodyPr>
          <a:lstStyle/>
          <a:p>
            <a:r>
              <a:rPr lang="en-US" sz="1000">
                <a:solidFill>
                  <a:srgbClr val="5C5C5C"/>
                </a:solidFill>
                <a:latin typeface="Aptos" panose="020B0004020202020204" pitchFamily="34" charset="0"/>
              </a:rPr>
              <a:t>Observation embedding is broadcast across the whole horizon</a:t>
            </a:r>
          </a:p>
        </p:txBody>
      </p:sp>
      <p:sp>
        <p:nvSpPr>
          <p:cNvPr id="68" name="Rectangle: Rounded Corners 67">
            <a:extLst>
              <a:ext uri="{FF2B5EF4-FFF2-40B4-BE49-F238E27FC236}">
                <a16:creationId xmlns:a16="http://schemas.microsoft.com/office/drawing/2014/main" id="{BF94CC75-5559-9023-0212-9BDF8A7B6ECD}"/>
              </a:ext>
            </a:extLst>
          </p:cNvPr>
          <p:cNvSpPr/>
          <p:nvPr/>
        </p:nvSpPr>
        <p:spPr>
          <a:xfrm>
            <a:off x="7747000" y="1498600"/>
            <a:ext cx="2286000" cy="1346200"/>
          </a:xfrm>
          <a:prstGeom prst="roundRect">
            <a:avLst/>
          </a:prstGeom>
          <a:solidFill>
            <a:srgbClr val="FFFFFF"/>
          </a:solidFill>
          <a:ln w="12700">
            <a:solidFill>
              <a:srgbClr val="D2D0C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68">
            <a:extLst>
              <a:ext uri="{FF2B5EF4-FFF2-40B4-BE49-F238E27FC236}">
                <a16:creationId xmlns:a16="http://schemas.microsoft.com/office/drawing/2014/main" id="{5F739121-6CC0-42D9-7EC8-9FD68395F6A2}"/>
              </a:ext>
            </a:extLst>
          </p:cNvPr>
          <p:cNvSpPr/>
          <p:nvPr/>
        </p:nvSpPr>
        <p:spPr>
          <a:xfrm>
            <a:off x="7924800" y="1651000"/>
            <a:ext cx="1930400" cy="50800"/>
          </a:xfrm>
          <a:prstGeom prst="rect">
            <a:avLst/>
          </a:prstGeom>
          <a:solidFill>
            <a:srgbClr val="FFC62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TextBox 69">
            <a:extLst>
              <a:ext uri="{FF2B5EF4-FFF2-40B4-BE49-F238E27FC236}">
                <a16:creationId xmlns:a16="http://schemas.microsoft.com/office/drawing/2014/main" id="{8E8016C0-0760-A26D-37BD-5A12AD566D7F}"/>
              </a:ext>
            </a:extLst>
          </p:cNvPr>
          <p:cNvSpPr txBox="1"/>
          <p:nvPr/>
        </p:nvSpPr>
        <p:spPr>
          <a:xfrm>
            <a:off x="7924800" y="1752600"/>
            <a:ext cx="1930400" cy="153888"/>
          </a:xfrm>
          <a:prstGeom prst="rect">
            <a:avLst/>
          </a:prstGeom>
          <a:noFill/>
        </p:spPr>
        <p:txBody>
          <a:bodyPr vert="horz" wrap="square" lIns="0" tIns="0" rIns="0" bIns="0" rtlCol="0">
            <a:spAutoFit/>
          </a:bodyPr>
          <a:lstStyle/>
          <a:p>
            <a:r>
              <a:rPr lang="en-US" sz="1000" b="1">
                <a:solidFill>
                  <a:srgbClr val="5C5C5C"/>
                </a:solidFill>
                <a:latin typeface="Aptos" panose="020B0004020202020204" pitchFamily="34" charset="0"/>
              </a:rPr>
              <a:t>Output</a:t>
            </a:r>
          </a:p>
        </p:txBody>
      </p:sp>
      <p:sp>
        <p:nvSpPr>
          <p:cNvPr id="71" name="TextBox 70">
            <a:extLst>
              <a:ext uri="{FF2B5EF4-FFF2-40B4-BE49-F238E27FC236}">
                <a16:creationId xmlns:a16="http://schemas.microsoft.com/office/drawing/2014/main" id="{A1BFFC8B-894C-7B54-E3CD-846B698D45C1}"/>
              </a:ext>
            </a:extLst>
          </p:cNvPr>
          <p:cNvSpPr txBox="1"/>
          <p:nvPr/>
        </p:nvSpPr>
        <p:spPr>
          <a:xfrm>
            <a:off x="7924800" y="2032000"/>
            <a:ext cx="1930400" cy="338554"/>
          </a:xfrm>
          <a:prstGeom prst="rect">
            <a:avLst/>
          </a:prstGeom>
          <a:noFill/>
        </p:spPr>
        <p:txBody>
          <a:bodyPr vert="horz" wrap="square" lIns="0" tIns="0" rIns="0" bIns="0" rtlCol="0">
            <a:spAutoFit/>
          </a:bodyPr>
          <a:lstStyle/>
          <a:p>
            <a:r>
              <a:rPr lang="en-US" sz="2200" b="1">
                <a:solidFill>
                  <a:srgbClr val="FFC627"/>
                </a:solidFill>
                <a:latin typeface="Aptos" panose="020B0004020202020204" pitchFamily="34" charset="0"/>
              </a:rPr>
              <a:t>eps_hat</a:t>
            </a:r>
          </a:p>
        </p:txBody>
      </p:sp>
      <p:sp>
        <p:nvSpPr>
          <p:cNvPr id="72" name="TextBox 71">
            <a:extLst>
              <a:ext uri="{FF2B5EF4-FFF2-40B4-BE49-F238E27FC236}">
                <a16:creationId xmlns:a16="http://schemas.microsoft.com/office/drawing/2014/main" id="{E4C7B8A0-87F2-6DD3-1D30-D6CCAE433690}"/>
              </a:ext>
            </a:extLst>
          </p:cNvPr>
          <p:cNvSpPr txBox="1"/>
          <p:nvPr/>
        </p:nvSpPr>
        <p:spPr>
          <a:xfrm>
            <a:off x="7924800" y="2438400"/>
            <a:ext cx="1930400" cy="307777"/>
          </a:xfrm>
          <a:prstGeom prst="rect">
            <a:avLst/>
          </a:prstGeom>
          <a:noFill/>
        </p:spPr>
        <p:txBody>
          <a:bodyPr vert="horz" wrap="square" lIns="0" tIns="0" rIns="0" bIns="0" rtlCol="0">
            <a:spAutoFit/>
          </a:bodyPr>
          <a:lstStyle/>
          <a:p>
            <a:r>
              <a:rPr lang="en-US" sz="1000">
                <a:solidFill>
                  <a:srgbClr val="5C5C5C"/>
                </a:solidFill>
                <a:latin typeface="Aptos" panose="020B0004020202020204" pitchFamily="34" charset="0"/>
              </a:rPr>
              <a:t>The model predicts noise, not bounded actions</a:t>
            </a:r>
          </a:p>
        </p:txBody>
      </p:sp>
      <p:sp>
        <p:nvSpPr>
          <p:cNvPr id="73" name="Rectangle: Rounded Corners 72">
            <a:extLst>
              <a:ext uri="{FF2B5EF4-FFF2-40B4-BE49-F238E27FC236}">
                <a16:creationId xmlns:a16="http://schemas.microsoft.com/office/drawing/2014/main" id="{7895E8FB-34EE-21DA-28DD-6360A1256769}"/>
              </a:ext>
            </a:extLst>
          </p:cNvPr>
          <p:cNvSpPr/>
          <p:nvPr/>
        </p:nvSpPr>
        <p:spPr>
          <a:xfrm>
            <a:off x="660400" y="3225800"/>
            <a:ext cx="2082800" cy="1168400"/>
          </a:xfrm>
          <a:prstGeom prst="roundRect">
            <a:avLst/>
          </a:prstGeom>
          <a:solidFill>
            <a:srgbClr val="F5E9EE"/>
          </a:solidFill>
          <a:ln w="13970">
            <a:solidFill>
              <a:srgbClr val="8C1D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TextBox 73">
            <a:extLst>
              <a:ext uri="{FF2B5EF4-FFF2-40B4-BE49-F238E27FC236}">
                <a16:creationId xmlns:a16="http://schemas.microsoft.com/office/drawing/2014/main" id="{C3262CDA-7AEB-1C16-9A36-5DC03FCF59F7}"/>
              </a:ext>
            </a:extLst>
          </p:cNvPr>
          <p:cNvSpPr txBox="1"/>
          <p:nvPr/>
        </p:nvSpPr>
        <p:spPr>
          <a:xfrm>
            <a:off x="812800" y="3378200"/>
            <a:ext cx="1778000" cy="184666"/>
          </a:xfrm>
          <a:prstGeom prst="rect">
            <a:avLst/>
          </a:prstGeom>
          <a:noFill/>
        </p:spPr>
        <p:txBody>
          <a:bodyPr vert="horz" wrap="square" lIns="0" tIns="0" rIns="0" bIns="0" rtlCol="0">
            <a:spAutoFit/>
          </a:bodyPr>
          <a:lstStyle/>
          <a:p>
            <a:pPr algn="ctr"/>
            <a:r>
              <a:rPr lang="en-US" sz="1200" b="1">
                <a:solidFill>
                  <a:srgbClr val="8C1D40"/>
                </a:solidFill>
                <a:latin typeface="Aptos" panose="020B0004020202020204" pitchFamily="34" charset="0"/>
              </a:rPr>
              <a:t>Forward process</a:t>
            </a:r>
          </a:p>
        </p:txBody>
      </p:sp>
      <p:sp>
        <p:nvSpPr>
          <p:cNvPr id="75" name="TextBox 74">
            <a:extLst>
              <a:ext uri="{FF2B5EF4-FFF2-40B4-BE49-F238E27FC236}">
                <a16:creationId xmlns:a16="http://schemas.microsoft.com/office/drawing/2014/main" id="{EE0722C2-2FC4-5AE2-D558-40A6807CBB21}"/>
              </a:ext>
            </a:extLst>
          </p:cNvPr>
          <p:cNvSpPr txBox="1"/>
          <p:nvPr/>
        </p:nvSpPr>
        <p:spPr>
          <a:xfrm>
            <a:off x="812800" y="3683000"/>
            <a:ext cx="1778000" cy="461665"/>
          </a:xfrm>
          <a:prstGeom prst="rect">
            <a:avLst/>
          </a:prstGeom>
          <a:noFill/>
        </p:spPr>
        <p:txBody>
          <a:bodyPr vert="horz" wrap="square" lIns="0" tIns="0" rIns="0" bIns="0" rtlCol="0">
            <a:spAutoFit/>
          </a:bodyPr>
          <a:lstStyle/>
          <a:p>
            <a:pPr algn="ctr"/>
            <a:r>
              <a:rPr lang="fr-FR" sz="1000">
                <a:solidFill>
                  <a:srgbClr val="1C1C1C"/>
                </a:solidFill>
                <a:latin typeface="Aptos" panose="020B0004020202020204" pitchFamily="34" charset="0"/>
              </a:rPr>
              <a:t>clean action plan
+ Gaussian noise
-&gt; x_t</a:t>
            </a:r>
            <a:endParaRPr lang="en-US" sz="1000">
              <a:solidFill>
                <a:srgbClr val="1C1C1C"/>
              </a:solidFill>
              <a:latin typeface="Aptos" panose="020B0004020202020204" pitchFamily="34" charset="0"/>
            </a:endParaRPr>
          </a:p>
        </p:txBody>
      </p:sp>
      <p:sp>
        <p:nvSpPr>
          <p:cNvPr id="76" name="Arrow: Chevron 75">
            <a:extLst>
              <a:ext uri="{FF2B5EF4-FFF2-40B4-BE49-F238E27FC236}">
                <a16:creationId xmlns:a16="http://schemas.microsoft.com/office/drawing/2014/main" id="{EF150892-CDD0-A1A8-872F-74A7D73542EF}"/>
              </a:ext>
            </a:extLst>
          </p:cNvPr>
          <p:cNvSpPr/>
          <p:nvPr/>
        </p:nvSpPr>
        <p:spPr>
          <a:xfrm>
            <a:off x="2844800" y="3632200"/>
            <a:ext cx="355600" cy="406400"/>
          </a:xfrm>
          <a:prstGeom prst="chevron">
            <a:avLst/>
          </a:prstGeom>
          <a:solidFill>
            <a:srgbClr val="D2D0C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7" name="Rectangle: Rounded Corners 76">
            <a:extLst>
              <a:ext uri="{FF2B5EF4-FFF2-40B4-BE49-F238E27FC236}">
                <a16:creationId xmlns:a16="http://schemas.microsoft.com/office/drawing/2014/main" id="{0116E2C2-5790-360A-8342-A1F06E95A103}"/>
              </a:ext>
            </a:extLst>
          </p:cNvPr>
          <p:cNvSpPr/>
          <p:nvPr/>
        </p:nvSpPr>
        <p:spPr>
          <a:xfrm>
            <a:off x="3225800" y="3225800"/>
            <a:ext cx="2082800" cy="1168400"/>
          </a:xfrm>
          <a:prstGeom prst="roundRect">
            <a:avLst/>
          </a:prstGeom>
          <a:solidFill>
            <a:srgbClr val="E8F1F9"/>
          </a:solidFill>
          <a:ln w="13970">
            <a:solidFill>
              <a:srgbClr val="4984C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TextBox 77">
            <a:extLst>
              <a:ext uri="{FF2B5EF4-FFF2-40B4-BE49-F238E27FC236}">
                <a16:creationId xmlns:a16="http://schemas.microsoft.com/office/drawing/2014/main" id="{79B3E93D-F33F-231F-BDE7-C16929632DAA}"/>
              </a:ext>
            </a:extLst>
          </p:cNvPr>
          <p:cNvSpPr txBox="1"/>
          <p:nvPr/>
        </p:nvSpPr>
        <p:spPr>
          <a:xfrm>
            <a:off x="3378200" y="3378200"/>
            <a:ext cx="1778000" cy="184666"/>
          </a:xfrm>
          <a:prstGeom prst="rect">
            <a:avLst/>
          </a:prstGeom>
          <a:noFill/>
        </p:spPr>
        <p:txBody>
          <a:bodyPr vert="horz" wrap="square" lIns="0" tIns="0" rIns="0" bIns="0" rtlCol="0">
            <a:spAutoFit/>
          </a:bodyPr>
          <a:lstStyle/>
          <a:p>
            <a:pPr algn="ctr"/>
            <a:r>
              <a:rPr lang="en-US" sz="1200" b="1">
                <a:solidFill>
                  <a:srgbClr val="4984CB"/>
                </a:solidFill>
                <a:latin typeface="Aptos" panose="020B0004020202020204" pitchFamily="34" charset="0"/>
              </a:rPr>
              <a:t>Conditioning</a:t>
            </a:r>
          </a:p>
        </p:txBody>
      </p:sp>
      <p:sp>
        <p:nvSpPr>
          <p:cNvPr id="79" name="TextBox 78">
            <a:extLst>
              <a:ext uri="{FF2B5EF4-FFF2-40B4-BE49-F238E27FC236}">
                <a16:creationId xmlns:a16="http://schemas.microsoft.com/office/drawing/2014/main" id="{622423EE-9B4B-674C-885C-B4156FD6E067}"/>
              </a:ext>
            </a:extLst>
          </p:cNvPr>
          <p:cNvSpPr txBox="1"/>
          <p:nvPr/>
        </p:nvSpPr>
        <p:spPr>
          <a:xfrm>
            <a:off x="3378200" y="3683000"/>
            <a:ext cx="1778000" cy="307777"/>
          </a:xfrm>
          <a:prstGeom prst="rect">
            <a:avLst/>
          </a:prstGeom>
          <a:noFill/>
        </p:spPr>
        <p:txBody>
          <a:bodyPr vert="horz" wrap="square" lIns="0" tIns="0" rIns="0" bIns="0" rtlCol="0">
            <a:spAutoFit/>
          </a:bodyPr>
          <a:lstStyle/>
          <a:p>
            <a:pPr algn="ctr"/>
            <a:r>
              <a:rPr lang="en-US" sz="1000">
                <a:solidFill>
                  <a:srgbClr val="1C1C1C"/>
                </a:solidFill>
                <a:latin typeface="Aptos" panose="020B0004020202020204" pitchFamily="34" charset="0"/>
              </a:rPr>
              <a:t>time embedding
+ observation embedding</a:t>
            </a:r>
          </a:p>
        </p:txBody>
      </p:sp>
      <p:sp>
        <p:nvSpPr>
          <p:cNvPr id="80" name="Arrow: Chevron 79">
            <a:extLst>
              <a:ext uri="{FF2B5EF4-FFF2-40B4-BE49-F238E27FC236}">
                <a16:creationId xmlns:a16="http://schemas.microsoft.com/office/drawing/2014/main" id="{A33FD402-2469-1387-9863-1FD6DC3D8E92}"/>
              </a:ext>
            </a:extLst>
          </p:cNvPr>
          <p:cNvSpPr/>
          <p:nvPr/>
        </p:nvSpPr>
        <p:spPr>
          <a:xfrm>
            <a:off x="5410200" y="3632200"/>
            <a:ext cx="355600" cy="406400"/>
          </a:xfrm>
          <a:prstGeom prst="chevron">
            <a:avLst/>
          </a:prstGeom>
          <a:solidFill>
            <a:srgbClr val="D2D0C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1" name="Rectangle: Rounded Corners 80">
            <a:extLst>
              <a:ext uri="{FF2B5EF4-FFF2-40B4-BE49-F238E27FC236}">
                <a16:creationId xmlns:a16="http://schemas.microsoft.com/office/drawing/2014/main" id="{AF4FA939-61D7-8805-FF6F-B2D461C67622}"/>
              </a:ext>
            </a:extLst>
          </p:cNvPr>
          <p:cNvSpPr/>
          <p:nvPr/>
        </p:nvSpPr>
        <p:spPr>
          <a:xfrm>
            <a:off x="5791200" y="3225800"/>
            <a:ext cx="2082800" cy="1168400"/>
          </a:xfrm>
          <a:prstGeom prst="roundRect">
            <a:avLst/>
          </a:prstGeom>
          <a:solidFill>
            <a:srgbClr val="EBF5EC"/>
          </a:solidFill>
          <a:ln w="13970">
            <a:solidFill>
              <a:srgbClr val="5B99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TextBox 81">
            <a:extLst>
              <a:ext uri="{FF2B5EF4-FFF2-40B4-BE49-F238E27FC236}">
                <a16:creationId xmlns:a16="http://schemas.microsoft.com/office/drawing/2014/main" id="{DB270442-16E5-D6E4-A56E-A9C6E8C156C8}"/>
              </a:ext>
            </a:extLst>
          </p:cNvPr>
          <p:cNvSpPr txBox="1"/>
          <p:nvPr/>
        </p:nvSpPr>
        <p:spPr>
          <a:xfrm>
            <a:off x="5943600" y="3378200"/>
            <a:ext cx="1778000" cy="184666"/>
          </a:xfrm>
          <a:prstGeom prst="rect">
            <a:avLst/>
          </a:prstGeom>
          <a:noFill/>
        </p:spPr>
        <p:txBody>
          <a:bodyPr vert="horz" wrap="square" lIns="0" tIns="0" rIns="0" bIns="0" rtlCol="0">
            <a:spAutoFit/>
          </a:bodyPr>
          <a:lstStyle/>
          <a:p>
            <a:pPr algn="ctr"/>
            <a:r>
              <a:rPr lang="en-US" sz="1200" b="1">
                <a:solidFill>
                  <a:srgbClr val="5B995D"/>
                </a:solidFill>
                <a:latin typeface="Aptos" panose="020B0004020202020204" pitchFamily="34" charset="0"/>
              </a:rPr>
              <a:t>U-Net policy</a:t>
            </a:r>
          </a:p>
        </p:txBody>
      </p:sp>
      <p:sp>
        <p:nvSpPr>
          <p:cNvPr id="83" name="TextBox 82">
            <a:extLst>
              <a:ext uri="{FF2B5EF4-FFF2-40B4-BE49-F238E27FC236}">
                <a16:creationId xmlns:a16="http://schemas.microsoft.com/office/drawing/2014/main" id="{B9EDD8AB-0869-A224-8DFC-80DE42D9AE69}"/>
              </a:ext>
            </a:extLst>
          </p:cNvPr>
          <p:cNvSpPr txBox="1"/>
          <p:nvPr/>
        </p:nvSpPr>
        <p:spPr>
          <a:xfrm>
            <a:off x="5943600" y="3683000"/>
            <a:ext cx="1778000" cy="461665"/>
          </a:xfrm>
          <a:prstGeom prst="rect">
            <a:avLst/>
          </a:prstGeom>
          <a:noFill/>
        </p:spPr>
        <p:txBody>
          <a:bodyPr vert="horz" wrap="square" lIns="0" tIns="0" rIns="0" bIns="0" rtlCol="0">
            <a:spAutoFit/>
          </a:bodyPr>
          <a:lstStyle/>
          <a:p>
            <a:pPr algn="ctr"/>
            <a:r>
              <a:rPr lang="en-US" sz="1000">
                <a:solidFill>
                  <a:srgbClr val="1C1C1C"/>
                </a:solidFill>
                <a:latin typeface="Aptos" panose="020B0004020202020204" pitchFamily="34" charset="0"/>
              </a:rPr>
              <a:t>encoder
bottleneck
decoder + skips</a:t>
            </a:r>
          </a:p>
        </p:txBody>
      </p:sp>
      <p:sp>
        <p:nvSpPr>
          <p:cNvPr id="84" name="Arrow: Chevron 83">
            <a:extLst>
              <a:ext uri="{FF2B5EF4-FFF2-40B4-BE49-F238E27FC236}">
                <a16:creationId xmlns:a16="http://schemas.microsoft.com/office/drawing/2014/main" id="{1144D837-5066-DFFF-5795-83928257733B}"/>
              </a:ext>
            </a:extLst>
          </p:cNvPr>
          <p:cNvSpPr/>
          <p:nvPr/>
        </p:nvSpPr>
        <p:spPr>
          <a:xfrm>
            <a:off x="7975600" y="3632200"/>
            <a:ext cx="355600" cy="406400"/>
          </a:xfrm>
          <a:prstGeom prst="chevron">
            <a:avLst/>
          </a:prstGeom>
          <a:solidFill>
            <a:srgbClr val="D2D0C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5" name="Rectangle: Rounded Corners 84">
            <a:extLst>
              <a:ext uri="{FF2B5EF4-FFF2-40B4-BE49-F238E27FC236}">
                <a16:creationId xmlns:a16="http://schemas.microsoft.com/office/drawing/2014/main" id="{14F50691-1923-8A9D-3392-9F487F7FB43F}"/>
              </a:ext>
            </a:extLst>
          </p:cNvPr>
          <p:cNvSpPr/>
          <p:nvPr/>
        </p:nvSpPr>
        <p:spPr>
          <a:xfrm>
            <a:off x="8356600" y="3225800"/>
            <a:ext cx="2768600" cy="1168400"/>
          </a:xfrm>
          <a:prstGeom prst="roundRect">
            <a:avLst/>
          </a:prstGeom>
          <a:solidFill>
            <a:srgbClr val="F6EEDB"/>
          </a:solidFill>
          <a:ln w="13970">
            <a:solidFill>
              <a:srgbClr val="FFC62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TextBox 85">
            <a:extLst>
              <a:ext uri="{FF2B5EF4-FFF2-40B4-BE49-F238E27FC236}">
                <a16:creationId xmlns:a16="http://schemas.microsoft.com/office/drawing/2014/main" id="{EB339EA7-7ECB-EBF9-B0D1-19C3A41F3BA1}"/>
              </a:ext>
            </a:extLst>
          </p:cNvPr>
          <p:cNvSpPr txBox="1"/>
          <p:nvPr/>
        </p:nvSpPr>
        <p:spPr>
          <a:xfrm>
            <a:off x="8509000" y="3378200"/>
            <a:ext cx="2463800" cy="184666"/>
          </a:xfrm>
          <a:prstGeom prst="rect">
            <a:avLst/>
          </a:prstGeom>
          <a:noFill/>
        </p:spPr>
        <p:txBody>
          <a:bodyPr vert="horz" wrap="square" lIns="0" tIns="0" rIns="0" bIns="0" rtlCol="0">
            <a:spAutoFit/>
          </a:bodyPr>
          <a:lstStyle/>
          <a:p>
            <a:pPr algn="ctr"/>
            <a:r>
              <a:rPr lang="en-US" sz="1200" b="1">
                <a:solidFill>
                  <a:srgbClr val="FFC627"/>
                </a:solidFill>
                <a:latin typeface="Aptos" panose="020B0004020202020204" pitchFamily="34" charset="0"/>
              </a:rPr>
              <a:t>Training target</a:t>
            </a:r>
          </a:p>
        </p:txBody>
      </p:sp>
      <p:sp>
        <p:nvSpPr>
          <p:cNvPr id="87" name="TextBox 86">
            <a:extLst>
              <a:ext uri="{FF2B5EF4-FFF2-40B4-BE49-F238E27FC236}">
                <a16:creationId xmlns:a16="http://schemas.microsoft.com/office/drawing/2014/main" id="{9C677F73-2DC8-9328-6CCA-1D79018C847A}"/>
              </a:ext>
            </a:extLst>
          </p:cNvPr>
          <p:cNvSpPr txBox="1"/>
          <p:nvPr/>
        </p:nvSpPr>
        <p:spPr>
          <a:xfrm>
            <a:off x="8509000" y="3683000"/>
            <a:ext cx="2463800" cy="307777"/>
          </a:xfrm>
          <a:prstGeom prst="rect">
            <a:avLst/>
          </a:prstGeom>
          <a:noFill/>
        </p:spPr>
        <p:txBody>
          <a:bodyPr vert="horz" wrap="square" lIns="0" tIns="0" rIns="0" bIns="0" rtlCol="0">
            <a:spAutoFit/>
          </a:bodyPr>
          <a:lstStyle/>
          <a:p>
            <a:pPr algn="ctr"/>
            <a:r>
              <a:rPr lang="en-US" sz="1000">
                <a:solidFill>
                  <a:srgbClr val="1C1C1C"/>
                </a:solidFill>
                <a:latin typeface="Aptos" panose="020B0004020202020204" pitchFamily="34" charset="0"/>
              </a:rPr>
              <a:t>predict epsilon
then compare to true noise</a:t>
            </a:r>
          </a:p>
        </p:txBody>
      </p:sp>
      <p:sp>
        <p:nvSpPr>
          <p:cNvPr id="88" name="Rectangle: Rounded Corners 87">
            <a:extLst>
              <a:ext uri="{FF2B5EF4-FFF2-40B4-BE49-F238E27FC236}">
                <a16:creationId xmlns:a16="http://schemas.microsoft.com/office/drawing/2014/main" id="{C43D8CE7-480E-E082-E08A-AFDCDFD01290}"/>
              </a:ext>
            </a:extLst>
          </p:cNvPr>
          <p:cNvSpPr/>
          <p:nvPr/>
        </p:nvSpPr>
        <p:spPr>
          <a:xfrm>
            <a:off x="508000" y="4648200"/>
            <a:ext cx="5334000" cy="1854200"/>
          </a:xfrm>
          <a:prstGeom prst="roundRect">
            <a:avLst/>
          </a:prstGeom>
          <a:solidFill>
            <a:srgbClr val="FFFFFF"/>
          </a:solidFill>
          <a:ln w="13970">
            <a:solidFill>
              <a:srgbClr val="8C1D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TextBox 88">
            <a:extLst>
              <a:ext uri="{FF2B5EF4-FFF2-40B4-BE49-F238E27FC236}">
                <a16:creationId xmlns:a16="http://schemas.microsoft.com/office/drawing/2014/main" id="{B471C672-CF6D-9564-8654-8261F12DF6B7}"/>
              </a:ext>
            </a:extLst>
          </p:cNvPr>
          <p:cNvSpPr txBox="1"/>
          <p:nvPr/>
        </p:nvSpPr>
        <p:spPr>
          <a:xfrm>
            <a:off x="711200" y="4826000"/>
            <a:ext cx="4927600" cy="200055"/>
          </a:xfrm>
          <a:prstGeom prst="rect">
            <a:avLst/>
          </a:prstGeom>
          <a:noFill/>
        </p:spPr>
        <p:txBody>
          <a:bodyPr vert="horz" wrap="square" lIns="0" tIns="0" rIns="0" bIns="0" rtlCol="0">
            <a:spAutoFit/>
          </a:bodyPr>
          <a:lstStyle/>
          <a:p>
            <a:r>
              <a:rPr lang="en-US" sz="1300" b="1">
                <a:solidFill>
                  <a:srgbClr val="8C1D40"/>
                </a:solidFill>
                <a:latin typeface="Aptos" panose="020B0004020202020204" pitchFamily="34" charset="0"/>
              </a:rPr>
              <a:t>Core formulas to present</a:t>
            </a:r>
          </a:p>
        </p:txBody>
      </p:sp>
      <p:sp>
        <p:nvSpPr>
          <p:cNvPr id="91" name="Rectangle: Rounded Corners 90">
            <a:extLst>
              <a:ext uri="{FF2B5EF4-FFF2-40B4-BE49-F238E27FC236}">
                <a16:creationId xmlns:a16="http://schemas.microsoft.com/office/drawing/2014/main" id="{5AB45E06-0EE7-4EDD-C198-2C3A510A9C61}"/>
              </a:ext>
            </a:extLst>
          </p:cNvPr>
          <p:cNvSpPr/>
          <p:nvPr/>
        </p:nvSpPr>
        <p:spPr>
          <a:xfrm>
            <a:off x="6096000" y="4648200"/>
            <a:ext cx="5588000" cy="1854200"/>
          </a:xfrm>
          <a:prstGeom prst="roundRect">
            <a:avLst/>
          </a:prstGeom>
          <a:solidFill>
            <a:srgbClr val="E8F1F9"/>
          </a:solidFill>
          <a:ln w="13970">
            <a:solidFill>
              <a:srgbClr val="4984C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TextBox 91">
            <a:extLst>
              <a:ext uri="{FF2B5EF4-FFF2-40B4-BE49-F238E27FC236}">
                <a16:creationId xmlns:a16="http://schemas.microsoft.com/office/drawing/2014/main" id="{D24FC801-9156-09DC-0D94-0972E85CF0BE}"/>
              </a:ext>
            </a:extLst>
          </p:cNvPr>
          <p:cNvSpPr txBox="1"/>
          <p:nvPr/>
        </p:nvSpPr>
        <p:spPr>
          <a:xfrm>
            <a:off x="6299200" y="4826000"/>
            <a:ext cx="5181600" cy="200055"/>
          </a:xfrm>
          <a:prstGeom prst="rect">
            <a:avLst/>
          </a:prstGeom>
          <a:noFill/>
        </p:spPr>
        <p:txBody>
          <a:bodyPr vert="horz" wrap="square" lIns="0" tIns="0" rIns="0" bIns="0" rtlCol="0">
            <a:spAutoFit/>
          </a:bodyPr>
          <a:lstStyle/>
          <a:p>
            <a:r>
              <a:rPr lang="en-US" sz="1300" b="1">
                <a:solidFill>
                  <a:srgbClr val="4984CB"/>
                </a:solidFill>
                <a:latin typeface="Aptos" panose="020B0004020202020204" pitchFamily="34" charset="0"/>
              </a:rPr>
              <a:t>What train.py does each batch</a:t>
            </a:r>
          </a:p>
        </p:txBody>
      </p:sp>
      <p:sp>
        <p:nvSpPr>
          <p:cNvPr id="93" name="TextBox 92">
            <a:extLst>
              <a:ext uri="{FF2B5EF4-FFF2-40B4-BE49-F238E27FC236}">
                <a16:creationId xmlns:a16="http://schemas.microsoft.com/office/drawing/2014/main" id="{2DB3D867-EBE6-763E-F560-DCB04F336307}"/>
              </a:ext>
            </a:extLst>
          </p:cNvPr>
          <p:cNvSpPr txBox="1"/>
          <p:nvPr/>
        </p:nvSpPr>
        <p:spPr>
          <a:xfrm>
            <a:off x="6299200" y="5181600"/>
            <a:ext cx="5181600" cy="1015663"/>
          </a:xfrm>
          <a:prstGeom prst="rect">
            <a:avLst/>
          </a:prstGeom>
          <a:noFill/>
        </p:spPr>
        <p:txBody>
          <a:bodyPr vert="horz" wrap="square" lIns="0" tIns="0" rIns="0" bIns="0" rtlCol="0">
            <a:spAutoFit/>
          </a:bodyPr>
          <a:lstStyle/>
          <a:p>
            <a:r>
              <a:rPr lang="en-US" sz="1100">
                <a:solidFill>
                  <a:srgbClr val="1C1C1C"/>
                </a:solidFill>
                <a:latin typeface="Aptos" panose="020B0004020202020204" pitchFamily="34" charset="0"/>
              </a:rPr>
              <a:t>1. Sample a random diffusion timestep.
2. Draw Gaussian noise.
3. Corrupt the clean action chunk.
4. Predict the noise with the policy.
5. Minimize MSE loss.
6. Update the EMA copy for stable evaluation checkpoints.</a:t>
            </a:r>
          </a:p>
        </p:txBody>
      </p:sp>
      <p:sp>
        <p:nvSpPr>
          <p:cNvPr id="2" name="TextBox 1">
            <a:extLst>
              <a:ext uri="{FF2B5EF4-FFF2-40B4-BE49-F238E27FC236}">
                <a16:creationId xmlns:a16="http://schemas.microsoft.com/office/drawing/2014/main" id="{C68995B3-DEE1-36CE-AE75-C784938AA277}"/>
              </a:ext>
            </a:extLst>
          </p:cNvPr>
          <p:cNvSpPr txBox="1"/>
          <p:nvPr/>
        </p:nvSpPr>
        <p:spPr>
          <a:xfrm>
            <a:off x="736600" y="5181600"/>
            <a:ext cx="4876800" cy="830997"/>
          </a:xfrm>
          <a:prstGeom prst="rect">
            <a:avLst/>
          </a:prstGeom>
          <a:noFill/>
        </p:spPr>
        <p:txBody>
          <a:bodyPr vert="horz" wrap="square" lIns="0" tIns="0" rIns="0" bIns="0" rtlCol="0">
            <a:spAutoFit/>
          </a:bodyPr>
          <a:lstStyle/>
          <a:p>
            <a:r>
              <a:rPr lang="en-US">
                <a:solidFill>
                  <a:srgbClr val="1C1C1C"/>
                </a:solidFill>
                <a:latin typeface="Cambria Math" panose="02040503050406030204" pitchFamily="18" charset="0"/>
              </a:rPr>
              <a:t>xₜ = √(</a:t>
            </a:r>
            <a:r>
              <a:rPr lang="el-GR">
                <a:solidFill>
                  <a:srgbClr val="1C1C1C"/>
                </a:solidFill>
                <a:latin typeface="Cambria Math" panose="02040503050406030204" pitchFamily="18" charset="0"/>
              </a:rPr>
              <a:t>ᾱ</a:t>
            </a:r>
            <a:r>
              <a:rPr lang="en-US">
                <a:solidFill>
                  <a:srgbClr val="1C1C1C"/>
                </a:solidFill>
                <a:latin typeface="Cambria Math" panose="02040503050406030204" pitchFamily="18" charset="0"/>
              </a:rPr>
              <a:t>ₜ) x₀ + √(1 − </a:t>
            </a:r>
            <a:r>
              <a:rPr lang="el-GR">
                <a:solidFill>
                  <a:srgbClr val="1C1C1C"/>
                </a:solidFill>
                <a:latin typeface="Cambria Math" panose="02040503050406030204" pitchFamily="18" charset="0"/>
              </a:rPr>
              <a:t>ᾱ</a:t>
            </a:r>
            <a:r>
              <a:rPr lang="en-US">
                <a:solidFill>
                  <a:srgbClr val="1C1C1C"/>
                </a:solidFill>
                <a:latin typeface="Cambria Math" panose="02040503050406030204" pitchFamily="18" charset="0"/>
              </a:rPr>
              <a:t>ₜ) </a:t>
            </a:r>
            <a:r>
              <a:rPr lang="el-GR">
                <a:solidFill>
                  <a:srgbClr val="1C1C1C"/>
                </a:solidFill>
                <a:latin typeface="Cambria Math" panose="02040503050406030204" pitchFamily="18" charset="0"/>
              </a:rPr>
              <a:t>ε
</a:t>
            </a:r>
            <a:r>
              <a:rPr lang="en-US">
                <a:solidFill>
                  <a:srgbClr val="1C1C1C"/>
                </a:solidFill>
                <a:latin typeface="Cambria Math" panose="02040503050406030204" pitchFamily="18" charset="0"/>
              </a:rPr>
              <a:t>L = ‖ </a:t>
            </a:r>
            <a:r>
              <a:rPr lang="el-GR">
                <a:solidFill>
                  <a:srgbClr val="1C1C1C"/>
                </a:solidFill>
                <a:latin typeface="Cambria Math" panose="02040503050406030204" pitchFamily="18" charset="0"/>
              </a:rPr>
              <a:t>ε_θ(</a:t>
            </a:r>
            <a:r>
              <a:rPr lang="en-US">
                <a:solidFill>
                  <a:srgbClr val="1C1C1C"/>
                </a:solidFill>
                <a:latin typeface="Cambria Math" panose="02040503050406030204" pitchFamily="18" charset="0"/>
              </a:rPr>
              <a:t>xₜ, t, obs) − </a:t>
            </a:r>
            <a:r>
              <a:rPr lang="el-GR">
                <a:solidFill>
                  <a:srgbClr val="1C1C1C"/>
                </a:solidFill>
                <a:latin typeface="Cambria Math" panose="02040503050406030204" pitchFamily="18" charset="0"/>
              </a:rPr>
              <a:t>ε ‖²₂</a:t>
            </a:r>
            <a:endParaRPr lang="en-US">
              <a:solidFill>
                <a:srgbClr val="1C1C1C"/>
              </a:solidFill>
              <a:latin typeface="Cambria Math" panose="02040503050406030204" pitchFamily="18" charset="0"/>
            </a:endParaRPr>
          </a:p>
        </p:txBody>
      </p:sp>
    </p:spTree>
    <p:extLst>
      <p:ext uri="{BB962C8B-B14F-4D97-AF65-F5344CB8AC3E}">
        <p14:creationId xmlns:p14="http://schemas.microsoft.com/office/powerpoint/2010/main" val="34590434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Rectangle 51">
            <a:extLst>
              <a:ext uri="{FF2B5EF4-FFF2-40B4-BE49-F238E27FC236}">
                <a16:creationId xmlns:a16="http://schemas.microsoft.com/office/drawing/2014/main" id="{4C6502DE-D9C4-EDB3-7CE1-E689FAA757BD}"/>
              </a:ext>
            </a:extLst>
          </p:cNvPr>
          <p:cNvSpPr/>
          <p:nvPr/>
        </p:nvSpPr>
        <p:spPr>
          <a:xfrm>
            <a:off x="0" y="0"/>
            <a:ext cx="12192000" cy="6858000"/>
          </a:xfrm>
          <a:prstGeom prst="rect">
            <a:avLst/>
          </a:prstGeom>
          <a:solidFill>
            <a:srgbClr val="F8F6F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a:extLst>
              <a:ext uri="{FF2B5EF4-FFF2-40B4-BE49-F238E27FC236}">
                <a16:creationId xmlns:a16="http://schemas.microsoft.com/office/drawing/2014/main" id="{40867A40-E08A-827F-1482-CC3679802BD5}"/>
              </a:ext>
            </a:extLst>
          </p:cNvPr>
          <p:cNvSpPr txBox="1"/>
          <p:nvPr/>
        </p:nvSpPr>
        <p:spPr>
          <a:xfrm>
            <a:off x="508000" y="355600"/>
            <a:ext cx="9906000" cy="430887"/>
          </a:xfrm>
          <a:prstGeom prst="rect">
            <a:avLst/>
          </a:prstGeom>
          <a:noFill/>
        </p:spPr>
        <p:txBody>
          <a:bodyPr vert="horz" wrap="square" lIns="0" tIns="0" rIns="0" bIns="0" rtlCol="0">
            <a:spAutoFit/>
          </a:bodyPr>
          <a:lstStyle/>
          <a:p>
            <a:r>
              <a:rPr lang="en-US" sz="2800" b="1">
                <a:solidFill>
                  <a:srgbClr val="1C1C1C"/>
                </a:solidFill>
                <a:latin typeface="Aptos" panose="020B0004020202020204" pitchFamily="34" charset="0"/>
              </a:rPr>
              <a:t>Sampling Actions At Test Time</a:t>
            </a:r>
          </a:p>
        </p:txBody>
      </p:sp>
      <p:sp>
        <p:nvSpPr>
          <p:cNvPr id="54" name="TextBox 53">
            <a:extLst>
              <a:ext uri="{FF2B5EF4-FFF2-40B4-BE49-F238E27FC236}">
                <a16:creationId xmlns:a16="http://schemas.microsoft.com/office/drawing/2014/main" id="{C0085BA8-D6EE-B033-5C34-85A4D90605F2}"/>
              </a:ext>
            </a:extLst>
          </p:cNvPr>
          <p:cNvSpPr txBox="1"/>
          <p:nvPr/>
        </p:nvSpPr>
        <p:spPr>
          <a:xfrm>
            <a:off x="508000" y="800100"/>
            <a:ext cx="10668000" cy="169277"/>
          </a:xfrm>
          <a:prstGeom prst="rect">
            <a:avLst/>
          </a:prstGeom>
          <a:noFill/>
        </p:spPr>
        <p:txBody>
          <a:bodyPr vert="horz" wrap="square" lIns="0" tIns="0" rIns="0" bIns="0" rtlCol="0">
            <a:spAutoFit/>
          </a:bodyPr>
          <a:lstStyle/>
          <a:p>
            <a:r>
              <a:rPr lang="en-US" sz="1100">
                <a:solidFill>
                  <a:srgbClr val="5C5C5C"/>
                </a:solidFill>
                <a:latin typeface="Aptos" panose="020B0004020202020204" pitchFamily="34" charset="0"/>
              </a:rPr>
              <a:t>eval_with_videos.py reverses the diffusion process with DDIM, denormalizes the action plan, and executes it through the environment</a:t>
            </a:r>
          </a:p>
        </p:txBody>
      </p:sp>
      <p:sp>
        <p:nvSpPr>
          <p:cNvPr id="55" name="Rectangle 54">
            <a:extLst>
              <a:ext uri="{FF2B5EF4-FFF2-40B4-BE49-F238E27FC236}">
                <a16:creationId xmlns:a16="http://schemas.microsoft.com/office/drawing/2014/main" id="{D22F39EB-6B14-168F-CC73-86EB644691F6}"/>
              </a:ext>
            </a:extLst>
          </p:cNvPr>
          <p:cNvSpPr/>
          <p:nvPr/>
        </p:nvSpPr>
        <p:spPr>
          <a:xfrm>
            <a:off x="508000" y="1168400"/>
            <a:ext cx="11176000" cy="50800"/>
          </a:xfrm>
          <a:prstGeom prst="rect">
            <a:avLst/>
          </a:prstGeom>
          <a:solidFill>
            <a:srgbClr val="FFC62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TextBox 55">
            <a:extLst>
              <a:ext uri="{FF2B5EF4-FFF2-40B4-BE49-F238E27FC236}">
                <a16:creationId xmlns:a16="http://schemas.microsoft.com/office/drawing/2014/main" id="{E0203BF5-0B37-39E9-8593-497E5BE6DBA6}"/>
              </a:ext>
            </a:extLst>
          </p:cNvPr>
          <p:cNvSpPr txBox="1"/>
          <p:nvPr/>
        </p:nvSpPr>
        <p:spPr>
          <a:xfrm>
            <a:off x="11430000" y="381000"/>
            <a:ext cx="254000" cy="153888"/>
          </a:xfrm>
          <a:prstGeom prst="rect">
            <a:avLst/>
          </a:prstGeom>
          <a:noFill/>
        </p:spPr>
        <p:txBody>
          <a:bodyPr vert="horz" wrap="square" lIns="0" tIns="0" rIns="0" bIns="0" rtlCol="0">
            <a:spAutoFit/>
          </a:bodyPr>
          <a:lstStyle/>
          <a:p>
            <a:pPr algn="r"/>
            <a:r>
              <a:rPr lang="en-US" sz="1000">
                <a:solidFill>
                  <a:srgbClr val="5C5C5C"/>
                </a:solidFill>
                <a:latin typeface="Aptos" panose="020B0004020202020204" pitchFamily="34" charset="0"/>
              </a:rPr>
              <a:t>37</a:t>
            </a:r>
          </a:p>
        </p:txBody>
      </p:sp>
      <p:sp>
        <p:nvSpPr>
          <p:cNvPr id="57" name="Rectangle: Rounded Corners 56">
            <a:extLst>
              <a:ext uri="{FF2B5EF4-FFF2-40B4-BE49-F238E27FC236}">
                <a16:creationId xmlns:a16="http://schemas.microsoft.com/office/drawing/2014/main" id="{BA029AB7-2BCE-4D58-9C5F-144A17484329}"/>
              </a:ext>
            </a:extLst>
          </p:cNvPr>
          <p:cNvSpPr/>
          <p:nvPr/>
        </p:nvSpPr>
        <p:spPr>
          <a:xfrm>
            <a:off x="508000" y="1498600"/>
            <a:ext cx="2286000" cy="1346200"/>
          </a:xfrm>
          <a:prstGeom prst="roundRect">
            <a:avLst/>
          </a:prstGeom>
          <a:solidFill>
            <a:srgbClr val="FFFFFF"/>
          </a:solidFill>
          <a:ln w="12700">
            <a:solidFill>
              <a:srgbClr val="D2D0C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a:extLst>
              <a:ext uri="{FF2B5EF4-FFF2-40B4-BE49-F238E27FC236}">
                <a16:creationId xmlns:a16="http://schemas.microsoft.com/office/drawing/2014/main" id="{79F62BB3-3D55-27FF-D4AB-9149D44E07D5}"/>
              </a:ext>
            </a:extLst>
          </p:cNvPr>
          <p:cNvSpPr/>
          <p:nvPr/>
        </p:nvSpPr>
        <p:spPr>
          <a:xfrm>
            <a:off x="685800" y="1651000"/>
            <a:ext cx="1930400" cy="50800"/>
          </a:xfrm>
          <a:prstGeom prst="rect">
            <a:avLst/>
          </a:prstGeom>
          <a:solidFill>
            <a:srgbClr val="8C1D4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TextBox 58">
            <a:extLst>
              <a:ext uri="{FF2B5EF4-FFF2-40B4-BE49-F238E27FC236}">
                <a16:creationId xmlns:a16="http://schemas.microsoft.com/office/drawing/2014/main" id="{94E5EA1D-C7BA-2124-96CD-0ADCF314F186}"/>
              </a:ext>
            </a:extLst>
          </p:cNvPr>
          <p:cNvSpPr txBox="1"/>
          <p:nvPr/>
        </p:nvSpPr>
        <p:spPr>
          <a:xfrm>
            <a:off x="685800" y="1752600"/>
            <a:ext cx="1930400" cy="153888"/>
          </a:xfrm>
          <a:prstGeom prst="rect">
            <a:avLst/>
          </a:prstGeom>
          <a:noFill/>
        </p:spPr>
        <p:txBody>
          <a:bodyPr vert="horz" wrap="square" lIns="0" tIns="0" rIns="0" bIns="0" rtlCol="0">
            <a:spAutoFit/>
          </a:bodyPr>
          <a:lstStyle/>
          <a:p>
            <a:r>
              <a:rPr lang="en-US" sz="1000" b="1">
                <a:solidFill>
                  <a:srgbClr val="5C5C5C"/>
                </a:solidFill>
                <a:latin typeface="Aptos" panose="020B0004020202020204" pitchFamily="34" charset="0"/>
              </a:rPr>
              <a:t>Checkpoint</a:t>
            </a:r>
          </a:p>
        </p:txBody>
      </p:sp>
      <p:sp>
        <p:nvSpPr>
          <p:cNvPr id="60" name="TextBox 59">
            <a:extLst>
              <a:ext uri="{FF2B5EF4-FFF2-40B4-BE49-F238E27FC236}">
                <a16:creationId xmlns:a16="http://schemas.microsoft.com/office/drawing/2014/main" id="{5FBEC3F1-6B70-DB1D-B04A-05197F3178A9}"/>
              </a:ext>
            </a:extLst>
          </p:cNvPr>
          <p:cNvSpPr txBox="1"/>
          <p:nvPr/>
        </p:nvSpPr>
        <p:spPr>
          <a:xfrm>
            <a:off x="685800" y="2032000"/>
            <a:ext cx="1930400" cy="338554"/>
          </a:xfrm>
          <a:prstGeom prst="rect">
            <a:avLst/>
          </a:prstGeom>
          <a:noFill/>
        </p:spPr>
        <p:txBody>
          <a:bodyPr vert="horz" wrap="square" lIns="0" tIns="0" rIns="0" bIns="0" rtlCol="0">
            <a:spAutoFit/>
          </a:bodyPr>
          <a:lstStyle/>
          <a:p>
            <a:r>
              <a:rPr lang="en-US" sz="2200" b="1">
                <a:solidFill>
                  <a:srgbClr val="8C1D40"/>
                </a:solidFill>
                <a:latin typeface="Aptos" panose="020B0004020202020204" pitchFamily="34" charset="0"/>
              </a:rPr>
              <a:t>EMA model</a:t>
            </a:r>
          </a:p>
        </p:txBody>
      </p:sp>
      <p:sp>
        <p:nvSpPr>
          <p:cNvPr id="61" name="TextBox 60">
            <a:extLst>
              <a:ext uri="{FF2B5EF4-FFF2-40B4-BE49-F238E27FC236}">
                <a16:creationId xmlns:a16="http://schemas.microsoft.com/office/drawing/2014/main" id="{82CCB75C-4AF2-C1D6-14B8-EBA98B52B0A2}"/>
              </a:ext>
            </a:extLst>
          </p:cNvPr>
          <p:cNvSpPr txBox="1"/>
          <p:nvPr/>
        </p:nvSpPr>
        <p:spPr>
          <a:xfrm>
            <a:off x="685800" y="2438400"/>
            <a:ext cx="1930400" cy="307777"/>
          </a:xfrm>
          <a:prstGeom prst="rect">
            <a:avLst/>
          </a:prstGeom>
          <a:noFill/>
        </p:spPr>
        <p:txBody>
          <a:bodyPr vert="horz" wrap="square" lIns="0" tIns="0" rIns="0" bIns="0" rtlCol="0">
            <a:spAutoFit/>
          </a:bodyPr>
          <a:lstStyle/>
          <a:p>
            <a:r>
              <a:rPr lang="en-US" sz="1000">
                <a:solidFill>
                  <a:srgbClr val="5C5C5C"/>
                </a:solidFill>
                <a:latin typeface="Aptos" panose="020B0004020202020204" pitchFamily="34" charset="0"/>
              </a:rPr>
              <a:t>The evaluation script loads the EMA weights from training</a:t>
            </a:r>
          </a:p>
        </p:txBody>
      </p:sp>
      <p:sp>
        <p:nvSpPr>
          <p:cNvPr id="62" name="Rectangle: Rounded Corners 61">
            <a:extLst>
              <a:ext uri="{FF2B5EF4-FFF2-40B4-BE49-F238E27FC236}">
                <a16:creationId xmlns:a16="http://schemas.microsoft.com/office/drawing/2014/main" id="{232CAD63-5EBB-FE72-CF79-3F5D6BC6A5C9}"/>
              </a:ext>
            </a:extLst>
          </p:cNvPr>
          <p:cNvSpPr/>
          <p:nvPr/>
        </p:nvSpPr>
        <p:spPr>
          <a:xfrm>
            <a:off x="2921000" y="1498600"/>
            <a:ext cx="2286000" cy="1346200"/>
          </a:xfrm>
          <a:prstGeom prst="roundRect">
            <a:avLst/>
          </a:prstGeom>
          <a:solidFill>
            <a:srgbClr val="FFFFFF"/>
          </a:solidFill>
          <a:ln w="12700">
            <a:solidFill>
              <a:srgbClr val="D2D0C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a:extLst>
              <a:ext uri="{FF2B5EF4-FFF2-40B4-BE49-F238E27FC236}">
                <a16:creationId xmlns:a16="http://schemas.microsoft.com/office/drawing/2014/main" id="{FE0E861D-0917-B33D-3F72-1B09413291DF}"/>
              </a:ext>
            </a:extLst>
          </p:cNvPr>
          <p:cNvSpPr/>
          <p:nvPr/>
        </p:nvSpPr>
        <p:spPr>
          <a:xfrm>
            <a:off x="3098800" y="1651000"/>
            <a:ext cx="1930400" cy="50800"/>
          </a:xfrm>
          <a:prstGeom prst="rect">
            <a:avLst/>
          </a:prstGeom>
          <a:solidFill>
            <a:srgbClr val="4984C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TextBox 63">
            <a:extLst>
              <a:ext uri="{FF2B5EF4-FFF2-40B4-BE49-F238E27FC236}">
                <a16:creationId xmlns:a16="http://schemas.microsoft.com/office/drawing/2014/main" id="{A4536D0D-B07F-6637-B6A4-FD2B552618FE}"/>
              </a:ext>
            </a:extLst>
          </p:cNvPr>
          <p:cNvSpPr txBox="1"/>
          <p:nvPr/>
        </p:nvSpPr>
        <p:spPr>
          <a:xfrm>
            <a:off x="3098800" y="1752600"/>
            <a:ext cx="1930400" cy="153888"/>
          </a:xfrm>
          <a:prstGeom prst="rect">
            <a:avLst/>
          </a:prstGeom>
          <a:noFill/>
        </p:spPr>
        <p:txBody>
          <a:bodyPr vert="horz" wrap="square" lIns="0" tIns="0" rIns="0" bIns="0" rtlCol="0">
            <a:spAutoFit/>
          </a:bodyPr>
          <a:lstStyle/>
          <a:p>
            <a:r>
              <a:rPr lang="en-US" sz="1000" b="1">
                <a:solidFill>
                  <a:srgbClr val="5C5C5C"/>
                </a:solidFill>
                <a:latin typeface="Aptos" panose="020B0004020202020204" pitchFamily="34" charset="0"/>
              </a:rPr>
              <a:t>Sampler</a:t>
            </a:r>
          </a:p>
        </p:txBody>
      </p:sp>
      <p:sp>
        <p:nvSpPr>
          <p:cNvPr id="65" name="TextBox 64">
            <a:extLst>
              <a:ext uri="{FF2B5EF4-FFF2-40B4-BE49-F238E27FC236}">
                <a16:creationId xmlns:a16="http://schemas.microsoft.com/office/drawing/2014/main" id="{879C87B8-029F-DDDE-A77A-BF12357E357C}"/>
              </a:ext>
            </a:extLst>
          </p:cNvPr>
          <p:cNvSpPr txBox="1"/>
          <p:nvPr/>
        </p:nvSpPr>
        <p:spPr>
          <a:xfrm>
            <a:off x="3098800" y="2032000"/>
            <a:ext cx="1930400" cy="338554"/>
          </a:xfrm>
          <a:prstGeom prst="rect">
            <a:avLst/>
          </a:prstGeom>
          <a:noFill/>
        </p:spPr>
        <p:txBody>
          <a:bodyPr vert="horz" wrap="square" lIns="0" tIns="0" rIns="0" bIns="0" rtlCol="0">
            <a:spAutoFit/>
          </a:bodyPr>
          <a:lstStyle/>
          <a:p>
            <a:r>
              <a:rPr lang="en-US" sz="2200" b="1">
                <a:solidFill>
                  <a:srgbClr val="4984CB"/>
                </a:solidFill>
                <a:latin typeface="Aptos" panose="020B0004020202020204" pitchFamily="34" charset="0"/>
              </a:rPr>
              <a:t>DDIM</a:t>
            </a:r>
          </a:p>
        </p:txBody>
      </p:sp>
      <p:sp>
        <p:nvSpPr>
          <p:cNvPr id="66" name="TextBox 65">
            <a:extLst>
              <a:ext uri="{FF2B5EF4-FFF2-40B4-BE49-F238E27FC236}">
                <a16:creationId xmlns:a16="http://schemas.microsoft.com/office/drawing/2014/main" id="{4D6A4F3E-3B15-41C1-1BAA-B536047D6C4D}"/>
              </a:ext>
            </a:extLst>
          </p:cNvPr>
          <p:cNvSpPr txBox="1"/>
          <p:nvPr/>
        </p:nvSpPr>
        <p:spPr>
          <a:xfrm>
            <a:off x="3098800" y="2438400"/>
            <a:ext cx="1930400" cy="307777"/>
          </a:xfrm>
          <a:prstGeom prst="rect">
            <a:avLst/>
          </a:prstGeom>
          <a:noFill/>
        </p:spPr>
        <p:txBody>
          <a:bodyPr vert="horz" wrap="square" lIns="0" tIns="0" rIns="0" bIns="0" rtlCol="0">
            <a:spAutoFit/>
          </a:bodyPr>
          <a:lstStyle/>
          <a:p>
            <a:r>
              <a:rPr lang="en-US" sz="1000">
                <a:solidFill>
                  <a:srgbClr val="5C5C5C"/>
                </a:solidFill>
                <a:latin typeface="Aptos" panose="020B0004020202020204" pitchFamily="34" charset="0"/>
              </a:rPr>
              <a:t>Uses 10 reverse denoising steps by default</a:t>
            </a:r>
          </a:p>
        </p:txBody>
      </p:sp>
      <p:sp>
        <p:nvSpPr>
          <p:cNvPr id="67" name="Rectangle: Rounded Corners 66">
            <a:extLst>
              <a:ext uri="{FF2B5EF4-FFF2-40B4-BE49-F238E27FC236}">
                <a16:creationId xmlns:a16="http://schemas.microsoft.com/office/drawing/2014/main" id="{5C9D314A-5DC7-1BC3-2A91-ECEC651F0ADA}"/>
              </a:ext>
            </a:extLst>
          </p:cNvPr>
          <p:cNvSpPr/>
          <p:nvPr/>
        </p:nvSpPr>
        <p:spPr>
          <a:xfrm>
            <a:off x="5334000" y="1498600"/>
            <a:ext cx="2286000" cy="1346200"/>
          </a:xfrm>
          <a:prstGeom prst="roundRect">
            <a:avLst/>
          </a:prstGeom>
          <a:solidFill>
            <a:srgbClr val="FFFFFF"/>
          </a:solidFill>
          <a:ln w="12700">
            <a:solidFill>
              <a:srgbClr val="D2D0C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67">
            <a:extLst>
              <a:ext uri="{FF2B5EF4-FFF2-40B4-BE49-F238E27FC236}">
                <a16:creationId xmlns:a16="http://schemas.microsoft.com/office/drawing/2014/main" id="{0C04BE27-82EE-D822-4707-4816E594FDE3}"/>
              </a:ext>
            </a:extLst>
          </p:cNvPr>
          <p:cNvSpPr/>
          <p:nvPr/>
        </p:nvSpPr>
        <p:spPr>
          <a:xfrm>
            <a:off x="5511800" y="1651000"/>
            <a:ext cx="1930400" cy="50800"/>
          </a:xfrm>
          <a:prstGeom prst="rect">
            <a:avLst/>
          </a:prstGeom>
          <a:solidFill>
            <a:srgbClr val="5B995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TextBox 68">
            <a:extLst>
              <a:ext uri="{FF2B5EF4-FFF2-40B4-BE49-F238E27FC236}">
                <a16:creationId xmlns:a16="http://schemas.microsoft.com/office/drawing/2014/main" id="{68D52BBC-B27D-31DE-94E4-77B270754461}"/>
              </a:ext>
            </a:extLst>
          </p:cNvPr>
          <p:cNvSpPr txBox="1"/>
          <p:nvPr/>
        </p:nvSpPr>
        <p:spPr>
          <a:xfrm>
            <a:off x="5511800" y="1752600"/>
            <a:ext cx="1930400" cy="153888"/>
          </a:xfrm>
          <a:prstGeom prst="rect">
            <a:avLst/>
          </a:prstGeom>
          <a:noFill/>
        </p:spPr>
        <p:txBody>
          <a:bodyPr vert="horz" wrap="square" lIns="0" tIns="0" rIns="0" bIns="0" rtlCol="0">
            <a:spAutoFit/>
          </a:bodyPr>
          <a:lstStyle/>
          <a:p>
            <a:r>
              <a:rPr lang="en-US" sz="1000" b="1">
                <a:solidFill>
                  <a:srgbClr val="5C5C5C"/>
                </a:solidFill>
                <a:latin typeface="Aptos" panose="020B0004020202020204" pitchFamily="34" charset="0"/>
              </a:rPr>
              <a:t>Planner output</a:t>
            </a:r>
          </a:p>
        </p:txBody>
      </p:sp>
      <p:sp>
        <p:nvSpPr>
          <p:cNvPr id="70" name="TextBox 69">
            <a:extLst>
              <a:ext uri="{FF2B5EF4-FFF2-40B4-BE49-F238E27FC236}">
                <a16:creationId xmlns:a16="http://schemas.microsoft.com/office/drawing/2014/main" id="{E77C8A18-FC8D-6F23-10C0-BF6C9BA493BA}"/>
              </a:ext>
            </a:extLst>
          </p:cNvPr>
          <p:cNvSpPr txBox="1"/>
          <p:nvPr/>
        </p:nvSpPr>
        <p:spPr>
          <a:xfrm>
            <a:off x="5511800" y="2032000"/>
            <a:ext cx="1930400" cy="338554"/>
          </a:xfrm>
          <a:prstGeom prst="rect">
            <a:avLst/>
          </a:prstGeom>
          <a:noFill/>
        </p:spPr>
        <p:txBody>
          <a:bodyPr vert="horz" wrap="square" lIns="0" tIns="0" rIns="0" bIns="0" rtlCol="0">
            <a:spAutoFit/>
          </a:bodyPr>
          <a:lstStyle/>
          <a:p>
            <a:r>
              <a:rPr lang="en-US" sz="2200" b="1">
                <a:solidFill>
                  <a:srgbClr val="5B995D"/>
                </a:solidFill>
                <a:latin typeface="Aptos" panose="020B0004020202020204" pitchFamily="34" charset="0"/>
              </a:rPr>
              <a:t>action horizon</a:t>
            </a:r>
          </a:p>
        </p:txBody>
      </p:sp>
      <p:sp>
        <p:nvSpPr>
          <p:cNvPr id="71" name="TextBox 70">
            <a:extLst>
              <a:ext uri="{FF2B5EF4-FFF2-40B4-BE49-F238E27FC236}">
                <a16:creationId xmlns:a16="http://schemas.microsoft.com/office/drawing/2014/main" id="{C95F75A2-7338-D3EB-2C29-CFDE79E7CAAB}"/>
              </a:ext>
            </a:extLst>
          </p:cNvPr>
          <p:cNvSpPr txBox="1"/>
          <p:nvPr/>
        </p:nvSpPr>
        <p:spPr>
          <a:xfrm>
            <a:off x="5511800" y="2438400"/>
            <a:ext cx="1930400" cy="307777"/>
          </a:xfrm>
          <a:prstGeom prst="rect">
            <a:avLst/>
          </a:prstGeom>
          <a:noFill/>
        </p:spPr>
        <p:txBody>
          <a:bodyPr vert="horz" wrap="square" lIns="0" tIns="0" rIns="0" bIns="0" rtlCol="0">
            <a:spAutoFit/>
          </a:bodyPr>
          <a:lstStyle/>
          <a:p>
            <a:r>
              <a:rPr lang="en-US" sz="1000">
                <a:solidFill>
                  <a:srgbClr val="5C5C5C"/>
                </a:solidFill>
                <a:latin typeface="Aptos" panose="020B0004020202020204" pitchFamily="34" charset="0"/>
              </a:rPr>
              <a:t>The script samples a whole action sequence, not a single action</a:t>
            </a:r>
          </a:p>
        </p:txBody>
      </p:sp>
      <p:sp>
        <p:nvSpPr>
          <p:cNvPr id="72" name="Rectangle: Rounded Corners 71">
            <a:extLst>
              <a:ext uri="{FF2B5EF4-FFF2-40B4-BE49-F238E27FC236}">
                <a16:creationId xmlns:a16="http://schemas.microsoft.com/office/drawing/2014/main" id="{A3949C89-ECFE-F302-ABE3-A7CE72F0BAE9}"/>
              </a:ext>
            </a:extLst>
          </p:cNvPr>
          <p:cNvSpPr/>
          <p:nvPr/>
        </p:nvSpPr>
        <p:spPr>
          <a:xfrm>
            <a:off x="7747000" y="1498600"/>
            <a:ext cx="2286000" cy="1346200"/>
          </a:xfrm>
          <a:prstGeom prst="roundRect">
            <a:avLst/>
          </a:prstGeom>
          <a:solidFill>
            <a:srgbClr val="FFFFFF"/>
          </a:solidFill>
          <a:ln w="12700">
            <a:solidFill>
              <a:srgbClr val="D2D0C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3C58DFC9-44DA-33B8-C158-469C3B190411}"/>
              </a:ext>
            </a:extLst>
          </p:cNvPr>
          <p:cNvSpPr/>
          <p:nvPr/>
        </p:nvSpPr>
        <p:spPr>
          <a:xfrm>
            <a:off x="7924800" y="1651000"/>
            <a:ext cx="1930400" cy="50800"/>
          </a:xfrm>
          <a:prstGeom prst="rect">
            <a:avLst/>
          </a:prstGeom>
          <a:solidFill>
            <a:srgbClr val="FFC62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TextBox 73">
            <a:extLst>
              <a:ext uri="{FF2B5EF4-FFF2-40B4-BE49-F238E27FC236}">
                <a16:creationId xmlns:a16="http://schemas.microsoft.com/office/drawing/2014/main" id="{B28983C9-0472-5314-3108-F92E54FC0E1F}"/>
              </a:ext>
            </a:extLst>
          </p:cNvPr>
          <p:cNvSpPr txBox="1"/>
          <p:nvPr/>
        </p:nvSpPr>
        <p:spPr>
          <a:xfrm>
            <a:off x="7924800" y="1752600"/>
            <a:ext cx="1930400" cy="153888"/>
          </a:xfrm>
          <a:prstGeom prst="rect">
            <a:avLst/>
          </a:prstGeom>
          <a:noFill/>
        </p:spPr>
        <p:txBody>
          <a:bodyPr vert="horz" wrap="square" lIns="0" tIns="0" rIns="0" bIns="0" rtlCol="0">
            <a:spAutoFit/>
          </a:bodyPr>
          <a:lstStyle/>
          <a:p>
            <a:r>
              <a:rPr lang="en-US" sz="1000" b="1">
                <a:solidFill>
                  <a:srgbClr val="5C5C5C"/>
                </a:solidFill>
                <a:latin typeface="Aptos" panose="020B0004020202020204" pitchFamily="34" charset="0"/>
              </a:rPr>
              <a:t>Execution</a:t>
            </a:r>
          </a:p>
        </p:txBody>
      </p:sp>
      <p:sp>
        <p:nvSpPr>
          <p:cNvPr id="75" name="TextBox 74">
            <a:extLst>
              <a:ext uri="{FF2B5EF4-FFF2-40B4-BE49-F238E27FC236}">
                <a16:creationId xmlns:a16="http://schemas.microsoft.com/office/drawing/2014/main" id="{59D5D27B-E439-01E9-9F5A-5DCC1B72EAAB}"/>
              </a:ext>
            </a:extLst>
          </p:cNvPr>
          <p:cNvSpPr txBox="1"/>
          <p:nvPr/>
        </p:nvSpPr>
        <p:spPr>
          <a:xfrm>
            <a:off x="7924800" y="2032000"/>
            <a:ext cx="1930400" cy="338554"/>
          </a:xfrm>
          <a:prstGeom prst="rect">
            <a:avLst/>
          </a:prstGeom>
          <a:noFill/>
        </p:spPr>
        <p:txBody>
          <a:bodyPr vert="horz" wrap="square" lIns="0" tIns="0" rIns="0" bIns="0" rtlCol="0">
            <a:spAutoFit/>
          </a:bodyPr>
          <a:lstStyle/>
          <a:p>
            <a:r>
              <a:rPr lang="en-US" sz="2200" b="1">
                <a:solidFill>
                  <a:srgbClr val="FFC627"/>
                </a:solidFill>
                <a:latin typeface="Aptos" panose="020B0004020202020204" pitchFamily="34" charset="0"/>
              </a:rPr>
              <a:t>queue + replan</a:t>
            </a:r>
          </a:p>
        </p:txBody>
      </p:sp>
      <p:sp>
        <p:nvSpPr>
          <p:cNvPr id="76" name="TextBox 75">
            <a:extLst>
              <a:ext uri="{FF2B5EF4-FFF2-40B4-BE49-F238E27FC236}">
                <a16:creationId xmlns:a16="http://schemas.microsoft.com/office/drawing/2014/main" id="{3436E32D-BED8-99E9-CAD6-FA1AF9098FE6}"/>
              </a:ext>
            </a:extLst>
          </p:cNvPr>
          <p:cNvSpPr txBox="1"/>
          <p:nvPr/>
        </p:nvSpPr>
        <p:spPr>
          <a:xfrm>
            <a:off x="7924800" y="2438400"/>
            <a:ext cx="1930400" cy="307777"/>
          </a:xfrm>
          <a:prstGeom prst="rect">
            <a:avLst/>
          </a:prstGeom>
          <a:noFill/>
        </p:spPr>
        <p:txBody>
          <a:bodyPr vert="horz" wrap="square" lIns="0" tIns="0" rIns="0" bIns="0" rtlCol="0">
            <a:spAutoFit/>
          </a:bodyPr>
          <a:lstStyle/>
          <a:p>
            <a:r>
              <a:rPr lang="en-US" sz="1000">
                <a:solidFill>
                  <a:srgbClr val="5C5C5C"/>
                </a:solidFill>
                <a:latin typeface="Aptos" panose="020B0004020202020204" pitchFamily="34" charset="0"/>
              </a:rPr>
              <a:t>Actions are popped from a queue and resampled when empty</a:t>
            </a:r>
          </a:p>
        </p:txBody>
      </p:sp>
      <p:sp>
        <p:nvSpPr>
          <p:cNvPr id="77" name="Rectangle: Rounded Corners 76">
            <a:extLst>
              <a:ext uri="{FF2B5EF4-FFF2-40B4-BE49-F238E27FC236}">
                <a16:creationId xmlns:a16="http://schemas.microsoft.com/office/drawing/2014/main" id="{7D6F29E1-C3B8-805A-18BF-3D344221A6E5}"/>
              </a:ext>
            </a:extLst>
          </p:cNvPr>
          <p:cNvSpPr/>
          <p:nvPr/>
        </p:nvSpPr>
        <p:spPr>
          <a:xfrm>
            <a:off x="660400" y="3225800"/>
            <a:ext cx="1930400" cy="1168400"/>
          </a:xfrm>
          <a:prstGeom prst="roundRect">
            <a:avLst/>
          </a:prstGeom>
          <a:solidFill>
            <a:srgbClr val="E8F1F9"/>
          </a:solidFill>
          <a:ln w="13970">
            <a:solidFill>
              <a:srgbClr val="4984C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TextBox 77">
            <a:extLst>
              <a:ext uri="{FF2B5EF4-FFF2-40B4-BE49-F238E27FC236}">
                <a16:creationId xmlns:a16="http://schemas.microsoft.com/office/drawing/2014/main" id="{096B1427-474B-A4A4-80B7-007E4EC6D02C}"/>
              </a:ext>
            </a:extLst>
          </p:cNvPr>
          <p:cNvSpPr txBox="1"/>
          <p:nvPr/>
        </p:nvSpPr>
        <p:spPr>
          <a:xfrm>
            <a:off x="812800" y="3378200"/>
            <a:ext cx="1625600" cy="184666"/>
          </a:xfrm>
          <a:prstGeom prst="rect">
            <a:avLst/>
          </a:prstGeom>
          <a:noFill/>
        </p:spPr>
        <p:txBody>
          <a:bodyPr vert="horz" wrap="square" lIns="0" tIns="0" rIns="0" bIns="0" rtlCol="0">
            <a:spAutoFit/>
          </a:bodyPr>
          <a:lstStyle/>
          <a:p>
            <a:pPr algn="ctr"/>
            <a:r>
              <a:rPr lang="en-US" sz="1200" b="1">
                <a:solidFill>
                  <a:srgbClr val="4984CB"/>
                </a:solidFill>
                <a:latin typeface="Aptos" panose="020B0004020202020204" pitchFamily="34" charset="0"/>
              </a:rPr>
              <a:t>1. Normalize obs</a:t>
            </a:r>
          </a:p>
        </p:txBody>
      </p:sp>
      <p:sp>
        <p:nvSpPr>
          <p:cNvPr id="79" name="TextBox 78">
            <a:extLst>
              <a:ext uri="{FF2B5EF4-FFF2-40B4-BE49-F238E27FC236}">
                <a16:creationId xmlns:a16="http://schemas.microsoft.com/office/drawing/2014/main" id="{6E3DA8D8-479E-991F-EE91-298760396487}"/>
              </a:ext>
            </a:extLst>
          </p:cNvPr>
          <p:cNvSpPr txBox="1"/>
          <p:nvPr/>
        </p:nvSpPr>
        <p:spPr>
          <a:xfrm>
            <a:off x="812800" y="3683000"/>
            <a:ext cx="1625600" cy="307777"/>
          </a:xfrm>
          <a:prstGeom prst="rect">
            <a:avLst/>
          </a:prstGeom>
          <a:noFill/>
        </p:spPr>
        <p:txBody>
          <a:bodyPr vert="horz" wrap="square" lIns="0" tIns="0" rIns="0" bIns="0" rtlCol="0">
            <a:spAutoFit/>
          </a:bodyPr>
          <a:lstStyle/>
          <a:p>
            <a:pPr algn="ctr"/>
            <a:r>
              <a:rPr lang="en-US" sz="1000">
                <a:solidFill>
                  <a:srgbClr val="1C1C1C"/>
                </a:solidFill>
                <a:latin typeface="Aptos" panose="020B0004020202020204" pitchFamily="34" charset="0"/>
              </a:rPr>
              <a:t>use mu_obs and sigma_obs
from checkpoint</a:t>
            </a:r>
          </a:p>
        </p:txBody>
      </p:sp>
      <p:sp>
        <p:nvSpPr>
          <p:cNvPr id="80" name="Arrow: Chevron 79">
            <a:extLst>
              <a:ext uri="{FF2B5EF4-FFF2-40B4-BE49-F238E27FC236}">
                <a16:creationId xmlns:a16="http://schemas.microsoft.com/office/drawing/2014/main" id="{400D3040-AA79-9809-EC88-62830BBF22BF}"/>
              </a:ext>
            </a:extLst>
          </p:cNvPr>
          <p:cNvSpPr/>
          <p:nvPr/>
        </p:nvSpPr>
        <p:spPr>
          <a:xfrm>
            <a:off x="2692400" y="3632200"/>
            <a:ext cx="304800" cy="406400"/>
          </a:xfrm>
          <a:prstGeom prst="chevron">
            <a:avLst/>
          </a:prstGeom>
          <a:solidFill>
            <a:srgbClr val="D2D0C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1" name="Rectangle: Rounded Corners 80">
            <a:extLst>
              <a:ext uri="{FF2B5EF4-FFF2-40B4-BE49-F238E27FC236}">
                <a16:creationId xmlns:a16="http://schemas.microsoft.com/office/drawing/2014/main" id="{8576BD9B-314B-188D-E194-B2FD6EF7A59E}"/>
              </a:ext>
            </a:extLst>
          </p:cNvPr>
          <p:cNvSpPr/>
          <p:nvPr/>
        </p:nvSpPr>
        <p:spPr>
          <a:xfrm>
            <a:off x="3048000" y="3225800"/>
            <a:ext cx="1930400" cy="1168400"/>
          </a:xfrm>
          <a:prstGeom prst="roundRect">
            <a:avLst/>
          </a:prstGeom>
          <a:solidFill>
            <a:srgbClr val="F5E9EE"/>
          </a:solidFill>
          <a:ln w="13970">
            <a:solidFill>
              <a:srgbClr val="8C1D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TextBox 81">
            <a:extLst>
              <a:ext uri="{FF2B5EF4-FFF2-40B4-BE49-F238E27FC236}">
                <a16:creationId xmlns:a16="http://schemas.microsoft.com/office/drawing/2014/main" id="{D39E9EC1-87E0-F6CB-FBCE-570BFC709892}"/>
              </a:ext>
            </a:extLst>
          </p:cNvPr>
          <p:cNvSpPr txBox="1"/>
          <p:nvPr/>
        </p:nvSpPr>
        <p:spPr>
          <a:xfrm>
            <a:off x="3200400" y="3378200"/>
            <a:ext cx="1625600" cy="184666"/>
          </a:xfrm>
          <a:prstGeom prst="rect">
            <a:avLst/>
          </a:prstGeom>
          <a:noFill/>
        </p:spPr>
        <p:txBody>
          <a:bodyPr vert="horz" wrap="square" lIns="0" tIns="0" rIns="0" bIns="0" rtlCol="0">
            <a:spAutoFit/>
          </a:bodyPr>
          <a:lstStyle/>
          <a:p>
            <a:pPr algn="ctr"/>
            <a:r>
              <a:rPr lang="en-US" sz="1200" b="1">
                <a:solidFill>
                  <a:srgbClr val="8C1D40"/>
                </a:solidFill>
                <a:latin typeface="Aptos" panose="020B0004020202020204" pitchFamily="34" charset="0"/>
              </a:rPr>
              <a:t>2. Start from noise</a:t>
            </a:r>
          </a:p>
        </p:txBody>
      </p:sp>
      <p:sp>
        <p:nvSpPr>
          <p:cNvPr id="83" name="TextBox 82">
            <a:extLst>
              <a:ext uri="{FF2B5EF4-FFF2-40B4-BE49-F238E27FC236}">
                <a16:creationId xmlns:a16="http://schemas.microsoft.com/office/drawing/2014/main" id="{6C54ACD1-A470-C1AC-DEA7-B4F64A3421D1}"/>
              </a:ext>
            </a:extLst>
          </p:cNvPr>
          <p:cNvSpPr txBox="1"/>
          <p:nvPr/>
        </p:nvSpPr>
        <p:spPr>
          <a:xfrm>
            <a:off x="3200400" y="3683000"/>
            <a:ext cx="1625600" cy="307777"/>
          </a:xfrm>
          <a:prstGeom prst="rect">
            <a:avLst/>
          </a:prstGeom>
          <a:noFill/>
        </p:spPr>
        <p:txBody>
          <a:bodyPr vert="horz" wrap="square" lIns="0" tIns="0" rIns="0" bIns="0" rtlCol="0">
            <a:spAutoFit/>
          </a:bodyPr>
          <a:lstStyle/>
          <a:p>
            <a:pPr algn="ctr"/>
            <a:r>
              <a:rPr lang="en-US" sz="1000">
                <a:solidFill>
                  <a:srgbClr val="1C1C1C"/>
                </a:solidFill>
                <a:latin typeface="Aptos" panose="020B0004020202020204" pitchFamily="34" charset="0"/>
              </a:rPr>
              <a:t>x_T ~ N(0, I)
for the full action horizon</a:t>
            </a:r>
          </a:p>
        </p:txBody>
      </p:sp>
      <p:sp>
        <p:nvSpPr>
          <p:cNvPr id="84" name="Arrow: Chevron 83">
            <a:extLst>
              <a:ext uri="{FF2B5EF4-FFF2-40B4-BE49-F238E27FC236}">
                <a16:creationId xmlns:a16="http://schemas.microsoft.com/office/drawing/2014/main" id="{67AF0803-00EE-351C-D13A-CBD0F18195DA}"/>
              </a:ext>
            </a:extLst>
          </p:cNvPr>
          <p:cNvSpPr/>
          <p:nvPr/>
        </p:nvSpPr>
        <p:spPr>
          <a:xfrm>
            <a:off x="5080000" y="3632200"/>
            <a:ext cx="304800" cy="406400"/>
          </a:xfrm>
          <a:prstGeom prst="chevron">
            <a:avLst/>
          </a:prstGeom>
          <a:solidFill>
            <a:srgbClr val="D2D0C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5" name="Rectangle: Rounded Corners 84">
            <a:extLst>
              <a:ext uri="{FF2B5EF4-FFF2-40B4-BE49-F238E27FC236}">
                <a16:creationId xmlns:a16="http://schemas.microsoft.com/office/drawing/2014/main" id="{2E1E6F2E-8213-EBF2-03D9-B4E646104104}"/>
              </a:ext>
            </a:extLst>
          </p:cNvPr>
          <p:cNvSpPr/>
          <p:nvPr/>
        </p:nvSpPr>
        <p:spPr>
          <a:xfrm>
            <a:off x="5435600" y="3225800"/>
            <a:ext cx="1930400" cy="1168400"/>
          </a:xfrm>
          <a:prstGeom prst="roundRect">
            <a:avLst/>
          </a:prstGeom>
          <a:solidFill>
            <a:srgbClr val="EBF5EC"/>
          </a:solidFill>
          <a:ln w="13970">
            <a:solidFill>
              <a:srgbClr val="5B99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TextBox 85">
            <a:extLst>
              <a:ext uri="{FF2B5EF4-FFF2-40B4-BE49-F238E27FC236}">
                <a16:creationId xmlns:a16="http://schemas.microsoft.com/office/drawing/2014/main" id="{96743784-B61E-18E2-C045-7C9781ABB38A}"/>
              </a:ext>
            </a:extLst>
          </p:cNvPr>
          <p:cNvSpPr txBox="1"/>
          <p:nvPr/>
        </p:nvSpPr>
        <p:spPr>
          <a:xfrm>
            <a:off x="5588000" y="3378200"/>
            <a:ext cx="1625600" cy="184666"/>
          </a:xfrm>
          <a:prstGeom prst="rect">
            <a:avLst/>
          </a:prstGeom>
          <a:noFill/>
        </p:spPr>
        <p:txBody>
          <a:bodyPr vert="horz" wrap="square" lIns="0" tIns="0" rIns="0" bIns="0" rtlCol="0">
            <a:spAutoFit/>
          </a:bodyPr>
          <a:lstStyle/>
          <a:p>
            <a:pPr algn="ctr"/>
            <a:r>
              <a:rPr lang="en-US" sz="1200" b="1">
                <a:solidFill>
                  <a:srgbClr val="5B995D"/>
                </a:solidFill>
                <a:latin typeface="Aptos" panose="020B0004020202020204" pitchFamily="34" charset="0"/>
              </a:rPr>
              <a:t>3. DDIM reverse steps</a:t>
            </a:r>
          </a:p>
        </p:txBody>
      </p:sp>
      <p:sp>
        <p:nvSpPr>
          <p:cNvPr id="87" name="TextBox 86">
            <a:extLst>
              <a:ext uri="{FF2B5EF4-FFF2-40B4-BE49-F238E27FC236}">
                <a16:creationId xmlns:a16="http://schemas.microsoft.com/office/drawing/2014/main" id="{AB06551A-B070-7C4A-E2B6-DAF763CB86F7}"/>
              </a:ext>
            </a:extLst>
          </p:cNvPr>
          <p:cNvSpPr txBox="1"/>
          <p:nvPr/>
        </p:nvSpPr>
        <p:spPr>
          <a:xfrm>
            <a:off x="5588000" y="3683000"/>
            <a:ext cx="1625600" cy="307777"/>
          </a:xfrm>
          <a:prstGeom prst="rect">
            <a:avLst/>
          </a:prstGeom>
          <a:noFill/>
        </p:spPr>
        <p:txBody>
          <a:bodyPr vert="horz" wrap="square" lIns="0" tIns="0" rIns="0" bIns="0" rtlCol="0">
            <a:spAutoFit/>
          </a:bodyPr>
          <a:lstStyle/>
          <a:p>
            <a:pPr algn="ctr"/>
            <a:r>
              <a:rPr lang="en-US" sz="1000">
                <a:solidFill>
                  <a:srgbClr val="1C1C1C"/>
                </a:solidFill>
                <a:latin typeface="Aptos" panose="020B0004020202020204" pitchFamily="34" charset="0"/>
              </a:rPr>
              <a:t>denoise x_t -&gt; x_0
using the policy prediction</a:t>
            </a:r>
          </a:p>
        </p:txBody>
      </p:sp>
      <p:sp>
        <p:nvSpPr>
          <p:cNvPr id="88" name="Arrow: Chevron 87">
            <a:extLst>
              <a:ext uri="{FF2B5EF4-FFF2-40B4-BE49-F238E27FC236}">
                <a16:creationId xmlns:a16="http://schemas.microsoft.com/office/drawing/2014/main" id="{68131DD6-C592-2704-4B72-88990DFDA36C}"/>
              </a:ext>
            </a:extLst>
          </p:cNvPr>
          <p:cNvSpPr/>
          <p:nvPr/>
        </p:nvSpPr>
        <p:spPr>
          <a:xfrm>
            <a:off x="7467600" y="3632200"/>
            <a:ext cx="304800" cy="406400"/>
          </a:xfrm>
          <a:prstGeom prst="chevron">
            <a:avLst/>
          </a:prstGeom>
          <a:solidFill>
            <a:srgbClr val="D2D0C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9" name="Rectangle: Rounded Corners 88">
            <a:extLst>
              <a:ext uri="{FF2B5EF4-FFF2-40B4-BE49-F238E27FC236}">
                <a16:creationId xmlns:a16="http://schemas.microsoft.com/office/drawing/2014/main" id="{046E53E6-AB7F-C42B-B63D-874DE6C44A24}"/>
              </a:ext>
            </a:extLst>
          </p:cNvPr>
          <p:cNvSpPr/>
          <p:nvPr/>
        </p:nvSpPr>
        <p:spPr>
          <a:xfrm>
            <a:off x="7823200" y="3225800"/>
            <a:ext cx="1930400" cy="1168400"/>
          </a:xfrm>
          <a:prstGeom prst="roundRect">
            <a:avLst/>
          </a:prstGeom>
          <a:solidFill>
            <a:srgbClr val="F6EEDB"/>
          </a:solidFill>
          <a:ln w="13970">
            <a:solidFill>
              <a:srgbClr val="FFC62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TextBox 89">
            <a:extLst>
              <a:ext uri="{FF2B5EF4-FFF2-40B4-BE49-F238E27FC236}">
                <a16:creationId xmlns:a16="http://schemas.microsoft.com/office/drawing/2014/main" id="{F245A41E-115E-8CA3-DF97-8703D839C388}"/>
              </a:ext>
            </a:extLst>
          </p:cNvPr>
          <p:cNvSpPr txBox="1"/>
          <p:nvPr/>
        </p:nvSpPr>
        <p:spPr>
          <a:xfrm>
            <a:off x="7975600" y="3378200"/>
            <a:ext cx="1625600" cy="184666"/>
          </a:xfrm>
          <a:prstGeom prst="rect">
            <a:avLst/>
          </a:prstGeom>
          <a:noFill/>
        </p:spPr>
        <p:txBody>
          <a:bodyPr vert="horz" wrap="square" lIns="0" tIns="0" rIns="0" bIns="0" rtlCol="0">
            <a:spAutoFit/>
          </a:bodyPr>
          <a:lstStyle/>
          <a:p>
            <a:pPr algn="ctr"/>
            <a:r>
              <a:rPr lang="en-US" sz="1200" b="1">
                <a:solidFill>
                  <a:srgbClr val="FFC627"/>
                </a:solidFill>
                <a:latin typeface="Aptos" panose="020B0004020202020204" pitchFamily="34" charset="0"/>
              </a:rPr>
              <a:t>4. Denormalize</a:t>
            </a:r>
          </a:p>
        </p:txBody>
      </p:sp>
      <p:sp>
        <p:nvSpPr>
          <p:cNvPr id="91" name="TextBox 90">
            <a:extLst>
              <a:ext uri="{FF2B5EF4-FFF2-40B4-BE49-F238E27FC236}">
                <a16:creationId xmlns:a16="http://schemas.microsoft.com/office/drawing/2014/main" id="{81E4E3B0-C7CC-1CB3-9BD9-0325421307B7}"/>
              </a:ext>
            </a:extLst>
          </p:cNvPr>
          <p:cNvSpPr txBox="1"/>
          <p:nvPr/>
        </p:nvSpPr>
        <p:spPr>
          <a:xfrm>
            <a:off x="7975600" y="3683000"/>
            <a:ext cx="1625600" cy="307777"/>
          </a:xfrm>
          <a:prstGeom prst="rect">
            <a:avLst/>
          </a:prstGeom>
          <a:noFill/>
        </p:spPr>
        <p:txBody>
          <a:bodyPr vert="horz" wrap="square" lIns="0" tIns="0" rIns="0" bIns="0" rtlCol="0">
            <a:spAutoFit/>
          </a:bodyPr>
          <a:lstStyle/>
          <a:p>
            <a:pPr algn="ctr"/>
            <a:r>
              <a:rPr lang="en-US" sz="1000">
                <a:solidFill>
                  <a:srgbClr val="1C1C1C"/>
                </a:solidFill>
                <a:latin typeface="Aptos" panose="020B0004020202020204" pitchFamily="34" charset="0"/>
              </a:rPr>
              <a:t>action = action_norm * sigma_act + mu_act</a:t>
            </a:r>
          </a:p>
        </p:txBody>
      </p:sp>
      <p:sp>
        <p:nvSpPr>
          <p:cNvPr id="92" name="Arrow: Chevron 91">
            <a:extLst>
              <a:ext uri="{FF2B5EF4-FFF2-40B4-BE49-F238E27FC236}">
                <a16:creationId xmlns:a16="http://schemas.microsoft.com/office/drawing/2014/main" id="{DE792C71-DFAD-442C-F40E-A99E41C458BE}"/>
              </a:ext>
            </a:extLst>
          </p:cNvPr>
          <p:cNvSpPr/>
          <p:nvPr/>
        </p:nvSpPr>
        <p:spPr>
          <a:xfrm>
            <a:off x="9855200" y="3632200"/>
            <a:ext cx="304800" cy="406400"/>
          </a:xfrm>
          <a:prstGeom prst="chevron">
            <a:avLst/>
          </a:prstGeom>
          <a:solidFill>
            <a:srgbClr val="D2D0C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3" name="Rectangle: Rounded Corners 92">
            <a:extLst>
              <a:ext uri="{FF2B5EF4-FFF2-40B4-BE49-F238E27FC236}">
                <a16:creationId xmlns:a16="http://schemas.microsoft.com/office/drawing/2014/main" id="{C2645526-060A-A07D-5C45-21728E6A0F0E}"/>
              </a:ext>
            </a:extLst>
          </p:cNvPr>
          <p:cNvSpPr/>
          <p:nvPr/>
        </p:nvSpPr>
        <p:spPr>
          <a:xfrm>
            <a:off x="10210800" y="3225800"/>
            <a:ext cx="1473200" cy="1168400"/>
          </a:xfrm>
          <a:prstGeom prst="roundRect">
            <a:avLst/>
          </a:prstGeom>
          <a:solidFill>
            <a:srgbClr val="FFFFFF"/>
          </a:solidFill>
          <a:ln w="13970">
            <a:solidFill>
              <a:srgbClr val="2E86A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TextBox 93">
            <a:extLst>
              <a:ext uri="{FF2B5EF4-FFF2-40B4-BE49-F238E27FC236}">
                <a16:creationId xmlns:a16="http://schemas.microsoft.com/office/drawing/2014/main" id="{CF66CB54-34F2-AFEA-E695-42631E026272}"/>
              </a:ext>
            </a:extLst>
          </p:cNvPr>
          <p:cNvSpPr txBox="1"/>
          <p:nvPr/>
        </p:nvSpPr>
        <p:spPr>
          <a:xfrm>
            <a:off x="10363200" y="3378200"/>
            <a:ext cx="1168400" cy="184666"/>
          </a:xfrm>
          <a:prstGeom prst="rect">
            <a:avLst/>
          </a:prstGeom>
          <a:noFill/>
        </p:spPr>
        <p:txBody>
          <a:bodyPr vert="horz" wrap="square" lIns="0" tIns="0" rIns="0" bIns="0" rtlCol="0">
            <a:spAutoFit/>
          </a:bodyPr>
          <a:lstStyle/>
          <a:p>
            <a:pPr algn="ctr"/>
            <a:r>
              <a:rPr lang="en-US" sz="1200" b="1">
                <a:solidFill>
                  <a:srgbClr val="2E86AB"/>
                </a:solidFill>
                <a:latin typeface="Aptos" panose="020B0004020202020204" pitchFamily="34" charset="0"/>
              </a:rPr>
              <a:t>5. Execute</a:t>
            </a:r>
          </a:p>
        </p:txBody>
      </p:sp>
      <p:sp>
        <p:nvSpPr>
          <p:cNvPr id="95" name="TextBox 94">
            <a:extLst>
              <a:ext uri="{FF2B5EF4-FFF2-40B4-BE49-F238E27FC236}">
                <a16:creationId xmlns:a16="http://schemas.microsoft.com/office/drawing/2014/main" id="{A92F807F-40BF-A896-0F75-6C05029FB6A8}"/>
              </a:ext>
            </a:extLst>
          </p:cNvPr>
          <p:cNvSpPr txBox="1"/>
          <p:nvPr/>
        </p:nvSpPr>
        <p:spPr>
          <a:xfrm>
            <a:off x="10363200" y="3683000"/>
            <a:ext cx="1168400" cy="307777"/>
          </a:xfrm>
          <a:prstGeom prst="rect">
            <a:avLst/>
          </a:prstGeom>
          <a:noFill/>
        </p:spPr>
        <p:txBody>
          <a:bodyPr vert="horz" wrap="square" lIns="0" tIns="0" rIns="0" bIns="0" rtlCol="0">
            <a:spAutoFit/>
          </a:bodyPr>
          <a:lstStyle/>
          <a:p>
            <a:pPr algn="ctr"/>
            <a:r>
              <a:rPr lang="en-US" sz="1000">
                <a:solidFill>
                  <a:srgbClr val="1C1C1C"/>
                </a:solidFill>
                <a:latin typeface="Aptos" panose="020B0004020202020204" pitchFamily="34" charset="0"/>
              </a:rPr>
              <a:t>push to queue
step env</a:t>
            </a:r>
          </a:p>
        </p:txBody>
      </p:sp>
      <p:sp>
        <p:nvSpPr>
          <p:cNvPr id="96" name="Rectangle: Rounded Corners 95">
            <a:extLst>
              <a:ext uri="{FF2B5EF4-FFF2-40B4-BE49-F238E27FC236}">
                <a16:creationId xmlns:a16="http://schemas.microsoft.com/office/drawing/2014/main" id="{AC5E439A-1A0F-5AF7-C898-2D0BE7AF9CC6}"/>
              </a:ext>
            </a:extLst>
          </p:cNvPr>
          <p:cNvSpPr/>
          <p:nvPr/>
        </p:nvSpPr>
        <p:spPr>
          <a:xfrm>
            <a:off x="508000" y="4648200"/>
            <a:ext cx="5334000" cy="1854200"/>
          </a:xfrm>
          <a:prstGeom prst="roundRect">
            <a:avLst/>
          </a:prstGeom>
          <a:solidFill>
            <a:srgbClr val="FFFFFF"/>
          </a:solidFill>
          <a:ln w="13970">
            <a:solidFill>
              <a:srgbClr val="8C1D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TextBox 96">
            <a:extLst>
              <a:ext uri="{FF2B5EF4-FFF2-40B4-BE49-F238E27FC236}">
                <a16:creationId xmlns:a16="http://schemas.microsoft.com/office/drawing/2014/main" id="{F6961AD2-1CFB-4596-3993-30B9C58A7C70}"/>
              </a:ext>
            </a:extLst>
          </p:cNvPr>
          <p:cNvSpPr txBox="1"/>
          <p:nvPr/>
        </p:nvSpPr>
        <p:spPr>
          <a:xfrm>
            <a:off x="711200" y="4826000"/>
            <a:ext cx="4927600" cy="200055"/>
          </a:xfrm>
          <a:prstGeom prst="rect">
            <a:avLst/>
          </a:prstGeom>
          <a:noFill/>
        </p:spPr>
        <p:txBody>
          <a:bodyPr vert="horz" wrap="square" lIns="0" tIns="0" rIns="0" bIns="0" rtlCol="0">
            <a:spAutoFit/>
          </a:bodyPr>
          <a:lstStyle/>
          <a:p>
            <a:r>
              <a:rPr lang="en-US" sz="1300" b="1">
                <a:solidFill>
                  <a:srgbClr val="8C1D40"/>
                </a:solidFill>
                <a:latin typeface="Aptos" panose="020B0004020202020204" pitchFamily="34" charset="0"/>
              </a:rPr>
              <a:t>Simple sampling formulas</a:t>
            </a:r>
          </a:p>
        </p:txBody>
      </p:sp>
      <p:sp>
        <p:nvSpPr>
          <p:cNvPr id="99" name="Rectangle: Rounded Corners 98">
            <a:extLst>
              <a:ext uri="{FF2B5EF4-FFF2-40B4-BE49-F238E27FC236}">
                <a16:creationId xmlns:a16="http://schemas.microsoft.com/office/drawing/2014/main" id="{FFB539C9-6364-A02A-A292-D33619A786A8}"/>
              </a:ext>
            </a:extLst>
          </p:cNvPr>
          <p:cNvSpPr/>
          <p:nvPr/>
        </p:nvSpPr>
        <p:spPr>
          <a:xfrm>
            <a:off x="6096000" y="4648200"/>
            <a:ext cx="5588000" cy="1854200"/>
          </a:xfrm>
          <a:prstGeom prst="roundRect">
            <a:avLst/>
          </a:prstGeom>
          <a:solidFill>
            <a:srgbClr val="E8F1F9"/>
          </a:solidFill>
          <a:ln w="13970">
            <a:solidFill>
              <a:srgbClr val="4984C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TextBox 99">
            <a:extLst>
              <a:ext uri="{FF2B5EF4-FFF2-40B4-BE49-F238E27FC236}">
                <a16:creationId xmlns:a16="http://schemas.microsoft.com/office/drawing/2014/main" id="{A082F6AB-FEC7-6A1A-FF44-88B59D5F4528}"/>
              </a:ext>
            </a:extLst>
          </p:cNvPr>
          <p:cNvSpPr txBox="1"/>
          <p:nvPr/>
        </p:nvSpPr>
        <p:spPr>
          <a:xfrm>
            <a:off x="6299200" y="4826000"/>
            <a:ext cx="5181600" cy="200055"/>
          </a:xfrm>
          <a:prstGeom prst="rect">
            <a:avLst/>
          </a:prstGeom>
          <a:noFill/>
        </p:spPr>
        <p:txBody>
          <a:bodyPr vert="horz" wrap="square" lIns="0" tIns="0" rIns="0" bIns="0" rtlCol="0">
            <a:spAutoFit/>
          </a:bodyPr>
          <a:lstStyle/>
          <a:p>
            <a:r>
              <a:rPr lang="en-US" sz="1300" b="1">
                <a:solidFill>
                  <a:srgbClr val="4984CB"/>
                </a:solidFill>
                <a:latin typeface="Aptos" panose="020B0004020202020204" pitchFamily="34" charset="0"/>
              </a:rPr>
              <a:t>Simple thesis explanation</a:t>
            </a:r>
          </a:p>
        </p:txBody>
      </p:sp>
      <p:sp>
        <p:nvSpPr>
          <p:cNvPr id="101" name="TextBox 100">
            <a:extLst>
              <a:ext uri="{FF2B5EF4-FFF2-40B4-BE49-F238E27FC236}">
                <a16:creationId xmlns:a16="http://schemas.microsoft.com/office/drawing/2014/main" id="{A10D53DD-8DAA-EF31-FB26-313E3F32652A}"/>
              </a:ext>
            </a:extLst>
          </p:cNvPr>
          <p:cNvSpPr txBox="1"/>
          <p:nvPr/>
        </p:nvSpPr>
        <p:spPr>
          <a:xfrm>
            <a:off x="6299200" y="5181600"/>
            <a:ext cx="5181600" cy="677108"/>
          </a:xfrm>
          <a:prstGeom prst="rect">
            <a:avLst/>
          </a:prstGeom>
          <a:noFill/>
        </p:spPr>
        <p:txBody>
          <a:bodyPr vert="horz" wrap="square" lIns="0" tIns="0" rIns="0" bIns="0" rtlCol="0">
            <a:spAutoFit/>
          </a:bodyPr>
          <a:lstStyle/>
          <a:p>
            <a:r>
              <a:rPr lang="en-US" sz="1100">
                <a:solidFill>
                  <a:srgbClr val="1C1C1C"/>
                </a:solidFill>
                <a:latin typeface="Aptos" panose="020B0004020202020204" pitchFamily="34" charset="0"/>
              </a:rPr>
              <a:t>At test time, the policy works like a planner. It starts from random noise, gradually denoises a future action sequence conditioned on the current observation, and then the robot executes that sequence. When the queue is empty, the script samples a fresh plan from the latest state.</a:t>
            </a:r>
          </a:p>
        </p:txBody>
      </p:sp>
      <p:sp>
        <p:nvSpPr>
          <p:cNvPr id="2" name="TextBox 1">
            <a:extLst>
              <a:ext uri="{FF2B5EF4-FFF2-40B4-BE49-F238E27FC236}">
                <a16:creationId xmlns:a16="http://schemas.microsoft.com/office/drawing/2014/main" id="{D32A3047-7674-89A0-E454-436F68B2AB1D}"/>
              </a:ext>
            </a:extLst>
          </p:cNvPr>
          <p:cNvSpPr txBox="1"/>
          <p:nvPr/>
        </p:nvSpPr>
        <p:spPr>
          <a:xfrm>
            <a:off x="736600" y="5181600"/>
            <a:ext cx="4876800" cy="830997"/>
          </a:xfrm>
          <a:prstGeom prst="rect">
            <a:avLst/>
          </a:prstGeom>
          <a:noFill/>
        </p:spPr>
        <p:txBody>
          <a:bodyPr vert="horz" wrap="square" lIns="0" tIns="0" rIns="0" bIns="0" rtlCol="0">
            <a:spAutoFit/>
          </a:bodyPr>
          <a:lstStyle/>
          <a:p>
            <a:r>
              <a:rPr lang="en-US">
                <a:solidFill>
                  <a:srgbClr val="1C1C1C"/>
                </a:solidFill>
                <a:latin typeface="Cambria Math" panose="02040503050406030204" pitchFamily="18" charset="0"/>
              </a:rPr>
              <a:t>x̂₀ = (xₜ − √(1 − </a:t>
            </a:r>
            <a:r>
              <a:rPr lang="el-GR">
                <a:solidFill>
                  <a:srgbClr val="1C1C1C"/>
                </a:solidFill>
                <a:latin typeface="Cambria Math" panose="02040503050406030204" pitchFamily="18" charset="0"/>
              </a:rPr>
              <a:t>ᾱ</a:t>
            </a:r>
            <a:r>
              <a:rPr lang="en-US">
                <a:solidFill>
                  <a:srgbClr val="1C1C1C"/>
                </a:solidFill>
                <a:latin typeface="Cambria Math" panose="02040503050406030204" pitchFamily="18" charset="0"/>
              </a:rPr>
              <a:t>ₜ) </a:t>
            </a:r>
            <a:r>
              <a:rPr lang="el-GR">
                <a:solidFill>
                  <a:srgbClr val="1C1C1C"/>
                </a:solidFill>
                <a:latin typeface="Cambria Math" panose="02040503050406030204" pitchFamily="18" charset="0"/>
              </a:rPr>
              <a:t>ε̂) / √(ᾱ</a:t>
            </a:r>
            <a:r>
              <a:rPr lang="en-US">
                <a:solidFill>
                  <a:srgbClr val="1C1C1C"/>
                </a:solidFill>
                <a:latin typeface="Cambria Math" panose="02040503050406030204" pitchFamily="18" charset="0"/>
              </a:rPr>
              <a:t>ₜ)
xₜ₋₁ = √(</a:t>
            </a:r>
            <a:r>
              <a:rPr lang="el-GR">
                <a:solidFill>
                  <a:srgbClr val="1C1C1C"/>
                </a:solidFill>
                <a:latin typeface="Cambria Math" panose="02040503050406030204" pitchFamily="18" charset="0"/>
              </a:rPr>
              <a:t>ᾱ</a:t>
            </a:r>
            <a:r>
              <a:rPr lang="en-US">
                <a:solidFill>
                  <a:srgbClr val="1C1C1C"/>
                </a:solidFill>
                <a:latin typeface="Cambria Math" panose="02040503050406030204" pitchFamily="18" charset="0"/>
              </a:rPr>
              <a:t>ₜ₋₁) x̂₀ + √(1 − </a:t>
            </a:r>
            <a:r>
              <a:rPr lang="el-GR">
                <a:solidFill>
                  <a:srgbClr val="1C1C1C"/>
                </a:solidFill>
                <a:latin typeface="Cambria Math" panose="02040503050406030204" pitchFamily="18" charset="0"/>
              </a:rPr>
              <a:t>ᾱ</a:t>
            </a:r>
            <a:r>
              <a:rPr lang="en-US">
                <a:solidFill>
                  <a:srgbClr val="1C1C1C"/>
                </a:solidFill>
                <a:latin typeface="Cambria Math" panose="02040503050406030204" pitchFamily="18" charset="0"/>
              </a:rPr>
              <a:t>ₜ₋₁) </a:t>
            </a:r>
            <a:r>
              <a:rPr lang="el-GR">
                <a:solidFill>
                  <a:srgbClr val="1C1C1C"/>
                </a:solidFill>
                <a:latin typeface="Cambria Math" panose="02040503050406030204" pitchFamily="18" charset="0"/>
              </a:rPr>
              <a:t>ε̂</a:t>
            </a:r>
            <a:endParaRPr lang="en-US">
              <a:solidFill>
                <a:srgbClr val="1C1C1C"/>
              </a:solidFill>
              <a:latin typeface="Cambria Math" panose="02040503050406030204" pitchFamily="18" charset="0"/>
            </a:endParaRPr>
          </a:p>
        </p:txBody>
      </p:sp>
    </p:spTree>
    <p:extLst>
      <p:ext uri="{BB962C8B-B14F-4D97-AF65-F5344CB8AC3E}">
        <p14:creationId xmlns:p14="http://schemas.microsoft.com/office/powerpoint/2010/main" val="241925105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Rectangle 38">
            <a:extLst>
              <a:ext uri="{FF2B5EF4-FFF2-40B4-BE49-F238E27FC236}">
                <a16:creationId xmlns:a16="http://schemas.microsoft.com/office/drawing/2014/main" id="{5546626D-5C41-2C03-EC22-871C1FEF499D}"/>
              </a:ext>
            </a:extLst>
          </p:cNvPr>
          <p:cNvSpPr/>
          <p:nvPr/>
        </p:nvSpPr>
        <p:spPr>
          <a:xfrm>
            <a:off x="0" y="0"/>
            <a:ext cx="12192000" cy="6858000"/>
          </a:xfrm>
          <a:prstGeom prst="rect">
            <a:avLst/>
          </a:prstGeom>
          <a:solidFill>
            <a:srgbClr val="F8F6F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a:extLst>
              <a:ext uri="{FF2B5EF4-FFF2-40B4-BE49-F238E27FC236}">
                <a16:creationId xmlns:a16="http://schemas.microsoft.com/office/drawing/2014/main" id="{7BDAC83B-BD65-D48F-667E-BEA85E8DC8EC}"/>
              </a:ext>
            </a:extLst>
          </p:cNvPr>
          <p:cNvSpPr txBox="1"/>
          <p:nvPr/>
        </p:nvSpPr>
        <p:spPr>
          <a:xfrm>
            <a:off x="508000" y="355600"/>
            <a:ext cx="9906000" cy="430887"/>
          </a:xfrm>
          <a:prstGeom prst="rect">
            <a:avLst/>
          </a:prstGeom>
          <a:noFill/>
        </p:spPr>
        <p:txBody>
          <a:bodyPr vert="horz" wrap="square" lIns="0" tIns="0" rIns="0" bIns="0" rtlCol="0">
            <a:spAutoFit/>
          </a:bodyPr>
          <a:lstStyle/>
          <a:p>
            <a:r>
              <a:rPr lang="en-US" sz="2800" b="1">
                <a:solidFill>
                  <a:srgbClr val="1C1C1C"/>
                </a:solidFill>
                <a:latin typeface="Aptos" panose="020B0004020202020204" pitchFamily="34" charset="0"/>
              </a:rPr>
              <a:t>Evaluation With Videos</a:t>
            </a:r>
          </a:p>
        </p:txBody>
      </p:sp>
      <p:sp>
        <p:nvSpPr>
          <p:cNvPr id="41" name="TextBox 40">
            <a:extLst>
              <a:ext uri="{FF2B5EF4-FFF2-40B4-BE49-F238E27FC236}">
                <a16:creationId xmlns:a16="http://schemas.microsoft.com/office/drawing/2014/main" id="{2312E586-32F9-81F8-9EEA-0830035E3B79}"/>
              </a:ext>
            </a:extLst>
          </p:cNvPr>
          <p:cNvSpPr txBox="1"/>
          <p:nvPr/>
        </p:nvSpPr>
        <p:spPr>
          <a:xfrm>
            <a:off x="508000" y="800100"/>
            <a:ext cx="10668000" cy="169277"/>
          </a:xfrm>
          <a:prstGeom prst="rect">
            <a:avLst/>
          </a:prstGeom>
          <a:noFill/>
        </p:spPr>
        <p:txBody>
          <a:bodyPr vert="horz" wrap="square" lIns="0" tIns="0" rIns="0" bIns="0" rtlCol="0">
            <a:spAutoFit/>
          </a:bodyPr>
          <a:lstStyle/>
          <a:p>
            <a:r>
              <a:rPr lang="en-US" sz="1100">
                <a:solidFill>
                  <a:srgbClr val="5C5C5C"/>
                </a:solidFill>
                <a:latin typeface="Aptos" panose="020B0004020202020204" pitchFamily="34" charset="0"/>
              </a:rPr>
              <a:t>The evaluation script rolls out the learned policy in TwoBlockPickEnv, records all episodes, and saves both quantitative and qualitative outputs</a:t>
            </a:r>
          </a:p>
        </p:txBody>
      </p:sp>
      <p:sp>
        <p:nvSpPr>
          <p:cNvPr id="42" name="Rectangle 41">
            <a:extLst>
              <a:ext uri="{FF2B5EF4-FFF2-40B4-BE49-F238E27FC236}">
                <a16:creationId xmlns:a16="http://schemas.microsoft.com/office/drawing/2014/main" id="{F74B3BA1-5F78-0039-391B-C33B42752A9E}"/>
              </a:ext>
            </a:extLst>
          </p:cNvPr>
          <p:cNvSpPr/>
          <p:nvPr/>
        </p:nvSpPr>
        <p:spPr>
          <a:xfrm>
            <a:off x="508000" y="1168400"/>
            <a:ext cx="11176000" cy="50800"/>
          </a:xfrm>
          <a:prstGeom prst="rect">
            <a:avLst/>
          </a:prstGeom>
          <a:solidFill>
            <a:srgbClr val="FFC62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a:extLst>
              <a:ext uri="{FF2B5EF4-FFF2-40B4-BE49-F238E27FC236}">
                <a16:creationId xmlns:a16="http://schemas.microsoft.com/office/drawing/2014/main" id="{636C344C-C9AF-DE6E-6764-E44732F3B7CC}"/>
              </a:ext>
            </a:extLst>
          </p:cNvPr>
          <p:cNvSpPr txBox="1"/>
          <p:nvPr/>
        </p:nvSpPr>
        <p:spPr>
          <a:xfrm>
            <a:off x="11430000" y="381000"/>
            <a:ext cx="254000" cy="153888"/>
          </a:xfrm>
          <a:prstGeom prst="rect">
            <a:avLst/>
          </a:prstGeom>
          <a:noFill/>
        </p:spPr>
        <p:txBody>
          <a:bodyPr vert="horz" wrap="square" lIns="0" tIns="0" rIns="0" bIns="0" rtlCol="0">
            <a:spAutoFit/>
          </a:bodyPr>
          <a:lstStyle/>
          <a:p>
            <a:pPr algn="r"/>
            <a:r>
              <a:rPr lang="en-US" sz="1000">
                <a:solidFill>
                  <a:srgbClr val="5C5C5C"/>
                </a:solidFill>
                <a:latin typeface="Aptos" panose="020B0004020202020204" pitchFamily="34" charset="0"/>
              </a:rPr>
              <a:t>38</a:t>
            </a:r>
          </a:p>
        </p:txBody>
      </p:sp>
      <p:sp>
        <p:nvSpPr>
          <p:cNvPr id="44" name="Rectangle: Rounded Corners 43">
            <a:extLst>
              <a:ext uri="{FF2B5EF4-FFF2-40B4-BE49-F238E27FC236}">
                <a16:creationId xmlns:a16="http://schemas.microsoft.com/office/drawing/2014/main" id="{568612C1-2BFC-92C2-2C38-262BCC8D6907}"/>
              </a:ext>
            </a:extLst>
          </p:cNvPr>
          <p:cNvSpPr/>
          <p:nvPr/>
        </p:nvSpPr>
        <p:spPr>
          <a:xfrm>
            <a:off x="508000" y="1498600"/>
            <a:ext cx="2286000" cy="1346200"/>
          </a:xfrm>
          <a:prstGeom prst="roundRect">
            <a:avLst/>
          </a:prstGeom>
          <a:solidFill>
            <a:srgbClr val="FFFFFF"/>
          </a:solidFill>
          <a:ln w="12700">
            <a:solidFill>
              <a:srgbClr val="D2D0C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6F93F043-7FD4-ABAD-9017-A9EA031D2167}"/>
              </a:ext>
            </a:extLst>
          </p:cNvPr>
          <p:cNvSpPr/>
          <p:nvPr/>
        </p:nvSpPr>
        <p:spPr>
          <a:xfrm>
            <a:off x="685800" y="1651000"/>
            <a:ext cx="1930400" cy="50800"/>
          </a:xfrm>
          <a:prstGeom prst="rect">
            <a:avLst/>
          </a:prstGeom>
          <a:solidFill>
            <a:srgbClr val="8C1D4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Box 45">
            <a:extLst>
              <a:ext uri="{FF2B5EF4-FFF2-40B4-BE49-F238E27FC236}">
                <a16:creationId xmlns:a16="http://schemas.microsoft.com/office/drawing/2014/main" id="{21A75C6F-48DE-4447-2E39-88CB5A5FA740}"/>
              </a:ext>
            </a:extLst>
          </p:cNvPr>
          <p:cNvSpPr txBox="1"/>
          <p:nvPr/>
        </p:nvSpPr>
        <p:spPr>
          <a:xfrm>
            <a:off x="685800" y="1752600"/>
            <a:ext cx="1930400" cy="153888"/>
          </a:xfrm>
          <a:prstGeom prst="rect">
            <a:avLst/>
          </a:prstGeom>
          <a:noFill/>
        </p:spPr>
        <p:txBody>
          <a:bodyPr vert="horz" wrap="square" lIns="0" tIns="0" rIns="0" bIns="0" rtlCol="0">
            <a:spAutoFit/>
          </a:bodyPr>
          <a:lstStyle/>
          <a:p>
            <a:r>
              <a:rPr lang="en-US" sz="1000" b="1">
                <a:solidFill>
                  <a:srgbClr val="5C5C5C"/>
                </a:solidFill>
                <a:latin typeface="Aptos" panose="020B0004020202020204" pitchFamily="34" charset="0"/>
              </a:rPr>
              <a:t>Environment</a:t>
            </a:r>
          </a:p>
        </p:txBody>
      </p:sp>
      <p:sp>
        <p:nvSpPr>
          <p:cNvPr id="47" name="TextBox 46">
            <a:extLst>
              <a:ext uri="{FF2B5EF4-FFF2-40B4-BE49-F238E27FC236}">
                <a16:creationId xmlns:a16="http://schemas.microsoft.com/office/drawing/2014/main" id="{FFC6811B-59E2-D16F-E3BC-E997C90A84F4}"/>
              </a:ext>
            </a:extLst>
          </p:cNvPr>
          <p:cNvSpPr txBox="1"/>
          <p:nvPr/>
        </p:nvSpPr>
        <p:spPr>
          <a:xfrm>
            <a:off x="685800" y="2032000"/>
            <a:ext cx="1930400" cy="338554"/>
          </a:xfrm>
          <a:prstGeom prst="rect">
            <a:avLst/>
          </a:prstGeom>
          <a:noFill/>
        </p:spPr>
        <p:txBody>
          <a:bodyPr vert="horz" wrap="square" lIns="0" tIns="0" rIns="0" bIns="0" rtlCol="0">
            <a:spAutoFit/>
          </a:bodyPr>
          <a:lstStyle/>
          <a:p>
            <a:r>
              <a:rPr lang="en-US" sz="2200" b="1">
                <a:solidFill>
                  <a:srgbClr val="8C1D40"/>
                </a:solidFill>
                <a:latin typeface="Aptos" panose="020B0004020202020204" pitchFamily="34" charset="0"/>
              </a:rPr>
              <a:t>400-step eval</a:t>
            </a:r>
          </a:p>
        </p:txBody>
      </p:sp>
      <p:sp>
        <p:nvSpPr>
          <p:cNvPr id="48" name="TextBox 47">
            <a:extLst>
              <a:ext uri="{FF2B5EF4-FFF2-40B4-BE49-F238E27FC236}">
                <a16:creationId xmlns:a16="http://schemas.microsoft.com/office/drawing/2014/main" id="{16FAFCE0-6DA4-8AEE-0B6F-ED300D4B0EE1}"/>
              </a:ext>
            </a:extLst>
          </p:cNvPr>
          <p:cNvSpPr txBox="1"/>
          <p:nvPr/>
        </p:nvSpPr>
        <p:spPr>
          <a:xfrm>
            <a:off x="685800" y="2438400"/>
            <a:ext cx="1930400" cy="461665"/>
          </a:xfrm>
          <a:prstGeom prst="rect">
            <a:avLst/>
          </a:prstGeom>
          <a:noFill/>
        </p:spPr>
        <p:txBody>
          <a:bodyPr vert="horz" wrap="square" lIns="0" tIns="0" rIns="0" bIns="0" rtlCol="0">
            <a:spAutoFit/>
          </a:bodyPr>
          <a:lstStyle/>
          <a:p>
            <a:r>
              <a:rPr lang="en-US" sz="1000">
                <a:solidFill>
                  <a:srgbClr val="5C5C5C"/>
                </a:solidFill>
                <a:latin typeface="Aptos" panose="020B0004020202020204" pitchFamily="34" charset="0"/>
              </a:rPr>
              <a:t>TwoBlockPickEnv with episode_length = 400 and cube_jitter = 0.0</a:t>
            </a:r>
          </a:p>
        </p:txBody>
      </p:sp>
      <p:sp>
        <p:nvSpPr>
          <p:cNvPr id="49" name="Rectangle: Rounded Corners 48">
            <a:extLst>
              <a:ext uri="{FF2B5EF4-FFF2-40B4-BE49-F238E27FC236}">
                <a16:creationId xmlns:a16="http://schemas.microsoft.com/office/drawing/2014/main" id="{95777C8B-A44F-2831-8894-F9B531ED0FEC}"/>
              </a:ext>
            </a:extLst>
          </p:cNvPr>
          <p:cNvSpPr/>
          <p:nvPr/>
        </p:nvSpPr>
        <p:spPr>
          <a:xfrm>
            <a:off x="2921000" y="1498600"/>
            <a:ext cx="2286000" cy="1346200"/>
          </a:xfrm>
          <a:prstGeom prst="roundRect">
            <a:avLst/>
          </a:prstGeom>
          <a:solidFill>
            <a:srgbClr val="FFFFFF"/>
          </a:solidFill>
          <a:ln w="12700">
            <a:solidFill>
              <a:srgbClr val="D2D0C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AB03DA72-8132-EE3E-183C-994E87136D0B}"/>
              </a:ext>
            </a:extLst>
          </p:cNvPr>
          <p:cNvSpPr/>
          <p:nvPr/>
        </p:nvSpPr>
        <p:spPr>
          <a:xfrm>
            <a:off x="3098800" y="1651000"/>
            <a:ext cx="1930400" cy="50800"/>
          </a:xfrm>
          <a:prstGeom prst="rect">
            <a:avLst/>
          </a:prstGeom>
          <a:solidFill>
            <a:srgbClr val="4984C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TextBox 50">
            <a:extLst>
              <a:ext uri="{FF2B5EF4-FFF2-40B4-BE49-F238E27FC236}">
                <a16:creationId xmlns:a16="http://schemas.microsoft.com/office/drawing/2014/main" id="{0B8AAAE1-09AD-DD9B-D247-43D1CC1FA789}"/>
              </a:ext>
            </a:extLst>
          </p:cNvPr>
          <p:cNvSpPr txBox="1"/>
          <p:nvPr/>
        </p:nvSpPr>
        <p:spPr>
          <a:xfrm>
            <a:off x="3098800" y="1752600"/>
            <a:ext cx="1930400" cy="153888"/>
          </a:xfrm>
          <a:prstGeom prst="rect">
            <a:avLst/>
          </a:prstGeom>
          <a:noFill/>
        </p:spPr>
        <p:txBody>
          <a:bodyPr vert="horz" wrap="square" lIns="0" tIns="0" rIns="0" bIns="0" rtlCol="0">
            <a:spAutoFit/>
          </a:bodyPr>
          <a:lstStyle/>
          <a:p>
            <a:r>
              <a:rPr lang="en-US" sz="1000" b="1">
                <a:solidFill>
                  <a:srgbClr val="5C5C5C"/>
                </a:solidFill>
                <a:latin typeface="Aptos" panose="020B0004020202020204" pitchFamily="34" charset="0"/>
              </a:rPr>
              <a:t>Video policy</a:t>
            </a:r>
          </a:p>
        </p:txBody>
      </p:sp>
      <p:sp>
        <p:nvSpPr>
          <p:cNvPr id="52" name="TextBox 51">
            <a:extLst>
              <a:ext uri="{FF2B5EF4-FFF2-40B4-BE49-F238E27FC236}">
                <a16:creationId xmlns:a16="http://schemas.microsoft.com/office/drawing/2014/main" id="{71551C29-A634-0E96-7046-76DD2D85F680}"/>
              </a:ext>
            </a:extLst>
          </p:cNvPr>
          <p:cNvSpPr txBox="1"/>
          <p:nvPr/>
        </p:nvSpPr>
        <p:spPr>
          <a:xfrm>
            <a:off x="3098800" y="2032000"/>
            <a:ext cx="1930400" cy="338554"/>
          </a:xfrm>
          <a:prstGeom prst="rect">
            <a:avLst/>
          </a:prstGeom>
          <a:noFill/>
        </p:spPr>
        <p:txBody>
          <a:bodyPr vert="horz" wrap="square" lIns="0" tIns="0" rIns="0" bIns="0" rtlCol="0">
            <a:spAutoFit/>
          </a:bodyPr>
          <a:lstStyle/>
          <a:p>
            <a:r>
              <a:rPr lang="en-US" sz="2200" b="1">
                <a:solidFill>
                  <a:srgbClr val="4984CB"/>
                </a:solidFill>
                <a:latin typeface="Aptos" panose="020B0004020202020204" pitchFamily="34" charset="0"/>
              </a:rPr>
              <a:t>record all</a:t>
            </a:r>
          </a:p>
        </p:txBody>
      </p:sp>
      <p:sp>
        <p:nvSpPr>
          <p:cNvPr id="53" name="TextBox 52">
            <a:extLst>
              <a:ext uri="{FF2B5EF4-FFF2-40B4-BE49-F238E27FC236}">
                <a16:creationId xmlns:a16="http://schemas.microsoft.com/office/drawing/2014/main" id="{E2DDEED2-F0FD-3AE8-AB35-F189A5D40300}"/>
              </a:ext>
            </a:extLst>
          </p:cNvPr>
          <p:cNvSpPr txBox="1"/>
          <p:nvPr/>
        </p:nvSpPr>
        <p:spPr>
          <a:xfrm>
            <a:off x="3098800" y="2438400"/>
            <a:ext cx="1930400" cy="307777"/>
          </a:xfrm>
          <a:prstGeom prst="rect">
            <a:avLst/>
          </a:prstGeom>
          <a:noFill/>
        </p:spPr>
        <p:txBody>
          <a:bodyPr vert="horz" wrap="square" lIns="0" tIns="0" rIns="0" bIns="0" rtlCol="0">
            <a:spAutoFit/>
          </a:bodyPr>
          <a:lstStyle/>
          <a:p>
            <a:r>
              <a:rPr lang="en-US" sz="1000">
                <a:solidFill>
                  <a:srgbClr val="5C5C5C"/>
                </a:solidFill>
                <a:latin typeface="Aptos" panose="020B0004020202020204" pitchFamily="34" charset="0"/>
              </a:rPr>
              <a:t>Both successful and failed episodes are saved as videos</a:t>
            </a:r>
          </a:p>
        </p:txBody>
      </p:sp>
      <p:sp>
        <p:nvSpPr>
          <p:cNvPr id="54" name="Rectangle: Rounded Corners 53">
            <a:extLst>
              <a:ext uri="{FF2B5EF4-FFF2-40B4-BE49-F238E27FC236}">
                <a16:creationId xmlns:a16="http://schemas.microsoft.com/office/drawing/2014/main" id="{089E5F8D-F3B9-FAF5-0DE8-0968E62B3A18}"/>
              </a:ext>
            </a:extLst>
          </p:cNvPr>
          <p:cNvSpPr/>
          <p:nvPr/>
        </p:nvSpPr>
        <p:spPr>
          <a:xfrm>
            <a:off x="5334000" y="1498600"/>
            <a:ext cx="2286000" cy="1346200"/>
          </a:xfrm>
          <a:prstGeom prst="roundRect">
            <a:avLst/>
          </a:prstGeom>
          <a:solidFill>
            <a:srgbClr val="FFFFFF"/>
          </a:solidFill>
          <a:ln w="12700">
            <a:solidFill>
              <a:srgbClr val="D2D0C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6427E036-82AD-DBED-7826-A87F127B8E77}"/>
              </a:ext>
            </a:extLst>
          </p:cNvPr>
          <p:cNvSpPr/>
          <p:nvPr/>
        </p:nvSpPr>
        <p:spPr>
          <a:xfrm>
            <a:off x="5511800" y="1651000"/>
            <a:ext cx="1930400" cy="50800"/>
          </a:xfrm>
          <a:prstGeom prst="rect">
            <a:avLst/>
          </a:prstGeom>
          <a:solidFill>
            <a:srgbClr val="5B995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TextBox 55">
            <a:extLst>
              <a:ext uri="{FF2B5EF4-FFF2-40B4-BE49-F238E27FC236}">
                <a16:creationId xmlns:a16="http://schemas.microsoft.com/office/drawing/2014/main" id="{DE4BE576-3891-FC45-C75D-CB91B496753A}"/>
              </a:ext>
            </a:extLst>
          </p:cNvPr>
          <p:cNvSpPr txBox="1"/>
          <p:nvPr/>
        </p:nvSpPr>
        <p:spPr>
          <a:xfrm>
            <a:off x="5511800" y="1752600"/>
            <a:ext cx="1930400" cy="153888"/>
          </a:xfrm>
          <a:prstGeom prst="rect">
            <a:avLst/>
          </a:prstGeom>
          <a:noFill/>
        </p:spPr>
        <p:txBody>
          <a:bodyPr vert="horz" wrap="square" lIns="0" tIns="0" rIns="0" bIns="0" rtlCol="0">
            <a:spAutoFit/>
          </a:bodyPr>
          <a:lstStyle/>
          <a:p>
            <a:r>
              <a:rPr lang="en-US" sz="1000" b="1">
                <a:solidFill>
                  <a:srgbClr val="5C5C5C"/>
                </a:solidFill>
                <a:latin typeface="Aptos" panose="020B0004020202020204" pitchFamily="34" charset="0"/>
              </a:rPr>
              <a:t>Folders</a:t>
            </a:r>
          </a:p>
        </p:txBody>
      </p:sp>
      <p:sp>
        <p:nvSpPr>
          <p:cNvPr id="57" name="TextBox 56">
            <a:extLst>
              <a:ext uri="{FF2B5EF4-FFF2-40B4-BE49-F238E27FC236}">
                <a16:creationId xmlns:a16="http://schemas.microsoft.com/office/drawing/2014/main" id="{BE7F146A-C821-74AB-DBA3-60A4820DDCB3}"/>
              </a:ext>
            </a:extLst>
          </p:cNvPr>
          <p:cNvSpPr txBox="1"/>
          <p:nvPr/>
        </p:nvSpPr>
        <p:spPr>
          <a:xfrm>
            <a:off x="5511800" y="2032000"/>
            <a:ext cx="1930400" cy="338554"/>
          </a:xfrm>
          <a:prstGeom prst="rect">
            <a:avLst/>
          </a:prstGeom>
          <a:noFill/>
        </p:spPr>
        <p:txBody>
          <a:bodyPr vert="horz" wrap="square" lIns="0" tIns="0" rIns="0" bIns="0" rtlCol="0">
            <a:spAutoFit/>
          </a:bodyPr>
          <a:lstStyle/>
          <a:p>
            <a:r>
              <a:rPr lang="en-US" sz="2200" b="1">
                <a:solidFill>
                  <a:srgbClr val="5B995D"/>
                </a:solidFill>
                <a:latin typeface="Aptos" panose="020B0004020202020204" pitchFamily="34" charset="0"/>
              </a:rPr>
              <a:t>2 video dirs</a:t>
            </a:r>
          </a:p>
        </p:txBody>
      </p:sp>
      <p:sp>
        <p:nvSpPr>
          <p:cNvPr id="58" name="TextBox 57">
            <a:extLst>
              <a:ext uri="{FF2B5EF4-FFF2-40B4-BE49-F238E27FC236}">
                <a16:creationId xmlns:a16="http://schemas.microsoft.com/office/drawing/2014/main" id="{455A17DA-C2F1-A79A-779C-5A40C17BED56}"/>
              </a:ext>
            </a:extLst>
          </p:cNvPr>
          <p:cNvSpPr txBox="1"/>
          <p:nvPr/>
        </p:nvSpPr>
        <p:spPr>
          <a:xfrm>
            <a:off x="5511800" y="2438400"/>
            <a:ext cx="1930400" cy="307777"/>
          </a:xfrm>
          <a:prstGeom prst="rect">
            <a:avLst/>
          </a:prstGeom>
          <a:noFill/>
        </p:spPr>
        <p:txBody>
          <a:bodyPr vert="horz" wrap="square" lIns="0" tIns="0" rIns="0" bIns="0" rtlCol="0">
            <a:spAutoFit/>
          </a:bodyPr>
          <a:lstStyle/>
          <a:p>
            <a:r>
              <a:rPr lang="en-US" sz="1000">
                <a:solidFill>
                  <a:srgbClr val="5C5C5C"/>
                </a:solidFill>
                <a:latin typeface="Aptos" panose="020B0004020202020204" pitchFamily="34" charset="0"/>
              </a:rPr>
              <a:t>Videos are separated into videos_success and videos_failure</a:t>
            </a:r>
          </a:p>
        </p:txBody>
      </p:sp>
      <p:sp>
        <p:nvSpPr>
          <p:cNvPr id="59" name="Rectangle: Rounded Corners 58">
            <a:extLst>
              <a:ext uri="{FF2B5EF4-FFF2-40B4-BE49-F238E27FC236}">
                <a16:creationId xmlns:a16="http://schemas.microsoft.com/office/drawing/2014/main" id="{55942E99-74B5-7843-D12A-66DD4498E984}"/>
              </a:ext>
            </a:extLst>
          </p:cNvPr>
          <p:cNvSpPr/>
          <p:nvPr/>
        </p:nvSpPr>
        <p:spPr>
          <a:xfrm>
            <a:off x="7747000" y="1498600"/>
            <a:ext cx="2286000" cy="1346200"/>
          </a:xfrm>
          <a:prstGeom prst="roundRect">
            <a:avLst/>
          </a:prstGeom>
          <a:solidFill>
            <a:srgbClr val="FFFFFF"/>
          </a:solidFill>
          <a:ln w="12700">
            <a:solidFill>
              <a:srgbClr val="D2D0C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a:extLst>
              <a:ext uri="{FF2B5EF4-FFF2-40B4-BE49-F238E27FC236}">
                <a16:creationId xmlns:a16="http://schemas.microsoft.com/office/drawing/2014/main" id="{7B5F513C-17CF-1954-FAB3-BB01D04FD17B}"/>
              </a:ext>
            </a:extLst>
          </p:cNvPr>
          <p:cNvSpPr/>
          <p:nvPr/>
        </p:nvSpPr>
        <p:spPr>
          <a:xfrm>
            <a:off x="7924800" y="1651000"/>
            <a:ext cx="1930400" cy="50800"/>
          </a:xfrm>
          <a:prstGeom prst="rect">
            <a:avLst/>
          </a:prstGeom>
          <a:solidFill>
            <a:srgbClr val="FFC62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TextBox 60">
            <a:extLst>
              <a:ext uri="{FF2B5EF4-FFF2-40B4-BE49-F238E27FC236}">
                <a16:creationId xmlns:a16="http://schemas.microsoft.com/office/drawing/2014/main" id="{BA4C335C-38FA-9E26-5F2B-E706A2CE70E3}"/>
              </a:ext>
            </a:extLst>
          </p:cNvPr>
          <p:cNvSpPr txBox="1"/>
          <p:nvPr/>
        </p:nvSpPr>
        <p:spPr>
          <a:xfrm>
            <a:off x="7924800" y="1752600"/>
            <a:ext cx="1930400" cy="153888"/>
          </a:xfrm>
          <a:prstGeom prst="rect">
            <a:avLst/>
          </a:prstGeom>
          <a:noFill/>
        </p:spPr>
        <p:txBody>
          <a:bodyPr vert="horz" wrap="square" lIns="0" tIns="0" rIns="0" bIns="0" rtlCol="0">
            <a:spAutoFit/>
          </a:bodyPr>
          <a:lstStyle/>
          <a:p>
            <a:r>
              <a:rPr lang="en-US" sz="1000" b="1">
                <a:solidFill>
                  <a:srgbClr val="5C5C5C"/>
                </a:solidFill>
                <a:latin typeface="Aptos" panose="020B0004020202020204" pitchFamily="34" charset="0"/>
              </a:rPr>
              <a:t>Saved metadata</a:t>
            </a:r>
          </a:p>
        </p:txBody>
      </p:sp>
      <p:sp>
        <p:nvSpPr>
          <p:cNvPr id="62" name="TextBox 61">
            <a:extLst>
              <a:ext uri="{FF2B5EF4-FFF2-40B4-BE49-F238E27FC236}">
                <a16:creationId xmlns:a16="http://schemas.microsoft.com/office/drawing/2014/main" id="{E3D0FEEB-3A75-EE02-C3CB-B1EEAE5EB31F}"/>
              </a:ext>
            </a:extLst>
          </p:cNvPr>
          <p:cNvSpPr txBox="1"/>
          <p:nvPr/>
        </p:nvSpPr>
        <p:spPr>
          <a:xfrm>
            <a:off x="7924800" y="2032000"/>
            <a:ext cx="1930400" cy="338554"/>
          </a:xfrm>
          <a:prstGeom prst="rect">
            <a:avLst/>
          </a:prstGeom>
          <a:noFill/>
        </p:spPr>
        <p:txBody>
          <a:bodyPr vert="horz" wrap="square" lIns="0" tIns="0" rIns="0" bIns="0" rtlCol="0">
            <a:spAutoFit/>
          </a:bodyPr>
          <a:lstStyle/>
          <a:p>
            <a:r>
              <a:rPr lang="en-US" sz="2200" b="1">
                <a:solidFill>
                  <a:srgbClr val="FFC627"/>
                </a:solidFill>
                <a:latin typeface="Aptos" panose="020B0004020202020204" pitchFamily="34" charset="0"/>
              </a:rPr>
              <a:t>results.json</a:t>
            </a:r>
          </a:p>
        </p:txBody>
      </p:sp>
      <p:sp>
        <p:nvSpPr>
          <p:cNvPr id="63" name="TextBox 62">
            <a:extLst>
              <a:ext uri="{FF2B5EF4-FFF2-40B4-BE49-F238E27FC236}">
                <a16:creationId xmlns:a16="http://schemas.microsoft.com/office/drawing/2014/main" id="{FD14A921-44FB-C010-0316-E6F173AD4B1A}"/>
              </a:ext>
            </a:extLst>
          </p:cNvPr>
          <p:cNvSpPr txBox="1"/>
          <p:nvPr/>
        </p:nvSpPr>
        <p:spPr>
          <a:xfrm>
            <a:off x="7924800" y="2438400"/>
            <a:ext cx="1930400" cy="307777"/>
          </a:xfrm>
          <a:prstGeom prst="rect">
            <a:avLst/>
          </a:prstGeom>
          <a:noFill/>
        </p:spPr>
        <p:txBody>
          <a:bodyPr vert="horz" wrap="square" lIns="0" tIns="0" rIns="0" bIns="0" rtlCol="0">
            <a:spAutoFit/>
          </a:bodyPr>
          <a:lstStyle/>
          <a:p>
            <a:r>
              <a:rPr lang="en-US" sz="1000">
                <a:solidFill>
                  <a:srgbClr val="5C5C5C"/>
                </a:solidFill>
                <a:latin typeface="Aptos" panose="020B0004020202020204" pitchFamily="34" charset="0"/>
              </a:rPr>
              <a:t>Per-episode success, picked_side, steps, and video_path</a:t>
            </a:r>
          </a:p>
        </p:txBody>
      </p:sp>
      <p:sp>
        <p:nvSpPr>
          <p:cNvPr id="64" name="Rectangle: Rounded Corners 63">
            <a:extLst>
              <a:ext uri="{FF2B5EF4-FFF2-40B4-BE49-F238E27FC236}">
                <a16:creationId xmlns:a16="http://schemas.microsoft.com/office/drawing/2014/main" id="{B70FDAFB-C1A7-F72B-65E6-311985460A24}"/>
              </a:ext>
            </a:extLst>
          </p:cNvPr>
          <p:cNvSpPr/>
          <p:nvPr/>
        </p:nvSpPr>
        <p:spPr>
          <a:xfrm>
            <a:off x="508000" y="3073400"/>
            <a:ext cx="4064000" cy="2311400"/>
          </a:xfrm>
          <a:prstGeom prst="roundRect">
            <a:avLst/>
          </a:prstGeom>
          <a:solidFill>
            <a:srgbClr val="E8F1F9"/>
          </a:solidFill>
          <a:ln w="13970">
            <a:solidFill>
              <a:srgbClr val="4984C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TextBox 64">
            <a:extLst>
              <a:ext uri="{FF2B5EF4-FFF2-40B4-BE49-F238E27FC236}">
                <a16:creationId xmlns:a16="http://schemas.microsoft.com/office/drawing/2014/main" id="{EF2CF740-FB13-1353-4716-89E51159398A}"/>
              </a:ext>
            </a:extLst>
          </p:cNvPr>
          <p:cNvSpPr txBox="1"/>
          <p:nvPr/>
        </p:nvSpPr>
        <p:spPr>
          <a:xfrm>
            <a:off x="711200" y="3251200"/>
            <a:ext cx="3657600" cy="200055"/>
          </a:xfrm>
          <a:prstGeom prst="rect">
            <a:avLst/>
          </a:prstGeom>
          <a:noFill/>
        </p:spPr>
        <p:txBody>
          <a:bodyPr vert="horz" wrap="square" lIns="0" tIns="0" rIns="0" bIns="0" rtlCol="0">
            <a:spAutoFit/>
          </a:bodyPr>
          <a:lstStyle/>
          <a:p>
            <a:r>
              <a:rPr lang="en-US" sz="1300" b="1">
                <a:solidFill>
                  <a:srgbClr val="4984CB"/>
                </a:solidFill>
                <a:latin typeface="Aptos" panose="020B0004020202020204" pitchFamily="34" charset="0"/>
              </a:rPr>
              <a:t>Episode loop in eval_with_videos.py</a:t>
            </a:r>
          </a:p>
        </p:txBody>
      </p:sp>
      <p:sp>
        <p:nvSpPr>
          <p:cNvPr id="66" name="TextBox 65">
            <a:extLst>
              <a:ext uri="{FF2B5EF4-FFF2-40B4-BE49-F238E27FC236}">
                <a16:creationId xmlns:a16="http://schemas.microsoft.com/office/drawing/2014/main" id="{A83F124C-2A84-2993-4672-DAA5D94F372D}"/>
              </a:ext>
            </a:extLst>
          </p:cNvPr>
          <p:cNvSpPr txBox="1"/>
          <p:nvPr/>
        </p:nvSpPr>
        <p:spPr>
          <a:xfrm>
            <a:off x="711200" y="3606800"/>
            <a:ext cx="3657600" cy="1015663"/>
          </a:xfrm>
          <a:prstGeom prst="rect">
            <a:avLst/>
          </a:prstGeom>
          <a:noFill/>
        </p:spPr>
        <p:txBody>
          <a:bodyPr vert="horz" wrap="square" lIns="0" tIns="0" rIns="0" bIns="0" rtlCol="0">
            <a:spAutoFit/>
          </a:bodyPr>
          <a:lstStyle/>
          <a:p>
            <a:r>
              <a:rPr lang="en-US" sz="1100">
                <a:solidFill>
                  <a:srgbClr val="1C1C1C"/>
                </a:solidFill>
                <a:latin typeface="Aptos" panose="020B0004020202020204" pitchFamily="34" charset="0"/>
              </a:rPr>
              <a:t>1. Reset environment.
2. Start video recording after reset.
3. Sample actions when the queue is empty.
4. Step the environment until done or 400 steps.
5. Stop video before closing env.
6. Move the video into the success or failure folder.</a:t>
            </a:r>
          </a:p>
        </p:txBody>
      </p:sp>
      <p:sp>
        <p:nvSpPr>
          <p:cNvPr id="67" name="Rectangle: Rounded Corners 66">
            <a:extLst>
              <a:ext uri="{FF2B5EF4-FFF2-40B4-BE49-F238E27FC236}">
                <a16:creationId xmlns:a16="http://schemas.microsoft.com/office/drawing/2014/main" id="{01EC4AFA-4359-6B6A-0054-31387C2BC571}"/>
              </a:ext>
            </a:extLst>
          </p:cNvPr>
          <p:cNvSpPr/>
          <p:nvPr/>
        </p:nvSpPr>
        <p:spPr>
          <a:xfrm>
            <a:off x="4826000" y="3073400"/>
            <a:ext cx="6858000" cy="1244600"/>
          </a:xfrm>
          <a:prstGeom prst="roundRect">
            <a:avLst/>
          </a:prstGeom>
          <a:solidFill>
            <a:srgbClr val="FFFFFF"/>
          </a:solidFill>
          <a:ln w="13970">
            <a:solidFill>
              <a:srgbClr val="8C1D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TextBox 67">
            <a:extLst>
              <a:ext uri="{FF2B5EF4-FFF2-40B4-BE49-F238E27FC236}">
                <a16:creationId xmlns:a16="http://schemas.microsoft.com/office/drawing/2014/main" id="{78EE5F03-47F8-AAA4-DEC6-3D5AC6B9634C}"/>
              </a:ext>
            </a:extLst>
          </p:cNvPr>
          <p:cNvSpPr txBox="1"/>
          <p:nvPr/>
        </p:nvSpPr>
        <p:spPr>
          <a:xfrm>
            <a:off x="5029200" y="3251200"/>
            <a:ext cx="6451600" cy="200055"/>
          </a:xfrm>
          <a:prstGeom prst="rect">
            <a:avLst/>
          </a:prstGeom>
          <a:noFill/>
        </p:spPr>
        <p:txBody>
          <a:bodyPr vert="horz" wrap="square" lIns="0" tIns="0" rIns="0" bIns="0" rtlCol="0">
            <a:spAutoFit/>
          </a:bodyPr>
          <a:lstStyle/>
          <a:p>
            <a:r>
              <a:rPr lang="en-US" sz="1300" b="1">
                <a:solidFill>
                  <a:srgbClr val="8C1D40"/>
                </a:solidFill>
                <a:latin typeface="Aptos" panose="020B0004020202020204" pitchFamily="34" charset="0"/>
              </a:rPr>
              <a:t>Metrics computed at the end</a:t>
            </a:r>
          </a:p>
        </p:txBody>
      </p:sp>
      <p:sp>
        <p:nvSpPr>
          <p:cNvPr id="69" name="TextBox 68">
            <a:extLst>
              <a:ext uri="{FF2B5EF4-FFF2-40B4-BE49-F238E27FC236}">
                <a16:creationId xmlns:a16="http://schemas.microsoft.com/office/drawing/2014/main" id="{AEC11959-9D29-1634-7FBF-D6E717BC046A}"/>
              </a:ext>
            </a:extLst>
          </p:cNvPr>
          <p:cNvSpPr txBox="1"/>
          <p:nvPr/>
        </p:nvSpPr>
        <p:spPr>
          <a:xfrm>
            <a:off x="5029200" y="3606800"/>
            <a:ext cx="6451600" cy="1107996"/>
          </a:xfrm>
          <a:prstGeom prst="rect">
            <a:avLst/>
          </a:prstGeom>
          <a:noFill/>
        </p:spPr>
        <p:txBody>
          <a:bodyPr vert="horz" wrap="square" lIns="0" tIns="0" rIns="0" bIns="0" rtlCol="0">
            <a:spAutoFit/>
          </a:bodyPr>
          <a:lstStyle/>
          <a:p>
            <a:r>
              <a:rPr lang="en-US">
                <a:solidFill>
                  <a:srgbClr val="1C1C1C"/>
                </a:solidFill>
                <a:latin typeface="Cambria Math" panose="02040503050406030204" pitchFamily="18" charset="0"/>
              </a:rPr>
              <a:t>Success Rate = (1/N) Σᵢ 1[successᵢ]
Mean Length = (1/N) Σᵢ Tᵢ
The script also counts successful and failed episodes explicitly.</a:t>
            </a:r>
          </a:p>
        </p:txBody>
      </p:sp>
      <p:sp>
        <p:nvSpPr>
          <p:cNvPr id="70" name="Rectangle: Rounded Corners 69">
            <a:extLst>
              <a:ext uri="{FF2B5EF4-FFF2-40B4-BE49-F238E27FC236}">
                <a16:creationId xmlns:a16="http://schemas.microsoft.com/office/drawing/2014/main" id="{E93FD2CE-659A-902B-CC60-FBA2F6791668}"/>
              </a:ext>
            </a:extLst>
          </p:cNvPr>
          <p:cNvSpPr/>
          <p:nvPr/>
        </p:nvSpPr>
        <p:spPr>
          <a:xfrm>
            <a:off x="4826000" y="4470400"/>
            <a:ext cx="6858000" cy="2032000"/>
          </a:xfrm>
          <a:prstGeom prst="roundRect">
            <a:avLst/>
          </a:prstGeom>
          <a:solidFill>
            <a:srgbClr val="F6EEDB"/>
          </a:solidFill>
          <a:ln w="13970">
            <a:solidFill>
              <a:srgbClr val="FFC62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TextBox 70">
            <a:extLst>
              <a:ext uri="{FF2B5EF4-FFF2-40B4-BE49-F238E27FC236}">
                <a16:creationId xmlns:a16="http://schemas.microsoft.com/office/drawing/2014/main" id="{E25CD07E-53AC-1B3C-A243-78705A4B9D10}"/>
              </a:ext>
            </a:extLst>
          </p:cNvPr>
          <p:cNvSpPr txBox="1"/>
          <p:nvPr/>
        </p:nvSpPr>
        <p:spPr>
          <a:xfrm>
            <a:off x="5029200" y="4648200"/>
            <a:ext cx="6451600" cy="200055"/>
          </a:xfrm>
          <a:prstGeom prst="rect">
            <a:avLst/>
          </a:prstGeom>
          <a:noFill/>
        </p:spPr>
        <p:txBody>
          <a:bodyPr vert="horz" wrap="square" lIns="0" tIns="0" rIns="0" bIns="0" rtlCol="0">
            <a:spAutoFit/>
          </a:bodyPr>
          <a:lstStyle/>
          <a:p>
            <a:r>
              <a:rPr lang="en-US" sz="1300" b="1">
                <a:solidFill>
                  <a:srgbClr val="FFC627"/>
                </a:solidFill>
                <a:latin typeface="Aptos" panose="020B0004020202020204" pitchFamily="34" charset="0"/>
              </a:rPr>
              <a:t>Why this script matters in the thesis</a:t>
            </a:r>
          </a:p>
        </p:txBody>
      </p:sp>
      <p:sp>
        <p:nvSpPr>
          <p:cNvPr id="72" name="TextBox 71">
            <a:extLst>
              <a:ext uri="{FF2B5EF4-FFF2-40B4-BE49-F238E27FC236}">
                <a16:creationId xmlns:a16="http://schemas.microsoft.com/office/drawing/2014/main" id="{B91D1BAE-8FC1-B5C4-E02A-736C2F08A66A}"/>
              </a:ext>
            </a:extLst>
          </p:cNvPr>
          <p:cNvSpPr txBox="1"/>
          <p:nvPr/>
        </p:nvSpPr>
        <p:spPr>
          <a:xfrm>
            <a:off x="5029200" y="5003800"/>
            <a:ext cx="6451600" cy="677108"/>
          </a:xfrm>
          <a:prstGeom prst="rect">
            <a:avLst/>
          </a:prstGeom>
          <a:noFill/>
        </p:spPr>
        <p:txBody>
          <a:bodyPr vert="horz" wrap="square" lIns="0" tIns="0" rIns="0" bIns="0" rtlCol="0">
            <a:spAutoFit/>
          </a:bodyPr>
          <a:lstStyle/>
          <a:p>
            <a:r>
              <a:rPr lang="en-US" sz="1100">
                <a:solidFill>
                  <a:srgbClr val="1C1C1C"/>
                </a:solidFill>
                <a:latin typeface="Aptos" panose="020B0004020202020204" pitchFamily="34" charset="0"/>
              </a:rPr>
              <a:t>This script gives both quantitative and qualitative evaluation. Quantitatively, it reports success rate and average rollout length. Qualitatively, it preserves every rollout as a video, so we can inspect whether the learned behavior is smooth, legible, unstable, or failure-prone in ways that a single scalar score would miss.</a:t>
            </a:r>
          </a:p>
        </p:txBody>
      </p:sp>
      <p:sp>
        <p:nvSpPr>
          <p:cNvPr id="73" name="Rectangle: Rounded Corners 72">
            <a:extLst>
              <a:ext uri="{FF2B5EF4-FFF2-40B4-BE49-F238E27FC236}">
                <a16:creationId xmlns:a16="http://schemas.microsoft.com/office/drawing/2014/main" id="{BF526285-ACAC-D30D-BB31-41B1696F03CE}"/>
              </a:ext>
            </a:extLst>
          </p:cNvPr>
          <p:cNvSpPr/>
          <p:nvPr/>
        </p:nvSpPr>
        <p:spPr>
          <a:xfrm>
            <a:off x="508000" y="5511800"/>
            <a:ext cx="4064000" cy="990600"/>
          </a:xfrm>
          <a:prstGeom prst="roundRect">
            <a:avLst/>
          </a:prstGeom>
          <a:solidFill>
            <a:srgbClr val="EBF5EC"/>
          </a:solidFill>
          <a:ln w="13970">
            <a:solidFill>
              <a:srgbClr val="2E86A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TextBox 73">
            <a:extLst>
              <a:ext uri="{FF2B5EF4-FFF2-40B4-BE49-F238E27FC236}">
                <a16:creationId xmlns:a16="http://schemas.microsoft.com/office/drawing/2014/main" id="{967510C6-03AD-4A31-4A01-DDE12DEE1E26}"/>
              </a:ext>
            </a:extLst>
          </p:cNvPr>
          <p:cNvSpPr txBox="1"/>
          <p:nvPr/>
        </p:nvSpPr>
        <p:spPr>
          <a:xfrm>
            <a:off x="711200" y="5689600"/>
            <a:ext cx="3657600" cy="200055"/>
          </a:xfrm>
          <a:prstGeom prst="rect">
            <a:avLst/>
          </a:prstGeom>
          <a:noFill/>
        </p:spPr>
        <p:txBody>
          <a:bodyPr vert="horz" wrap="square" lIns="0" tIns="0" rIns="0" bIns="0" rtlCol="0">
            <a:spAutoFit/>
          </a:bodyPr>
          <a:lstStyle/>
          <a:p>
            <a:r>
              <a:rPr lang="en-US" sz="1300" b="1">
                <a:solidFill>
                  <a:srgbClr val="2E86AB"/>
                </a:solidFill>
                <a:latin typeface="Aptos" panose="020B0004020202020204" pitchFamily="34" charset="0"/>
              </a:rPr>
              <a:t>Good one-line explanation</a:t>
            </a:r>
          </a:p>
        </p:txBody>
      </p:sp>
      <p:sp>
        <p:nvSpPr>
          <p:cNvPr id="75" name="TextBox 74">
            <a:extLst>
              <a:ext uri="{FF2B5EF4-FFF2-40B4-BE49-F238E27FC236}">
                <a16:creationId xmlns:a16="http://schemas.microsoft.com/office/drawing/2014/main" id="{D04E7989-9576-6AB8-42F3-FE2775063C25}"/>
              </a:ext>
            </a:extLst>
          </p:cNvPr>
          <p:cNvSpPr txBox="1"/>
          <p:nvPr/>
        </p:nvSpPr>
        <p:spPr>
          <a:xfrm>
            <a:off x="711200" y="6045200"/>
            <a:ext cx="3657600" cy="461665"/>
          </a:xfrm>
          <a:prstGeom prst="rect">
            <a:avLst/>
          </a:prstGeom>
          <a:noFill/>
        </p:spPr>
        <p:txBody>
          <a:bodyPr vert="horz" wrap="square" lIns="0" tIns="0" rIns="0" bIns="0" rtlCol="0">
            <a:spAutoFit/>
          </a:bodyPr>
          <a:lstStyle/>
          <a:p>
            <a:r>
              <a:rPr lang="en-US" sz="1000">
                <a:solidFill>
                  <a:srgbClr val="1C1C1C"/>
                </a:solidFill>
                <a:latin typeface="Aptos" panose="020B0004020202020204" pitchFamily="34" charset="0"/>
              </a:rPr>
              <a:t>train.py learns the policy from demonstrations; eval_with_videos.py tests it in the simulator and records what actually happens.</a:t>
            </a:r>
          </a:p>
        </p:txBody>
      </p:sp>
    </p:spTree>
    <p:extLst>
      <p:ext uri="{BB962C8B-B14F-4D97-AF65-F5344CB8AC3E}">
        <p14:creationId xmlns:p14="http://schemas.microsoft.com/office/powerpoint/2010/main" val="355089923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BF8F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22E5F89-B09E-5760-1802-FF719294CD25}"/>
              </a:ext>
            </a:extLst>
          </p:cNvPr>
          <p:cNvSpPr txBox="1"/>
          <p:nvPr/>
        </p:nvSpPr>
        <p:spPr>
          <a:xfrm>
            <a:off x="508000" y="228600"/>
            <a:ext cx="10414000" cy="430887"/>
          </a:xfrm>
          <a:prstGeom prst="rect">
            <a:avLst/>
          </a:prstGeom>
          <a:noFill/>
        </p:spPr>
        <p:txBody>
          <a:bodyPr vert="horz" wrap="square" lIns="0" tIns="0" rIns="0" bIns="0" rtlCol="0" anchor="t">
            <a:spAutoFit/>
          </a:bodyPr>
          <a:lstStyle/>
          <a:p>
            <a:r>
              <a:rPr lang="en-US" sz="2800" b="1">
                <a:solidFill>
                  <a:srgbClr val="212121"/>
                </a:solidFill>
                <a:latin typeface="Aptos" panose="020B0004020202020204" pitchFamily="34" charset="0"/>
              </a:rPr>
              <a:t>Implementation Details</a:t>
            </a:r>
          </a:p>
        </p:txBody>
      </p:sp>
      <p:sp>
        <p:nvSpPr>
          <p:cNvPr id="3" name="Rectangle 2">
            <a:extLst>
              <a:ext uri="{FF2B5EF4-FFF2-40B4-BE49-F238E27FC236}">
                <a16:creationId xmlns:a16="http://schemas.microsoft.com/office/drawing/2014/main" id="{64D4F91D-D5E2-F999-5CA4-FC7F616F818A}"/>
              </a:ext>
            </a:extLst>
          </p:cNvPr>
          <p:cNvSpPr/>
          <p:nvPr/>
        </p:nvSpPr>
        <p:spPr>
          <a:xfrm>
            <a:off x="508000" y="1206500"/>
            <a:ext cx="11176000" cy="50800"/>
          </a:xfrm>
          <a:prstGeom prst="rect">
            <a:avLst/>
          </a:prstGeom>
          <a:solidFill>
            <a:srgbClr val="F6BF20"/>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1330B5C5-E542-7031-F4D1-A1BDAC1F8870}"/>
              </a:ext>
            </a:extLst>
          </p:cNvPr>
          <p:cNvSpPr txBox="1"/>
          <p:nvPr/>
        </p:nvSpPr>
        <p:spPr>
          <a:xfrm>
            <a:off x="11430000" y="228600"/>
            <a:ext cx="304800" cy="153888"/>
          </a:xfrm>
          <a:prstGeom prst="rect">
            <a:avLst/>
          </a:prstGeom>
          <a:noFill/>
        </p:spPr>
        <p:txBody>
          <a:bodyPr vert="horz" wrap="square" lIns="0" tIns="0" rIns="0" bIns="0" rtlCol="0" anchor="t">
            <a:spAutoFit/>
          </a:bodyPr>
          <a:lstStyle/>
          <a:p>
            <a:pPr algn="r"/>
            <a:r>
              <a:rPr lang="en-US" sz="1000">
                <a:solidFill>
                  <a:srgbClr val="5C5C5C"/>
                </a:solidFill>
                <a:latin typeface="Aptos" panose="020B0004020202020204" pitchFamily="34" charset="0"/>
              </a:rPr>
              <a:t>39</a:t>
            </a:r>
          </a:p>
        </p:txBody>
      </p:sp>
    </p:spTree>
    <p:extLst>
      <p:ext uri="{BB962C8B-B14F-4D97-AF65-F5344CB8AC3E}">
        <p14:creationId xmlns:p14="http://schemas.microsoft.com/office/powerpoint/2010/main" val="120681394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BF8F2"/>
        </a:solidFill>
        <a:effectLst/>
      </p:bgPr>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DE33130C-1115-D3C0-B573-7CEF8A619FF7}"/>
              </a:ext>
            </a:extLst>
          </p:cNvPr>
          <p:cNvSpPr txBox="1"/>
          <p:nvPr/>
        </p:nvSpPr>
        <p:spPr>
          <a:xfrm>
            <a:off x="508000" y="228600"/>
            <a:ext cx="10414000" cy="430887"/>
          </a:xfrm>
          <a:prstGeom prst="rect">
            <a:avLst/>
          </a:prstGeom>
          <a:noFill/>
        </p:spPr>
        <p:txBody>
          <a:bodyPr vert="horz" wrap="square" lIns="0" tIns="0" rIns="0" bIns="0" rtlCol="0" anchor="t">
            <a:spAutoFit/>
          </a:bodyPr>
          <a:lstStyle/>
          <a:p>
            <a:r>
              <a:rPr lang="en-US" sz="2800" b="1">
                <a:solidFill>
                  <a:srgbClr val="212121"/>
                </a:solidFill>
                <a:latin typeface="Aptos" panose="020B0004020202020204" pitchFamily="34" charset="0"/>
              </a:rPr>
              <a:t>Pilot Study Results</a:t>
            </a:r>
          </a:p>
        </p:txBody>
      </p:sp>
      <p:sp>
        <p:nvSpPr>
          <p:cNvPr id="14" name="Rectangle 13">
            <a:extLst>
              <a:ext uri="{FF2B5EF4-FFF2-40B4-BE49-F238E27FC236}">
                <a16:creationId xmlns:a16="http://schemas.microsoft.com/office/drawing/2014/main" id="{17015931-5951-3786-4414-BAF41F9BD86B}"/>
              </a:ext>
            </a:extLst>
          </p:cNvPr>
          <p:cNvSpPr/>
          <p:nvPr/>
        </p:nvSpPr>
        <p:spPr>
          <a:xfrm>
            <a:off x="508000" y="1206500"/>
            <a:ext cx="11176000" cy="50800"/>
          </a:xfrm>
          <a:prstGeom prst="rect">
            <a:avLst/>
          </a:prstGeom>
          <a:solidFill>
            <a:srgbClr val="F6BF20"/>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D2D0D866-E7FA-7EC4-5AF4-6D1C796F1953}"/>
              </a:ext>
            </a:extLst>
          </p:cNvPr>
          <p:cNvSpPr txBox="1"/>
          <p:nvPr/>
        </p:nvSpPr>
        <p:spPr>
          <a:xfrm>
            <a:off x="11430000" y="228600"/>
            <a:ext cx="304800" cy="153888"/>
          </a:xfrm>
          <a:prstGeom prst="rect">
            <a:avLst/>
          </a:prstGeom>
          <a:noFill/>
        </p:spPr>
        <p:txBody>
          <a:bodyPr vert="horz" wrap="square" lIns="0" tIns="0" rIns="0" bIns="0" rtlCol="0" anchor="t">
            <a:spAutoFit/>
          </a:bodyPr>
          <a:lstStyle/>
          <a:p>
            <a:pPr algn="r"/>
            <a:r>
              <a:rPr lang="en-US" sz="1000">
                <a:solidFill>
                  <a:srgbClr val="5C5C5C"/>
                </a:solidFill>
                <a:latin typeface="Aptos" panose="020B0004020202020204" pitchFamily="34" charset="0"/>
              </a:rPr>
              <a:t>40</a:t>
            </a:r>
          </a:p>
        </p:txBody>
      </p:sp>
    </p:spTree>
    <p:extLst>
      <p:ext uri="{BB962C8B-B14F-4D97-AF65-F5344CB8AC3E}">
        <p14:creationId xmlns:p14="http://schemas.microsoft.com/office/powerpoint/2010/main" val="372036766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BF8F2"/>
        </a:solidFill>
        <a:effectLst/>
      </p:bgPr>
    </p:bg>
    <p:spTree>
      <p:nvGrpSpPr>
        <p:cNvPr id="1" name=""/>
        <p:cNvGrpSpPr/>
        <p:nvPr/>
      </p:nvGrpSpPr>
      <p:grpSpPr>
        <a:xfrm>
          <a:off x="0" y="0"/>
          <a:ext cx="0" cy="0"/>
          <a:chOff x="0" y="0"/>
          <a:chExt cx="0" cy="0"/>
        </a:xfrm>
      </p:grpSpPr>
      <p:sp>
        <p:nvSpPr>
          <p:cNvPr id="28" name="TextBox 27">
            <a:extLst>
              <a:ext uri="{FF2B5EF4-FFF2-40B4-BE49-F238E27FC236}">
                <a16:creationId xmlns:a16="http://schemas.microsoft.com/office/drawing/2014/main" id="{ED916D37-08BB-3801-D0EA-3E570B4E440B}"/>
              </a:ext>
            </a:extLst>
          </p:cNvPr>
          <p:cNvSpPr txBox="1"/>
          <p:nvPr/>
        </p:nvSpPr>
        <p:spPr>
          <a:xfrm>
            <a:off x="508000" y="228600"/>
            <a:ext cx="10414000" cy="430887"/>
          </a:xfrm>
          <a:prstGeom prst="rect">
            <a:avLst/>
          </a:prstGeom>
          <a:noFill/>
        </p:spPr>
        <p:txBody>
          <a:bodyPr vert="horz" wrap="square" lIns="0" tIns="0" rIns="0" bIns="0" rtlCol="0" anchor="t">
            <a:spAutoFit/>
          </a:bodyPr>
          <a:lstStyle/>
          <a:p>
            <a:r>
              <a:rPr lang="en-US" sz="2800" b="1">
                <a:solidFill>
                  <a:srgbClr val="212121"/>
                </a:solidFill>
                <a:latin typeface="Aptos" panose="020B0004020202020204" pitchFamily="34" charset="0"/>
              </a:rPr>
              <a:t>Gemini vs Human Comparison</a:t>
            </a:r>
          </a:p>
        </p:txBody>
      </p:sp>
      <p:sp>
        <p:nvSpPr>
          <p:cNvPr id="29" name="Rectangle 28">
            <a:extLst>
              <a:ext uri="{FF2B5EF4-FFF2-40B4-BE49-F238E27FC236}">
                <a16:creationId xmlns:a16="http://schemas.microsoft.com/office/drawing/2014/main" id="{6D10C321-9EC5-8E12-61D9-B73703DFB01E}"/>
              </a:ext>
            </a:extLst>
          </p:cNvPr>
          <p:cNvSpPr/>
          <p:nvPr/>
        </p:nvSpPr>
        <p:spPr>
          <a:xfrm>
            <a:off x="508000" y="1206500"/>
            <a:ext cx="11176000" cy="50800"/>
          </a:xfrm>
          <a:prstGeom prst="rect">
            <a:avLst/>
          </a:prstGeom>
          <a:solidFill>
            <a:srgbClr val="F6BF20"/>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1B9D1623-3BAD-91B0-7670-B7A970E3F4A1}"/>
              </a:ext>
            </a:extLst>
          </p:cNvPr>
          <p:cNvSpPr txBox="1"/>
          <p:nvPr/>
        </p:nvSpPr>
        <p:spPr>
          <a:xfrm>
            <a:off x="11430000" y="228600"/>
            <a:ext cx="304800" cy="153888"/>
          </a:xfrm>
          <a:prstGeom prst="rect">
            <a:avLst/>
          </a:prstGeom>
          <a:noFill/>
        </p:spPr>
        <p:txBody>
          <a:bodyPr vert="horz" wrap="square" lIns="0" tIns="0" rIns="0" bIns="0" rtlCol="0" anchor="t">
            <a:spAutoFit/>
          </a:bodyPr>
          <a:lstStyle/>
          <a:p>
            <a:pPr algn="r"/>
            <a:r>
              <a:rPr lang="en-US" sz="1000">
                <a:solidFill>
                  <a:srgbClr val="5C5C5C"/>
                </a:solidFill>
                <a:latin typeface="Aptos" panose="020B0004020202020204" pitchFamily="34" charset="0"/>
              </a:rPr>
              <a:t>41</a:t>
            </a:r>
          </a:p>
        </p:txBody>
      </p:sp>
    </p:spTree>
    <p:extLst>
      <p:ext uri="{BB962C8B-B14F-4D97-AF65-F5344CB8AC3E}">
        <p14:creationId xmlns:p14="http://schemas.microsoft.com/office/powerpoint/2010/main" val="166658291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BF8F2"/>
        </a:soli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951BB41F-5CBA-2100-9B10-FCA11A61FB5D}"/>
              </a:ext>
            </a:extLst>
          </p:cNvPr>
          <p:cNvSpPr txBox="1"/>
          <p:nvPr/>
        </p:nvSpPr>
        <p:spPr>
          <a:xfrm>
            <a:off x="508000" y="228600"/>
            <a:ext cx="10414000" cy="430887"/>
          </a:xfrm>
          <a:prstGeom prst="rect">
            <a:avLst/>
          </a:prstGeom>
          <a:noFill/>
        </p:spPr>
        <p:txBody>
          <a:bodyPr vert="horz" wrap="square" lIns="0" tIns="0" rIns="0" bIns="0" rtlCol="0" anchor="t">
            <a:spAutoFit/>
          </a:bodyPr>
          <a:lstStyle/>
          <a:p>
            <a:r>
              <a:rPr lang="en-US" sz="2800" b="1">
                <a:solidFill>
                  <a:srgbClr val="212121"/>
                </a:solidFill>
                <a:latin typeface="Aptos" panose="020B0004020202020204" pitchFamily="34" charset="0"/>
              </a:rPr>
              <a:t>Agreement and Failure Cases</a:t>
            </a:r>
          </a:p>
        </p:txBody>
      </p:sp>
      <p:sp>
        <p:nvSpPr>
          <p:cNvPr id="20" name="Rectangle 19">
            <a:extLst>
              <a:ext uri="{FF2B5EF4-FFF2-40B4-BE49-F238E27FC236}">
                <a16:creationId xmlns:a16="http://schemas.microsoft.com/office/drawing/2014/main" id="{43CA0142-5E25-5E22-9A21-46A7BE5EFBAB}"/>
              </a:ext>
            </a:extLst>
          </p:cNvPr>
          <p:cNvSpPr/>
          <p:nvPr/>
        </p:nvSpPr>
        <p:spPr>
          <a:xfrm>
            <a:off x="508000" y="1206500"/>
            <a:ext cx="11176000" cy="50800"/>
          </a:xfrm>
          <a:prstGeom prst="rect">
            <a:avLst/>
          </a:prstGeom>
          <a:solidFill>
            <a:srgbClr val="F6BF20"/>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5FBEBFEE-FF39-24C0-B4B7-4E7E33763769}"/>
              </a:ext>
            </a:extLst>
          </p:cNvPr>
          <p:cNvSpPr txBox="1"/>
          <p:nvPr/>
        </p:nvSpPr>
        <p:spPr>
          <a:xfrm>
            <a:off x="11430000" y="228600"/>
            <a:ext cx="304800" cy="153888"/>
          </a:xfrm>
          <a:prstGeom prst="rect">
            <a:avLst/>
          </a:prstGeom>
          <a:noFill/>
        </p:spPr>
        <p:txBody>
          <a:bodyPr vert="horz" wrap="square" lIns="0" tIns="0" rIns="0" bIns="0" rtlCol="0" anchor="t">
            <a:spAutoFit/>
          </a:bodyPr>
          <a:lstStyle/>
          <a:p>
            <a:pPr algn="r"/>
            <a:r>
              <a:rPr lang="en-US" sz="1000">
                <a:solidFill>
                  <a:srgbClr val="5C5C5C"/>
                </a:solidFill>
                <a:latin typeface="Aptos" panose="020B0004020202020204" pitchFamily="34" charset="0"/>
              </a:rPr>
              <a:t>42</a:t>
            </a:r>
          </a:p>
        </p:txBody>
      </p:sp>
    </p:spTree>
    <p:extLst>
      <p:ext uri="{BB962C8B-B14F-4D97-AF65-F5344CB8AC3E}">
        <p14:creationId xmlns:p14="http://schemas.microsoft.com/office/powerpoint/2010/main" val="176628188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BF8F2"/>
        </a:soli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EC46DFC-04CF-EE59-517A-6C270F4134BC}"/>
              </a:ext>
            </a:extLst>
          </p:cNvPr>
          <p:cNvSpPr txBox="1"/>
          <p:nvPr/>
        </p:nvSpPr>
        <p:spPr>
          <a:xfrm>
            <a:off x="508000" y="228600"/>
            <a:ext cx="10414000" cy="430887"/>
          </a:xfrm>
          <a:prstGeom prst="rect">
            <a:avLst/>
          </a:prstGeom>
          <a:noFill/>
        </p:spPr>
        <p:txBody>
          <a:bodyPr vert="horz" wrap="square" lIns="0" tIns="0" rIns="0" bIns="0" rtlCol="0" anchor="t">
            <a:spAutoFit/>
          </a:bodyPr>
          <a:lstStyle/>
          <a:p>
            <a:r>
              <a:rPr lang="en-US" sz="2800" b="1">
                <a:solidFill>
                  <a:srgbClr val="212121"/>
                </a:solidFill>
                <a:latin typeface="Aptos" panose="020B0004020202020204" pitchFamily="34" charset="0"/>
              </a:rPr>
              <a:t>Exploratory VLM-Based Steering Results</a:t>
            </a:r>
          </a:p>
        </p:txBody>
      </p:sp>
      <p:sp>
        <p:nvSpPr>
          <p:cNvPr id="23" name="Rectangle 22">
            <a:extLst>
              <a:ext uri="{FF2B5EF4-FFF2-40B4-BE49-F238E27FC236}">
                <a16:creationId xmlns:a16="http://schemas.microsoft.com/office/drawing/2014/main" id="{780C5F10-BF6D-DA90-38DC-424102CDAAFF}"/>
              </a:ext>
            </a:extLst>
          </p:cNvPr>
          <p:cNvSpPr/>
          <p:nvPr/>
        </p:nvSpPr>
        <p:spPr>
          <a:xfrm>
            <a:off x="508000" y="1206500"/>
            <a:ext cx="11176000" cy="50800"/>
          </a:xfrm>
          <a:prstGeom prst="rect">
            <a:avLst/>
          </a:prstGeom>
          <a:solidFill>
            <a:srgbClr val="F6BF20"/>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D22F2745-7845-ECAA-1067-D916502CD75D}"/>
              </a:ext>
            </a:extLst>
          </p:cNvPr>
          <p:cNvSpPr txBox="1"/>
          <p:nvPr/>
        </p:nvSpPr>
        <p:spPr>
          <a:xfrm>
            <a:off x="11430000" y="228600"/>
            <a:ext cx="304800" cy="153888"/>
          </a:xfrm>
          <a:prstGeom prst="rect">
            <a:avLst/>
          </a:prstGeom>
          <a:noFill/>
        </p:spPr>
        <p:txBody>
          <a:bodyPr vert="horz" wrap="square" lIns="0" tIns="0" rIns="0" bIns="0" rtlCol="0" anchor="t">
            <a:spAutoFit/>
          </a:bodyPr>
          <a:lstStyle/>
          <a:p>
            <a:pPr algn="r"/>
            <a:r>
              <a:rPr lang="en-US" sz="1000">
                <a:solidFill>
                  <a:srgbClr val="5C5C5C"/>
                </a:solidFill>
                <a:latin typeface="Aptos" panose="020B0004020202020204" pitchFamily="34" charset="0"/>
              </a:rPr>
              <a:t>43</a:t>
            </a:r>
          </a:p>
        </p:txBody>
      </p:sp>
    </p:spTree>
    <p:extLst>
      <p:ext uri="{BB962C8B-B14F-4D97-AF65-F5344CB8AC3E}">
        <p14:creationId xmlns:p14="http://schemas.microsoft.com/office/powerpoint/2010/main" val="73958645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BF8F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9298B34-F8A9-E24C-7434-0D10788B063C}"/>
              </a:ext>
            </a:extLst>
          </p:cNvPr>
          <p:cNvSpPr/>
          <p:nvPr/>
        </p:nvSpPr>
        <p:spPr>
          <a:xfrm>
            <a:off x="0" y="0"/>
            <a:ext cx="12192000" cy="6858000"/>
          </a:xfrm>
          <a:prstGeom prst="rect">
            <a:avLst/>
          </a:prstGeom>
          <a:solidFill>
            <a:srgbClr val="F8F6F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E54DB6D6-EFB3-42A2-19A4-78C2A5F3E30A}"/>
              </a:ext>
            </a:extLst>
          </p:cNvPr>
          <p:cNvSpPr txBox="1"/>
          <p:nvPr/>
        </p:nvSpPr>
        <p:spPr>
          <a:xfrm>
            <a:off x="508000" y="355600"/>
            <a:ext cx="9906000" cy="430887"/>
          </a:xfrm>
          <a:prstGeom prst="rect">
            <a:avLst/>
          </a:prstGeom>
          <a:noFill/>
        </p:spPr>
        <p:txBody>
          <a:bodyPr vert="horz" wrap="square" lIns="0" tIns="0" rIns="0" bIns="0" rtlCol="0">
            <a:spAutoFit/>
          </a:bodyPr>
          <a:lstStyle/>
          <a:p>
            <a:r>
              <a:rPr lang="en-US" sz="2800" b="1">
                <a:solidFill>
                  <a:srgbClr val="1C1C1C"/>
                </a:solidFill>
                <a:latin typeface="Aptos" panose="020B0004020202020204" pitchFamily="34" charset="0"/>
              </a:rPr>
              <a:t>Summary of Findings</a:t>
            </a:r>
          </a:p>
        </p:txBody>
      </p:sp>
      <p:sp>
        <p:nvSpPr>
          <p:cNvPr id="4" name="TextBox 3">
            <a:extLst>
              <a:ext uri="{FF2B5EF4-FFF2-40B4-BE49-F238E27FC236}">
                <a16:creationId xmlns:a16="http://schemas.microsoft.com/office/drawing/2014/main" id="{20AD18CD-655C-B195-AA84-83F5B6FB5084}"/>
              </a:ext>
            </a:extLst>
          </p:cNvPr>
          <p:cNvSpPr txBox="1"/>
          <p:nvPr/>
        </p:nvSpPr>
        <p:spPr>
          <a:xfrm>
            <a:off x="508000" y="800100"/>
            <a:ext cx="10922000" cy="169277"/>
          </a:xfrm>
          <a:prstGeom prst="rect">
            <a:avLst/>
          </a:prstGeom>
          <a:noFill/>
        </p:spPr>
        <p:txBody>
          <a:bodyPr vert="horz" wrap="square" lIns="0" tIns="0" rIns="0" bIns="0" rtlCol="0">
            <a:spAutoFit/>
          </a:bodyPr>
          <a:lstStyle/>
          <a:p>
            <a:r>
              <a:rPr lang="en-US" sz="1100">
                <a:solidFill>
                  <a:srgbClr val="5C5C5C"/>
                </a:solidFill>
                <a:latin typeface="Aptos" panose="020B0004020202020204" pitchFamily="34" charset="0"/>
              </a:rPr>
              <a:t>Vision-language models as proxies for human judgment of robot motion legibility</a:t>
            </a:r>
          </a:p>
        </p:txBody>
      </p:sp>
      <p:sp>
        <p:nvSpPr>
          <p:cNvPr id="5" name="Rectangle 4">
            <a:extLst>
              <a:ext uri="{FF2B5EF4-FFF2-40B4-BE49-F238E27FC236}">
                <a16:creationId xmlns:a16="http://schemas.microsoft.com/office/drawing/2014/main" id="{6F12B363-D0C8-5B73-810E-21A277E27304}"/>
              </a:ext>
            </a:extLst>
          </p:cNvPr>
          <p:cNvSpPr/>
          <p:nvPr/>
        </p:nvSpPr>
        <p:spPr>
          <a:xfrm>
            <a:off x="508000" y="1168400"/>
            <a:ext cx="11176000" cy="50800"/>
          </a:xfrm>
          <a:prstGeom prst="rect">
            <a:avLst/>
          </a:prstGeom>
          <a:solidFill>
            <a:srgbClr val="FFC62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D7FBC613-526B-4F8F-9BDA-008416B27657}"/>
              </a:ext>
            </a:extLst>
          </p:cNvPr>
          <p:cNvSpPr txBox="1"/>
          <p:nvPr/>
        </p:nvSpPr>
        <p:spPr>
          <a:xfrm>
            <a:off x="11430000" y="381000"/>
            <a:ext cx="254000" cy="153888"/>
          </a:xfrm>
          <a:prstGeom prst="rect">
            <a:avLst/>
          </a:prstGeom>
          <a:noFill/>
        </p:spPr>
        <p:txBody>
          <a:bodyPr vert="horz" wrap="square" lIns="0" tIns="0" rIns="0" bIns="0" rtlCol="0">
            <a:spAutoFit/>
          </a:bodyPr>
          <a:lstStyle/>
          <a:p>
            <a:pPr algn="r"/>
            <a:r>
              <a:rPr lang="en-US" sz="1000">
                <a:solidFill>
                  <a:srgbClr val="5C5C5C"/>
                </a:solidFill>
                <a:latin typeface="Aptos" panose="020B0004020202020204" pitchFamily="34" charset="0"/>
              </a:rPr>
              <a:t>44</a:t>
            </a:r>
          </a:p>
        </p:txBody>
      </p:sp>
      <p:sp>
        <p:nvSpPr>
          <p:cNvPr id="7" name="Rectangle: Rounded Corners 6">
            <a:extLst>
              <a:ext uri="{FF2B5EF4-FFF2-40B4-BE49-F238E27FC236}">
                <a16:creationId xmlns:a16="http://schemas.microsoft.com/office/drawing/2014/main" id="{A272FE04-C1F6-EF5A-A022-F4F9912CB6F2}"/>
              </a:ext>
            </a:extLst>
          </p:cNvPr>
          <p:cNvSpPr/>
          <p:nvPr/>
        </p:nvSpPr>
        <p:spPr>
          <a:xfrm>
            <a:off x="508000" y="1549400"/>
            <a:ext cx="3530600" cy="1473200"/>
          </a:xfrm>
          <a:prstGeom prst="roundRect">
            <a:avLst/>
          </a:prstGeom>
          <a:solidFill>
            <a:srgbClr val="F5E9EE"/>
          </a:solidFill>
          <a:ln w="13970">
            <a:solidFill>
              <a:srgbClr val="8C1D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E04FF7C8-37C2-F568-82BB-13CDDE3605D9}"/>
              </a:ext>
            </a:extLst>
          </p:cNvPr>
          <p:cNvSpPr txBox="1"/>
          <p:nvPr/>
        </p:nvSpPr>
        <p:spPr>
          <a:xfrm>
            <a:off x="685800" y="1701800"/>
            <a:ext cx="3175000" cy="184666"/>
          </a:xfrm>
          <a:prstGeom prst="rect">
            <a:avLst/>
          </a:prstGeom>
          <a:noFill/>
        </p:spPr>
        <p:txBody>
          <a:bodyPr vert="horz" wrap="square" lIns="0" tIns="0" rIns="0" bIns="0" rtlCol="0">
            <a:spAutoFit/>
          </a:bodyPr>
          <a:lstStyle/>
          <a:p>
            <a:r>
              <a:rPr lang="en-US" sz="1200" b="1">
                <a:solidFill>
                  <a:srgbClr val="8C1D40"/>
                </a:solidFill>
                <a:latin typeface="Aptos" panose="020B0004020202020204" pitchFamily="34" charset="0"/>
              </a:rPr>
              <a:t>Near-human VLM performance</a:t>
            </a:r>
          </a:p>
        </p:txBody>
      </p:sp>
      <p:sp>
        <p:nvSpPr>
          <p:cNvPr id="10" name="TextBox 9">
            <a:extLst>
              <a:ext uri="{FF2B5EF4-FFF2-40B4-BE49-F238E27FC236}">
                <a16:creationId xmlns:a16="http://schemas.microsoft.com/office/drawing/2014/main" id="{8A3254BB-73BE-0E18-459B-07866410954A}"/>
              </a:ext>
            </a:extLst>
          </p:cNvPr>
          <p:cNvSpPr txBox="1"/>
          <p:nvPr/>
        </p:nvSpPr>
        <p:spPr>
          <a:xfrm>
            <a:off x="685800" y="2006600"/>
            <a:ext cx="3175000" cy="461665"/>
          </a:xfrm>
          <a:prstGeom prst="rect">
            <a:avLst/>
          </a:prstGeom>
          <a:noFill/>
        </p:spPr>
        <p:txBody>
          <a:bodyPr vert="horz" wrap="square" lIns="0" tIns="0" rIns="0" bIns="0" rtlCol="0">
            <a:spAutoFit/>
          </a:bodyPr>
          <a:lstStyle/>
          <a:p>
            <a:r>
              <a:rPr lang="en-US" sz="1000">
                <a:solidFill>
                  <a:srgbClr val="1C1C1C"/>
                </a:solidFill>
                <a:latin typeface="Aptos" panose="020B0004020202020204" pitchFamily="34" charset="0"/>
              </a:rPr>
              <a:t>Gemini-3-pro-preview and Gemini-3.1-pro-preview reached 95.45% accuracy, only 2.8% below human accuracy at 98.25%.</a:t>
            </a:r>
          </a:p>
        </p:txBody>
      </p:sp>
      <p:sp>
        <p:nvSpPr>
          <p:cNvPr id="11" name="Rectangle: Rounded Corners 10">
            <a:extLst>
              <a:ext uri="{FF2B5EF4-FFF2-40B4-BE49-F238E27FC236}">
                <a16:creationId xmlns:a16="http://schemas.microsoft.com/office/drawing/2014/main" id="{882B0516-D43A-CAB4-E0A2-C41E1401D44D}"/>
              </a:ext>
            </a:extLst>
          </p:cNvPr>
          <p:cNvSpPr/>
          <p:nvPr/>
        </p:nvSpPr>
        <p:spPr>
          <a:xfrm>
            <a:off x="4318000" y="1549400"/>
            <a:ext cx="3530600" cy="1473200"/>
          </a:xfrm>
          <a:prstGeom prst="roundRect">
            <a:avLst/>
          </a:prstGeom>
          <a:solidFill>
            <a:srgbClr val="E8F1F9"/>
          </a:solidFill>
          <a:ln w="13970">
            <a:solidFill>
              <a:srgbClr val="4984C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B7BA965E-9E73-E14C-8DA3-2445499CF3F6}"/>
              </a:ext>
            </a:extLst>
          </p:cNvPr>
          <p:cNvSpPr txBox="1"/>
          <p:nvPr/>
        </p:nvSpPr>
        <p:spPr>
          <a:xfrm>
            <a:off x="4495800" y="1701800"/>
            <a:ext cx="3175000" cy="369332"/>
          </a:xfrm>
          <a:prstGeom prst="rect">
            <a:avLst/>
          </a:prstGeom>
          <a:noFill/>
        </p:spPr>
        <p:txBody>
          <a:bodyPr vert="horz" wrap="square" lIns="0" tIns="0" rIns="0" bIns="0" rtlCol="0">
            <a:spAutoFit/>
          </a:bodyPr>
          <a:lstStyle/>
          <a:p>
            <a:r>
              <a:rPr lang="en-US" sz="1200" b="1">
                <a:solidFill>
                  <a:srgbClr val="4984CB"/>
                </a:solidFill>
                <a:latin typeface="Aptos" panose="020B0004020202020204" pitchFamily="34" charset="0"/>
              </a:rPr>
              <a:t>Temporal stability improves with model strength</a:t>
            </a:r>
          </a:p>
        </p:txBody>
      </p:sp>
      <p:sp>
        <p:nvSpPr>
          <p:cNvPr id="14" name="TextBox 13">
            <a:extLst>
              <a:ext uri="{FF2B5EF4-FFF2-40B4-BE49-F238E27FC236}">
                <a16:creationId xmlns:a16="http://schemas.microsoft.com/office/drawing/2014/main" id="{186504F4-CE0F-5241-A01E-1DB15C2220A7}"/>
              </a:ext>
            </a:extLst>
          </p:cNvPr>
          <p:cNvSpPr txBox="1"/>
          <p:nvPr/>
        </p:nvSpPr>
        <p:spPr>
          <a:xfrm>
            <a:off x="4495800" y="2006600"/>
            <a:ext cx="3175000" cy="307777"/>
          </a:xfrm>
          <a:prstGeom prst="rect">
            <a:avLst/>
          </a:prstGeom>
          <a:noFill/>
        </p:spPr>
        <p:txBody>
          <a:bodyPr vert="horz" wrap="square" lIns="0" tIns="0" rIns="0" bIns="0" rtlCol="0">
            <a:spAutoFit/>
          </a:bodyPr>
          <a:lstStyle/>
          <a:p>
            <a:r>
              <a:rPr lang="en-US" sz="1000">
                <a:solidFill>
                  <a:srgbClr val="1C1C1C"/>
                </a:solidFill>
                <a:latin typeface="Aptos" panose="020B0004020202020204" pitchFamily="34" charset="0"/>
              </a:rPr>
              <a:t>The Gemini 3 Pro models showed only 1 choice flip across all 8 videos, compared with 6 for Flash.</a:t>
            </a:r>
          </a:p>
        </p:txBody>
      </p:sp>
      <p:sp>
        <p:nvSpPr>
          <p:cNvPr id="15" name="Rectangle: Rounded Corners 14">
            <a:extLst>
              <a:ext uri="{FF2B5EF4-FFF2-40B4-BE49-F238E27FC236}">
                <a16:creationId xmlns:a16="http://schemas.microsoft.com/office/drawing/2014/main" id="{41856D76-DB60-0662-F624-1D2CECA6D589}"/>
              </a:ext>
            </a:extLst>
          </p:cNvPr>
          <p:cNvSpPr/>
          <p:nvPr/>
        </p:nvSpPr>
        <p:spPr>
          <a:xfrm>
            <a:off x="8128000" y="1549400"/>
            <a:ext cx="3530600" cy="1473200"/>
          </a:xfrm>
          <a:prstGeom prst="roundRect">
            <a:avLst/>
          </a:prstGeom>
          <a:solidFill>
            <a:srgbClr val="EBF5EC"/>
          </a:solidFill>
          <a:ln w="13970">
            <a:solidFill>
              <a:srgbClr val="5B99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8E67D021-24AA-B895-F2BB-9B6530A1C860}"/>
              </a:ext>
            </a:extLst>
          </p:cNvPr>
          <p:cNvSpPr txBox="1"/>
          <p:nvPr/>
        </p:nvSpPr>
        <p:spPr>
          <a:xfrm>
            <a:off x="8305800" y="1701800"/>
            <a:ext cx="3175000" cy="184666"/>
          </a:xfrm>
          <a:prstGeom prst="rect">
            <a:avLst/>
          </a:prstGeom>
          <a:noFill/>
        </p:spPr>
        <p:txBody>
          <a:bodyPr vert="horz" wrap="square" lIns="0" tIns="0" rIns="0" bIns="0" rtlCol="0">
            <a:spAutoFit/>
          </a:bodyPr>
          <a:lstStyle/>
          <a:p>
            <a:r>
              <a:rPr lang="en-US" sz="1200" b="1">
                <a:solidFill>
                  <a:srgbClr val="5B995D"/>
                </a:solidFill>
                <a:latin typeface="Aptos" panose="020B0004020202020204" pitchFamily="34" charset="0"/>
              </a:rPr>
              <a:t>Prefix frames help every model</a:t>
            </a:r>
          </a:p>
        </p:txBody>
      </p:sp>
      <p:sp>
        <p:nvSpPr>
          <p:cNvPr id="18" name="TextBox 17">
            <a:extLst>
              <a:ext uri="{FF2B5EF4-FFF2-40B4-BE49-F238E27FC236}">
                <a16:creationId xmlns:a16="http://schemas.microsoft.com/office/drawing/2014/main" id="{126A6DC3-9A64-536E-36A8-D57F3E25184D}"/>
              </a:ext>
            </a:extLst>
          </p:cNvPr>
          <p:cNvSpPr txBox="1"/>
          <p:nvPr/>
        </p:nvSpPr>
        <p:spPr>
          <a:xfrm>
            <a:off x="8305800" y="2006600"/>
            <a:ext cx="3175000" cy="461665"/>
          </a:xfrm>
          <a:prstGeom prst="rect">
            <a:avLst/>
          </a:prstGeom>
          <a:noFill/>
        </p:spPr>
        <p:txBody>
          <a:bodyPr vert="horz" wrap="square" lIns="0" tIns="0" rIns="0" bIns="0" rtlCol="0">
            <a:spAutoFit/>
          </a:bodyPr>
          <a:lstStyle/>
          <a:p>
            <a:r>
              <a:rPr lang="en-US" sz="1000">
                <a:solidFill>
                  <a:srgbClr val="1C1C1C"/>
                </a:solidFill>
                <a:latin typeface="Aptos" panose="020B0004020202020204" pitchFamily="34" charset="0"/>
              </a:rPr>
              <a:t>Cumulative temporal context consistently improved accuracy over single-frame prompting for every model tested.</a:t>
            </a:r>
          </a:p>
        </p:txBody>
      </p:sp>
      <p:sp>
        <p:nvSpPr>
          <p:cNvPr id="19" name="Rectangle: Rounded Corners 18">
            <a:extLst>
              <a:ext uri="{FF2B5EF4-FFF2-40B4-BE49-F238E27FC236}">
                <a16:creationId xmlns:a16="http://schemas.microsoft.com/office/drawing/2014/main" id="{4A8B311B-6287-40DE-3ECD-1F8DA9C0EFBC}"/>
              </a:ext>
            </a:extLst>
          </p:cNvPr>
          <p:cNvSpPr/>
          <p:nvPr/>
        </p:nvSpPr>
        <p:spPr>
          <a:xfrm>
            <a:off x="508000" y="3352800"/>
            <a:ext cx="5461000" cy="1600200"/>
          </a:xfrm>
          <a:prstGeom prst="roundRect">
            <a:avLst/>
          </a:prstGeom>
          <a:solidFill>
            <a:srgbClr val="F6EEDB"/>
          </a:solidFill>
          <a:ln w="13970">
            <a:solidFill>
              <a:srgbClr val="E68F2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52B0A6E7-5134-D51A-ABAC-2D714F355839}"/>
              </a:ext>
            </a:extLst>
          </p:cNvPr>
          <p:cNvSpPr txBox="1"/>
          <p:nvPr/>
        </p:nvSpPr>
        <p:spPr>
          <a:xfrm>
            <a:off x="685800" y="3505200"/>
            <a:ext cx="5105400" cy="184666"/>
          </a:xfrm>
          <a:prstGeom prst="rect">
            <a:avLst/>
          </a:prstGeom>
          <a:noFill/>
        </p:spPr>
        <p:txBody>
          <a:bodyPr vert="horz" wrap="square" lIns="0" tIns="0" rIns="0" bIns="0" rtlCol="0">
            <a:spAutoFit/>
          </a:bodyPr>
          <a:lstStyle/>
          <a:p>
            <a:r>
              <a:rPr lang="en-US" sz="1200" b="1">
                <a:solidFill>
                  <a:srgbClr val="E68F2E"/>
                </a:solidFill>
                <a:latin typeface="Aptos" panose="020B0004020202020204" pitchFamily="34" charset="0"/>
              </a:rPr>
              <a:t>Primary failure mode is spatial disambiguation</a:t>
            </a:r>
          </a:p>
        </p:txBody>
      </p:sp>
      <p:sp>
        <p:nvSpPr>
          <p:cNvPr id="21" name="TextBox 20">
            <a:extLst>
              <a:ext uri="{FF2B5EF4-FFF2-40B4-BE49-F238E27FC236}">
                <a16:creationId xmlns:a16="http://schemas.microsoft.com/office/drawing/2014/main" id="{E8B5D9F0-BB8B-3FE7-7B8E-C92A3ED526C6}"/>
              </a:ext>
            </a:extLst>
          </p:cNvPr>
          <p:cNvSpPr txBox="1"/>
          <p:nvPr/>
        </p:nvSpPr>
        <p:spPr>
          <a:xfrm>
            <a:off x="685800" y="3810000"/>
            <a:ext cx="5105400" cy="307777"/>
          </a:xfrm>
          <a:prstGeom prst="rect">
            <a:avLst/>
          </a:prstGeom>
          <a:noFill/>
        </p:spPr>
        <p:txBody>
          <a:bodyPr vert="horz" wrap="square" lIns="0" tIns="0" rIns="0" bIns="0" rtlCol="0">
            <a:spAutoFit/>
          </a:bodyPr>
          <a:lstStyle/>
          <a:p>
            <a:r>
              <a:rPr lang="en-US" sz="1000">
                <a:solidFill>
                  <a:srgbClr val="1C1C1C"/>
                </a:solidFill>
                <a:latin typeface="Aptos" panose="020B0004020202020204" pitchFamily="34" charset="0"/>
              </a:rPr>
              <a:t>The hardest cases were left-right block confusion and top-bottom drawer confusion. All models failed on the amb_to_drawer_close video.</a:t>
            </a:r>
          </a:p>
        </p:txBody>
      </p:sp>
      <p:sp>
        <p:nvSpPr>
          <p:cNvPr id="22" name="Rectangle: Rounded Corners 21">
            <a:extLst>
              <a:ext uri="{FF2B5EF4-FFF2-40B4-BE49-F238E27FC236}">
                <a16:creationId xmlns:a16="http://schemas.microsoft.com/office/drawing/2014/main" id="{A1F43728-6CFC-DFA2-E50F-02D9EF8BF48F}"/>
              </a:ext>
            </a:extLst>
          </p:cNvPr>
          <p:cNvSpPr/>
          <p:nvPr/>
        </p:nvSpPr>
        <p:spPr>
          <a:xfrm>
            <a:off x="6223000" y="3352800"/>
            <a:ext cx="5435600" cy="1600200"/>
          </a:xfrm>
          <a:prstGeom prst="roundRect">
            <a:avLst/>
          </a:prstGeom>
          <a:solidFill>
            <a:srgbClr val="F4F2EE"/>
          </a:solidFill>
          <a:ln w="13970">
            <a:solidFill>
              <a:srgbClr val="2E86A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3BBCDEA7-DD2E-F713-783D-C4C589C32016}"/>
              </a:ext>
            </a:extLst>
          </p:cNvPr>
          <p:cNvSpPr txBox="1"/>
          <p:nvPr/>
        </p:nvSpPr>
        <p:spPr>
          <a:xfrm>
            <a:off x="6400800" y="3505200"/>
            <a:ext cx="5080000" cy="184666"/>
          </a:xfrm>
          <a:prstGeom prst="rect">
            <a:avLst/>
          </a:prstGeom>
          <a:noFill/>
        </p:spPr>
        <p:txBody>
          <a:bodyPr vert="horz" wrap="square" lIns="0" tIns="0" rIns="0" bIns="0" rtlCol="0">
            <a:spAutoFit/>
          </a:bodyPr>
          <a:lstStyle/>
          <a:p>
            <a:r>
              <a:rPr lang="en-US" sz="1200" b="1">
                <a:solidFill>
                  <a:srgbClr val="2E86AB"/>
                </a:solidFill>
                <a:latin typeface="Aptos" panose="020B0004020202020204" pitchFamily="34" charset="0"/>
              </a:rPr>
              <a:t>Model generation matters more than minor version</a:t>
            </a:r>
          </a:p>
        </p:txBody>
      </p:sp>
      <p:sp>
        <p:nvSpPr>
          <p:cNvPr id="24" name="TextBox 23">
            <a:extLst>
              <a:ext uri="{FF2B5EF4-FFF2-40B4-BE49-F238E27FC236}">
                <a16:creationId xmlns:a16="http://schemas.microsoft.com/office/drawing/2014/main" id="{725146D3-7EB1-4AAC-DDA4-29FE1862D1AC}"/>
              </a:ext>
            </a:extLst>
          </p:cNvPr>
          <p:cNvSpPr txBox="1"/>
          <p:nvPr/>
        </p:nvSpPr>
        <p:spPr>
          <a:xfrm>
            <a:off x="6400800" y="3810000"/>
            <a:ext cx="5080000" cy="307777"/>
          </a:xfrm>
          <a:prstGeom prst="rect">
            <a:avLst/>
          </a:prstGeom>
          <a:noFill/>
        </p:spPr>
        <p:txBody>
          <a:bodyPr vert="horz" wrap="square" lIns="0" tIns="0" rIns="0" bIns="0" rtlCol="0">
            <a:spAutoFit/>
          </a:bodyPr>
          <a:lstStyle/>
          <a:p>
            <a:r>
              <a:rPr lang="en-US" sz="1000">
                <a:solidFill>
                  <a:srgbClr val="1C1C1C"/>
                </a:solidFill>
                <a:latin typeface="Aptos" panose="020B0004020202020204" pitchFamily="34" charset="0"/>
              </a:rPr>
              <a:t>Gemini-2.5-pro achieved 76.5%, far below Gemini-3-pro-preview at 95.45%, while the 3.0 to 3.1 change produced no measurable gain.</a:t>
            </a:r>
          </a:p>
        </p:txBody>
      </p:sp>
      <p:sp>
        <p:nvSpPr>
          <p:cNvPr id="25" name="Rectangle: Rounded Corners 24">
            <a:extLst>
              <a:ext uri="{FF2B5EF4-FFF2-40B4-BE49-F238E27FC236}">
                <a16:creationId xmlns:a16="http://schemas.microsoft.com/office/drawing/2014/main" id="{68205A6F-D52F-4BF7-10BE-1E377F4F1A19}"/>
              </a:ext>
            </a:extLst>
          </p:cNvPr>
          <p:cNvSpPr/>
          <p:nvPr/>
        </p:nvSpPr>
        <p:spPr>
          <a:xfrm>
            <a:off x="508000" y="5232400"/>
            <a:ext cx="11150600" cy="1193800"/>
          </a:xfrm>
          <a:prstGeom prst="roundRect">
            <a:avLst/>
          </a:prstGeom>
          <a:solidFill>
            <a:srgbClr val="FFFFFF"/>
          </a:solidFill>
          <a:ln w="13970">
            <a:solidFill>
              <a:srgbClr val="FFC62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AD80CBC0-D511-E3B0-204A-AF4C30AE3841}"/>
              </a:ext>
            </a:extLst>
          </p:cNvPr>
          <p:cNvSpPr txBox="1"/>
          <p:nvPr/>
        </p:nvSpPr>
        <p:spPr>
          <a:xfrm>
            <a:off x="685800" y="5384800"/>
            <a:ext cx="10795000" cy="184666"/>
          </a:xfrm>
          <a:prstGeom prst="rect">
            <a:avLst/>
          </a:prstGeom>
          <a:noFill/>
        </p:spPr>
        <p:txBody>
          <a:bodyPr vert="horz" wrap="square" lIns="0" tIns="0" rIns="0" bIns="0" rtlCol="0">
            <a:spAutoFit/>
          </a:bodyPr>
          <a:lstStyle/>
          <a:p>
            <a:r>
              <a:rPr lang="en-US" sz="1200" b="1">
                <a:solidFill>
                  <a:srgbClr val="FFC627"/>
                </a:solidFill>
                <a:latin typeface="Aptos" panose="020B0004020202020204" pitchFamily="34" charset="0"/>
              </a:rPr>
              <a:t>Overall conclusion</a:t>
            </a:r>
          </a:p>
        </p:txBody>
      </p:sp>
      <p:sp>
        <p:nvSpPr>
          <p:cNvPr id="27" name="TextBox 26">
            <a:extLst>
              <a:ext uri="{FF2B5EF4-FFF2-40B4-BE49-F238E27FC236}">
                <a16:creationId xmlns:a16="http://schemas.microsoft.com/office/drawing/2014/main" id="{134691A1-1158-4E39-1D65-375560AB9BE0}"/>
              </a:ext>
            </a:extLst>
          </p:cNvPr>
          <p:cNvSpPr txBox="1"/>
          <p:nvPr/>
        </p:nvSpPr>
        <p:spPr>
          <a:xfrm>
            <a:off x="685800" y="5689600"/>
            <a:ext cx="10795000" cy="169277"/>
          </a:xfrm>
          <a:prstGeom prst="rect">
            <a:avLst/>
          </a:prstGeom>
          <a:noFill/>
        </p:spPr>
        <p:txBody>
          <a:bodyPr vert="horz" wrap="square" lIns="0" tIns="0" rIns="0" bIns="0" rtlCol="0">
            <a:spAutoFit/>
          </a:bodyPr>
          <a:lstStyle/>
          <a:p>
            <a:r>
              <a:rPr lang="en-US" sz="1100">
                <a:solidFill>
                  <a:srgbClr val="1C1C1C"/>
                </a:solidFill>
                <a:latin typeface="Aptos" panose="020B0004020202020204" pitchFamily="34" charset="0"/>
              </a:rPr>
              <a:t>Modern VLMs can plausibly act as scalable legibility critics, but their weakest point is still geometric and spatial reasoning in ambiguous scenes.</a:t>
            </a:r>
          </a:p>
        </p:txBody>
      </p:sp>
    </p:spTree>
    <p:extLst>
      <p:ext uri="{BB962C8B-B14F-4D97-AF65-F5344CB8AC3E}">
        <p14:creationId xmlns:p14="http://schemas.microsoft.com/office/powerpoint/2010/main" val="5171800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BF8F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EAF3CD-0BEF-BF53-9B7B-F512C10C5142}"/>
              </a:ext>
            </a:extLst>
          </p:cNvPr>
          <p:cNvSpPr/>
          <p:nvPr/>
        </p:nvSpPr>
        <p:spPr>
          <a:xfrm>
            <a:off x="0" y="0"/>
            <a:ext cx="12192000" cy="6858000"/>
          </a:xfrm>
          <a:prstGeom prst="rect">
            <a:avLst/>
          </a:prstGeom>
          <a:solidFill>
            <a:srgbClr val="F8F6F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724EECE-3F6C-A39A-489E-8A0E6E1B4ADD}"/>
              </a:ext>
            </a:extLst>
          </p:cNvPr>
          <p:cNvSpPr txBox="1"/>
          <p:nvPr/>
        </p:nvSpPr>
        <p:spPr>
          <a:xfrm>
            <a:off x="508000" y="355600"/>
            <a:ext cx="9906000" cy="430887"/>
          </a:xfrm>
          <a:prstGeom prst="rect">
            <a:avLst/>
          </a:prstGeom>
          <a:noFill/>
        </p:spPr>
        <p:txBody>
          <a:bodyPr vert="horz" wrap="square" lIns="0" tIns="0" rIns="0" bIns="0" rtlCol="0">
            <a:spAutoFit/>
          </a:bodyPr>
          <a:lstStyle/>
          <a:p>
            <a:r>
              <a:rPr lang="en-US" sz="2800" b="1">
                <a:solidFill>
                  <a:srgbClr val="1C1C1C"/>
                </a:solidFill>
                <a:latin typeface="Aptos" panose="020B0004020202020204" pitchFamily="34" charset="0"/>
              </a:rPr>
              <a:t>Summary of Findings: Multimodal Policy</a:t>
            </a:r>
          </a:p>
        </p:txBody>
      </p:sp>
      <p:sp>
        <p:nvSpPr>
          <p:cNvPr id="4" name="TextBox 3">
            <a:extLst>
              <a:ext uri="{FF2B5EF4-FFF2-40B4-BE49-F238E27FC236}">
                <a16:creationId xmlns:a16="http://schemas.microsoft.com/office/drawing/2014/main" id="{33DA12A8-098B-2648-40D5-4BED9D65E5FC}"/>
              </a:ext>
            </a:extLst>
          </p:cNvPr>
          <p:cNvSpPr txBox="1"/>
          <p:nvPr/>
        </p:nvSpPr>
        <p:spPr>
          <a:xfrm>
            <a:off x="508000" y="800100"/>
            <a:ext cx="10922000" cy="169277"/>
          </a:xfrm>
          <a:prstGeom prst="rect">
            <a:avLst/>
          </a:prstGeom>
          <a:noFill/>
        </p:spPr>
        <p:txBody>
          <a:bodyPr vert="horz" wrap="square" lIns="0" tIns="0" rIns="0" bIns="0" rtlCol="0">
            <a:spAutoFit/>
          </a:bodyPr>
          <a:lstStyle/>
          <a:p>
            <a:r>
              <a:rPr lang="en-US" sz="1100">
                <a:solidFill>
                  <a:srgbClr val="5C5C5C"/>
                </a:solidFill>
                <a:latin typeface="Aptos" panose="020B0004020202020204" pitchFamily="34" charset="0"/>
              </a:rPr>
              <a:t>Main takeaways from the diffusion-policy steering and reranking experiments</a:t>
            </a:r>
          </a:p>
        </p:txBody>
      </p:sp>
      <p:sp>
        <p:nvSpPr>
          <p:cNvPr id="5" name="Rectangle 4">
            <a:extLst>
              <a:ext uri="{FF2B5EF4-FFF2-40B4-BE49-F238E27FC236}">
                <a16:creationId xmlns:a16="http://schemas.microsoft.com/office/drawing/2014/main" id="{969A85CE-853B-C292-51CE-068C149E8CCC}"/>
              </a:ext>
            </a:extLst>
          </p:cNvPr>
          <p:cNvSpPr/>
          <p:nvPr/>
        </p:nvSpPr>
        <p:spPr>
          <a:xfrm>
            <a:off x="508000" y="1168400"/>
            <a:ext cx="11176000" cy="50800"/>
          </a:xfrm>
          <a:prstGeom prst="rect">
            <a:avLst/>
          </a:prstGeom>
          <a:solidFill>
            <a:srgbClr val="FFC62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B7FA52CE-43D0-1044-2184-58C294524894}"/>
              </a:ext>
            </a:extLst>
          </p:cNvPr>
          <p:cNvSpPr txBox="1"/>
          <p:nvPr/>
        </p:nvSpPr>
        <p:spPr>
          <a:xfrm>
            <a:off x="11430000" y="381000"/>
            <a:ext cx="254000" cy="153888"/>
          </a:xfrm>
          <a:prstGeom prst="rect">
            <a:avLst/>
          </a:prstGeom>
          <a:noFill/>
        </p:spPr>
        <p:txBody>
          <a:bodyPr vert="horz" wrap="square" lIns="0" tIns="0" rIns="0" bIns="0" rtlCol="0">
            <a:spAutoFit/>
          </a:bodyPr>
          <a:lstStyle/>
          <a:p>
            <a:pPr algn="r"/>
            <a:r>
              <a:rPr lang="en-US" sz="1000">
                <a:solidFill>
                  <a:srgbClr val="5C5C5C"/>
                </a:solidFill>
                <a:latin typeface="Aptos" panose="020B0004020202020204" pitchFamily="34" charset="0"/>
              </a:rPr>
              <a:t>45</a:t>
            </a:r>
          </a:p>
        </p:txBody>
      </p:sp>
      <p:sp>
        <p:nvSpPr>
          <p:cNvPr id="7" name="Rectangle: Rounded Corners 6">
            <a:extLst>
              <a:ext uri="{FF2B5EF4-FFF2-40B4-BE49-F238E27FC236}">
                <a16:creationId xmlns:a16="http://schemas.microsoft.com/office/drawing/2014/main" id="{6CD7D40A-9A04-A485-BAAB-039D8D7AA50E}"/>
              </a:ext>
            </a:extLst>
          </p:cNvPr>
          <p:cNvSpPr/>
          <p:nvPr/>
        </p:nvSpPr>
        <p:spPr>
          <a:xfrm>
            <a:off x="508000" y="1651000"/>
            <a:ext cx="11150600" cy="1168400"/>
          </a:xfrm>
          <a:prstGeom prst="roundRect">
            <a:avLst/>
          </a:prstGeom>
          <a:solidFill>
            <a:srgbClr val="F5E9EE"/>
          </a:solidFill>
          <a:ln w="13970">
            <a:solidFill>
              <a:srgbClr val="8C1D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60301CC2-3C6E-49E8-E013-270232D306E7}"/>
              </a:ext>
            </a:extLst>
          </p:cNvPr>
          <p:cNvSpPr txBox="1"/>
          <p:nvPr/>
        </p:nvSpPr>
        <p:spPr>
          <a:xfrm>
            <a:off x="685800" y="1803400"/>
            <a:ext cx="10795000" cy="184666"/>
          </a:xfrm>
          <a:prstGeom prst="rect">
            <a:avLst/>
          </a:prstGeom>
          <a:noFill/>
        </p:spPr>
        <p:txBody>
          <a:bodyPr vert="horz" wrap="square" lIns="0" tIns="0" rIns="0" bIns="0" rtlCol="0">
            <a:spAutoFit/>
          </a:bodyPr>
          <a:lstStyle/>
          <a:p>
            <a:r>
              <a:rPr lang="en-US" sz="1200" b="1">
                <a:solidFill>
                  <a:srgbClr val="8C1D40"/>
                </a:solidFill>
                <a:latin typeface="Aptos" panose="020B0004020202020204" pitchFamily="34" charset="0"/>
              </a:rPr>
              <a:t>CFG enables multi-behavior steering without retraining</a:t>
            </a:r>
          </a:p>
        </p:txBody>
      </p:sp>
      <p:sp>
        <p:nvSpPr>
          <p:cNvPr id="9" name="TextBox 8">
            <a:extLst>
              <a:ext uri="{FF2B5EF4-FFF2-40B4-BE49-F238E27FC236}">
                <a16:creationId xmlns:a16="http://schemas.microsoft.com/office/drawing/2014/main" id="{E46D3FED-D585-AE7D-E294-E115AE9210EF}"/>
              </a:ext>
            </a:extLst>
          </p:cNvPr>
          <p:cNvSpPr txBox="1"/>
          <p:nvPr/>
        </p:nvSpPr>
        <p:spPr>
          <a:xfrm>
            <a:off x="685800" y="2108200"/>
            <a:ext cx="10795000" cy="169277"/>
          </a:xfrm>
          <a:prstGeom prst="rect">
            <a:avLst/>
          </a:prstGeom>
          <a:noFill/>
        </p:spPr>
        <p:txBody>
          <a:bodyPr vert="horz" wrap="square" lIns="0" tIns="0" rIns="0" bIns="0" rtlCol="0">
            <a:spAutoFit/>
          </a:bodyPr>
          <a:lstStyle/>
          <a:p>
            <a:r>
              <a:rPr lang="en-US" sz="1100">
                <a:solidFill>
                  <a:srgbClr val="1C1C1C"/>
                </a:solidFill>
                <a:latin typeface="Aptos" panose="020B0004020202020204" pitchFamily="34" charset="0"/>
              </a:rPr>
              <a:t>A single 8.8M-parameter policy with lambda = 2.0 achieved roughly 90 to 100% success across all four behaviors at inference time.</a:t>
            </a:r>
          </a:p>
        </p:txBody>
      </p:sp>
      <p:sp>
        <p:nvSpPr>
          <p:cNvPr id="10" name="Rectangle: Rounded Corners 9">
            <a:extLst>
              <a:ext uri="{FF2B5EF4-FFF2-40B4-BE49-F238E27FC236}">
                <a16:creationId xmlns:a16="http://schemas.microsoft.com/office/drawing/2014/main" id="{6AC31BB8-A5A3-DBAD-610A-BB4213256E06}"/>
              </a:ext>
            </a:extLst>
          </p:cNvPr>
          <p:cNvSpPr/>
          <p:nvPr/>
        </p:nvSpPr>
        <p:spPr>
          <a:xfrm>
            <a:off x="508000" y="3048000"/>
            <a:ext cx="11150600" cy="1168400"/>
          </a:xfrm>
          <a:prstGeom prst="roundRect">
            <a:avLst/>
          </a:prstGeom>
          <a:solidFill>
            <a:srgbClr val="E8F1F9"/>
          </a:solidFill>
          <a:ln w="13970">
            <a:solidFill>
              <a:srgbClr val="4984C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43DAD173-568F-578F-6786-1EC835F23FC0}"/>
              </a:ext>
            </a:extLst>
          </p:cNvPr>
          <p:cNvSpPr txBox="1"/>
          <p:nvPr/>
        </p:nvSpPr>
        <p:spPr>
          <a:xfrm>
            <a:off x="685800" y="3200400"/>
            <a:ext cx="10795000" cy="184666"/>
          </a:xfrm>
          <a:prstGeom prst="rect">
            <a:avLst/>
          </a:prstGeom>
          <a:noFill/>
        </p:spPr>
        <p:txBody>
          <a:bodyPr vert="horz" wrap="square" lIns="0" tIns="0" rIns="0" bIns="0" rtlCol="0">
            <a:spAutoFit/>
          </a:bodyPr>
          <a:lstStyle/>
          <a:p>
            <a:r>
              <a:rPr lang="en-US" sz="1200" b="1">
                <a:solidFill>
                  <a:srgbClr val="4984CB"/>
                </a:solidFill>
                <a:latin typeface="Aptos" panose="020B0004020202020204" pitchFamily="34" charset="0"/>
              </a:rPr>
              <a:t>VLM reranking gives the strongest gain for legibility</a:t>
            </a:r>
          </a:p>
        </p:txBody>
      </p:sp>
      <p:sp>
        <p:nvSpPr>
          <p:cNvPr id="12" name="TextBox 11">
            <a:extLst>
              <a:ext uri="{FF2B5EF4-FFF2-40B4-BE49-F238E27FC236}">
                <a16:creationId xmlns:a16="http://schemas.microsoft.com/office/drawing/2014/main" id="{48A97D93-E8BB-6F3E-0FFE-727F48C12876}"/>
              </a:ext>
            </a:extLst>
          </p:cNvPr>
          <p:cNvSpPr txBox="1"/>
          <p:nvPr/>
        </p:nvSpPr>
        <p:spPr>
          <a:xfrm>
            <a:off x="685800" y="3505200"/>
            <a:ext cx="10795000" cy="169277"/>
          </a:xfrm>
          <a:prstGeom prst="rect">
            <a:avLst/>
          </a:prstGeom>
          <a:noFill/>
        </p:spPr>
        <p:txBody>
          <a:bodyPr vert="horz" wrap="square" lIns="0" tIns="0" rIns="0" bIns="0" rtlCol="0">
            <a:spAutoFit/>
          </a:bodyPr>
          <a:lstStyle/>
          <a:p>
            <a:r>
              <a:rPr lang="en-US" sz="1100">
                <a:solidFill>
                  <a:srgbClr val="1C1C1C"/>
                </a:solidFill>
                <a:latin typeface="Aptos" panose="020B0004020202020204" pitchFamily="34" charset="0"/>
              </a:rPr>
              <a:t>Gemini 3 Pro Best-of-4 improved legibility from 40% to 100%, with a discrimination gap of +0.629.</a:t>
            </a:r>
          </a:p>
        </p:txBody>
      </p:sp>
      <p:sp>
        <p:nvSpPr>
          <p:cNvPr id="13" name="Rectangle: Rounded Corners 12">
            <a:extLst>
              <a:ext uri="{FF2B5EF4-FFF2-40B4-BE49-F238E27FC236}">
                <a16:creationId xmlns:a16="http://schemas.microsoft.com/office/drawing/2014/main" id="{A079A3AD-365A-DFB9-6CCF-7121E8C82303}"/>
              </a:ext>
            </a:extLst>
          </p:cNvPr>
          <p:cNvSpPr/>
          <p:nvPr/>
        </p:nvSpPr>
        <p:spPr>
          <a:xfrm>
            <a:off x="508000" y="4445000"/>
            <a:ext cx="11150600" cy="1168400"/>
          </a:xfrm>
          <a:prstGeom prst="roundRect">
            <a:avLst/>
          </a:prstGeom>
          <a:solidFill>
            <a:srgbClr val="EBF5EC"/>
          </a:solidFill>
          <a:ln w="13970">
            <a:solidFill>
              <a:srgbClr val="5B99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4B7FF353-46F8-5B51-65C9-7E018E9668C0}"/>
              </a:ext>
            </a:extLst>
          </p:cNvPr>
          <p:cNvSpPr txBox="1"/>
          <p:nvPr/>
        </p:nvSpPr>
        <p:spPr>
          <a:xfrm>
            <a:off x="685800" y="4597400"/>
            <a:ext cx="10795000" cy="184666"/>
          </a:xfrm>
          <a:prstGeom prst="rect">
            <a:avLst/>
          </a:prstGeom>
          <a:noFill/>
        </p:spPr>
        <p:txBody>
          <a:bodyPr vert="horz" wrap="square" lIns="0" tIns="0" rIns="0" bIns="0" rtlCol="0">
            <a:spAutoFit/>
          </a:bodyPr>
          <a:lstStyle/>
          <a:p>
            <a:r>
              <a:rPr lang="en-US" sz="1200" b="1">
                <a:solidFill>
                  <a:srgbClr val="5B995D"/>
                </a:solidFill>
                <a:latin typeface="Aptos" panose="020B0004020202020204" pitchFamily="34" charset="0"/>
              </a:rPr>
              <a:t>Behavior-specific unconditional masking is critical</a:t>
            </a:r>
          </a:p>
        </p:txBody>
      </p:sp>
      <p:sp>
        <p:nvSpPr>
          <p:cNvPr id="15" name="TextBox 14">
            <a:extLst>
              <a:ext uri="{FF2B5EF4-FFF2-40B4-BE49-F238E27FC236}">
                <a16:creationId xmlns:a16="http://schemas.microsoft.com/office/drawing/2014/main" id="{F566219E-B8C2-9F4E-B9A8-E9B291183E06}"/>
              </a:ext>
            </a:extLst>
          </p:cNvPr>
          <p:cNvSpPr txBox="1"/>
          <p:nvPr/>
        </p:nvSpPr>
        <p:spPr>
          <a:xfrm>
            <a:off x="685800" y="4902200"/>
            <a:ext cx="10795000" cy="169277"/>
          </a:xfrm>
          <a:prstGeom prst="rect">
            <a:avLst/>
          </a:prstGeom>
          <a:noFill/>
        </p:spPr>
        <p:txBody>
          <a:bodyPr vert="horz" wrap="square" lIns="0" tIns="0" rIns="0" bIns="0" rtlCol="0">
            <a:spAutoFit/>
          </a:bodyPr>
          <a:lstStyle/>
          <a:p>
            <a:r>
              <a:rPr lang="en-US" sz="1100">
                <a:solidFill>
                  <a:srgbClr val="1C1C1C"/>
                </a:solidFill>
                <a:latin typeface="Aptos" panose="020B0004020202020204" pitchFamily="34" charset="0"/>
              </a:rPr>
              <a:t>Legibility and predictability need only the behavior-mode channel zeroed, while safety and grounding also require the context position to be zeroed.</a:t>
            </a:r>
          </a:p>
        </p:txBody>
      </p:sp>
      <p:sp>
        <p:nvSpPr>
          <p:cNvPr id="16" name="Rectangle: Rounded Corners 15">
            <a:extLst>
              <a:ext uri="{FF2B5EF4-FFF2-40B4-BE49-F238E27FC236}">
                <a16:creationId xmlns:a16="http://schemas.microsoft.com/office/drawing/2014/main" id="{97E2D017-AECC-5CF9-4AE6-05E5ED66494C}"/>
              </a:ext>
            </a:extLst>
          </p:cNvPr>
          <p:cNvSpPr/>
          <p:nvPr/>
        </p:nvSpPr>
        <p:spPr>
          <a:xfrm>
            <a:off x="508000" y="5816600"/>
            <a:ext cx="11150600" cy="685800"/>
          </a:xfrm>
          <a:prstGeom prst="roundRect">
            <a:avLst/>
          </a:prstGeom>
          <a:solidFill>
            <a:srgbClr val="FFFFFF"/>
          </a:solidFill>
          <a:ln w="13970">
            <a:solidFill>
              <a:srgbClr val="FFC62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90035462-D787-6F6B-9F64-425E8229FB8B}"/>
              </a:ext>
            </a:extLst>
          </p:cNvPr>
          <p:cNvSpPr txBox="1"/>
          <p:nvPr/>
        </p:nvSpPr>
        <p:spPr>
          <a:xfrm>
            <a:off x="685800" y="5969000"/>
            <a:ext cx="10795000" cy="184666"/>
          </a:xfrm>
          <a:prstGeom prst="rect">
            <a:avLst/>
          </a:prstGeom>
          <a:noFill/>
        </p:spPr>
        <p:txBody>
          <a:bodyPr vert="horz" wrap="square" lIns="0" tIns="0" rIns="0" bIns="0" rtlCol="0">
            <a:spAutoFit/>
          </a:bodyPr>
          <a:lstStyle/>
          <a:p>
            <a:r>
              <a:rPr lang="en-US" sz="1200" b="1">
                <a:solidFill>
                  <a:srgbClr val="FFC627"/>
                </a:solidFill>
                <a:latin typeface="Aptos" panose="020B0004020202020204" pitchFamily="34" charset="0"/>
              </a:rPr>
              <a:t>Practical takeaway</a:t>
            </a:r>
          </a:p>
        </p:txBody>
      </p:sp>
      <p:sp>
        <p:nvSpPr>
          <p:cNvPr id="18" name="TextBox 17">
            <a:extLst>
              <a:ext uri="{FF2B5EF4-FFF2-40B4-BE49-F238E27FC236}">
                <a16:creationId xmlns:a16="http://schemas.microsoft.com/office/drawing/2014/main" id="{B85FCAC7-6505-12E5-AEBE-47B9B1198FE1}"/>
              </a:ext>
            </a:extLst>
          </p:cNvPr>
          <p:cNvSpPr txBox="1"/>
          <p:nvPr/>
        </p:nvSpPr>
        <p:spPr>
          <a:xfrm>
            <a:off x="685800" y="6273800"/>
            <a:ext cx="10795000" cy="169277"/>
          </a:xfrm>
          <a:prstGeom prst="rect">
            <a:avLst/>
          </a:prstGeom>
          <a:noFill/>
        </p:spPr>
        <p:txBody>
          <a:bodyPr vert="horz" wrap="square" lIns="0" tIns="0" rIns="0" bIns="0" rtlCol="0">
            <a:spAutoFit/>
          </a:bodyPr>
          <a:lstStyle/>
          <a:p>
            <a:r>
              <a:rPr lang="en-US" sz="1100">
                <a:solidFill>
                  <a:srgbClr val="1C1C1C"/>
                </a:solidFill>
                <a:latin typeface="Aptos" panose="020B0004020202020204" pitchFamily="34" charset="0"/>
              </a:rPr>
              <a:t>A single policy can express multiple behaviors, but the strongest legibility improvement came from selection and reranking rather than from the base sampler alone.</a:t>
            </a:r>
          </a:p>
        </p:txBody>
      </p:sp>
    </p:spTree>
    <p:extLst>
      <p:ext uri="{BB962C8B-B14F-4D97-AF65-F5344CB8AC3E}">
        <p14:creationId xmlns:p14="http://schemas.microsoft.com/office/powerpoint/2010/main" val="305716028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BF8F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BE6AABF-515A-AAC6-5F44-62EED4013CED}"/>
              </a:ext>
            </a:extLst>
          </p:cNvPr>
          <p:cNvSpPr/>
          <p:nvPr/>
        </p:nvSpPr>
        <p:spPr>
          <a:xfrm>
            <a:off x="0" y="0"/>
            <a:ext cx="12192000" cy="6858000"/>
          </a:xfrm>
          <a:prstGeom prst="rect">
            <a:avLst/>
          </a:prstGeom>
          <a:solidFill>
            <a:srgbClr val="F8F6F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670D4AE8-3D91-1A29-AEB6-1585DEC33DDC}"/>
              </a:ext>
            </a:extLst>
          </p:cNvPr>
          <p:cNvSpPr txBox="1"/>
          <p:nvPr/>
        </p:nvSpPr>
        <p:spPr>
          <a:xfrm>
            <a:off x="508000" y="355600"/>
            <a:ext cx="9906000" cy="430887"/>
          </a:xfrm>
          <a:prstGeom prst="rect">
            <a:avLst/>
          </a:prstGeom>
          <a:noFill/>
        </p:spPr>
        <p:txBody>
          <a:bodyPr vert="horz" wrap="square" lIns="0" tIns="0" rIns="0" bIns="0" rtlCol="0">
            <a:spAutoFit/>
          </a:bodyPr>
          <a:lstStyle/>
          <a:p>
            <a:r>
              <a:rPr lang="en-US" sz="2800" b="1">
                <a:solidFill>
                  <a:srgbClr val="1C1C1C"/>
                </a:solidFill>
                <a:latin typeface="Aptos" panose="020B0004020202020204" pitchFamily="34" charset="0"/>
              </a:rPr>
              <a:t>Limitations</a:t>
            </a:r>
          </a:p>
        </p:txBody>
      </p:sp>
      <p:sp>
        <p:nvSpPr>
          <p:cNvPr id="4" name="TextBox 3">
            <a:extLst>
              <a:ext uri="{FF2B5EF4-FFF2-40B4-BE49-F238E27FC236}">
                <a16:creationId xmlns:a16="http://schemas.microsoft.com/office/drawing/2014/main" id="{920780F5-9276-0A14-2086-535A890DD009}"/>
              </a:ext>
            </a:extLst>
          </p:cNvPr>
          <p:cNvSpPr txBox="1"/>
          <p:nvPr/>
        </p:nvSpPr>
        <p:spPr>
          <a:xfrm>
            <a:off x="508000" y="800100"/>
            <a:ext cx="10922000" cy="169277"/>
          </a:xfrm>
          <a:prstGeom prst="rect">
            <a:avLst/>
          </a:prstGeom>
          <a:noFill/>
        </p:spPr>
        <p:txBody>
          <a:bodyPr vert="horz" wrap="square" lIns="0" tIns="0" rIns="0" bIns="0" rtlCol="0">
            <a:spAutoFit/>
          </a:bodyPr>
          <a:lstStyle/>
          <a:p>
            <a:r>
              <a:rPr lang="en-US" sz="1100">
                <a:solidFill>
                  <a:srgbClr val="5C5C5C"/>
                </a:solidFill>
                <a:latin typeface="Aptos" panose="020B0004020202020204" pitchFamily="34" charset="0"/>
              </a:rPr>
              <a:t>Constraints of the VLM-as-proxy evaluation study</a:t>
            </a:r>
          </a:p>
        </p:txBody>
      </p:sp>
      <p:sp>
        <p:nvSpPr>
          <p:cNvPr id="5" name="Rectangle 4">
            <a:extLst>
              <a:ext uri="{FF2B5EF4-FFF2-40B4-BE49-F238E27FC236}">
                <a16:creationId xmlns:a16="http://schemas.microsoft.com/office/drawing/2014/main" id="{EA46F934-9751-7B68-031C-173D611C0267}"/>
              </a:ext>
            </a:extLst>
          </p:cNvPr>
          <p:cNvSpPr/>
          <p:nvPr/>
        </p:nvSpPr>
        <p:spPr>
          <a:xfrm>
            <a:off x="508000" y="1168400"/>
            <a:ext cx="11176000" cy="50800"/>
          </a:xfrm>
          <a:prstGeom prst="rect">
            <a:avLst/>
          </a:prstGeom>
          <a:solidFill>
            <a:srgbClr val="FFC62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AECC5CCC-BE5B-B577-297F-C3C8A1F895B5}"/>
              </a:ext>
            </a:extLst>
          </p:cNvPr>
          <p:cNvSpPr txBox="1"/>
          <p:nvPr/>
        </p:nvSpPr>
        <p:spPr>
          <a:xfrm>
            <a:off x="11430000" y="381000"/>
            <a:ext cx="254000" cy="153888"/>
          </a:xfrm>
          <a:prstGeom prst="rect">
            <a:avLst/>
          </a:prstGeom>
          <a:noFill/>
        </p:spPr>
        <p:txBody>
          <a:bodyPr vert="horz" wrap="square" lIns="0" tIns="0" rIns="0" bIns="0" rtlCol="0">
            <a:spAutoFit/>
          </a:bodyPr>
          <a:lstStyle/>
          <a:p>
            <a:pPr algn="r"/>
            <a:r>
              <a:rPr lang="en-US" sz="1000">
                <a:solidFill>
                  <a:srgbClr val="5C5C5C"/>
                </a:solidFill>
                <a:latin typeface="Aptos" panose="020B0004020202020204" pitchFamily="34" charset="0"/>
              </a:rPr>
              <a:t>46</a:t>
            </a:r>
          </a:p>
        </p:txBody>
      </p:sp>
      <p:sp>
        <p:nvSpPr>
          <p:cNvPr id="7" name="Rectangle: Rounded Corners 6">
            <a:extLst>
              <a:ext uri="{FF2B5EF4-FFF2-40B4-BE49-F238E27FC236}">
                <a16:creationId xmlns:a16="http://schemas.microsoft.com/office/drawing/2014/main" id="{8B1B25B8-E29B-6205-FA3D-3762FE1D69C5}"/>
              </a:ext>
            </a:extLst>
          </p:cNvPr>
          <p:cNvSpPr/>
          <p:nvPr/>
        </p:nvSpPr>
        <p:spPr>
          <a:xfrm>
            <a:off x="508000" y="1549400"/>
            <a:ext cx="3530600" cy="1473200"/>
          </a:xfrm>
          <a:prstGeom prst="roundRect">
            <a:avLst/>
          </a:prstGeom>
          <a:solidFill>
            <a:srgbClr val="F5E9EE"/>
          </a:solidFill>
          <a:ln w="13970">
            <a:solidFill>
              <a:srgbClr val="8C1D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0B082701-4852-5F8A-6DAC-E7504B37C8AD}"/>
              </a:ext>
            </a:extLst>
          </p:cNvPr>
          <p:cNvSpPr txBox="1"/>
          <p:nvPr/>
        </p:nvSpPr>
        <p:spPr>
          <a:xfrm>
            <a:off x="685800" y="1701800"/>
            <a:ext cx="3175000" cy="184666"/>
          </a:xfrm>
          <a:prstGeom prst="rect">
            <a:avLst/>
          </a:prstGeom>
          <a:noFill/>
        </p:spPr>
        <p:txBody>
          <a:bodyPr vert="horz" wrap="square" lIns="0" tIns="0" rIns="0" bIns="0" rtlCol="0">
            <a:spAutoFit/>
          </a:bodyPr>
          <a:lstStyle/>
          <a:p>
            <a:r>
              <a:rPr lang="en-US" sz="1200" b="1">
                <a:solidFill>
                  <a:srgbClr val="8C1D40"/>
                </a:solidFill>
                <a:latin typeface="Aptos" panose="020B0004020202020204" pitchFamily="34" charset="0"/>
              </a:rPr>
              <a:t>Very small evaluation set</a:t>
            </a:r>
          </a:p>
        </p:txBody>
      </p:sp>
      <p:sp>
        <p:nvSpPr>
          <p:cNvPr id="9" name="TextBox 8">
            <a:extLst>
              <a:ext uri="{FF2B5EF4-FFF2-40B4-BE49-F238E27FC236}">
                <a16:creationId xmlns:a16="http://schemas.microsoft.com/office/drawing/2014/main" id="{D6847C27-A7EB-DD8B-63C5-34FC748A0110}"/>
              </a:ext>
            </a:extLst>
          </p:cNvPr>
          <p:cNvSpPr txBox="1"/>
          <p:nvPr/>
        </p:nvSpPr>
        <p:spPr>
          <a:xfrm>
            <a:off x="685800" y="2006600"/>
            <a:ext cx="3175000" cy="307777"/>
          </a:xfrm>
          <a:prstGeom prst="rect">
            <a:avLst/>
          </a:prstGeom>
          <a:noFill/>
        </p:spPr>
        <p:txBody>
          <a:bodyPr vert="horz" wrap="square" lIns="0" tIns="0" rIns="0" bIns="0" rtlCol="0">
            <a:spAutoFit/>
          </a:bodyPr>
          <a:lstStyle/>
          <a:p>
            <a:r>
              <a:rPr lang="en-US" sz="1000">
                <a:solidFill>
                  <a:srgbClr val="1C1C1C"/>
                </a:solidFill>
                <a:latin typeface="Aptos" panose="020B0004020202020204" pitchFamily="34" charset="0"/>
              </a:rPr>
              <a:t>Only 8 videos, split into 4 legible and 4 ambiguous cases, which limits statistical power and generalization.</a:t>
            </a:r>
          </a:p>
        </p:txBody>
      </p:sp>
      <p:sp>
        <p:nvSpPr>
          <p:cNvPr id="10" name="Rectangle: Rounded Corners 9">
            <a:extLst>
              <a:ext uri="{FF2B5EF4-FFF2-40B4-BE49-F238E27FC236}">
                <a16:creationId xmlns:a16="http://schemas.microsoft.com/office/drawing/2014/main" id="{5A85B28C-4638-93AB-473A-9851CC4C2D2E}"/>
              </a:ext>
            </a:extLst>
          </p:cNvPr>
          <p:cNvSpPr/>
          <p:nvPr/>
        </p:nvSpPr>
        <p:spPr>
          <a:xfrm>
            <a:off x="4318000" y="1549400"/>
            <a:ext cx="3530600" cy="1473200"/>
          </a:xfrm>
          <a:prstGeom prst="roundRect">
            <a:avLst/>
          </a:prstGeom>
          <a:solidFill>
            <a:srgbClr val="E8F1F9"/>
          </a:solidFill>
          <a:ln w="13970">
            <a:solidFill>
              <a:srgbClr val="4984C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544B8350-51A8-C283-8B21-9A85EEAD5CE7}"/>
              </a:ext>
            </a:extLst>
          </p:cNvPr>
          <p:cNvSpPr txBox="1"/>
          <p:nvPr/>
        </p:nvSpPr>
        <p:spPr>
          <a:xfrm>
            <a:off x="4495800" y="1701800"/>
            <a:ext cx="3175000" cy="184666"/>
          </a:xfrm>
          <a:prstGeom prst="rect">
            <a:avLst/>
          </a:prstGeom>
          <a:noFill/>
        </p:spPr>
        <p:txBody>
          <a:bodyPr vert="horz" wrap="square" lIns="0" tIns="0" rIns="0" bIns="0" rtlCol="0">
            <a:spAutoFit/>
          </a:bodyPr>
          <a:lstStyle/>
          <a:p>
            <a:r>
              <a:rPr lang="en-US" sz="1200" b="1">
                <a:solidFill>
                  <a:srgbClr val="4984CB"/>
                </a:solidFill>
                <a:latin typeface="Aptos" panose="020B0004020202020204" pitchFamily="34" charset="0"/>
              </a:rPr>
              <a:t>Binary goal space</a:t>
            </a:r>
          </a:p>
        </p:txBody>
      </p:sp>
      <p:sp>
        <p:nvSpPr>
          <p:cNvPr id="12" name="TextBox 11">
            <a:extLst>
              <a:ext uri="{FF2B5EF4-FFF2-40B4-BE49-F238E27FC236}">
                <a16:creationId xmlns:a16="http://schemas.microsoft.com/office/drawing/2014/main" id="{1801F0B5-0A63-3443-AC3D-C5CDFA9DBEFE}"/>
              </a:ext>
            </a:extLst>
          </p:cNvPr>
          <p:cNvSpPr txBox="1"/>
          <p:nvPr/>
        </p:nvSpPr>
        <p:spPr>
          <a:xfrm>
            <a:off x="4495800" y="2006600"/>
            <a:ext cx="3175000" cy="307777"/>
          </a:xfrm>
          <a:prstGeom prst="rect">
            <a:avLst/>
          </a:prstGeom>
          <a:noFill/>
        </p:spPr>
        <p:txBody>
          <a:bodyPr vert="horz" wrap="square" lIns="0" tIns="0" rIns="0" bIns="0" rtlCol="0">
            <a:spAutoFit/>
          </a:bodyPr>
          <a:lstStyle/>
          <a:p>
            <a:r>
              <a:rPr lang="en-US" sz="1000">
                <a:solidFill>
                  <a:srgbClr val="1C1C1C"/>
                </a:solidFill>
                <a:latin typeface="Aptos" panose="020B0004020202020204" pitchFamily="34" charset="0"/>
              </a:rPr>
              <a:t>The setup is strictly A-versus-B, while real HRI often involves continuous or multi-goal action spaces.</a:t>
            </a:r>
          </a:p>
        </p:txBody>
      </p:sp>
      <p:sp>
        <p:nvSpPr>
          <p:cNvPr id="13" name="Rectangle: Rounded Corners 12">
            <a:extLst>
              <a:ext uri="{FF2B5EF4-FFF2-40B4-BE49-F238E27FC236}">
                <a16:creationId xmlns:a16="http://schemas.microsoft.com/office/drawing/2014/main" id="{DD9F3290-ADAB-36ED-285A-31579EEBAA92}"/>
              </a:ext>
            </a:extLst>
          </p:cNvPr>
          <p:cNvSpPr/>
          <p:nvPr/>
        </p:nvSpPr>
        <p:spPr>
          <a:xfrm>
            <a:off x="8128000" y="1549400"/>
            <a:ext cx="3530600" cy="1473200"/>
          </a:xfrm>
          <a:prstGeom prst="roundRect">
            <a:avLst/>
          </a:prstGeom>
          <a:solidFill>
            <a:srgbClr val="EBF5EC"/>
          </a:solidFill>
          <a:ln w="13970">
            <a:solidFill>
              <a:srgbClr val="5B99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AD592685-1AB8-84CB-7F08-F1DD70091AF8}"/>
              </a:ext>
            </a:extLst>
          </p:cNvPr>
          <p:cNvSpPr txBox="1"/>
          <p:nvPr/>
        </p:nvSpPr>
        <p:spPr>
          <a:xfrm>
            <a:off x="8305800" y="1701800"/>
            <a:ext cx="3175000" cy="184666"/>
          </a:xfrm>
          <a:prstGeom prst="rect">
            <a:avLst/>
          </a:prstGeom>
          <a:noFill/>
        </p:spPr>
        <p:txBody>
          <a:bodyPr vert="horz" wrap="square" lIns="0" tIns="0" rIns="0" bIns="0" rtlCol="0">
            <a:spAutoFit/>
          </a:bodyPr>
          <a:lstStyle/>
          <a:p>
            <a:r>
              <a:rPr lang="en-US" sz="1200" b="1">
                <a:solidFill>
                  <a:srgbClr val="5B995D"/>
                </a:solidFill>
                <a:latin typeface="Aptos" panose="020B0004020202020204" pitchFamily="34" charset="0"/>
              </a:rPr>
              <a:t>Sparse time sampling</a:t>
            </a:r>
          </a:p>
        </p:txBody>
      </p:sp>
      <p:sp>
        <p:nvSpPr>
          <p:cNvPr id="15" name="TextBox 14">
            <a:extLst>
              <a:ext uri="{FF2B5EF4-FFF2-40B4-BE49-F238E27FC236}">
                <a16:creationId xmlns:a16="http://schemas.microsoft.com/office/drawing/2014/main" id="{47866A82-990B-0063-FA32-DBE2BE4079F8}"/>
              </a:ext>
            </a:extLst>
          </p:cNvPr>
          <p:cNvSpPr txBox="1"/>
          <p:nvPr/>
        </p:nvSpPr>
        <p:spPr>
          <a:xfrm>
            <a:off x="8305800" y="2006600"/>
            <a:ext cx="3175000" cy="461665"/>
          </a:xfrm>
          <a:prstGeom prst="rect">
            <a:avLst/>
          </a:prstGeom>
          <a:noFill/>
        </p:spPr>
        <p:txBody>
          <a:bodyPr vert="horz" wrap="square" lIns="0" tIns="0" rIns="0" bIns="0" rtlCol="0">
            <a:spAutoFit/>
          </a:bodyPr>
          <a:lstStyle/>
          <a:p>
            <a:r>
              <a:rPr lang="en-US" sz="1000">
                <a:solidFill>
                  <a:srgbClr val="1C1C1C"/>
                </a:solidFill>
                <a:latin typeface="Aptos" panose="020B0004020202020204" pitchFamily="34" charset="0"/>
              </a:rPr>
              <a:t>Models were queried at only about four human-study timepoints per video, so intermediate motion dynamics were not analyzed.</a:t>
            </a:r>
          </a:p>
        </p:txBody>
      </p:sp>
      <p:sp>
        <p:nvSpPr>
          <p:cNvPr id="16" name="Rectangle: Rounded Corners 15">
            <a:extLst>
              <a:ext uri="{FF2B5EF4-FFF2-40B4-BE49-F238E27FC236}">
                <a16:creationId xmlns:a16="http://schemas.microsoft.com/office/drawing/2014/main" id="{EF187195-EE3E-2415-E46C-3131B9493609}"/>
              </a:ext>
            </a:extLst>
          </p:cNvPr>
          <p:cNvSpPr/>
          <p:nvPr/>
        </p:nvSpPr>
        <p:spPr>
          <a:xfrm>
            <a:off x="508000" y="3352800"/>
            <a:ext cx="5461000" cy="1600200"/>
          </a:xfrm>
          <a:prstGeom prst="roundRect">
            <a:avLst/>
          </a:prstGeom>
          <a:solidFill>
            <a:srgbClr val="F6EEDB"/>
          </a:solidFill>
          <a:ln w="13970">
            <a:solidFill>
              <a:srgbClr val="E68F2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E2D3CF70-B153-542E-E105-64703A8883F3}"/>
              </a:ext>
            </a:extLst>
          </p:cNvPr>
          <p:cNvSpPr txBox="1"/>
          <p:nvPr/>
        </p:nvSpPr>
        <p:spPr>
          <a:xfrm>
            <a:off x="685800" y="3505200"/>
            <a:ext cx="5105400" cy="184666"/>
          </a:xfrm>
          <a:prstGeom prst="rect">
            <a:avLst/>
          </a:prstGeom>
          <a:noFill/>
        </p:spPr>
        <p:txBody>
          <a:bodyPr vert="horz" wrap="square" lIns="0" tIns="0" rIns="0" bIns="0" rtlCol="0">
            <a:spAutoFit/>
          </a:bodyPr>
          <a:lstStyle/>
          <a:p>
            <a:r>
              <a:rPr lang="en-US" sz="1200" b="1">
                <a:solidFill>
                  <a:srgbClr val="E68F2E"/>
                </a:solidFill>
                <a:latin typeface="Aptos" panose="020B0004020202020204" pitchFamily="34" charset="0"/>
              </a:rPr>
              <a:t>Commercial API dependency</a:t>
            </a:r>
          </a:p>
        </p:txBody>
      </p:sp>
      <p:sp>
        <p:nvSpPr>
          <p:cNvPr id="18" name="TextBox 17">
            <a:extLst>
              <a:ext uri="{FF2B5EF4-FFF2-40B4-BE49-F238E27FC236}">
                <a16:creationId xmlns:a16="http://schemas.microsoft.com/office/drawing/2014/main" id="{1CDE1649-2EA1-FD4A-E760-284AAA6ED48D}"/>
              </a:ext>
            </a:extLst>
          </p:cNvPr>
          <p:cNvSpPr txBox="1"/>
          <p:nvPr/>
        </p:nvSpPr>
        <p:spPr>
          <a:xfrm>
            <a:off x="685800" y="3810000"/>
            <a:ext cx="5105400" cy="307777"/>
          </a:xfrm>
          <a:prstGeom prst="rect">
            <a:avLst/>
          </a:prstGeom>
          <a:noFill/>
        </p:spPr>
        <p:txBody>
          <a:bodyPr vert="horz" wrap="square" lIns="0" tIns="0" rIns="0" bIns="0" rtlCol="0">
            <a:spAutoFit/>
          </a:bodyPr>
          <a:lstStyle/>
          <a:p>
            <a:r>
              <a:rPr lang="en-US" sz="1000">
                <a:solidFill>
                  <a:srgbClr val="1C1C1C"/>
                </a:solidFill>
                <a:latin typeface="Aptos" panose="020B0004020202020204" pitchFamily="34" charset="0"/>
              </a:rPr>
              <a:t>Results rely on proprietary, versioned Gemini endpoints that may change, be deprecated, or update silently over time.</a:t>
            </a:r>
          </a:p>
        </p:txBody>
      </p:sp>
      <p:sp>
        <p:nvSpPr>
          <p:cNvPr id="19" name="Rectangle: Rounded Corners 18">
            <a:extLst>
              <a:ext uri="{FF2B5EF4-FFF2-40B4-BE49-F238E27FC236}">
                <a16:creationId xmlns:a16="http://schemas.microsoft.com/office/drawing/2014/main" id="{98575A3E-2037-5C5B-8E03-A3B2E516C56A}"/>
              </a:ext>
            </a:extLst>
          </p:cNvPr>
          <p:cNvSpPr/>
          <p:nvPr/>
        </p:nvSpPr>
        <p:spPr>
          <a:xfrm>
            <a:off x="6223000" y="3352800"/>
            <a:ext cx="5435600" cy="1600200"/>
          </a:xfrm>
          <a:prstGeom prst="roundRect">
            <a:avLst/>
          </a:prstGeom>
          <a:solidFill>
            <a:srgbClr val="F4F2EE"/>
          </a:solidFill>
          <a:ln w="13970">
            <a:solidFill>
              <a:srgbClr val="2E86A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84817FFD-3B5F-3A95-8CF5-5F969EEEA672}"/>
              </a:ext>
            </a:extLst>
          </p:cNvPr>
          <p:cNvSpPr txBox="1"/>
          <p:nvPr/>
        </p:nvSpPr>
        <p:spPr>
          <a:xfrm>
            <a:off x="6400800" y="3505200"/>
            <a:ext cx="5080000" cy="184666"/>
          </a:xfrm>
          <a:prstGeom prst="rect">
            <a:avLst/>
          </a:prstGeom>
          <a:noFill/>
        </p:spPr>
        <p:txBody>
          <a:bodyPr vert="horz" wrap="square" lIns="0" tIns="0" rIns="0" bIns="0" rtlCol="0">
            <a:spAutoFit/>
          </a:bodyPr>
          <a:lstStyle/>
          <a:p>
            <a:r>
              <a:rPr lang="en-US" sz="1200" b="1">
                <a:solidFill>
                  <a:srgbClr val="2E86AB"/>
                </a:solidFill>
                <a:latin typeface="Aptos" panose="020B0004020202020204" pitchFamily="34" charset="0"/>
              </a:rPr>
              <a:t>No unseen-domain validation</a:t>
            </a:r>
          </a:p>
        </p:txBody>
      </p:sp>
      <p:sp>
        <p:nvSpPr>
          <p:cNvPr id="24" name="TextBox 23">
            <a:extLst>
              <a:ext uri="{FF2B5EF4-FFF2-40B4-BE49-F238E27FC236}">
                <a16:creationId xmlns:a16="http://schemas.microsoft.com/office/drawing/2014/main" id="{59959CBD-3AF7-E3DF-B480-2D7208606669}"/>
              </a:ext>
            </a:extLst>
          </p:cNvPr>
          <p:cNvSpPr txBox="1"/>
          <p:nvPr/>
        </p:nvSpPr>
        <p:spPr>
          <a:xfrm>
            <a:off x="6400800" y="3810000"/>
            <a:ext cx="5080000" cy="307777"/>
          </a:xfrm>
          <a:prstGeom prst="rect">
            <a:avLst/>
          </a:prstGeom>
          <a:noFill/>
        </p:spPr>
        <p:txBody>
          <a:bodyPr vert="horz" wrap="square" lIns="0" tIns="0" rIns="0" bIns="0" rtlCol="0">
            <a:spAutoFit/>
          </a:bodyPr>
          <a:lstStyle/>
          <a:p>
            <a:r>
              <a:rPr lang="en-US" sz="1000">
                <a:solidFill>
                  <a:srgbClr val="1C1C1C"/>
                </a:solidFill>
                <a:latin typeface="Aptos" panose="020B0004020202020204" pitchFamily="34" charset="0"/>
              </a:rPr>
              <a:t>All videos share the same robot platform, scene layout, and two-goal structure, so transfer to other robots and viewpoints is untested.</a:t>
            </a:r>
          </a:p>
        </p:txBody>
      </p:sp>
      <p:sp>
        <p:nvSpPr>
          <p:cNvPr id="25" name="Rectangle: Rounded Corners 24">
            <a:extLst>
              <a:ext uri="{FF2B5EF4-FFF2-40B4-BE49-F238E27FC236}">
                <a16:creationId xmlns:a16="http://schemas.microsoft.com/office/drawing/2014/main" id="{35D48F1A-8628-9339-55F1-695496DCC94B}"/>
              </a:ext>
            </a:extLst>
          </p:cNvPr>
          <p:cNvSpPr/>
          <p:nvPr/>
        </p:nvSpPr>
        <p:spPr>
          <a:xfrm>
            <a:off x="508000" y="5232400"/>
            <a:ext cx="11150600" cy="1193800"/>
          </a:xfrm>
          <a:prstGeom prst="roundRect">
            <a:avLst/>
          </a:prstGeom>
          <a:solidFill>
            <a:srgbClr val="FFFFFF"/>
          </a:solidFill>
          <a:ln w="13970">
            <a:solidFill>
              <a:srgbClr val="FFC62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6DFE4ACE-3802-14E1-6B6E-4DED46EB8BCD}"/>
              </a:ext>
            </a:extLst>
          </p:cNvPr>
          <p:cNvSpPr txBox="1"/>
          <p:nvPr/>
        </p:nvSpPr>
        <p:spPr>
          <a:xfrm>
            <a:off x="685800" y="5384800"/>
            <a:ext cx="10795000" cy="184666"/>
          </a:xfrm>
          <a:prstGeom prst="rect">
            <a:avLst/>
          </a:prstGeom>
          <a:noFill/>
        </p:spPr>
        <p:txBody>
          <a:bodyPr vert="horz" wrap="square" lIns="0" tIns="0" rIns="0" bIns="0" rtlCol="0">
            <a:spAutoFit/>
          </a:bodyPr>
          <a:lstStyle/>
          <a:p>
            <a:r>
              <a:rPr lang="en-US" sz="1200" b="1">
                <a:solidFill>
                  <a:srgbClr val="FFC627"/>
                </a:solidFill>
                <a:latin typeface="Aptos" panose="020B0004020202020204" pitchFamily="34" charset="0"/>
              </a:rPr>
              <a:t>Takeaway</a:t>
            </a:r>
          </a:p>
        </p:txBody>
      </p:sp>
      <p:sp>
        <p:nvSpPr>
          <p:cNvPr id="27" name="TextBox 26">
            <a:extLst>
              <a:ext uri="{FF2B5EF4-FFF2-40B4-BE49-F238E27FC236}">
                <a16:creationId xmlns:a16="http://schemas.microsoft.com/office/drawing/2014/main" id="{81F6E881-785B-C12C-237E-7EC205B5989D}"/>
              </a:ext>
            </a:extLst>
          </p:cNvPr>
          <p:cNvSpPr txBox="1"/>
          <p:nvPr/>
        </p:nvSpPr>
        <p:spPr>
          <a:xfrm>
            <a:off x="685800" y="5689600"/>
            <a:ext cx="10795000" cy="169277"/>
          </a:xfrm>
          <a:prstGeom prst="rect">
            <a:avLst/>
          </a:prstGeom>
          <a:noFill/>
        </p:spPr>
        <p:txBody>
          <a:bodyPr vert="horz" wrap="square" lIns="0" tIns="0" rIns="0" bIns="0" rtlCol="0">
            <a:spAutoFit/>
          </a:bodyPr>
          <a:lstStyle/>
          <a:p>
            <a:r>
              <a:rPr lang="en-US" sz="1100">
                <a:solidFill>
                  <a:srgbClr val="1C1C1C"/>
                </a:solidFill>
                <a:latin typeface="Aptos" panose="020B0004020202020204" pitchFamily="34" charset="0"/>
              </a:rPr>
              <a:t>The current study is a strong pilot, but not yet a broad benchmark for VLM-based legibility judgment.</a:t>
            </a:r>
          </a:p>
        </p:txBody>
      </p:sp>
    </p:spTree>
    <p:extLst>
      <p:ext uri="{BB962C8B-B14F-4D97-AF65-F5344CB8AC3E}">
        <p14:creationId xmlns:p14="http://schemas.microsoft.com/office/powerpoint/2010/main" val="273828712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BF8F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AF63673-891B-059C-97B0-F865022682C6}"/>
              </a:ext>
            </a:extLst>
          </p:cNvPr>
          <p:cNvSpPr/>
          <p:nvPr/>
        </p:nvSpPr>
        <p:spPr>
          <a:xfrm>
            <a:off x="0" y="0"/>
            <a:ext cx="12192000" cy="6858000"/>
          </a:xfrm>
          <a:prstGeom prst="rect">
            <a:avLst/>
          </a:prstGeom>
          <a:solidFill>
            <a:srgbClr val="F8F6F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A48E73D7-D189-D128-B737-804E7356AA5F}"/>
              </a:ext>
            </a:extLst>
          </p:cNvPr>
          <p:cNvSpPr txBox="1"/>
          <p:nvPr/>
        </p:nvSpPr>
        <p:spPr>
          <a:xfrm>
            <a:off x="508000" y="355600"/>
            <a:ext cx="9906000" cy="430887"/>
          </a:xfrm>
          <a:prstGeom prst="rect">
            <a:avLst/>
          </a:prstGeom>
          <a:noFill/>
        </p:spPr>
        <p:txBody>
          <a:bodyPr vert="horz" wrap="square" lIns="0" tIns="0" rIns="0" bIns="0" rtlCol="0">
            <a:spAutoFit/>
          </a:bodyPr>
          <a:lstStyle/>
          <a:p>
            <a:r>
              <a:rPr lang="en-US" sz="2800" b="1">
                <a:solidFill>
                  <a:srgbClr val="1C1C1C"/>
                </a:solidFill>
                <a:latin typeface="Aptos" panose="020B0004020202020204" pitchFamily="34" charset="0"/>
              </a:rPr>
              <a:t>Future Work</a:t>
            </a:r>
          </a:p>
        </p:txBody>
      </p:sp>
      <p:sp>
        <p:nvSpPr>
          <p:cNvPr id="4" name="TextBox 3">
            <a:extLst>
              <a:ext uri="{FF2B5EF4-FFF2-40B4-BE49-F238E27FC236}">
                <a16:creationId xmlns:a16="http://schemas.microsoft.com/office/drawing/2014/main" id="{8245B83C-BAC3-D96E-6CEC-7A96DA6C437D}"/>
              </a:ext>
            </a:extLst>
          </p:cNvPr>
          <p:cNvSpPr txBox="1"/>
          <p:nvPr/>
        </p:nvSpPr>
        <p:spPr>
          <a:xfrm>
            <a:off x="508000" y="800100"/>
            <a:ext cx="10922000" cy="169277"/>
          </a:xfrm>
          <a:prstGeom prst="rect">
            <a:avLst/>
          </a:prstGeom>
          <a:noFill/>
        </p:spPr>
        <p:txBody>
          <a:bodyPr vert="horz" wrap="square" lIns="0" tIns="0" rIns="0" bIns="0" rtlCol="0">
            <a:spAutoFit/>
          </a:bodyPr>
          <a:lstStyle/>
          <a:p>
            <a:r>
              <a:rPr lang="en-US" sz="1100">
                <a:solidFill>
                  <a:srgbClr val="5C5C5C"/>
                </a:solidFill>
                <a:latin typeface="Aptos" panose="020B0004020202020204" pitchFamily="34" charset="0"/>
              </a:rPr>
              <a:t>Next steps for both the VLM legibility critic and the multimodal policy direction</a:t>
            </a:r>
          </a:p>
        </p:txBody>
      </p:sp>
      <p:sp>
        <p:nvSpPr>
          <p:cNvPr id="5" name="Rectangle 4">
            <a:extLst>
              <a:ext uri="{FF2B5EF4-FFF2-40B4-BE49-F238E27FC236}">
                <a16:creationId xmlns:a16="http://schemas.microsoft.com/office/drawing/2014/main" id="{819FE4C1-5562-3B49-E556-F4E40E432145}"/>
              </a:ext>
            </a:extLst>
          </p:cNvPr>
          <p:cNvSpPr/>
          <p:nvPr/>
        </p:nvSpPr>
        <p:spPr>
          <a:xfrm>
            <a:off x="508000" y="1168400"/>
            <a:ext cx="11176000" cy="50800"/>
          </a:xfrm>
          <a:prstGeom prst="rect">
            <a:avLst/>
          </a:prstGeom>
          <a:solidFill>
            <a:srgbClr val="FFC62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45EB82E6-7783-221B-523D-BB7C3B45D978}"/>
              </a:ext>
            </a:extLst>
          </p:cNvPr>
          <p:cNvSpPr txBox="1"/>
          <p:nvPr/>
        </p:nvSpPr>
        <p:spPr>
          <a:xfrm>
            <a:off x="11430000" y="381000"/>
            <a:ext cx="254000" cy="153888"/>
          </a:xfrm>
          <a:prstGeom prst="rect">
            <a:avLst/>
          </a:prstGeom>
          <a:noFill/>
        </p:spPr>
        <p:txBody>
          <a:bodyPr vert="horz" wrap="square" lIns="0" tIns="0" rIns="0" bIns="0" rtlCol="0">
            <a:spAutoFit/>
          </a:bodyPr>
          <a:lstStyle/>
          <a:p>
            <a:pPr algn="r"/>
            <a:r>
              <a:rPr lang="en-US" sz="1000">
                <a:solidFill>
                  <a:srgbClr val="5C5C5C"/>
                </a:solidFill>
                <a:latin typeface="Aptos" panose="020B0004020202020204" pitchFamily="34" charset="0"/>
              </a:rPr>
              <a:t>47</a:t>
            </a:r>
          </a:p>
        </p:txBody>
      </p:sp>
      <p:sp>
        <p:nvSpPr>
          <p:cNvPr id="7" name="Rectangle: Rounded Corners 6">
            <a:extLst>
              <a:ext uri="{FF2B5EF4-FFF2-40B4-BE49-F238E27FC236}">
                <a16:creationId xmlns:a16="http://schemas.microsoft.com/office/drawing/2014/main" id="{3AF8F76B-D786-1A9C-FFB4-52E70FEE9426}"/>
              </a:ext>
            </a:extLst>
          </p:cNvPr>
          <p:cNvSpPr/>
          <p:nvPr/>
        </p:nvSpPr>
        <p:spPr>
          <a:xfrm>
            <a:off x="508000" y="1676400"/>
            <a:ext cx="5334000" cy="1574800"/>
          </a:xfrm>
          <a:prstGeom prst="roundRect">
            <a:avLst/>
          </a:prstGeom>
          <a:solidFill>
            <a:srgbClr val="F5E9EE"/>
          </a:solidFill>
          <a:ln w="13970">
            <a:solidFill>
              <a:srgbClr val="8C1D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2DDD576D-77DF-2EE8-F7F7-3B7B52A679AF}"/>
              </a:ext>
            </a:extLst>
          </p:cNvPr>
          <p:cNvSpPr txBox="1"/>
          <p:nvPr/>
        </p:nvSpPr>
        <p:spPr>
          <a:xfrm>
            <a:off x="685800" y="1828800"/>
            <a:ext cx="4978400" cy="184666"/>
          </a:xfrm>
          <a:prstGeom prst="rect">
            <a:avLst/>
          </a:prstGeom>
          <a:noFill/>
        </p:spPr>
        <p:txBody>
          <a:bodyPr vert="horz" wrap="square" lIns="0" tIns="0" rIns="0" bIns="0" rtlCol="0">
            <a:spAutoFit/>
          </a:bodyPr>
          <a:lstStyle/>
          <a:p>
            <a:r>
              <a:rPr lang="en-US" sz="1200" b="1">
                <a:solidFill>
                  <a:srgbClr val="8C1D40"/>
                </a:solidFill>
                <a:latin typeface="Aptos" panose="020B0004020202020204" pitchFamily="34" charset="0"/>
              </a:rPr>
              <a:t>Closed-loop VLM steering</a:t>
            </a:r>
          </a:p>
        </p:txBody>
      </p:sp>
      <p:sp>
        <p:nvSpPr>
          <p:cNvPr id="9" name="TextBox 8">
            <a:extLst>
              <a:ext uri="{FF2B5EF4-FFF2-40B4-BE49-F238E27FC236}">
                <a16:creationId xmlns:a16="http://schemas.microsoft.com/office/drawing/2014/main" id="{C62C92E2-637C-5663-042F-BC7305ECC207}"/>
              </a:ext>
            </a:extLst>
          </p:cNvPr>
          <p:cNvSpPr txBox="1"/>
          <p:nvPr/>
        </p:nvSpPr>
        <p:spPr>
          <a:xfrm>
            <a:off x="685800" y="2133600"/>
            <a:ext cx="4978400" cy="307777"/>
          </a:xfrm>
          <a:prstGeom prst="rect">
            <a:avLst/>
          </a:prstGeom>
          <a:noFill/>
        </p:spPr>
        <p:txBody>
          <a:bodyPr vert="horz" wrap="square" lIns="0" tIns="0" rIns="0" bIns="0" rtlCol="0">
            <a:spAutoFit/>
          </a:bodyPr>
          <a:lstStyle/>
          <a:p>
            <a:r>
              <a:rPr lang="en-US" sz="1000">
                <a:solidFill>
                  <a:srgbClr val="1C1C1C"/>
                </a:solidFill>
                <a:latin typeface="Aptos" panose="020B0004020202020204" pitchFamily="34" charset="0"/>
              </a:rPr>
              <a:t>Replace open-loop Best-of-K reranking with online, step-level guidance from real camera observations.</a:t>
            </a:r>
          </a:p>
        </p:txBody>
      </p:sp>
      <p:sp>
        <p:nvSpPr>
          <p:cNvPr id="10" name="Rectangle: Rounded Corners 9">
            <a:extLst>
              <a:ext uri="{FF2B5EF4-FFF2-40B4-BE49-F238E27FC236}">
                <a16:creationId xmlns:a16="http://schemas.microsoft.com/office/drawing/2014/main" id="{B112C4E1-BCC7-7D60-FC15-EAB04FB8B6DB}"/>
              </a:ext>
            </a:extLst>
          </p:cNvPr>
          <p:cNvSpPr/>
          <p:nvPr/>
        </p:nvSpPr>
        <p:spPr>
          <a:xfrm>
            <a:off x="6350000" y="1676400"/>
            <a:ext cx="5334000" cy="1574800"/>
          </a:xfrm>
          <a:prstGeom prst="roundRect">
            <a:avLst/>
          </a:prstGeom>
          <a:solidFill>
            <a:srgbClr val="E8F1F9"/>
          </a:solidFill>
          <a:ln w="13970">
            <a:solidFill>
              <a:srgbClr val="4984C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8A38B60A-8924-F7D3-934E-696BA6F3295C}"/>
              </a:ext>
            </a:extLst>
          </p:cNvPr>
          <p:cNvSpPr txBox="1"/>
          <p:nvPr/>
        </p:nvSpPr>
        <p:spPr>
          <a:xfrm>
            <a:off x="6527800" y="1828800"/>
            <a:ext cx="4978400" cy="184666"/>
          </a:xfrm>
          <a:prstGeom prst="rect">
            <a:avLst/>
          </a:prstGeom>
          <a:noFill/>
        </p:spPr>
        <p:txBody>
          <a:bodyPr vert="horz" wrap="square" lIns="0" tIns="0" rIns="0" bIns="0" rtlCol="0">
            <a:spAutoFit/>
          </a:bodyPr>
          <a:lstStyle/>
          <a:p>
            <a:r>
              <a:rPr lang="en-US" sz="1200" b="1">
                <a:solidFill>
                  <a:srgbClr val="4984CB"/>
                </a:solidFill>
                <a:latin typeface="Aptos" panose="020B0004020202020204" pitchFamily="34" charset="0"/>
              </a:rPr>
              <a:t>Sim-to-real transfer</a:t>
            </a:r>
          </a:p>
        </p:txBody>
      </p:sp>
      <p:sp>
        <p:nvSpPr>
          <p:cNvPr id="12" name="TextBox 11">
            <a:extLst>
              <a:ext uri="{FF2B5EF4-FFF2-40B4-BE49-F238E27FC236}">
                <a16:creationId xmlns:a16="http://schemas.microsoft.com/office/drawing/2014/main" id="{5F2EDB11-3376-0D56-2DDD-DBF305BCF621}"/>
              </a:ext>
            </a:extLst>
          </p:cNvPr>
          <p:cNvSpPr txBox="1"/>
          <p:nvPr/>
        </p:nvSpPr>
        <p:spPr>
          <a:xfrm>
            <a:off x="6527800" y="2133600"/>
            <a:ext cx="4978400" cy="307777"/>
          </a:xfrm>
          <a:prstGeom prst="rect">
            <a:avLst/>
          </a:prstGeom>
          <a:noFill/>
        </p:spPr>
        <p:txBody>
          <a:bodyPr vert="horz" wrap="square" lIns="0" tIns="0" rIns="0" bIns="0" rtlCol="0">
            <a:spAutoFit/>
          </a:bodyPr>
          <a:lstStyle/>
          <a:p>
            <a:r>
              <a:rPr lang="en-US" sz="1000">
                <a:solidFill>
                  <a:srgbClr val="1C1C1C"/>
                </a:solidFill>
                <a:latin typeface="Aptos" panose="020B0004020202020204" pitchFamily="34" charset="0"/>
              </a:rPr>
              <a:t>Deploy the method on a physical Franka Panda and test whether the learned behaviors remain stable outside PyBullet.</a:t>
            </a:r>
          </a:p>
        </p:txBody>
      </p:sp>
      <p:sp>
        <p:nvSpPr>
          <p:cNvPr id="13" name="Rectangle: Rounded Corners 12">
            <a:extLst>
              <a:ext uri="{FF2B5EF4-FFF2-40B4-BE49-F238E27FC236}">
                <a16:creationId xmlns:a16="http://schemas.microsoft.com/office/drawing/2014/main" id="{EDAE81E3-0063-0B9A-454C-7097D80FE7E4}"/>
              </a:ext>
            </a:extLst>
          </p:cNvPr>
          <p:cNvSpPr/>
          <p:nvPr/>
        </p:nvSpPr>
        <p:spPr>
          <a:xfrm>
            <a:off x="508000" y="3606800"/>
            <a:ext cx="5334000" cy="1574800"/>
          </a:xfrm>
          <a:prstGeom prst="roundRect">
            <a:avLst/>
          </a:prstGeom>
          <a:solidFill>
            <a:srgbClr val="EBF5EC"/>
          </a:solidFill>
          <a:ln w="13970">
            <a:solidFill>
              <a:srgbClr val="5B99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40FADA2C-C6D1-8197-3ECA-15F324318CFC}"/>
              </a:ext>
            </a:extLst>
          </p:cNvPr>
          <p:cNvSpPr txBox="1"/>
          <p:nvPr/>
        </p:nvSpPr>
        <p:spPr>
          <a:xfrm>
            <a:off x="685800" y="3759200"/>
            <a:ext cx="4978400" cy="184666"/>
          </a:xfrm>
          <a:prstGeom prst="rect">
            <a:avLst/>
          </a:prstGeom>
          <a:noFill/>
        </p:spPr>
        <p:txBody>
          <a:bodyPr vert="horz" wrap="square" lIns="0" tIns="0" rIns="0" bIns="0" rtlCol="0">
            <a:spAutoFit/>
          </a:bodyPr>
          <a:lstStyle/>
          <a:p>
            <a:r>
              <a:rPr lang="en-US" sz="1200" b="1">
                <a:solidFill>
                  <a:srgbClr val="5B995D"/>
                </a:solidFill>
                <a:latin typeface="Aptos" panose="020B0004020202020204" pitchFamily="34" charset="0"/>
              </a:rPr>
              <a:t>Human-subject validation</a:t>
            </a:r>
          </a:p>
        </p:txBody>
      </p:sp>
      <p:sp>
        <p:nvSpPr>
          <p:cNvPr id="15" name="TextBox 14">
            <a:extLst>
              <a:ext uri="{FF2B5EF4-FFF2-40B4-BE49-F238E27FC236}">
                <a16:creationId xmlns:a16="http://schemas.microsoft.com/office/drawing/2014/main" id="{4DC2AF66-3896-E955-E330-D2B13FC984F0}"/>
              </a:ext>
            </a:extLst>
          </p:cNvPr>
          <p:cNvSpPr txBox="1"/>
          <p:nvPr/>
        </p:nvSpPr>
        <p:spPr>
          <a:xfrm>
            <a:off x="685800" y="4064000"/>
            <a:ext cx="4978400" cy="307777"/>
          </a:xfrm>
          <a:prstGeom prst="rect">
            <a:avLst/>
          </a:prstGeom>
          <a:noFill/>
        </p:spPr>
        <p:txBody>
          <a:bodyPr vert="horz" wrap="square" lIns="0" tIns="0" rIns="0" bIns="0" rtlCol="0">
            <a:spAutoFit/>
          </a:bodyPr>
          <a:lstStyle/>
          <a:p>
            <a:r>
              <a:rPr lang="en-US" sz="1000">
                <a:solidFill>
                  <a:srgbClr val="1C1C1C"/>
                </a:solidFill>
                <a:latin typeface="Aptos" panose="020B0004020202020204" pitchFamily="34" charset="0"/>
              </a:rPr>
              <a:t>Run observer studies to validate whether L_early and VLM-based improvements correspond to real human judgments.</a:t>
            </a:r>
          </a:p>
        </p:txBody>
      </p:sp>
      <p:sp>
        <p:nvSpPr>
          <p:cNvPr id="16" name="Rectangle: Rounded Corners 15">
            <a:extLst>
              <a:ext uri="{FF2B5EF4-FFF2-40B4-BE49-F238E27FC236}">
                <a16:creationId xmlns:a16="http://schemas.microsoft.com/office/drawing/2014/main" id="{9E7A1BA7-FD07-B943-758E-B4455A887B96}"/>
              </a:ext>
            </a:extLst>
          </p:cNvPr>
          <p:cNvSpPr/>
          <p:nvPr/>
        </p:nvSpPr>
        <p:spPr>
          <a:xfrm>
            <a:off x="6350000" y="3606800"/>
            <a:ext cx="5334000" cy="1574800"/>
          </a:xfrm>
          <a:prstGeom prst="roundRect">
            <a:avLst/>
          </a:prstGeom>
          <a:solidFill>
            <a:srgbClr val="F6EEDB"/>
          </a:solidFill>
          <a:ln w="13970">
            <a:solidFill>
              <a:srgbClr val="E68F2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C98AAB3C-0E6D-816F-CEB9-D35059FD66EF}"/>
              </a:ext>
            </a:extLst>
          </p:cNvPr>
          <p:cNvSpPr txBox="1"/>
          <p:nvPr/>
        </p:nvSpPr>
        <p:spPr>
          <a:xfrm>
            <a:off x="6527800" y="3759200"/>
            <a:ext cx="4978400" cy="184666"/>
          </a:xfrm>
          <a:prstGeom prst="rect">
            <a:avLst/>
          </a:prstGeom>
          <a:noFill/>
        </p:spPr>
        <p:txBody>
          <a:bodyPr vert="horz" wrap="square" lIns="0" tIns="0" rIns="0" bIns="0" rtlCol="0">
            <a:spAutoFit/>
          </a:bodyPr>
          <a:lstStyle/>
          <a:p>
            <a:r>
              <a:rPr lang="en-US" sz="1200" b="1">
                <a:solidFill>
                  <a:srgbClr val="E68F2E"/>
                </a:solidFill>
                <a:latin typeface="Aptos" panose="020B0004020202020204" pitchFamily="34" charset="0"/>
              </a:rPr>
              <a:t>Broader task coverage</a:t>
            </a:r>
          </a:p>
        </p:txBody>
      </p:sp>
      <p:sp>
        <p:nvSpPr>
          <p:cNvPr id="18" name="TextBox 17">
            <a:extLst>
              <a:ext uri="{FF2B5EF4-FFF2-40B4-BE49-F238E27FC236}">
                <a16:creationId xmlns:a16="http://schemas.microsoft.com/office/drawing/2014/main" id="{68DD30B4-2B7D-1FC0-6253-D2B43C1D6C38}"/>
              </a:ext>
            </a:extLst>
          </p:cNvPr>
          <p:cNvSpPr txBox="1"/>
          <p:nvPr/>
        </p:nvSpPr>
        <p:spPr>
          <a:xfrm>
            <a:off x="6527800" y="4064000"/>
            <a:ext cx="4978400" cy="307777"/>
          </a:xfrm>
          <a:prstGeom prst="rect">
            <a:avLst/>
          </a:prstGeom>
          <a:noFill/>
        </p:spPr>
        <p:txBody>
          <a:bodyPr vert="horz" wrap="square" lIns="0" tIns="0" rIns="0" bIns="0" rtlCol="0">
            <a:spAutoFit/>
          </a:bodyPr>
          <a:lstStyle/>
          <a:p>
            <a:r>
              <a:rPr lang="en-US" sz="1000">
                <a:solidFill>
                  <a:srgbClr val="1C1C1C"/>
                </a:solidFill>
                <a:latin typeface="Aptos" panose="020B0004020202020204" pitchFamily="34" charset="0"/>
              </a:rPr>
              <a:t>Extend the framework to more robots, more viewpoints, and more than two competing goals per task.</a:t>
            </a:r>
          </a:p>
        </p:txBody>
      </p:sp>
      <p:sp>
        <p:nvSpPr>
          <p:cNvPr id="19" name="Rectangle: Rounded Corners 18">
            <a:extLst>
              <a:ext uri="{FF2B5EF4-FFF2-40B4-BE49-F238E27FC236}">
                <a16:creationId xmlns:a16="http://schemas.microsoft.com/office/drawing/2014/main" id="{BD28F6BC-B99F-0CD0-86C5-4B9A15FB7257}"/>
              </a:ext>
            </a:extLst>
          </p:cNvPr>
          <p:cNvSpPr/>
          <p:nvPr/>
        </p:nvSpPr>
        <p:spPr>
          <a:xfrm>
            <a:off x="508000" y="5537200"/>
            <a:ext cx="11176000" cy="965200"/>
          </a:xfrm>
          <a:prstGeom prst="roundRect">
            <a:avLst/>
          </a:prstGeom>
          <a:solidFill>
            <a:srgbClr val="FFFFFF"/>
          </a:solidFill>
          <a:ln w="13970">
            <a:solidFill>
              <a:srgbClr val="FFC62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ECD99E67-0414-B5B4-6F3E-6EAC24130213}"/>
              </a:ext>
            </a:extLst>
          </p:cNvPr>
          <p:cNvSpPr txBox="1"/>
          <p:nvPr/>
        </p:nvSpPr>
        <p:spPr>
          <a:xfrm>
            <a:off x="685800" y="5689600"/>
            <a:ext cx="10820400" cy="184666"/>
          </a:xfrm>
          <a:prstGeom prst="rect">
            <a:avLst/>
          </a:prstGeom>
          <a:noFill/>
        </p:spPr>
        <p:txBody>
          <a:bodyPr vert="horz" wrap="square" lIns="0" tIns="0" rIns="0" bIns="0" rtlCol="0">
            <a:spAutoFit/>
          </a:bodyPr>
          <a:lstStyle/>
          <a:p>
            <a:r>
              <a:rPr lang="en-US" sz="1200" b="1">
                <a:solidFill>
                  <a:srgbClr val="FFC627"/>
                </a:solidFill>
                <a:latin typeface="Aptos" panose="020B0004020202020204" pitchFamily="34" charset="0"/>
              </a:rPr>
              <a:t>Longer-term goal</a:t>
            </a:r>
          </a:p>
        </p:txBody>
      </p:sp>
      <p:sp>
        <p:nvSpPr>
          <p:cNvPr id="21" name="TextBox 20">
            <a:extLst>
              <a:ext uri="{FF2B5EF4-FFF2-40B4-BE49-F238E27FC236}">
                <a16:creationId xmlns:a16="http://schemas.microsoft.com/office/drawing/2014/main" id="{BE891ADF-A645-25F5-66D8-73EEEABE14F0}"/>
              </a:ext>
            </a:extLst>
          </p:cNvPr>
          <p:cNvSpPr txBox="1"/>
          <p:nvPr/>
        </p:nvSpPr>
        <p:spPr>
          <a:xfrm>
            <a:off x="685800" y="5994400"/>
            <a:ext cx="10820400" cy="169277"/>
          </a:xfrm>
          <a:prstGeom prst="rect">
            <a:avLst/>
          </a:prstGeom>
          <a:noFill/>
        </p:spPr>
        <p:txBody>
          <a:bodyPr vert="horz" wrap="square" lIns="0" tIns="0" rIns="0" bIns="0" rtlCol="0">
            <a:spAutoFit/>
          </a:bodyPr>
          <a:lstStyle/>
          <a:p>
            <a:r>
              <a:rPr lang="en-US" sz="1100">
                <a:solidFill>
                  <a:srgbClr val="1C1C1C"/>
                </a:solidFill>
                <a:latin typeface="Aptos" panose="020B0004020202020204" pitchFamily="34" charset="0"/>
              </a:rPr>
              <a:t>Build a practical observer-aware learning loop where VLM critics, policy sampling, and human validation reinforce each other.</a:t>
            </a:r>
          </a:p>
        </p:txBody>
      </p:sp>
    </p:spTree>
    <p:extLst>
      <p:ext uri="{BB962C8B-B14F-4D97-AF65-F5344CB8AC3E}">
        <p14:creationId xmlns:p14="http://schemas.microsoft.com/office/powerpoint/2010/main" val="370460020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BF8F2"/>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EBC418F-C2DB-117C-1E46-36463E307D5F}"/>
              </a:ext>
            </a:extLst>
          </p:cNvPr>
          <p:cNvSpPr/>
          <p:nvPr/>
        </p:nvSpPr>
        <p:spPr>
          <a:xfrm>
            <a:off x="0" y="0"/>
            <a:ext cx="12192000" cy="6858000"/>
          </a:xfrm>
          <a:prstGeom prst="rect">
            <a:avLst/>
          </a:prstGeom>
          <a:solidFill>
            <a:srgbClr val="F8F6F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33F6ED91-BBBF-A86B-89CF-6CAC5FD29080}"/>
              </a:ext>
            </a:extLst>
          </p:cNvPr>
          <p:cNvSpPr txBox="1"/>
          <p:nvPr/>
        </p:nvSpPr>
        <p:spPr>
          <a:xfrm>
            <a:off x="508000" y="355600"/>
            <a:ext cx="9906000" cy="430887"/>
          </a:xfrm>
          <a:prstGeom prst="rect">
            <a:avLst/>
          </a:prstGeom>
          <a:noFill/>
        </p:spPr>
        <p:txBody>
          <a:bodyPr vert="horz" wrap="square" lIns="0" tIns="0" rIns="0" bIns="0" rtlCol="0">
            <a:spAutoFit/>
          </a:bodyPr>
          <a:lstStyle/>
          <a:p>
            <a:r>
              <a:rPr lang="en-US" sz="2800" b="1">
                <a:solidFill>
                  <a:srgbClr val="1C1C1C"/>
                </a:solidFill>
                <a:latin typeface="Aptos" panose="020B0004020202020204" pitchFamily="34" charset="0"/>
              </a:rPr>
              <a:t>Limitations: Multimodal Policy</a:t>
            </a:r>
          </a:p>
        </p:txBody>
      </p:sp>
      <p:sp>
        <p:nvSpPr>
          <p:cNvPr id="7" name="TextBox 6">
            <a:extLst>
              <a:ext uri="{FF2B5EF4-FFF2-40B4-BE49-F238E27FC236}">
                <a16:creationId xmlns:a16="http://schemas.microsoft.com/office/drawing/2014/main" id="{D0C1DBBD-8D96-3FA3-E219-C3886242AD92}"/>
              </a:ext>
            </a:extLst>
          </p:cNvPr>
          <p:cNvSpPr txBox="1"/>
          <p:nvPr/>
        </p:nvSpPr>
        <p:spPr>
          <a:xfrm>
            <a:off x="508000" y="800100"/>
            <a:ext cx="10922000" cy="169277"/>
          </a:xfrm>
          <a:prstGeom prst="rect">
            <a:avLst/>
          </a:prstGeom>
          <a:noFill/>
        </p:spPr>
        <p:txBody>
          <a:bodyPr vert="horz" wrap="square" lIns="0" tIns="0" rIns="0" bIns="0" rtlCol="0">
            <a:spAutoFit/>
          </a:bodyPr>
          <a:lstStyle/>
          <a:p>
            <a:r>
              <a:rPr lang="en-US" sz="1100">
                <a:solidFill>
                  <a:srgbClr val="5C5C5C"/>
                </a:solidFill>
                <a:latin typeface="Aptos" panose="020B0004020202020204" pitchFamily="34" charset="0"/>
              </a:rPr>
              <a:t>Current limitations of the steering and reranking experiments</a:t>
            </a:r>
          </a:p>
        </p:txBody>
      </p:sp>
      <p:sp>
        <p:nvSpPr>
          <p:cNvPr id="8" name="Rectangle 7">
            <a:extLst>
              <a:ext uri="{FF2B5EF4-FFF2-40B4-BE49-F238E27FC236}">
                <a16:creationId xmlns:a16="http://schemas.microsoft.com/office/drawing/2014/main" id="{479D1110-B233-4A10-4F46-79FAF0EB697B}"/>
              </a:ext>
            </a:extLst>
          </p:cNvPr>
          <p:cNvSpPr/>
          <p:nvPr/>
        </p:nvSpPr>
        <p:spPr>
          <a:xfrm>
            <a:off x="508000" y="1168400"/>
            <a:ext cx="11176000" cy="50800"/>
          </a:xfrm>
          <a:prstGeom prst="rect">
            <a:avLst/>
          </a:prstGeom>
          <a:solidFill>
            <a:srgbClr val="FFC62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005C9565-C0D5-C08D-07BE-E1154930ECB9}"/>
              </a:ext>
            </a:extLst>
          </p:cNvPr>
          <p:cNvSpPr txBox="1"/>
          <p:nvPr/>
        </p:nvSpPr>
        <p:spPr>
          <a:xfrm>
            <a:off x="11430000" y="381000"/>
            <a:ext cx="254000" cy="153888"/>
          </a:xfrm>
          <a:prstGeom prst="rect">
            <a:avLst/>
          </a:prstGeom>
          <a:noFill/>
        </p:spPr>
        <p:txBody>
          <a:bodyPr vert="horz" wrap="square" lIns="0" tIns="0" rIns="0" bIns="0" rtlCol="0">
            <a:spAutoFit/>
          </a:bodyPr>
          <a:lstStyle/>
          <a:p>
            <a:pPr algn="r"/>
            <a:r>
              <a:rPr lang="en-US" sz="1000">
                <a:solidFill>
                  <a:srgbClr val="5C5C5C"/>
                </a:solidFill>
                <a:latin typeface="Aptos" panose="020B0004020202020204" pitchFamily="34" charset="0"/>
              </a:rPr>
              <a:t>48</a:t>
            </a:r>
          </a:p>
        </p:txBody>
      </p:sp>
      <p:sp>
        <p:nvSpPr>
          <p:cNvPr id="10" name="Rectangle: Rounded Corners 9">
            <a:extLst>
              <a:ext uri="{FF2B5EF4-FFF2-40B4-BE49-F238E27FC236}">
                <a16:creationId xmlns:a16="http://schemas.microsoft.com/office/drawing/2014/main" id="{41783480-01B1-ED15-C48F-696659822519}"/>
              </a:ext>
            </a:extLst>
          </p:cNvPr>
          <p:cNvSpPr/>
          <p:nvPr/>
        </p:nvSpPr>
        <p:spPr>
          <a:xfrm>
            <a:off x="508000" y="1803400"/>
            <a:ext cx="11150600" cy="1219200"/>
          </a:xfrm>
          <a:prstGeom prst="roundRect">
            <a:avLst/>
          </a:prstGeom>
          <a:solidFill>
            <a:srgbClr val="F5E9EE"/>
          </a:solidFill>
          <a:ln w="13970">
            <a:solidFill>
              <a:srgbClr val="8C1D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8723A492-7135-FD6B-202C-76A5D40EDEE5}"/>
              </a:ext>
            </a:extLst>
          </p:cNvPr>
          <p:cNvSpPr txBox="1"/>
          <p:nvPr/>
        </p:nvSpPr>
        <p:spPr>
          <a:xfrm>
            <a:off x="685800" y="1955800"/>
            <a:ext cx="10795000" cy="184666"/>
          </a:xfrm>
          <a:prstGeom prst="rect">
            <a:avLst/>
          </a:prstGeom>
          <a:noFill/>
        </p:spPr>
        <p:txBody>
          <a:bodyPr vert="horz" wrap="square" lIns="0" tIns="0" rIns="0" bIns="0" rtlCol="0">
            <a:spAutoFit/>
          </a:bodyPr>
          <a:lstStyle/>
          <a:p>
            <a:r>
              <a:rPr lang="en-US" sz="1200" b="1">
                <a:solidFill>
                  <a:srgbClr val="8C1D40"/>
                </a:solidFill>
                <a:latin typeface="Aptos" panose="020B0004020202020204" pitchFamily="34" charset="0"/>
              </a:rPr>
              <a:t>Single simulated environment</a:t>
            </a:r>
          </a:p>
        </p:txBody>
      </p:sp>
      <p:sp>
        <p:nvSpPr>
          <p:cNvPr id="12" name="TextBox 11">
            <a:extLst>
              <a:ext uri="{FF2B5EF4-FFF2-40B4-BE49-F238E27FC236}">
                <a16:creationId xmlns:a16="http://schemas.microsoft.com/office/drawing/2014/main" id="{86127653-4BF0-3AAF-2C85-06ECAC5D0C0F}"/>
              </a:ext>
            </a:extLst>
          </p:cNvPr>
          <p:cNvSpPr txBox="1"/>
          <p:nvPr/>
        </p:nvSpPr>
        <p:spPr>
          <a:xfrm>
            <a:off x="685800" y="2260600"/>
            <a:ext cx="10795000" cy="169277"/>
          </a:xfrm>
          <a:prstGeom prst="rect">
            <a:avLst/>
          </a:prstGeom>
          <a:noFill/>
        </p:spPr>
        <p:txBody>
          <a:bodyPr vert="horz" wrap="square" lIns="0" tIns="0" rIns="0" bIns="0" rtlCol="0">
            <a:spAutoFit/>
          </a:bodyPr>
          <a:lstStyle/>
          <a:p>
            <a:r>
              <a:rPr lang="en-US" sz="1100">
                <a:solidFill>
                  <a:srgbClr val="1C1C1C"/>
                </a:solidFill>
                <a:latin typeface="Aptos" panose="020B0004020202020204" pitchFamily="34" charset="0"/>
              </a:rPr>
              <a:t>All results come from TwoBlockPick in PyBullet, so generalization to real robots and other task families is still untested.</a:t>
            </a:r>
          </a:p>
        </p:txBody>
      </p:sp>
      <p:sp>
        <p:nvSpPr>
          <p:cNvPr id="13" name="Rectangle: Rounded Corners 12">
            <a:extLst>
              <a:ext uri="{FF2B5EF4-FFF2-40B4-BE49-F238E27FC236}">
                <a16:creationId xmlns:a16="http://schemas.microsoft.com/office/drawing/2014/main" id="{059C61F4-C832-49B8-3429-8D113F6A6A7E}"/>
              </a:ext>
            </a:extLst>
          </p:cNvPr>
          <p:cNvSpPr/>
          <p:nvPr/>
        </p:nvSpPr>
        <p:spPr>
          <a:xfrm>
            <a:off x="508000" y="3251200"/>
            <a:ext cx="11150600" cy="1219200"/>
          </a:xfrm>
          <a:prstGeom prst="roundRect">
            <a:avLst/>
          </a:prstGeom>
          <a:solidFill>
            <a:srgbClr val="E8F1F9"/>
          </a:solidFill>
          <a:ln w="13970">
            <a:solidFill>
              <a:srgbClr val="4984C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AF31FC6B-912D-8DE1-D252-E098948045CC}"/>
              </a:ext>
            </a:extLst>
          </p:cNvPr>
          <p:cNvSpPr txBox="1"/>
          <p:nvPr/>
        </p:nvSpPr>
        <p:spPr>
          <a:xfrm>
            <a:off x="685800" y="3403600"/>
            <a:ext cx="10795000" cy="184666"/>
          </a:xfrm>
          <a:prstGeom prst="rect">
            <a:avLst/>
          </a:prstGeom>
          <a:noFill/>
        </p:spPr>
        <p:txBody>
          <a:bodyPr vert="horz" wrap="square" lIns="0" tIns="0" rIns="0" bIns="0" rtlCol="0">
            <a:spAutoFit/>
          </a:bodyPr>
          <a:lstStyle/>
          <a:p>
            <a:r>
              <a:rPr lang="en-US" sz="1200" b="1">
                <a:solidFill>
                  <a:srgbClr val="4984CB"/>
                </a:solidFill>
                <a:latin typeface="Aptos" panose="020B0004020202020204" pitchFamily="34" charset="0"/>
              </a:rPr>
              <a:t>Execution non-determinism reduces VLM gains</a:t>
            </a:r>
          </a:p>
        </p:txBody>
      </p:sp>
      <p:sp>
        <p:nvSpPr>
          <p:cNvPr id="15" name="TextBox 14">
            <a:extLst>
              <a:ext uri="{FF2B5EF4-FFF2-40B4-BE49-F238E27FC236}">
                <a16:creationId xmlns:a16="http://schemas.microsoft.com/office/drawing/2014/main" id="{3FE2C929-A7FD-B14E-E90B-CBF6339F1596}"/>
              </a:ext>
            </a:extLst>
          </p:cNvPr>
          <p:cNvSpPr txBox="1"/>
          <p:nvPr/>
        </p:nvSpPr>
        <p:spPr>
          <a:xfrm>
            <a:off x="685800" y="3708400"/>
            <a:ext cx="10795000" cy="169277"/>
          </a:xfrm>
          <a:prstGeom prst="rect">
            <a:avLst/>
          </a:prstGeom>
          <a:noFill/>
        </p:spPr>
        <p:txBody>
          <a:bodyPr vert="horz" wrap="square" lIns="0" tIns="0" rIns="0" bIns="0" rtlCol="0">
            <a:spAutoFit/>
          </a:bodyPr>
          <a:lstStyle/>
          <a:p>
            <a:r>
              <a:rPr lang="en-US" sz="1100">
                <a:solidFill>
                  <a:srgbClr val="1C1C1C"/>
                </a:solidFill>
                <a:latin typeface="Aptos" panose="020B0004020202020204" pitchFamily="34" charset="0"/>
              </a:rPr>
              <a:t>Re-executing sampled trajectories from scratch introduces stochasticity, which helps explain why VLM-guided gains were weaker for safety and grounding.</a:t>
            </a:r>
          </a:p>
        </p:txBody>
      </p:sp>
      <p:sp>
        <p:nvSpPr>
          <p:cNvPr id="16" name="Rectangle: Rounded Corners 15">
            <a:extLst>
              <a:ext uri="{FF2B5EF4-FFF2-40B4-BE49-F238E27FC236}">
                <a16:creationId xmlns:a16="http://schemas.microsoft.com/office/drawing/2014/main" id="{9F83BFAD-8909-72BC-F7A2-A40F861B46EC}"/>
              </a:ext>
            </a:extLst>
          </p:cNvPr>
          <p:cNvSpPr/>
          <p:nvPr/>
        </p:nvSpPr>
        <p:spPr>
          <a:xfrm>
            <a:off x="508000" y="4699000"/>
            <a:ext cx="11150600" cy="1219200"/>
          </a:xfrm>
          <a:prstGeom prst="roundRect">
            <a:avLst/>
          </a:prstGeom>
          <a:solidFill>
            <a:srgbClr val="EBF5EC"/>
          </a:solidFill>
          <a:ln w="13970">
            <a:solidFill>
              <a:srgbClr val="5B99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3D0B76E8-9D4A-9D2F-E7D4-E3A46833A432}"/>
              </a:ext>
            </a:extLst>
          </p:cNvPr>
          <p:cNvSpPr txBox="1"/>
          <p:nvPr/>
        </p:nvSpPr>
        <p:spPr>
          <a:xfrm>
            <a:off x="685800" y="4851400"/>
            <a:ext cx="10795000" cy="184666"/>
          </a:xfrm>
          <a:prstGeom prst="rect">
            <a:avLst/>
          </a:prstGeom>
          <a:noFill/>
        </p:spPr>
        <p:txBody>
          <a:bodyPr vert="horz" wrap="square" lIns="0" tIns="0" rIns="0" bIns="0" rtlCol="0">
            <a:spAutoFit/>
          </a:bodyPr>
          <a:lstStyle/>
          <a:p>
            <a:r>
              <a:rPr lang="en-US" sz="1200" b="1">
                <a:solidFill>
                  <a:srgbClr val="5B995D"/>
                </a:solidFill>
                <a:latin typeface="Aptos" panose="020B0004020202020204" pitchFamily="34" charset="0"/>
              </a:rPr>
              <a:t>No human-subject validation for policy legibility</a:t>
            </a:r>
          </a:p>
        </p:txBody>
      </p:sp>
      <p:sp>
        <p:nvSpPr>
          <p:cNvPr id="18" name="TextBox 17">
            <a:extLst>
              <a:ext uri="{FF2B5EF4-FFF2-40B4-BE49-F238E27FC236}">
                <a16:creationId xmlns:a16="http://schemas.microsoft.com/office/drawing/2014/main" id="{3028529F-FE77-DABF-A2D6-481A0269631C}"/>
              </a:ext>
            </a:extLst>
          </p:cNvPr>
          <p:cNvSpPr txBox="1"/>
          <p:nvPr/>
        </p:nvSpPr>
        <p:spPr>
          <a:xfrm>
            <a:off x="685800" y="5156200"/>
            <a:ext cx="10795000" cy="169277"/>
          </a:xfrm>
          <a:prstGeom prst="rect">
            <a:avLst/>
          </a:prstGeom>
          <a:noFill/>
        </p:spPr>
        <p:txBody>
          <a:bodyPr vert="horz" wrap="square" lIns="0" tIns="0" rIns="0" bIns="0" rtlCol="0">
            <a:spAutoFit/>
          </a:bodyPr>
          <a:lstStyle/>
          <a:p>
            <a:r>
              <a:rPr lang="en-US" sz="1100">
                <a:solidFill>
                  <a:srgbClr val="1C1C1C"/>
                </a:solidFill>
                <a:latin typeface="Aptos" panose="020B0004020202020204" pitchFamily="34" charset="0"/>
              </a:rPr>
              <a:t>L_early is currently a Bayesian legibility metric; it has not yet been validated against actual human observer studies for these policy outputs.</a:t>
            </a:r>
          </a:p>
        </p:txBody>
      </p:sp>
      <p:sp>
        <p:nvSpPr>
          <p:cNvPr id="19" name="Rectangle: Rounded Corners 18">
            <a:extLst>
              <a:ext uri="{FF2B5EF4-FFF2-40B4-BE49-F238E27FC236}">
                <a16:creationId xmlns:a16="http://schemas.microsoft.com/office/drawing/2014/main" id="{89D4D584-30E9-BF26-2366-6C62CD8CF58D}"/>
              </a:ext>
            </a:extLst>
          </p:cNvPr>
          <p:cNvSpPr/>
          <p:nvPr/>
        </p:nvSpPr>
        <p:spPr>
          <a:xfrm>
            <a:off x="508000" y="5791200"/>
            <a:ext cx="11150600" cy="711200"/>
          </a:xfrm>
          <a:prstGeom prst="roundRect">
            <a:avLst/>
          </a:prstGeom>
          <a:solidFill>
            <a:srgbClr val="FFFFFF"/>
          </a:solidFill>
          <a:ln w="13970">
            <a:solidFill>
              <a:srgbClr val="FFC62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1D3CEBC4-31D5-F873-685D-04AB378293AD}"/>
              </a:ext>
            </a:extLst>
          </p:cNvPr>
          <p:cNvSpPr txBox="1"/>
          <p:nvPr/>
        </p:nvSpPr>
        <p:spPr>
          <a:xfrm>
            <a:off x="685800" y="5943600"/>
            <a:ext cx="10795000" cy="184666"/>
          </a:xfrm>
          <a:prstGeom prst="rect">
            <a:avLst/>
          </a:prstGeom>
          <a:noFill/>
        </p:spPr>
        <p:txBody>
          <a:bodyPr vert="horz" wrap="square" lIns="0" tIns="0" rIns="0" bIns="0" rtlCol="0">
            <a:spAutoFit/>
          </a:bodyPr>
          <a:lstStyle/>
          <a:p>
            <a:r>
              <a:rPr lang="en-US" sz="1200" b="1">
                <a:solidFill>
                  <a:srgbClr val="FFC627"/>
                </a:solidFill>
                <a:latin typeface="Aptos" panose="020B0004020202020204" pitchFamily="34" charset="0"/>
              </a:rPr>
              <a:t>Takeaway</a:t>
            </a:r>
          </a:p>
        </p:txBody>
      </p:sp>
      <p:sp>
        <p:nvSpPr>
          <p:cNvPr id="21" name="TextBox 20">
            <a:extLst>
              <a:ext uri="{FF2B5EF4-FFF2-40B4-BE49-F238E27FC236}">
                <a16:creationId xmlns:a16="http://schemas.microsoft.com/office/drawing/2014/main" id="{3CF70149-220E-54FB-949C-407F4DD3ACEF}"/>
              </a:ext>
            </a:extLst>
          </p:cNvPr>
          <p:cNvSpPr txBox="1"/>
          <p:nvPr/>
        </p:nvSpPr>
        <p:spPr>
          <a:xfrm>
            <a:off x="685800" y="6248400"/>
            <a:ext cx="10795000" cy="153888"/>
          </a:xfrm>
          <a:prstGeom prst="rect">
            <a:avLst/>
          </a:prstGeom>
          <a:noFill/>
        </p:spPr>
        <p:txBody>
          <a:bodyPr vert="horz" wrap="square" lIns="0" tIns="0" rIns="0" bIns="0" rtlCol="0">
            <a:spAutoFit/>
          </a:bodyPr>
          <a:lstStyle/>
          <a:p>
            <a:r>
              <a:rPr lang="en-US" sz="1000">
                <a:solidFill>
                  <a:srgbClr val="1C1C1C"/>
                </a:solidFill>
                <a:latin typeface="Aptos" panose="020B0004020202020204" pitchFamily="34" charset="0"/>
              </a:rPr>
              <a:t>The policy results are promising, but they should be treated as an initial steering study rather than a final human-centered validation.</a:t>
            </a:r>
          </a:p>
        </p:txBody>
      </p:sp>
    </p:spTree>
    <p:extLst>
      <p:ext uri="{BB962C8B-B14F-4D97-AF65-F5344CB8AC3E}">
        <p14:creationId xmlns:p14="http://schemas.microsoft.com/office/powerpoint/2010/main" val="398834189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BF8F2"/>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A75336D-8A18-FECB-0E9B-2287C0FEF5B8}"/>
              </a:ext>
            </a:extLst>
          </p:cNvPr>
          <p:cNvSpPr/>
          <p:nvPr/>
        </p:nvSpPr>
        <p:spPr>
          <a:xfrm>
            <a:off x="0" y="0"/>
            <a:ext cx="12192000" cy="6858000"/>
          </a:xfrm>
          <a:prstGeom prst="rect">
            <a:avLst/>
          </a:prstGeom>
          <a:solidFill>
            <a:srgbClr val="F8F6F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EB677113-7057-7C7C-8E5A-232130360A9C}"/>
              </a:ext>
            </a:extLst>
          </p:cNvPr>
          <p:cNvSpPr/>
          <p:nvPr/>
        </p:nvSpPr>
        <p:spPr>
          <a:xfrm>
            <a:off x="2286000" y="1549400"/>
            <a:ext cx="7620000" cy="50800"/>
          </a:xfrm>
          <a:prstGeom prst="rect">
            <a:avLst/>
          </a:prstGeom>
          <a:solidFill>
            <a:srgbClr val="FFC62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042D938F-EB10-DF5B-C77F-7027EB18B626}"/>
              </a:ext>
            </a:extLst>
          </p:cNvPr>
          <p:cNvSpPr txBox="1"/>
          <p:nvPr/>
        </p:nvSpPr>
        <p:spPr>
          <a:xfrm>
            <a:off x="0" y="2159000"/>
            <a:ext cx="12192000" cy="523220"/>
          </a:xfrm>
          <a:prstGeom prst="rect">
            <a:avLst/>
          </a:prstGeom>
          <a:noFill/>
        </p:spPr>
        <p:txBody>
          <a:bodyPr vert="horz" wrap="square" lIns="0" tIns="0" rIns="0" bIns="0" rtlCol="0">
            <a:spAutoFit/>
          </a:bodyPr>
          <a:lstStyle/>
          <a:p>
            <a:pPr algn="ctr"/>
            <a:r>
              <a:rPr lang="en-US" sz="3400" b="1">
                <a:solidFill>
                  <a:srgbClr val="1C1C1C"/>
                </a:solidFill>
                <a:latin typeface="Aptos" panose="020B0004020202020204" pitchFamily="34" charset="0"/>
              </a:rPr>
              <a:t>Thank You</a:t>
            </a:r>
          </a:p>
        </p:txBody>
      </p:sp>
      <p:sp>
        <p:nvSpPr>
          <p:cNvPr id="8" name="TextBox 7">
            <a:extLst>
              <a:ext uri="{FF2B5EF4-FFF2-40B4-BE49-F238E27FC236}">
                <a16:creationId xmlns:a16="http://schemas.microsoft.com/office/drawing/2014/main" id="{34351B1E-EA9F-FE1A-6E67-07F8CFB6C179}"/>
              </a:ext>
            </a:extLst>
          </p:cNvPr>
          <p:cNvSpPr txBox="1"/>
          <p:nvPr/>
        </p:nvSpPr>
        <p:spPr>
          <a:xfrm>
            <a:off x="0" y="3098800"/>
            <a:ext cx="12192000" cy="338554"/>
          </a:xfrm>
          <a:prstGeom prst="rect">
            <a:avLst/>
          </a:prstGeom>
          <a:noFill/>
        </p:spPr>
        <p:txBody>
          <a:bodyPr vert="horz" wrap="square" lIns="0" tIns="0" rIns="0" bIns="0" rtlCol="0">
            <a:spAutoFit/>
          </a:bodyPr>
          <a:lstStyle/>
          <a:p>
            <a:pPr algn="ctr"/>
            <a:r>
              <a:rPr lang="en-US" sz="2200">
                <a:solidFill>
                  <a:srgbClr val="8C1D40"/>
                </a:solidFill>
                <a:latin typeface="Aptos" panose="020B0004020202020204" pitchFamily="34" charset="0"/>
              </a:rPr>
              <a:t>Questions?</a:t>
            </a:r>
          </a:p>
        </p:txBody>
      </p:sp>
      <p:sp>
        <p:nvSpPr>
          <p:cNvPr id="9" name="TextBox 8">
            <a:extLst>
              <a:ext uri="{FF2B5EF4-FFF2-40B4-BE49-F238E27FC236}">
                <a16:creationId xmlns:a16="http://schemas.microsoft.com/office/drawing/2014/main" id="{55C9EA4E-29CB-D3A0-2200-A2EDB3E40EFD}"/>
              </a:ext>
            </a:extLst>
          </p:cNvPr>
          <p:cNvSpPr txBox="1"/>
          <p:nvPr/>
        </p:nvSpPr>
        <p:spPr>
          <a:xfrm>
            <a:off x="1397000" y="4089400"/>
            <a:ext cx="9398000" cy="276999"/>
          </a:xfrm>
          <a:prstGeom prst="rect">
            <a:avLst/>
          </a:prstGeom>
          <a:noFill/>
        </p:spPr>
        <p:txBody>
          <a:bodyPr vert="horz" wrap="square" lIns="0" tIns="0" rIns="0" bIns="0" rtlCol="0">
            <a:spAutoFit/>
          </a:bodyPr>
          <a:lstStyle/>
          <a:p>
            <a:pPr algn="ctr"/>
            <a:r>
              <a:rPr lang="en-US">
                <a:solidFill>
                  <a:srgbClr val="5C5C5C"/>
                </a:solidFill>
                <a:latin typeface="Aptos" panose="020B0004020202020204" pitchFamily="34" charset="0"/>
              </a:rPr>
              <a:t>Vision-Language Models as Proxies for Human Judgment of Robot Motion Legibility</a:t>
            </a:r>
          </a:p>
        </p:txBody>
      </p:sp>
      <p:sp>
        <p:nvSpPr>
          <p:cNvPr id="10" name="TextBox 9">
            <a:extLst>
              <a:ext uri="{FF2B5EF4-FFF2-40B4-BE49-F238E27FC236}">
                <a16:creationId xmlns:a16="http://schemas.microsoft.com/office/drawing/2014/main" id="{CD57A091-CB52-7D45-725B-AE3C0CEA7232}"/>
              </a:ext>
            </a:extLst>
          </p:cNvPr>
          <p:cNvSpPr txBox="1"/>
          <p:nvPr/>
        </p:nvSpPr>
        <p:spPr>
          <a:xfrm>
            <a:off x="2794000" y="4800600"/>
            <a:ext cx="6604000" cy="200055"/>
          </a:xfrm>
          <a:prstGeom prst="rect">
            <a:avLst/>
          </a:prstGeom>
          <a:noFill/>
        </p:spPr>
        <p:txBody>
          <a:bodyPr vert="horz" wrap="square" lIns="0" tIns="0" rIns="0" bIns="0" rtlCol="0">
            <a:spAutoFit/>
          </a:bodyPr>
          <a:lstStyle/>
          <a:p>
            <a:pPr algn="ctr"/>
            <a:r>
              <a:rPr lang="sv-SE" sz="1300">
                <a:solidFill>
                  <a:srgbClr val="5C5C5C"/>
                </a:solidFill>
                <a:latin typeface="Aptos" panose="020B0004020202020204" pitchFamily="34" charset="0"/>
              </a:rPr>
              <a:t>Anudeep Sai Gottapu  |  April 2026</a:t>
            </a:r>
            <a:endParaRPr lang="en-US" sz="1300">
              <a:solidFill>
                <a:srgbClr val="5C5C5C"/>
              </a:solidFill>
              <a:latin typeface="Aptos" panose="020B0004020202020204" pitchFamily="34" charset="0"/>
            </a:endParaRPr>
          </a:p>
        </p:txBody>
      </p:sp>
      <p:sp>
        <p:nvSpPr>
          <p:cNvPr id="11" name="TextBox 10">
            <a:extLst>
              <a:ext uri="{FF2B5EF4-FFF2-40B4-BE49-F238E27FC236}">
                <a16:creationId xmlns:a16="http://schemas.microsoft.com/office/drawing/2014/main" id="{50D66FBF-A619-9C10-B595-D17214421933}"/>
              </a:ext>
            </a:extLst>
          </p:cNvPr>
          <p:cNvSpPr txBox="1"/>
          <p:nvPr/>
        </p:nvSpPr>
        <p:spPr>
          <a:xfrm>
            <a:off x="11430000" y="381000"/>
            <a:ext cx="254000" cy="153888"/>
          </a:xfrm>
          <a:prstGeom prst="rect">
            <a:avLst/>
          </a:prstGeom>
          <a:noFill/>
        </p:spPr>
        <p:txBody>
          <a:bodyPr vert="horz" wrap="square" lIns="0" tIns="0" rIns="0" bIns="0" rtlCol="0">
            <a:spAutoFit/>
          </a:bodyPr>
          <a:lstStyle/>
          <a:p>
            <a:pPr algn="r"/>
            <a:r>
              <a:rPr lang="en-US" sz="1000">
                <a:solidFill>
                  <a:srgbClr val="5C5C5C"/>
                </a:solidFill>
                <a:latin typeface="Aptos" panose="020B0004020202020204" pitchFamily="34" charset="0"/>
              </a:rPr>
              <a:t>49</a:t>
            </a:r>
          </a:p>
        </p:txBody>
      </p:sp>
    </p:spTree>
    <p:extLst>
      <p:ext uri="{BB962C8B-B14F-4D97-AF65-F5344CB8AC3E}">
        <p14:creationId xmlns:p14="http://schemas.microsoft.com/office/powerpoint/2010/main" val="207803195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1204</TotalTime>
  <Words>9259</Words>
  <Application>Microsoft Office PowerPoint</Application>
  <PresentationFormat>Widescreen</PresentationFormat>
  <Paragraphs>644</Paragraphs>
  <Slides>49</Slides>
  <Notes>34</Notes>
  <HiddenSlides>0</HiddenSlides>
  <MMClips>7</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49</vt:i4>
      </vt:variant>
    </vt:vector>
  </HeadingPairs>
  <TitlesOfParts>
    <vt:vector size="56" baseType="lpstr">
      <vt:lpstr>Aptos</vt:lpstr>
      <vt:lpstr>Aptos Display</vt:lpstr>
      <vt:lpstr>Arial</vt:lpstr>
      <vt:lpstr>Cambria Math</vt:lpstr>
      <vt:lpstr>Consolas</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Anudeep sai G</dc:creator>
  <cp:lastModifiedBy>Anudeep sai G</cp:lastModifiedBy>
  <cp:revision>32</cp:revision>
  <dcterms:created xsi:type="dcterms:W3CDTF">2026-04-05T19:25:30Z</dcterms:created>
  <dcterms:modified xsi:type="dcterms:W3CDTF">2026-04-06T19:08:13Z</dcterms:modified>
</cp:coreProperties>
</file>