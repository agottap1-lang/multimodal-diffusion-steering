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Multimodal Diffusion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9164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BEAFE"/>
                </a:solidFill>
                <a:latin typeface="Calibri"/>
              </a:rPr>
              <a:t>Teaching a robot arm to move expressively using diffusion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1159" y="2834640"/>
            <a:ext cx="146304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1159" y="29992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  Demo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4199" y="3150108"/>
            <a:ext cx="12801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82215" y="2834640"/>
            <a:ext cx="146304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82215" y="29992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  DDPM 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45255" y="3150108"/>
            <a:ext cx="12801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73271" y="2834640"/>
            <a:ext cx="146304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3271" y="29992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  CFG Trick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6311" y="3150108"/>
            <a:ext cx="12801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64327" y="2834640"/>
            <a:ext cx="146304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327" y="29992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  U-Net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27367" y="3150108"/>
            <a:ext cx="12801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55383" y="2834640"/>
            <a:ext cx="1463040" cy="685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5383" y="29992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  DDIM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8423" y="3150108"/>
            <a:ext cx="12801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6439" y="2834640"/>
            <a:ext cx="146304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6439" y="29992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  VLM Judge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09479" y="3150108"/>
            <a:ext cx="12801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37495" y="2834640"/>
            <a:ext cx="146304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37495" y="29992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 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Calibri"/>
              </a:rPr>
              <a:t>train_cfg.py  (slides 2-4)                             eval_cfg_vlm.py  (slides 5-7)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Franka Panda  .  PyBullet  .  Two-Block Pick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DDPM Training — The Robot Learns by Denoising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577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Add noise to demonstrations, train the network to undo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81360" y="109728"/>
            <a:ext cx="141732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5368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The Idea  (3 steps)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16736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1.  Take a clean action chunk  a0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2.  Add random noise  up to T=100 levels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3.  Train the network: given noisy aₜ + level t, predict the noise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5120640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478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Noise Schedule   (α̅ₜ = how much signal remains at step 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79192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β₁…βₜ linearly  0.0001 → 0.1       α̅ₜ = β₁ x β₂ x ... x βₜ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5120640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25526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Forward Process   (add all noise in ONE shot)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456432"/>
            <a:ext cx="49377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aₜ  =  √α̅ₜ · a₀  +  √(1 − α̅ₜ) · ε        ε ~ N(0, 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5120640" cy="777240"/>
          </a:xfrm>
          <a:prstGeom prst="rect">
            <a:avLst/>
          </a:prstGeom>
          <a:solidFill>
            <a:srgbClr val="D1FAE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032503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Calibri"/>
              </a:rPr>
              <a:t>Training Loss   (mean squared error on the predicted noise)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233671"/>
            <a:ext cx="49377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L  =  E [ || ε  -  εθ(aₜ, t, obs) ||^2 ]
εθ = network prediction,    obs = robot observation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64608"/>
            <a:ext cx="5120640" cy="59436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91947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EMA Shadow Weights   (saved; used at eval time)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5120640"/>
            <a:ext cx="4937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θ_ema  &lt;-  0.999 x θ_ema  +  0.001 x 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102412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Training Loop  (one batch)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325880"/>
            <a:ext cx="6035040" cy="75895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4173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3990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380744"/>
            <a:ext cx="5541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Pick random noise level  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645920"/>
            <a:ext cx="5541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t ~ Uniform(0, 100)  each batch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194560"/>
            <a:ext cx="6035040" cy="75895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228600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2267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249424"/>
            <a:ext cx="5541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Corrupt the action  a0 -&gt; 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514600"/>
            <a:ext cx="5541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One-shot formula above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3063240"/>
            <a:ext cx="6035040" cy="75895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315468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313639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18104"/>
            <a:ext cx="5541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Network predicts noise  e_hat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383280"/>
            <a:ext cx="5541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e_hat = e_theta(at, t, obs)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3931920"/>
            <a:ext cx="6035040" cy="75895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402336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40050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986784"/>
            <a:ext cx="5541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Loss = MSE(e_hat, 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251960"/>
            <a:ext cx="5541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Backprop + AdamW update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4800600"/>
            <a:ext cx="6035040" cy="75895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489204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487375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855464"/>
            <a:ext cx="5541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Update EMA weights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120640"/>
            <a:ext cx="5541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Slow-moving copy of the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01675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The network solves just ONE random denoising step per batch - not the full 100-step 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Classifier-Free Guidance (CFG)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577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One model, four behaviors - no separate models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81360" y="109728"/>
            <a:ext cx="141732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5368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1673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We want the robot to behave differently (legibly, safely...) using ONE trained model. Behavior is encoded in obs dims 22-25.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The Training Trick  (CFG dropout, p=0.15)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5303520" cy="713232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2677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Randomly hide the behavior signal during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4688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obs_tilde = obs               with prob 0.85   (behavior-aware)
obs_tilde = obs_uncond    with prob 0.15   (behavior-blind)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358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At Inference  (steer toward a behavior)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28416"/>
            <a:ext cx="530352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3832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Blend the two predictions with guidance scale lambda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58444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e_hat  =  e(obs_uncond)  +  lambda x ( e(obs_cond) - e(obs_uncond) )
lambda=0: no steering    lambda=2-4: strong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690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lambda values: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43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  lambda = 0   ignore behavior, use generic actions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  lambda = 1   standard conditional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  lambda = 2-4   strongly steered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02412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Behavior Conditioning Dims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335024"/>
            <a:ext cx="585216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399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Dims 0-21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399032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Base robot state — always present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048256"/>
            <a:ext cx="585216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1122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Dims 22-24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112264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Context XYZ (obstacle or waypoint position)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761488"/>
            <a:ext cx="5852160" cy="62179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825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Dim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825496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Behavior mode number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474720"/>
            <a:ext cx="5852160" cy="621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5387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Legibility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538728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mode=1,  no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4187952"/>
            <a:ext cx="5852160" cy="621792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251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Calibri"/>
              </a:rPr>
              <a:t>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251960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mode=3,  context = obstacle XYZ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901184"/>
            <a:ext cx="585216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9651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Grounding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965192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mode=4,  context = waypoint XYZ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01675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Cost: just 15% random dropout on 4 dims per batch. No extra parameters. No second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U-Net Architecture — The Denoiser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577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Encoder compresses, decoder recovers, skip connections preserve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81360" y="109728"/>
            <a:ext cx="14173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5368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16736"/>
            <a:ext cx="512064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Noisy action  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371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(B, 32 steps, 5 dims)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65376"/>
            <a:ext cx="512064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Observation  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(B, 26 dims)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14016"/>
            <a:ext cx="5120640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Timestep 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68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(B,)  how noisy?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62656"/>
            <a:ext cx="512064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Output: noise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17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(B, 32, 5)  same as 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512064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6667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Time Embedding   (encodes noise level t as a vector)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86791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e_t = [sin(t/freq_k), cos(t/freq_k)]  then MLP -&gt; 256 dims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25112"/>
            <a:ext cx="5120640" cy="59436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3799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Input Fusion   (merge action and observation)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581144"/>
            <a:ext cx="4937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x  =  Linear(at)  +  MLP(obs)      both -&gt; 256 dims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10912"/>
            <a:ext cx="512064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0657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Each Block   (linear + norm + activation + skip)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26694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h = Mish( Norm(Linear(x)) + time_proj(e_t) )
out = Mish( Norm(Linear(h)) + shortcut(x)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102412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Network 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1335024"/>
            <a:ext cx="6035040" cy="5669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138074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Input  x = Linear(at) + MLP(obs)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4630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256 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1901952"/>
            <a:ext cx="54864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1993392"/>
            <a:ext cx="60350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61888" y="203911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Encoder Block 1  + 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1214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256-&gt;512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560320"/>
            <a:ext cx="54864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52160" y="2651760"/>
            <a:ext cx="60350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1888" y="26974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Encoder Block 2  +  time   -&gt; save skip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277977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512-&gt;1024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3218688"/>
            <a:ext cx="54864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52160" y="3310128"/>
            <a:ext cx="603504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335584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Bottleneck  (global context)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43814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1024-&gt;1024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3877056"/>
            <a:ext cx="54864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2160" y="3968496"/>
            <a:ext cx="6035040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61888" y="4014216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Decoder Block 1  +  skip from Enc2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0965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2048-&gt;512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4535424"/>
            <a:ext cx="54864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52160" y="4626864"/>
            <a:ext cx="6035040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61888" y="467258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Decoder Block 2  +  skip from Enc1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475488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1024-&gt;256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5193792"/>
            <a:ext cx="54864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52160" y="5285232"/>
            <a:ext cx="6035040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61888" y="533095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Output Linear  -&gt;  predicted noise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541324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256-&gt;5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01675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Skip connections: encoder detail goes directly to the decoder -&gt; sharp noise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DDIM Sampling — Fast Action Generation at Test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577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20 steps instead of 100  |  eta=0.5 for diversity  |  K=4 candidates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81360" y="109728"/>
            <a:ext cx="141732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5368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Why DDIM?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1673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DDPM trained 100 steps but we only NEED 20 steps at inference. DDIM skips levels with negligible quality loss -&gt; 5x faster.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303520" cy="658368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7510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Step 1 — Estimate clean action from current noisy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76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a0_hat  =  ( at  -  sqrt(1 - alpha_t) * e_hat )  /  sqrt(alpha_t)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5303520" cy="749808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74320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Step 2 — Move to the previous (less noisy)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94436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a_{t-1}  =  sqrt(alpha_{t-1}) * a0_hat  +  sqrt(1 - alpha_{t-1} - sigma^2) * e_hat  +  sigma * z
sigma = eta * sqrt(...)     z ~ N(0,I)     eta=0.5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47872"/>
            <a:ext cx="5303520" cy="59436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60273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CFG applied at EVERY step (steers toward behavior)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803904"/>
            <a:ext cx="51206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e_hat  =  e_uncond  +  lambda * ( e_cond - e_uncond 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5303520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30682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Denormalize final output back to real joint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5079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a_real  =  a0_hat * std_actions  +  mean_actions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0241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Why K = 4 Candidates?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16736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eta=0.5 adds different random noise each run -&gt; 4 different trajectories from the same observation.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874519"/>
            <a:ext cx="59436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1984247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Candidate 1:  start pure noise  -&gt;  20 DDIM steps  -&gt;  action chunk (32 steps)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697479"/>
            <a:ext cx="594360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3328" y="2807207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Candidate 2:  start pure noise  -&gt;  20 DDIM steps  -&gt;  action chunk (32 steps)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520439"/>
            <a:ext cx="594360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3630167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Candidate 3:  start pure noise  -&gt;  20 DDIM steps  -&gt;  action chunk (32 steps)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343399"/>
            <a:ext cx="594360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4453127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Candidate 4:  start pure noise  -&gt;  20 DDIM steps  -&gt;  action chunk (32 steps)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166360"/>
            <a:ext cx="59436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522122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All 4 sent to VLM scorer  -&gt;  pick the highest-scoring 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01675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eta=0: same trajectory every time (no diversity).   eta=0.5: balanced variety for VLM selection.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VLM Judging — Gemini 3 Pro Picks the Best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577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6 frames per candidate  -&gt;  behavior question  -&gt;  score 0 to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81360" y="109728"/>
            <a:ext cx="141732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5368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Pipeline  (per episode)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212080" cy="6675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990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380744"/>
            <a:ext cx="4718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Reset sim + place scene 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Obstacle or waypoint per behavior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84832"/>
            <a:ext cx="5212080" cy="6675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762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579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139696"/>
            <a:ext cx="4718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Generate K=4 candidates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04872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CFG-DDIM, eta=0.5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43784"/>
            <a:ext cx="5212080" cy="6675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93522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1693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898648"/>
            <a:ext cx="4718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Capture 6 frames each candidate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63824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t=0s 1s 2s 3s 4s 5s  (JPEG 240x240)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02736"/>
            <a:ext cx="5212080" cy="6675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94176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758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57600"/>
            <a:ext cx="4718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Ask Gemini 3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22776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Frames + behavior question in one call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61688"/>
            <a:ext cx="5212080" cy="6675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453128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348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16552"/>
            <a:ext cx="4718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Parse score from JSON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81728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score: 0.91,  cue: "early left lean"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20640"/>
            <a:ext cx="5212080" cy="6675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21208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9379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175504"/>
            <a:ext cx="4718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Run best + worst candidates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440680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Record video, measure path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0241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What Gemini Is Asked Per Behavior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1325880"/>
            <a:ext cx="5943600" cy="1078992"/>
          </a:xfrm>
          <a:prstGeom prst="rect">
            <a:avLst/>
          </a:prstGeom>
          <a:solidFill>
            <a:srgbClr val="DBEAFE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2472" y="138988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Legibility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2472" y="1673352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How EARLY can you tell which block the arm is going for?
0 = cannot tell at all    1 = obvious from frame 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2496312"/>
            <a:ext cx="5943600" cy="1078992"/>
          </a:xfrm>
          <a:prstGeom prst="rect">
            <a:avLst/>
          </a:prstGeom>
          <a:solidFill>
            <a:srgbClr val="D1FAE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62472" y="256032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Predictability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62472" y="2843784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How STRAIGHT and DIRECT is the path?
0 = curved or erratic    1 = perfectly straight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3666744"/>
            <a:ext cx="5943600" cy="1078992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62472" y="373075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Calibri"/>
              </a:rPr>
              <a:t>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62472" y="4014216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How much SPACE does the arm keep from the obstacle?
0 = nearly hits it    1 = wide arc around 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4837176"/>
            <a:ext cx="5943600" cy="1078992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62472" y="490118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Grounding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62472" y="5184648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Does the arm PASS NEAR the waypoint before picking?
0 = ignores waypoint    1 = clearly visits 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01675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No Gemini fine-tuning. No reward function. VLM judges behavior from video like a human observer.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Evaluation Metrics  —  Four Geometric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577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Computed on the actual executed trajectory after VLM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81360" y="109728"/>
            <a:ext cx="1417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5368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24128"/>
            <a:ext cx="5669280" cy="2377440"/>
          </a:xfrm>
          <a:prstGeom prst="rect">
            <a:avLst/>
          </a:prstGeom>
          <a:solidFill>
            <a:srgbClr val="DBEAFE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115568"/>
            <a:ext cx="5440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L_early  (Legibility)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1481328"/>
            <a:ext cx="54132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17904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L_early  =  avg P(correct goal | position)   over first 30% of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2066543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Uses distance to each goal block as Bayesian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99008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-&gt; Higher = arm reveals goal earlier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24128"/>
            <a:ext cx="5669280" cy="2377440"/>
          </a:xfrm>
          <a:prstGeom prst="rect">
            <a:avLst/>
          </a:prstGeom>
          <a:solidFill>
            <a:srgbClr val="D1FAE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115568"/>
            <a:ext cx="5440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Path Efficiency  (Predictability)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91656" y="1481328"/>
            <a:ext cx="54132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17904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path_eff  =  straight-line dist / actual path 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066543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1.0 = perfectly straight,  below 1 = curved or backtracking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99008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-&gt; Higher = more direct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38728"/>
            <a:ext cx="5669280" cy="237744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3630168"/>
            <a:ext cx="5440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Calibri"/>
              </a:rPr>
              <a:t>Clearance  (Safety)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3995928"/>
            <a:ext cx="54132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32504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clearance  =  minimum distance to obstacle  over all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4581143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Obstacle radius = 3.5 cm.  Clearance &gt; 5 cm = 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550468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Calibri"/>
              </a:rPr>
              <a:t>-&gt; Higher = safer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538728"/>
            <a:ext cx="5669280" cy="23774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630168"/>
            <a:ext cx="5440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Hover Dist  (Grounding)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91656" y="3995928"/>
            <a:ext cx="54132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032504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hover_dist  =  minimum XY distance to waypoint  over all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4581143"/>
            <a:ext cx="5440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Did the arm pass near the instructed landmark?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550468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-&gt; Lower = better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03504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Compare VLM-steered (best of K) vs baseline (worst of K) -- same model, same checkpoint, only selection differs.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59536"/>
            <a:ext cx="116128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778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0552" y="8778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42432" y="87782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11612880" cy="621792"/>
          </a:xfrm>
          <a:prstGeom prst="rect">
            <a:avLst/>
          </a:prstGeom>
          <a:solidFill>
            <a:srgbClr val="1F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64008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38074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DDPM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1380744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 = E[ || e - e_theta(at, t, obs) ||^2 ]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380744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DDPM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65960"/>
            <a:ext cx="11612880" cy="621792"/>
          </a:xfrm>
          <a:prstGeom prst="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64008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208483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CFG Dropout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2084832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e_hat = e_uncond + lambda * (e_cond - e_uncond)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084832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CFG Dropout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70048"/>
            <a:ext cx="11612880" cy="621792"/>
          </a:xfrm>
          <a:prstGeom prst="rect">
            <a:avLst/>
          </a:prstGeom>
          <a:solidFill>
            <a:srgbClr val="1F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670048"/>
            <a:ext cx="64008" cy="6217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0552" y="278892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U-Net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788920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x = Linear(at) + MLP(obs),  256-&gt;512-&gt;1024-&gt;512-&gt;256-&gt;5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788920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U-Net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74136"/>
            <a:ext cx="11612880" cy="621792"/>
          </a:xfrm>
          <a:prstGeom prst="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374136"/>
            <a:ext cx="64008" cy="6217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0552" y="349300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DDIM Sampling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3493008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a0_hat = (at - sqrt(1-alpha_t)*e_hat) / sqrt(alpha_t)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493008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DDIM Sampling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78224"/>
            <a:ext cx="11612880" cy="621792"/>
          </a:xfrm>
          <a:prstGeom prst="rect">
            <a:avLst/>
          </a:prstGeom>
          <a:solidFill>
            <a:srgbClr val="1F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078224"/>
            <a:ext cx="64008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0552" y="419709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VLM Judging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42432" y="419709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score in [0,1] per behavior  -&gt;  select best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197096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VLM Judging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782312"/>
            <a:ext cx="11612880" cy="621792"/>
          </a:xfrm>
          <a:prstGeom prst="rect">
            <a:avLst/>
          </a:prstGeom>
          <a:solidFill>
            <a:srgbClr val="16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782312"/>
            <a:ext cx="64008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30552" y="490118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2432" y="4901184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VLM-steered vs baseline (same model)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901184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9893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One model  .  One training run  .  Behavior selected at inference via lambda and obs conditioning  .  VLM judges without fine-tuning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