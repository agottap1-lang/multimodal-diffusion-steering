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37160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800" b="1">
                <a:solidFill>
                  <a:srgbClr val="FFFFFF"/>
                </a:solidFill>
                <a:latin typeface="Calibri"/>
              </a:defRPr>
            </a:pPr>
            <a:r>
              <a:t>Legible Robot Trajectories via</a:t>
            </a:r>
            <a:br/>
            <a:r>
              <a:t>Diffusion Policy + VLM Guidance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743200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DBEAFE"/>
                </a:solidFill>
                <a:latin typeface="Calibri"/>
              </a:defRPr>
            </a:pPr>
            <a:r>
              <a:t>Thesis Progress Report: Decisions, Debugging &amp; Results</a:t>
            </a:r>
            <a:br/>
            <a:r>
              <a:t>TwoBlockPick  |  Franka Panda  |  Gemini VLM  |  LegDiff CFG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0" y="3749039"/>
            <a:ext cx="4876495" cy="381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411480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DBEAFE"/>
                </a:solidFill>
                <a:latin typeface="Calibri"/>
              </a:defRPr>
            </a:pPr>
            <a:r>
              <a:t>February 8 – March 31, 2026  |  10 Engineering Phases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84632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6B7280"/>
                </a:solidFill>
                <a:latin typeface="Calibri"/>
              </a:defRPr>
            </a:pPr>
            <a:r>
              <a:t>April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Research Context &amp; Goal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9436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DBEAFE"/>
                </a:solidFill>
                <a:latin typeface="Calibri"/>
              </a:defRPr>
            </a:pPr>
            <a:r>
              <a:t>What is legibility and why does it matter for human-robot interaction?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88720"/>
            <a:ext cx="621792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>
                <a:solidFill>
                  <a:srgbClr val="000000"/>
                </a:solidFill>
                <a:latin typeface="Calibri"/>
              </a:defRPr>
            </a:pPr>
            <a:r>
              <a:t>Legibility (Dragan et al., 2013): An observer can predict the</a:t>
            </a:r>
            <a:br/>
            <a:r>
              <a:t>robot's goal early in the trajectory (first 30-40% of motion).</a:t>
            </a:r>
          </a:p>
          <a:p>
            <a:pPr>
              <a:spcAft>
                <a:spcPts val="800"/>
              </a:spcAft>
              <a:defRPr sz="1300">
                <a:solidFill>
                  <a:srgbClr val="000000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1300">
                <a:solidFill>
                  <a:srgbClr val="000000"/>
                </a:solidFill>
                <a:latin typeface="Calibri"/>
              </a:defRPr>
            </a:pPr>
            <a:r>
              <a:t>Problem: Diffusion policies produce efficient but ambiguous</a:t>
            </a:r>
            <a:br/>
            <a:r>
              <a:t>straight-line paths — an observer cannot tell which block the</a:t>
            </a:r>
            <a:br/>
            <a:r>
              <a:t>robot intends to pick until it is almost there.</a:t>
            </a:r>
          </a:p>
          <a:p>
            <a:pPr>
              <a:spcAft>
                <a:spcPts val="800"/>
              </a:spcAft>
              <a:defRPr sz="1300">
                <a:solidFill>
                  <a:srgbClr val="000000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1300">
                <a:solidFill>
                  <a:srgbClr val="000000"/>
                </a:solidFill>
                <a:latin typeface="Calibri"/>
              </a:defRPr>
            </a:pPr>
            <a:r>
              <a:t>Goal: Steer the policy at inference time to produce curved</a:t>
            </a:r>
            <a:br/>
            <a:r>
              <a:t>(arcing) trajectories that reveal intent earlier, without</a:t>
            </a:r>
            <a:br/>
            <a:r>
              <a:t>sacrificing task success and without retraining.</a:t>
            </a:r>
          </a:p>
          <a:p>
            <a:pPr>
              <a:spcAft>
                <a:spcPts val="800"/>
              </a:spcAft>
              <a:defRPr sz="1300">
                <a:solidFill>
                  <a:srgbClr val="000000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1300">
                <a:solidFill>
                  <a:srgbClr val="000000"/>
                </a:solidFill>
                <a:latin typeface="Calibri"/>
              </a:defRPr>
            </a:pPr>
            <a:r>
              <a:t>Four steering setups explored:</a:t>
            </a:r>
          </a:p>
          <a:p>
            <a:pPr>
              <a:spcAft>
                <a:spcPts val="800"/>
              </a:spcAft>
              <a:defRPr sz="1300">
                <a:solidFill>
                  <a:srgbClr val="000000"/>
                </a:solidFill>
                <a:latin typeface="Calibri"/>
              </a:defRPr>
            </a:pPr>
            <a:r>
              <a:t>  1. Online VLM Best-of-K reranking (Feb 24)</a:t>
            </a:r>
          </a:p>
          <a:p>
            <a:pPr>
              <a:spcAft>
                <a:spcPts val="800"/>
              </a:spcAft>
              <a:defRPr sz="1300">
                <a:solidFill>
                  <a:srgbClr val="000000"/>
                </a:solidFill>
                <a:latin typeface="Calibri"/>
              </a:defRPr>
            </a:pPr>
            <a:r>
              <a:t>  2. Proxy geometric scorer (Feb 26)</a:t>
            </a:r>
          </a:p>
          <a:p>
            <a:pPr>
              <a:spcAft>
                <a:spcPts val="800"/>
              </a:spcAft>
              <a:defRPr sz="1300">
                <a:solidFill>
                  <a:srgbClr val="000000"/>
                </a:solidFill>
                <a:latin typeface="Calibri"/>
              </a:defRPr>
            </a:pPr>
            <a:r>
              <a:t>  3. Paired replanning with VLM (Feb 28)</a:t>
            </a:r>
          </a:p>
          <a:p>
            <a:pPr>
              <a:spcAft>
                <a:spcPts val="800"/>
              </a:spcAft>
              <a:defRPr sz="1300">
                <a:solidFill>
                  <a:srgbClr val="000000"/>
                </a:solidFill>
                <a:latin typeface="Calibri"/>
              </a:defRPr>
            </a:pPr>
            <a:r>
              <a:t>  4. LegDiff: CFG-conditioned diffusion (Mar 30)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0" y="1280160"/>
            <a:ext cx="4572000" cy="33832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132320" y="4754880"/>
            <a:ext cx="4572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6B7280"/>
                </a:solidFill>
                <a:latin typeface="Calibri"/>
              </a:defRPr>
            </a:pPr>
            <a:r>
              <a:t>TwoBlockPick: Franka Panda, two red blocks</a:t>
            </a:r>
            <a:br/>
            <a:r>
              <a:t>at y=±0.07m, 22-dim obs, 5-dim actions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Task, Environment &amp; Demonstration 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9436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DBEAFE"/>
                </a:solidFill>
                <a:latin typeface="Calibri"/>
              </a:defRPr>
            </a:pPr>
            <a:r>
              <a:t>400 Bézier demonstrations  |  20 arc levels × 2 sides × 10 configs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058400" y="182880"/>
            <a:ext cx="1828800" cy="640080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1B2A4A"/>
                </a:solidFill>
                <a:latin typeface="Calibri"/>
              </a:defRPr>
            </a:pPr>
            <a:r>
              <a:t>Phase 1</a:t>
            </a:r>
            <a:br/>
            <a:r>
              <a:t>Feb 8–13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188720"/>
            <a:ext cx="3657600" cy="25603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274320" y="379476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1B2A4A"/>
                </a:solidFill>
                <a:latin typeface="Calibri"/>
              </a:defRPr>
            </a:pPr>
            <a:r>
              <a:t>Arc 00 — Straight</a:t>
            </a:r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0" y="1188720"/>
            <a:ext cx="3657600" cy="25603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114800" y="379476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1B2A4A"/>
                </a:solidFill>
                <a:latin typeface="Calibri"/>
              </a:defRPr>
            </a:pPr>
            <a:r>
              <a:t>Arc 10 — Moderate</a:t>
            </a:r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55279" y="1188720"/>
            <a:ext cx="3657600" cy="25603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955279" y="379476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1B2A4A"/>
                </a:solidFill>
                <a:latin typeface="Calibri"/>
              </a:defRPr>
            </a:pPr>
            <a:r>
              <a:t>Arc 19 — Strong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4297680"/>
            <a:ext cx="114300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>
                <a:solidFill>
                  <a:srgbClr val="6B7280"/>
                </a:solidFill>
                <a:latin typeface="Calibri"/>
              </a:defRPr>
            </a:pPr>
            <a:r>
              <a:t>Observation 22-dim: EE pose (7) + block pos (6) + gripper (2) + joints (7)</a:t>
            </a:r>
          </a:p>
          <a:p>
            <a:pPr>
              <a:spcAft>
                <a:spcPts val="800"/>
              </a:spcAft>
              <a:defRPr sz="1200">
                <a:solidFill>
                  <a:srgbClr val="6B7280"/>
                </a:solidFill>
                <a:latin typeface="Calibri"/>
              </a:defRPr>
            </a:pPr>
            <a:r>
              <a:t>Action 5-dim: Δx, Δy, Δz, Δyaw, gripper  |  Scale: 0.05 m/step</a:t>
            </a:r>
          </a:p>
          <a:p>
            <a:pPr>
              <a:spcAft>
                <a:spcPts val="800"/>
              </a:spcAft>
              <a:defRPr sz="1200">
                <a:solidFill>
                  <a:srgbClr val="6B7280"/>
                </a:solidFill>
                <a:latin typeface="Calibri"/>
              </a:defRPr>
            </a:pPr>
            <a:r>
              <a:t>Camera: yaw=135°, pitch=−30°, dist=0.9m  |  640×480 @ 30Hz</a:t>
            </a:r>
          </a:p>
          <a:p>
            <a:pPr>
              <a:spcAft>
                <a:spcPts val="800"/>
              </a:spcAft>
              <a:defRPr sz="1200">
                <a:solidFill>
                  <a:srgbClr val="6B7280"/>
                </a:solidFill>
                <a:latin typeface="Calibri"/>
              </a:defRPr>
            </a:pPr>
            <a:r>
              <a:t>Bézier arc index 0–19 controls curvature; class 15–19 = legible arcs (arc &gt; 0.134m)</a:t>
            </a:r>
          </a:p>
          <a:p>
            <a:pPr>
              <a:spcAft>
                <a:spcPts val="800"/>
              </a:spcAft>
              <a:defRPr sz="1200">
                <a:solidFill>
                  <a:srgbClr val="6B7280"/>
                </a:solidFill>
                <a:latin typeface="Calibri"/>
              </a:defRPr>
            </a:pPr>
            <a:r>
              <a:t>Each config places blocks at fixed positions; arc determines approach trajectory shape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Decision 1: Architecture Search — 12 Training Runs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9436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DBEAFE"/>
                </a:solidFill>
                <a:latin typeface="Calibri"/>
              </a:defRPr>
            </a:pPr>
            <a:r>
              <a:t>Why we settled on UNet Conv1d (8.7M params) over smaller MLP models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058400" y="182880"/>
            <a:ext cx="1828800" cy="640080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1B2A4A"/>
                </a:solidFill>
                <a:latin typeface="Calibri"/>
              </a:defRPr>
            </a:pPr>
            <a:r>
              <a:t>Phase 2</a:t>
            </a:r>
            <a:br/>
            <a:r>
              <a:t>Feb 8–22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274320" y="1188720"/>
          <a:ext cx="1161288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8982"/>
                <a:gridCol w="1658982"/>
                <a:gridCol w="1658982"/>
                <a:gridCol w="1658982"/>
                <a:gridCol w="1658982"/>
                <a:gridCol w="1658982"/>
                <a:gridCol w="1658988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Run</a:t>
                      </a:r>
                    </a:p>
                  </a:txBody>
                  <a:tcPr anchor="ctr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Date</a:t>
                      </a:r>
                    </a:p>
                  </a:txBody>
                  <a:tcPr anchor="ctr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Architecture</a:t>
                      </a:r>
                    </a:p>
                  </a:txBody>
                  <a:tcPr anchor="ctr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Params</a:t>
                      </a:r>
                    </a:p>
                  </a:txBody>
                  <a:tcPr anchor="ctr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Epochs</a:t>
                      </a:r>
                    </a:p>
                  </a:txBody>
                  <a:tcPr anchor="ctr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Success</a:t>
                      </a:r>
                    </a:p>
                  </a:txBody>
                  <a:tcPr anchor="ctr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Decision</a:t>
                      </a:r>
                    </a:p>
                  </a:txBody>
                  <a:tcPr anchor="ctr">
                    <a:solidFill>
                      <a:srgbClr val="1B2A4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100">
                          <a:latin typeface="Calibri"/>
                        </a:defRPr>
                      </a:pPr>
                      <a:r>
                        <a:t>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Calibri"/>
                        </a:defRPr>
                      </a:pPr>
                      <a:r>
                        <a:t>Feb 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Calibri"/>
                        </a:defRPr>
                      </a:pPr>
                      <a:r>
                        <a:t>MLP 3-layer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Calibri"/>
                        </a:defRPr>
                      </a:pPr>
                      <a:r>
                        <a:t>~1M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Calibri"/>
                        </a:defRPr>
                      </a:pPr>
                      <a:r>
                        <a:t>300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Calibri"/>
                        </a:defRPr>
                      </a:pPr>
                      <a:r>
                        <a:t>0%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Calibri"/>
                        </a:defRPr>
                      </a:pPr>
                      <a:r>
                        <a:t>Too small</a:t>
                      </a:r>
                    </a:p>
                  </a:txBody>
                  <a:tcPr anchor="ctr"/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100">
                          <a:latin typeface="Calibri"/>
                        </a:defRPr>
                      </a:pPr>
                      <a:r>
                        <a:t>2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Calibri"/>
                        </a:defRPr>
                      </a:pPr>
                      <a:r>
                        <a:t>Feb 10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Calibri"/>
                        </a:defRPr>
                      </a:pPr>
                      <a:r>
                        <a:t>MLP 6-layer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Calibri"/>
                        </a:defRPr>
                      </a:pPr>
                      <a:r>
                        <a:t>~3M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Calibri"/>
                        </a:defRPr>
                      </a:pPr>
                      <a:r>
                        <a:t>300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Calibri"/>
                        </a:defRPr>
                      </a:pPr>
                      <a:r>
                        <a:t>0%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Calibri"/>
                        </a:defRPr>
                      </a:pPr>
                      <a:r>
                        <a:t>Still fails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100">
                          <a:latin typeface="Calibri"/>
                        </a:defRPr>
                      </a:pPr>
                      <a:r>
                        <a:t>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Calibri"/>
                        </a:defRPr>
                      </a:pPr>
                      <a:r>
                        <a:t>Feb 11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Calibri"/>
                        </a:defRPr>
                      </a:pPr>
                      <a:r>
                        <a:t>Conv1d shallow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Calibri"/>
                        </a:defRPr>
                      </a:pPr>
                      <a:r>
                        <a:t>~5M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Calibri"/>
                        </a:defRPr>
                      </a:pPr>
                      <a:r>
                        <a:t>300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Calibri"/>
                        </a:defRPr>
                      </a:pPr>
                      <a:r>
                        <a:t>0%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Calibri"/>
                        </a:defRPr>
                      </a:pPr>
                      <a:r>
                        <a:t>Under capacity</a:t>
                      </a:r>
                    </a:p>
                  </a:txBody>
                  <a:tcPr anchor="ctr"/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100">
                          <a:latin typeface="Calibri"/>
                        </a:defRPr>
                      </a:pPr>
                      <a:r>
                        <a:t>4-7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Calibri"/>
                        </a:defRPr>
                      </a:pPr>
                      <a:r>
                        <a:t>Feb 11–13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Calibri"/>
                        </a:defRPr>
                      </a:pPr>
                      <a:r>
                        <a:t>Various MLPs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Calibri"/>
                        </a:defRPr>
                      </a:pPr>
                      <a:r>
                        <a:t>1–5M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Calibri"/>
                        </a:defRPr>
                      </a:pPr>
                      <a:r>
                        <a:t>300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Calibri"/>
                        </a:defRPr>
                      </a:pPr>
                      <a:r>
                        <a:t>0%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Calibri"/>
                        </a:defRPr>
                      </a:pPr>
                      <a:r>
                        <a:t>All fail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100">
                          <a:latin typeface="Calibri"/>
                        </a:defRPr>
                      </a:pPr>
                      <a:r>
                        <a:t>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Calibri"/>
                        </a:defRPr>
                      </a:pPr>
                      <a:r>
                        <a:t>Feb 13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Calibri"/>
                        </a:defRPr>
                      </a:pPr>
                      <a:r>
                        <a:t>UNet Conv1d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Calibri"/>
                        </a:defRPr>
                      </a:pPr>
                      <a:r>
                        <a:t>8.7M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Calibri"/>
                        </a:defRPr>
                      </a:pPr>
                      <a:r>
                        <a:t>300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Calibri"/>
                        </a:defRPr>
                      </a:pPr>
                      <a:r>
                        <a:t>14%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Calibri"/>
                        </a:defRPr>
                      </a:pPr>
                      <a:r>
                        <a:t>✔ First success</a:t>
                      </a:r>
                    </a:p>
                  </a:txBody>
                  <a:tcPr anchor="ctr"/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100">
                          <a:latin typeface="Calibri"/>
                        </a:defRPr>
                      </a:pPr>
                      <a:r>
                        <a:t>9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Calibri"/>
                        </a:defRPr>
                      </a:pPr>
                      <a:r>
                        <a:t>Feb 17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Calibri"/>
                        </a:defRPr>
                      </a:pPr>
                      <a:r>
                        <a:t>UNet H=48 n=16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Calibri"/>
                        </a:defRPr>
                      </a:pPr>
                      <a:r>
                        <a:t>8.7M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Calibri"/>
                        </a:defRPr>
                      </a:pPr>
                      <a:r>
                        <a:t>300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Calibri"/>
                        </a:defRPr>
                      </a:pPr>
                      <a:r>
                        <a:t>0–8%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Calibri"/>
                        </a:defRPr>
                      </a:pPr>
                      <a:r>
                        <a:t>Horizon broke it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100">
                          <a:latin typeface="Calibri"/>
                        </a:defRPr>
                      </a:pPr>
                      <a:r>
                        <a:t>10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Calibri"/>
                        </a:defRPr>
                      </a:pPr>
                      <a:r>
                        <a:t>Feb 22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Calibri"/>
                        </a:defRPr>
                      </a:pPr>
                      <a:r>
                        <a:t>UNet + bug fixes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Calibri"/>
                        </a:defRPr>
                      </a:pPr>
                      <a:r>
                        <a:t>8.7M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Calibri"/>
                        </a:defRPr>
                      </a:pPr>
                      <a:r>
                        <a:t>100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Calibri"/>
                        </a:defRPr>
                      </a:pPr>
                      <a:r>
                        <a:t>84–96%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Calibri"/>
                        </a:defRPr>
                      </a:pPr>
                      <a:r>
                        <a:t>✔ FINAL</a:t>
                      </a:r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365760" y="4389120"/>
            <a:ext cx="114300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>
                <a:solidFill>
                  <a:srgbClr val="000000"/>
                </a:solidFill>
                <a:latin typeface="Calibri"/>
              </a:defRPr>
            </a:pPr>
            <a:r>
              <a:t>Key insight: Small models (1–5M params) cannot represent the 400-demo multimodal distribution with 20 arc levels. UNet Conv1d with skip connections was necessary.</a:t>
            </a:r>
          </a:p>
          <a:p>
            <a:pPr>
              <a:spcAft>
                <a:spcPts val="800"/>
              </a:spcAft>
              <a:defRPr sz="1200">
                <a:solidFill>
                  <a:srgbClr val="000000"/>
                </a:solidFill>
                <a:latin typeface="Calibri"/>
              </a:defRPr>
            </a:pPr>
            <a:r>
              <a:t>Run 8 was the first to succeed — 14% at epoch 300. Runs 1–7 all got 0%.</a:t>
            </a:r>
          </a:p>
          <a:p>
            <a:pPr>
              <a:spcAft>
                <a:spcPts val="800"/>
              </a:spcAft>
              <a:defRPr sz="1200">
                <a:solidFill>
                  <a:srgbClr val="000000"/>
                </a:solidFill>
                <a:latin typeface="Calibri"/>
              </a:defRPr>
            </a:pPr>
            <a:r>
              <a:t>Run 9 changed horizon 32→48 and execute_steps 8→16 simultaneously — broke the policy entirely. Reverted in Run 10.</a:t>
            </a:r>
          </a:p>
          <a:p>
            <a:pPr>
              <a:spcAft>
                <a:spcPts val="800"/>
              </a:spcAft>
              <a:defRPr sz="1200">
                <a:solidFill>
                  <a:srgbClr val="000000"/>
                </a:solidFill>
                <a:latin typeface="Calibri"/>
              </a:defRPr>
            </a:pPr>
            <a:r>
              <a:t>Run 10 with critical bug fixes (see next slides) achieved 84–96% success.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Decision 2: Fixing execute_steps — 0% → 50% Success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9436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DBEAFE"/>
                </a:solidFill>
                <a:latin typeface="Calibri"/>
              </a:defRPr>
            </a:pPr>
            <a:r>
              <a:t>Training loss was 0.004 (good) but simulation success was 0% (bad)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058400" y="182880"/>
            <a:ext cx="1828800" cy="640080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1B2A4A"/>
                </a:solidFill>
                <a:latin typeface="Calibri"/>
              </a:defRPr>
            </a:pPr>
            <a:r>
              <a:t>Phase 3</a:t>
            </a:r>
            <a:br/>
            <a:r>
              <a:t>Feb 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188720"/>
            <a:ext cx="640080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>
                <a:solidFill>
                  <a:srgbClr val="000000"/>
                </a:solidFill>
                <a:latin typeface="Calibri"/>
              </a:defRPr>
            </a:pPr>
            <a:r>
              <a:t>Symptom: Checkpoint loss was excellent (0.004) but the</a:t>
            </a:r>
            <a:br/>
            <a:r>
              <a:t>robot failed every episode in simulation.</a:t>
            </a:r>
          </a:p>
          <a:p>
            <a:pPr>
              <a:spcAft>
                <a:spcPts val="800"/>
              </a:spcAft>
              <a:defRPr sz="1300">
                <a:solidFill>
                  <a:srgbClr val="000000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1300">
                <a:solidFill>
                  <a:srgbClr val="000000"/>
                </a:solidFill>
                <a:latin typeface="Calibri"/>
              </a:defRPr>
            </a:pPr>
            <a:r>
              <a:t>Root Cause: execute_steps was set to 16 in eval,</a:t>
            </a:r>
            <a:br/>
            <a:r>
              <a:t>but the model was trained on consecutive timesteps.</a:t>
            </a:r>
          </a:p>
          <a:p>
            <a:pPr>
              <a:spcAft>
                <a:spcPts val="800"/>
              </a:spcAft>
              <a:defRPr sz="1300">
                <a:solidFill>
                  <a:srgbClr val="000000"/>
                </a:solidFill>
                <a:latin typeface="Calibri"/>
              </a:defRPr>
            </a:pPr>
            <a:r>
              <a:t>  • Training sees: obs[t], obs[t+1], obs[t+2], ...</a:t>
            </a:r>
          </a:p>
          <a:p>
            <a:pPr>
              <a:spcAft>
                <a:spcPts val="800"/>
              </a:spcAft>
              <a:defRPr sz="1300">
                <a:solidFill>
                  <a:srgbClr val="000000"/>
                </a:solidFill>
                <a:latin typeface="Calibri"/>
              </a:defRPr>
            </a:pPr>
            <a:r>
              <a:t>  • With es=16: obs[t], obs[t+16], obs[t+32], ...</a:t>
            </a:r>
          </a:p>
          <a:p>
            <a:pPr>
              <a:spcAft>
                <a:spcPts val="800"/>
              </a:spcAft>
              <a:defRPr sz="1300">
                <a:solidFill>
                  <a:srgbClr val="000000"/>
                </a:solidFill>
                <a:latin typeface="Calibri"/>
              </a:defRPr>
            </a:pPr>
            <a:r>
              <a:t>  • The model sees OOD (out-of-distribution) observations</a:t>
            </a:r>
          </a:p>
          <a:p>
            <a:pPr>
              <a:spcAft>
                <a:spcPts val="800"/>
              </a:spcAft>
              <a:defRPr sz="1300">
                <a:solidFill>
                  <a:srgbClr val="000000"/>
                </a:solidFill>
                <a:latin typeface="Calibri"/>
              </a:defRPr>
            </a:pPr>
            <a:r>
              <a:t>  • → erratic actions → 0% success</a:t>
            </a:r>
          </a:p>
          <a:p>
            <a:pPr>
              <a:spcAft>
                <a:spcPts val="800"/>
              </a:spcAft>
              <a:defRPr sz="1300">
                <a:solidFill>
                  <a:srgbClr val="000000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1300">
                <a:solidFill>
                  <a:srgbClr val="000000"/>
                </a:solidFill>
                <a:latin typeface="Calibri"/>
              </a:defRPr>
            </a:pPr>
            <a:r>
              <a:t>Fix: Set execute_steps = 8 everywhere.</a:t>
            </a:r>
          </a:p>
          <a:p>
            <a:pPr>
              <a:spcAft>
                <a:spcPts val="800"/>
              </a:spcAft>
              <a:defRPr sz="1300">
                <a:solidFill>
                  <a:srgbClr val="000000"/>
                </a:solidFill>
                <a:latin typeface="Calibri"/>
              </a:defRPr>
            </a:pPr>
            <a:r>
              <a:t>  • es=1: 0% (too chaotic, constant replanning)</a:t>
            </a:r>
          </a:p>
          <a:p>
            <a:pPr>
              <a:spcAft>
                <a:spcPts val="800"/>
              </a:spcAft>
              <a:defRPr sz="1300">
                <a:solidFill>
                  <a:srgbClr val="000000"/>
                </a:solidFill>
                <a:latin typeface="Calibri"/>
              </a:defRPr>
            </a:pPr>
            <a:r>
              <a:t>  • es=8: 10–50% ✔ (matches training temporal structure)</a:t>
            </a:r>
          </a:p>
          <a:p>
            <a:pPr>
              <a:spcAft>
                <a:spcPts val="800"/>
              </a:spcAft>
              <a:defRPr sz="1300">
                <a:solidFill>
                  <a:srgbClr val="000000"/>
                </a:solidFill>
                <a:latin typeface="Calibri"/>
              </a:defRPr>
            </a:pPr>
            <a:r>
              <a:t>  • es=16: 0% ✘ (OOD observations)</a:t>
            </a:r>
          </a:p>
          <a:p>
            <a:pPr>
              <a:spcAft>
                <a:spcPts val="800"/>
              </a:spcAft>
              <a:defRPr sz="1300">
                <a:solidFill>
                  <a:srgbClr val="000000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1300">
                <a:solidFill>
                  <a:srgbClr val="000000"/>
                </a:solidFill>
                <a:latin typeface="Calibri"/>
              </a:defRPr>
            </a:pPr>
            <a:r>
              <a:t>Lesson: Eval temporal structure must match training.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15200" y="1371600"/>
          <a:ext cx="438912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1463040"/>
                <a:gridCol w="1463040"/>
              </a:tblGrid>
              <a:tr h="571500"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execute_steps</a:t>
                      </a:r>
                    </a:p>
                  </a:txBody>
                  <a:tcPr anchor="ctr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Success</a:t>
                      </a:r>
                    </a:p>
                  </a:txBody>
                  <a:tcPr anchor="ctr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Status</a:t>
                      </a:r>
                    </a:p>
                  </a:txBody>
                  <a:tcPr anchor="ctr">
                    <a:solidFill>
                      <a:srgbClr val="1B2A4A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ctr">
                        <a:defRPr sz="1100">
                          <a:latin typeface="Calibri"/>
                        </a:defRPr>
                      </a:pPr>
                      <a:r>
                        <a:t>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Calibri"/>
                        </a:defRPr>
                      </a:pPr>
                      <a:r>
                        <a:t>0%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Calibri"/>
                        </a:defRPr>
                      </a:pPr>
                      <a:r>
                        <a:t>✘ Chaotic</a:t>
                      </a:r>
                    </a:p>
                  </a:txBody>
                  <a:tcPr anchor="ctr"/>
                </a:tc>
              </a:tr>
              <a:tr h="571500">
                <a:tc>
                  <a:txBody>
                    <a:bodyPr/>
                    <a:lstStyle/>
                    <a:p>
                      <a:pPr algn="ctr">
                        <a:defRPr sz="1100">
                          <a:latin typeface="Calibri"/>
                        </a:defRPr>
                      </a:pPr>
                      <a:r>
                        <a:t>8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Calibri"/>
                        </a:defRPr>
                      </a:pPr>
                      <a:r>
                        <a:t>10–50%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Calibri"/>
                        </a:defRPr>
                      </a:pPr>
                      <a:r>
                        <a:t>✔ Optimal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ctr">
                        <a:defRPr sz="1100">
                          <a:latin typeface="Calibri"/>
                        </a:defRPr>
                      </a:pPr>
                      <a:r>
                        <a:t>16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Calibri"/>
                        </a:defRPr>
                      </a:pPr>
                      <a:r>
                        <a:t>0%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Calibri"/>
                        </a:defRPr>
                      </a:pPr>
                      <a:r>
                        <a:t>✘ OOD obs</a:t>
                      </a:r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315200" y="4114800"/>
            <a:ext cx="43891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6B7280"/>
                </a:solidFill>
                <a:latin typeface="Calibri"/>
              </a:defRPr>
            </a:pPr>
            <a:r>
              <a:t>This was the first major debugging</a:t>
            </a:r>
            <a:br/>
            <a:r>
              <a:t>breakthrough. It took 3 days of</a:t>
            </a:r>
            <a:br/>
            <a:r>
              <a:t>systematic testing to isolate</a:t>
            </a:r>
            <a:br/>
            <a:r>
              <a:t>execute_steps as the root cause.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Decision 3: Horizon Mismatch — Don't Change Multiple Hyperparams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9436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DBEAFE"/>
                </a:solidFill>
                <a:latin typeface="Calibri"/>
              </a:defRPr>
            </a:pPr>
            <a:r>
              <a:t>Changed H, n_action_steps, smooth_weight simultaneously → 0% success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058400" y="182880"/>
            <a:ext cx="1828800" cy="640080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1B2A4A"/>
                </a:solidFill>
                <a:latin typeface="Calibri"/>
              </a:defRPr>
            </a:pPr>
            <a:r>
              <a:t>Phase 3</a:t>
            </a:r>
            <a:br/>
            <a:r>
              <a:t>Feb 17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188720"/>
          <a:ext cx="1124712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4520"/>
                <a:gridCol w="1874520"/>
                <a:gridCol w="1874520"/>
                <a:gridCol w="1874520"/>
                <a:gridCol w="1874520"/>
                <a:gridCol w="1874520"/>
              </a:tblGrid>
              <a:tr h="457200"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Run</a:t>
                      </a:r>
                    </a:p>
                  </a:txBody>
                  <a:tcPr anchor="ctr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Horizon</a:t>
                      </a:r>
                    </a:p>
                  </a:txBody>
                  <a:tcPr anchor="ctr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n_action_steps</a:t>
                      </a:r>
                    </a:p>
                  </a:txBody>
                  <a:tcPr anchor="ctr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smooth_weight</a:t>
                      </a:r>
                    </a:p>
                  </a:txBody>
                  <a:tcPr anchor="ctr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Success</a:t>
                      </a:r>
                    </a:p>
                  </a:txBody>
                  <a:tcPr anchor="ctr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Issue</a:t>
                      </a:r>
                    </a:p>
                  </a:txBody>
                  <a:tcPr anchor="ctr">
                    <a:solidFill>
                      <a:srgbClr val="1B2A4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100">
                          <a:latin typeface="Calibri"/>
                        </a:defRPr>
                      </a:pPr>
                      <a:r>
                        <a:t>Baseline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Calibri"/>
                        </a:defRPr>
                      </a:pPr>
                      <a:r>
                        <a:t>32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Calibri"/>
                        </a:defRPr>
                      </a:pPr>
                      <a:r>
                        <a:t>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Calibri"/>
                        </a:defRPr>
                      </a:pPr>
                      <a:r>
                        <a:t>0.01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Calibri"/>
                        </a:defRPr>
                      </a:pPr>
                      <a:r>
                        <a:t>14%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Calibri"/>
                        </a:defRPr>
                      </a:pPr>
                      <a:r>
                        <a:t>Working reference</a:t>
                      </a:r>
                    </a:p>
                  </a:txBody>
                  <a:tcPr anchor="ctr"/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100">
                          <a:latin typeface="Calibri"/>
                        </a:defRPr>
                      </a:pPr>
                      <a:r>
                        <a:t>Run 2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Calibri"/>
                        </a:defRPr>
                      </a:pPr>
                      <a:r>
                        <a:t>48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Calibri"/>
                        </a:defRPr>
                      </a:pPr>
                      <a:r>
                        <a:t>16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Calibri"/>
                        </a:defRPr>
                      </a:pPr>
                      <a:r>
                        <a:t>0.05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Calibri"/>
                        </a:defRPr>
                      </a:pPr>
                      <a:r>
                        <a:t>8%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Calibri"/>
                        </a:defRPr>
                      </a:pPr>
                      <a:r>
                        <a:t>Action amplification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100">
                          <a:latin typeface="Calibri"/>
                        </a:defRPr>
                      </a:pPr>
                      <a:r>
                        <a:t>Run 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Calibri"/>
                        </a:defRPr>
                      </a:pPr>
                      <a:r>
                        <a:t>48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Calibri"/>
                        </a:defRPr>
                      </a:pPr>
                      <a:r>
                        <a:t>16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Calibri"/>
                        </a:defRPr>
                      </a:pPr>
                      <a:r>
                        <a:t>0.05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Calibri"/>
                        </a:defRPr>
                      </a:pPr>
                      <a:r>
                        <a:t>0%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Calibri"/>
                        </a:defRPr>
                      </a:pPr>
                      <a:r>
                        <a:t>Action suppression</a:t>
                      </a:r>
                    </a:p>
                  </a:txBody>
                  <a:tcPr anchor="ctr"/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100">
                          <a:latin typeface="Calibri"/>
                        </a:defRPr>
                      </a:pPr>
                      <a:r>
                        <a:t>Run 4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Calibri"/>
                        </a:defRPr>
                      </a:pPr>
                      <a:r>
                        <a:t>32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Calibri"/>
                        </a:defRPr>
                      </a:pPr>
                      <a:r>
                        <a:t>8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Calibri"/>
                        </a:defRPr>
                      </a:pPr>
                      <a:r>
                        <a:t>0.01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Calibri"/>
                        </a:defRPr>
                      </a:pPr>
                      <a:r>
                        <a:t>14%+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Calibri"/>
                        </a:defRPr>
                      </a:pPr>
                      <a:r>
                        <a:t>✔ Reverted baseline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365760" y="3749039"/>
            <a:ext cx="114300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>
                <a:solidFill>
                  <a:srgbClr val="000000"/>
                </a:solidFill>
                <a:latin typeface="Calibri"/>
              </a:defRPr>
            </a:pPr>
            <a:r>
              <a:t>Hypothesis was that longer horizon (48) would let the model plan further ahead.</a:t>
            </a:r>
          </a:p>
          <a:p>
            <a:pPr>
              <a:spcAft>
                <a:spcPts val="800"/>
              </a:spcAft>
              <a:defRPr sz="1300">
                <a:solidFill>
                  <a:srgbClr val="000000"/>
                </a:solidFill>
                <a:latin typeface="Calibri"/>
              </a:defRPr>
            </a:pPr>
            <a:r>
              <a:t>Why it failed: Demos collected with H=32 temporal structure. H=48 creates chunks that span multiple sub-goals (approach + descent + grasp), confusing the model.</a:t>
            </a:r>
          </a:p>
          <a:p>
            <a:pPr>
              <a:spcAft>
                <a:spcPts val="800"/>
              </a:spcAft>
              <a:defRPr sz="1300">
                <a:solidFill>
                  <a:srgbClr val="000000"/>
                </a:solidFill>
                <a:latin typeface="Calibri"/>
              </a:defRPr>
            </a:pPr>
            <a:r>
              <a:t>Additional problem: smooth_weight=0.05 (5× stronger) over-smoothed action predictions for the longer horizon — actions were 30–60% of demo standard deviation.</a:t>
            </a:r>
          </a:p>
          <a:p>
            <a:pPr>
              <a:spcAft>
                <a:spcPts val="800"/>
              </a:spcAft>
              <a:defRPr sz="1300">
                <a:solidFill>
                  <a:srgbClr val="000000"/>
                </a:solidFill>
                <a:latin typeface="Calibri"/>
              </a:defRPr>
            </a:pPr>
            <a:r>
              <a:t>Initial misdiagnosis: Blamed DDPM sampling ('action amplification'). Switching to DDIM didn't help — Run 3 got 0%. The real cause was the horizon change.</a:t>
            </a:r>
          </a:p>
          <a:p>
            <a:pPr>
              <a:spcAft>
                <a:spcPts val="800"/>
              </a:spcAft>
              <a:defRPr sz="1300">
                <a:solidFill>
                  <a:srgbClr val="000000"/>
                </a:solidFill>
                <a:latin typeface="Calibri"/>
              </a:defRPr>
            </a:pPr>
            <a:r>
              <a:t>Lesson: Change ONE hyperparameter at a time. Reverted to baseline config.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Decision 4: Four Critical Diffusion Bugs — 14% → 84–96%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9436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DBEAFE"/>
                </a:solidFill>
                <a:latin typeface="Calibri"/>
              </a:defRPr>
            </a:pPr>
            <a:r>
              <a:t>Feb 22: Research-backed analysis against Chi et al. 2023 reference implementation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058400" y="182880"/>
            <a:ext cx="1828800" cy="640080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1B2A4A"/>
                </a:solidFill>
                <a:latin typeface="Calibri"/>
              </a:defRPr>
            </a:pPr>
            <a:r>
              <a:t>Phase 4</a:t>
            </a:r>
            <a:br/>
            <a:r>
              <a:t>Feb 22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274320" y="1188720"/>
          <a:ext cx="1161288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03220"/>
                <a:gridCol w="2903220"/>
                <a:gridCol w="2903220"/>
                <a:gridCol w="2903220"/>
              </a:tblGrid>
              <a:tr h="731520"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Bug</a:t>
                      </a:r>
                    </a:p>
                  </a:txBody>
                  <a:tcPr anchor="ctr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What Was Wrong</a:t>
                      </a:r>
                    </a:p>
                  </a:txBody>
                  <a:tcPr anchor="ctr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Impact</a:t>
                      </a:r>
                    </a:p>
                  </a:txBody>
                  <a:tcPr anchor="ctr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Fix</a:t>
                      </a:r>
                    </a:p>
                  </a:txBody>
                  <a:tcPr anchor="ctr">
                    <a:solidFill>
                      <a:srgbClr val="1B2A4A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ctr">
                        <a:defRPr sz="1100">
                          <a:latin typeface="Calibri"/>
                        </a:defRPr>
                      </a:pPr>
                      <a:r>
                        <a:t>#1 tanh on ε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Calibri"/>
                        </a:defRPr>
                      </a:pPr>
                      <a:r>
                        <a:t>Model output clipped to [-1,1]</a:t>
                      </a:r>
                    </a:p>
                    <a:p>
                      <a:pPr algn="ctr">
                        <a:defRPr sz="1100">
                          <a:latin typeface="Calibri"/>
                        </a:defRPr>
                      </a:pPr>
                      <a:r>
                        <a:t>by torch.tanh(). DDPM requires</a:t>
                      </a:r>
                    </a:p>
                    <a:p>
                      <a:pPr algn="ctr">
                        <a:defRPr sz="1100">
                          <a:latin typeface="Calibri"/>
                        </a:defRPr>
                      </a:pPr>
                      <a:r>
                        <a:t>unbounded noise predictions.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Calibri"/>
                        </a:defRPr>
                      </a:pPr>
                      <a:r>
                        <a:t>–80%</a:t>
                      </a:r>
                    </a:p>
                    <a:p>
                      <a:pPr algn="ctr">
                        <a:defRPr sz="1100">
                          <a:latin typeface="Calibri"/>
                        </a:defRPr>
                      </a:pPr>
                      <a:r>
                        <a:t>(Critical)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Calibri"/>
                        </a:defRPr>
                      </a:pPr>
                      <a:r>
                        <a:t>Removed tanh().</a:t>
                      </a:r>
                    </a:p>
                    <a:p>
                      <a:pPr algn="ctr">
                        <a:defRPr sz="1100">
                          <a:latin typeface="Calibri"/>
                        </a:defRPr>
                      </a:pPr>
                      <a:r>
                        <a:t>Model now predicts</a:t>
                      </a:r>
                    </a:p>
                    <a:p>
                      <a:pPr algn="ctr">
                        <a:defRPr sz="1100">
                          <a:latin typeface="Calibri"/>
                        </a:defRPr>
                      </a:pPr>
                      <a:r>
                        <a:t>unbounded ε.</a:t>
                      </a:r>
                    </a:p>
                  </a:txBody>
                  <a:tcPr anchor="ctr"/>
                </a:tc>
              </a:tr>
              <a:tr h="731520">
                <a:tc>
                  <a:txBody>
                    <a:bodyPr/>
                    <a:lstStyle/>
                    <a:p>
                      <a:pPr algn="ctr">
                        <a:defRPr sz="1100">
                          <a:latin typeface="Calibri"/>
                        </a:defRPr>
                      </a:pPr>
                      <a:r>
                        <a:t>#2 Normalization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Calibri"/>
                        </a:defRPr>
                      </a:pPr>
                      <a:r>
                        <a:t>Checkpoint stored act_mean=[0]</a:t>
                      </a:r>
                    </a:p>
                    <a:p>
                      <a:pPr algn="ctr">
                        <a:defRPr sz="1100">
                          <a:latin typeface="Calibri"/>
                        </a:defRPr>
                      </a:pPr>
                      <a:r>
                        <a:t>and act_std=[1] instead of</a:t>
                      </a:r>
                    </a:p>
                    <a:p>
                      <a:pPr algn="ctr">
                        <a:defRPr sz="1100">
                          <a:latin typeface="Calibri"/>
                        </a:defRPr>
                      </a:pPr>
                      <a:r>
                        <a:t>real demo statistics.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Calibri"/>
                        </a:defRPr>
                      </a:pPr>
                      <a:r>
                        <a:t>–20%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Calibri"/>
                        </a:defRPr>
                      </a:pPr>
                      <a:r>
                        <a:t>Saved actual demo</a:t>
                      </a:r>
                    </a:p>
                    <a:p>
                      <a:pPr algn="ctr">
                        <a:defRPr sz="1100">
                          <a:latin typeface="Calibri"/>
                        </a:defRPr>
                      </a:pPr>
                      <a:r>
                        <a:t>statistics in ckpt.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ctr">
                        <a:defRPr sz="1100">
                          <a:latin typeface="Calibri"/>
                        </a:defRPr>
                      </a:pPr>
                      <a:r>
                        <a:t>#3 No EMA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Calibri"/>
                        </a:defRPr>
                      </a:pPr>
                      <a:r>
                        <a:t>No exponential moving average.</a:t>
                      </a:r>
                    </a:p>
                    <a:p>
                      <a:pPr algn="ctr">
                        <a:defRPr sz="1100">
                          <a:latin typeface="Calibri"/>
                        </a:defRPr>
                      </a:pPr>
                      <a:r>
                        <a:t>Weights oscillated during training.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Calibri"/>
                        </a:defRPr>
                      </a:pPr>
                      <a:r>
                        <a:t>–10%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Calibri"/>
                        </a:defRPr>
                      </a:pPr>
                      <a:r>
                        <a:t>Added EMA with</a:t>
                      </a:r>
                    </a:p>
                    <a:p>
                      <a:pPr algn="ctr">
                        <a:defRPr sz="1100">
                          <a:latin typeface="Calibri"/>
                        </a:defRPr>
                      </a:pPr>
                      <a:r>
                        <a:t>decay=0.999.</a:t>
                      </a:r>
                    </a:p>
                  </a:txBody>
                  <a:tcPr anchor="ctr"/>
                </a:tc>
              </a:tr>
              <a:tr h="731520">
                <a:tc>
                  <a:txBody>
                    <a:bodyPr/>
                    <a:lstStyle/>
                    <a:p>
                      <a:pPr algn="ctr">
                        <a:defRPr sz="1100">
                          <a:latin typeface="Calibri"/>
                        </a:defRPr>
                      </a:pPr>
                      <a:r>
                        <a:t>#4 Beta schedule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Calibri"/>
                        </a:defRPr>
                      </a:pPr>
                      <a:r>
                        <a:t>beta_end=0.02 gave ᾱ_T=0.36.</a:t>
                      </a:r>
                    </a:p>
                    <a:p>
                      <a:pPr algn="ctr">
                        <a:defRPr sz="1100">
                          <a:latin typeface="Calibri"/>
                        </a:defRPr>
                      </a:pPr>
                      <a:r>
                        <a:t>Samples start from structured</a:t>
                      </a:r>
                    </a:p>
                    <a:p>
                      <a:pPr algn="ctr">
                        <a:defRPr sz="1100">
                          <a:latin typeface="Calibri"/>
                        </a:defRPr>
                      </a:pPr>
                      <a:r>
                        <a:t>noise, not pure Gaussian.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Calibri"/>
                        </a:defRPr>
                      </a:pPr>
                      <a:r>
                        <a:t>–5%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Calibri"/>
                        </a:defRPr>
                      </a:pPr>
                      <a:r>
                        <a:t>Set beta_end=0.1</a:t>
                      </a:r>
                    </a:p>
                    <a:p>
                      <a:pPr algn="ctr">
                        <a:defRPr sz="1100">
                          <a:latin typeface="Calibri"/>
                        </a:defRPr>
                      </a:pPr>
                      <a:r>
                        <a:t>ᾱ_T ≈ 0.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365760" y="5120640"/>
            <a:ext cx="11430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66B52"/>
                </a:solidFill>
                <a:latin typeface="Calibri"/>
              </a:defRPr>
            </a:pPr>
            <a:r>
              <a:t>After all four fixes: 84–96% task success (up from 14% before fixes, 0% before execute_steps fix). This is the checkpoint used for all subsequent experiments:</a:t>
            </a:r>
            <a:br/>
            <a:r>
              <a:t>runs/diffusion_20260222_195530/ckpt_ep100.pt (101 MB, 8.7M parameters, 100 epochs).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Decision 5: DDIM Strided Schedule Fix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9436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DBEAFE"/>
                </a:solidFill>
                <a:latin typeface="Calibri"/>
              </a:defRPr>
            </a:pPr>
            <a:r>
              <a:t>Enabling fast 10-step inference instead of 100-step DDPM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058400" y="182880"/>
            <a:ext cx="1828800" cy="640080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1B2A4A"/>
                </a:solidFill>
                <a:latin typeface="Calibri"/>
              </a:defRPr>
            </a:pPr>
            <a:r>
              <a:t>Phase 4</a:t>
            </a:r>
            <a:br/>
            <a:r>
              <a:t>Feb 17–22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188720"/>
            <a:ext cx="640080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000000"/>
                </a:solidFill>
                <a:latin typeface="Calibri"/>
              </a:defRPr>
            </a:pPr>
            <a:r>
              <a:t>Original DDIM bug: Assumed consecutive timesteps (t_prev = t − 1),</a:t>
            </a:r>
            <a:br/>
            <a:r>
              <a:t>which forced all 100 diffusion steps even with DDIM.</a:t>
            </a:r>
          </a:p>
          <a:p>
            <a:pPr>
              <a:spcAft>
                <a:spcPts val="800"/>
              </a:spcAft>
              <a:defRPr sz="1400">
                <a:solidFill>
                  <a:srgbClr val="000000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1400">
                <a:solidFill>
                  <a:srgbClr val="000000"/>
                </a:solidFill>
                <a:latin typeface="Calibri"/>
              </a:defRPr>
            </a:pPr>
            <a:r>
              <a:t>Fix: Added explicit t_prev parameter to p_sample_ddim().</a:t>
            </a:r>
            <a:br/>
            <a:r>
              <a:t>Built strided schedule: [99, 93, 88, …, 0] for 10 steps.</a:t>
            </a:r>
          </a:p>
          <a:p>
            <a:pPr>
              <a:spcAft>
                <a:spcPts val="800"/>
              </a:spcAft>
              <a:defRPr sz="1400">
                <a:solidFill>
                  <a:srgbClr val="000000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1400">
                <a:solidFill>
                  <a:srgbClr val="000000"/>
                </a:solidFill>
                <a:latin typeface="Calibri"/>
              </a:defRPr>
            </a:pPr>
            <a:r>
              <a:t>Validation: Compared single-step DDIM vs DDPM at same timestep:</a:t>
            </a:r>
            <a:br/>
            <a:r>
              <a:t>  DDIM/DDPM ratio = 1.03 (within numerical precision).</a:t>
            </a:r>
            <a:br/>
            <a:r>
              <a:t>  → DDIM coefficients are correct.</a:t>
            </a:r>
          </a:p>
          <a:p>
            <a:pPr>
              <a:spcAft>
                <a:spcPts val="800"/>
              </a:spcAft>
              <a:defRPr sz="1400">
                <a:solidFill>
                  <a:srgbClr val="000000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1400">
                <a:solidFill>
                  <a:srgbClr val="000000"/>
                </a:solidFill>
                <a:latin typeface="Calibri"/>
              </a:defRPr>
            </a:pPr>
            <a:r>
              <a:t>The 0.45–0.67× action suppression seen in full rollouts was</a:t>
            </a:r>
            <a:br/>
            <a:r>
              <a:t>cumulative divergence over 100 steps, not a per-step bug.</a:t>
            </a:r>
          </a:p>
          <a:p>
            <a:pPr>
              <a:spcAft>
                <a:spcPts val="800"/>
              </a:spcAft>
              <a:defRPr sz="1400">
                <a:solidFill>
                  <a:srgbClr val="000000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1400">
                <a:solidFill>
                  <a:srgbClr val="000000"/>
                </a:solidFill>
                <a:latin typeface="Calibri"/>
              </a:defRPr>
            </a:pPr>
            <a:r>
              <a:t>Result: DDIM 10 steps matches DDPM 100 steps in quality,</a:t>
            </a:r>
            <a:br/>
            <a:r>
              <a:t>with 10× faster inference. Used for all subsequent experiments.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15200" y="1371600"/>
          <a:ext cx="438912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1463040"/>
                <a:gridCol w="1463040"/>
              </a:tblGrid>
              <a:tr h="502920"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Sampler</a:t>
                      </a:r>
                    </a:p>
                  </a:txBody>
                  <a:tcPr anchor="ctr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Steps</a:t>
                      </a:r>
                    </a:p>
                  </a:txBody>
                  <a:tcPr anchor="ctr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Quality</a:t>
                      </a:r>
                    </a:p>
                  </a:txBody>
                  <a:tcPr anchor="ctr">
                    <a:solidFill>
                      <a:srgbClr val="1B2A4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latin typeface="Calibri"/>
                        </a:defRPr>
                      </a:pPr>
                      <a:r>
                        <a:t>DDPM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Calibri"/>
                        </a:defRPr>
                      </a:pPr>
                      <a:r>
                        <a:t>100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Calibri"/>
                        </a:defRPr>
                      </a:pPr>
                      <a:r>
                        <a:t>Baseline</a:t>
                      </a:r>
                    </a:p>
                  </a:txBody>
                  <a:tcPr anchor="ctr"/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latin typeface="Calibri"/>
                        </a:defRPr>
                      </a:pPr>
                      <a:r>
                        <a:t>DDIM (old)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Calibri"/>
                        </a:defRPr>
                      </a:pPr>
                      <a:r>
                        <a:t>100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Calibri"/>
                        </a:defRPr>
                      </a:pPr>
                      <a:r>
                        <a:t>Same (bug forced 100)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latin typeface="Calibri"/>
                        </a:defRPr>
                      </a:pPr>
                      <a:r>
                        <a:t>DDIM (fixed)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Calibri"/>
                        </a:defRPr>
                      </a:pPr>
                      <a:r>
                        <a:t>10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Calibri"/>
                        </a:defRPr>
                      </a:pPr>
                      <a:r>
                        <a:t>Equivalent</a:t>
                      </a:r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315200" y="3657600"/>
            <a:ext cx="43891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B7280"/>
                </a:solidFill>
                <a:latin typeface="Calibri"/>
              </a:defRPr>
            </a:pPr>
            <a:r>
              <a:t>Single-step diagnostic at multiple</a:t>
            </a:r>
            <a:br/>
            <a:r>
              <a:t>timesteps (t=90,70,50,30,10):</a:t>
            </a:r>
            <a:br/>
            <a:br/>
            <a:r>
              <a:t>DDIM/DDPM x_prev ratio:</a:t>
            </a:r>
            <a:br/>
            <a:r>
              <a:t>1.006, 1.014, 1.028, 1.032, 1.093</a:t>
            </a:r>
            <a:br/>
            <a:r>
              <a:t>→ All within 10% = correct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Result: Working Diffusion Policy (84–96% Success)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9436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DBEAFE"/>
                </a:solidFill>
                <a:latin typeface="Calibri"/>
              </a:defRPr>
            </a:pPr>
            <a:r>
              <a:t>Checkpoint: diffusion_20260222_195530/ckpt_ep100.pt  |  8.7M params  |  UNet Conv1d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058400" y="182880"/>
            <a:ext cx="1828800" cy="640080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1B2A4A"/>
                </a:solidFill>
                <a:latin typeface="Calibri"/>
              </a:defRPr>
            </a:pPr>
            <a:r>
              <a:t>Phase 5</a:t>
            </a:r>
            <a:br/>
            <a:r>
              <a:t>Feb 22–24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188720"/>
            <a:ext cx="8229600" cy="12801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686800" y="1463040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B2A4A"/>
                </a:solidFill>
                <a:latin typeface="Calibri"/>
              </a:defRPr>
            </a:pPr>
            <a:r>
              <a:t>Straight (arc 00) — ambiguous</a:t>
            </a:r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2926080"/>
            <a:ext cx="8229600" cy="12801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686800" y="3200400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B2A4A"/>
                </a:solidFill>
                <a:latin typeface="Calibri"/>
              </a:defRPr>
            </a:pPr>
            <a:r>
              <a:t>Moderate arc (arc 12) — somewhat legible</a:t>
            </a:r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4320" y="4663440"/>
            <a:ext cx="8229600" cy="12801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686800" y="4937759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B2A4A"/>
                </a:solidFill>
                <a:latin typeface="Calibri"/>
              </a:defRPr>
            </a:pPr>
            <a:r>
              <a:t>Strong arc (arc 19) — highly legible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640080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Calibri"/>
              </a:defRPr>
            </a:pPr>
            <a:r>
              <a:t>Policy architecture: obs_dim=22, act_dim=5, horizon=32, execute 8 steps, 256-dim hidden, 6 residual blocks, DDIM 10 steps at inference.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8686800" y="1188720"/>
          <a:ext cx="32004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0200"/>
                <a:gridCol w="1600200"/>
              </a:tblGrid>
              <a:tr h="457200"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Param</a:t>
                      </a:r>
                    </a:p>
                  </a:txBody>
                  <a:tcPr anchor="ctr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Value</a:t>
                      </a:r>
                    </a:p>
                  </a:txBody>
                  <a:tcPr anchor="ctr">
                    <a:solidFill>
                      <a:srgbClr val="1B2A4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100">
                          <a:latin typeface="Calibri"/>
                        </a:defRPr>
                      </a:pPr>
                      <a:r>
                        <a:t>Success rate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Calibri"/>
                        </a:defRPr>
                      </a:pPr>
                      <a:r>
                        <a:t>84–96%</a:t>
                      </a:r>
                    </a:p>
                  </a:txBody>
                  <a:tcPr anchor="ctr"/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100">
                          <a:latin typeface="Calibri"/>
                        </a:defRPr>
                      </a:pPr>
                      <a:r>
                        <a:t>Avg steps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Calibri"/>
                        </a:defRPr>
                      </a:pPr>
                      <a:r>
                        <a:t>343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100">
                          <a:latin typeface="Calibri"/>
                        </a:defRPr>
                      </a:pPr>
                      <a:r>
                        <a:t>Epochs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Calibri"/>
                        </a:defRPr>
                      </a:pPr>
                      <a:r>
                        <a:t>100</a:t>
                      </a:r>
                    </a:p>
                  </a:txBody>
                  <a:tcPr anchor="ctr"/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100">
                          <a:latin typeface="Calibri"/>
                        </a:defRPr>
                      </a:pPr>
                      <a:r>
                        <a:t>Training time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Calibri"/>
                        </a:defRPr>
                      </a:pPr>
                      <a:r>
                        <a:t>~1.5 hours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Decision 6: Online VLM Best-of-K Steering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9436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DBEAFE"/>
                </a:solidFill>
                <a:latin typeface="Calibri"/>
              </a:defRPr>
            </a:pPr>
            <a:r>
              <a:t>Inference-time reranking of trajectory candidates using Gemini VLM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058400" y="182880"/>
            <a:ext cx="1828800" cy="640080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1B2A4A"/>
                </a:solidFill>
                <a:latin typeface="Calibri"/>
              </a:defRPr>
            </a:pPr>
            <a:r>
              <a:t>Phase 5</a:t>
            </a:r>
            <a:br/>
            <a:r>
              <a:t>Feb 24–26</a:t>
            </a:r>
          </a:p>
        </p:txBody>
      </p:sp>
      <p:pic>
        <p:nvPicPr>
          <p:cNvPr id="6" name="Picture 5" descr="vlm_fig3_process_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188720"/>
            <a:ext cx="5943600" cy="32004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0" y="1188720"/>
            <a:ext cx="548640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>
                <a:solidFill>
                  <a:srgbClr val="000000"/>
                </a:solidFill>
                <a:latin typeface="Calibri"/>
              </a:defRPr>
            </a:pPr>
            <a:r>
              <a:t>Method: Sample K candidates from diffusion policy with</a:t>
            </a:r>
            <a:br/>
            <a:r>
              <a:t>different random seeds → simulate each for 5 seconds →</a:t>
            </a:r>
            <a:br/>
            <a:r>
              <a:t>capture 6 annotated frames → score with Gemini VLM →</a:t>
            </a:r>
            <a:br/>
            <a:r>
              <a:t>execute trajectory with highest legibility score.</a:t>
            </a:r>
          </a:p>
          <a:p>
            <a:pPr>
              <a:spcAft>
                <a:spcPts val="800"/>
              </a:spcAft>
              <a:defRPr sz="1200">
                <a:solidFill>
                  <a:srgbClr val="000000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1200">
                <a:solidFill>
                  <a:srgbClr val="000000"/>
                </a:solidFill>
                <a:latin typeface="Calibri"/>
              </a:defRPr>
            </a:pPr>
            <a:r>
              <a:t>Why this approach? VLM API is non-differentiable, so</a:t>
            </a:r>
            <a:br/>
            <a:r>
              <a:t>gradient-based guidance is impossible. Post-hoc reranking</a:t>
            </a:r>
            <a:br/>
            <a:r>
              <a:t>works with any scoring function and guarantees in-distribution</a:t>
            </a:r>
            <a:br/>
            <a:r>
              <a:t>samples (all candidates came from the trained policy).</a:t>
            </a:r>
          </a:p>
          <a:p>
            <a:pPr>
              <a:spcAft>
                <a:spcPts val="800"/>
              </a:spcAft>
              <a:defRPr sz="1200">
                <a:solidFill>
                  <a:srgbClr val="000000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1200">
                <a:solidFill>
                  <a:srgbClr val="000000"/>
                </a:solidFill>
                <a:latin typeface="Calibri"/>
              </a:defRPr>
            </a:pPr>
            <a:r>
              <a:t>Initial result (K=3, 5 episodes):</a:t>
            </a:r>
            <a:br/>
            <a:r>
              <a:t>  • 100% task success (5/5)</a:t>
            </a:r>
            <a:br/>
            <a:r>
              <a:t>  • Mean VLM legibility: 0.750</a:t>
            </a:r>
            <a:br/>
            <a:r>
              <a:t>  • VLM latency: ~5.2 seconds per call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Decision 7: VLM Evaluator V1 — 45% Accuracy (Random Chance)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9436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DBEAFE"/>
                </a:solidFill>
                <a:latin typeface="Calibri"/>
              </a:defRPr>
            </a:pPr>
            <a:r>
              <a:t>Five compounding bugs made the trajectory evaluator useless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058400" y="182880"/>
            <a:ext cx="1828800" cy="640080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1B2A4A"/>
                </a:solidFill>
                <a:latin typeface="Calibri"/>
              </a:defRPr>
            </a:pPr>
            <a:r>
              <a:t>Phase 6</a:t>
            </a:r>
            <a:br/>
            <a:r>
              <a:t>Feb 26</a:t>
            </a:r>
          </a:p>
        </p:txBody>
      </p:sp>
      <p:pic>
        <p:nvPicPr>
          <p:cNvPr id="6" name="Picture 5" descr="fig1_v1_vs_v2_accurac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188720"/>
            <a:ext cx="5486400" cy="32004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943600" y="1188720"/>
            <a:ext cx="594360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000000"/>
                </a:solidFill>
                <a:latin typeface="Calibri"/>
              </a:defRPr>
            </a:pPr>
            <a:r>
              <a:t>V1 Evaluator — 5 compounding issues:</a:t>
            </a:r>
          </a:p>
          <a:p>
            <a:pPr>
              <a:spcAft>
                <a:spcPts val="800"/>
              </a:spcAft>
              <a:defRPr sz="1100">
                <a:solidFill>
                  <a:srgbClr val="000000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1100">
                <a:solidFill>
                  <a:srgbClr val="000000"/>
                </a:solidFill>
                <a:latin typeface="Calibri"/>
              </a:defRPr>
            </a:pPr>
            <a:r>
              <a:t>1. Camera yaw=135° reverses left/right in image</a:t>
            </a:r>
          </a:p>
          <a:p>
            <a:pPr>
              <a:spcAft>
                <a:spcPts val="800"/>
              </a:spcAft>
              <a:defRPr sz="1100">
                <a:solidFill>
                  <a:srgbClr val="000000"/>
                </a:solidFill>
                <a:latin typeface="Calibri"/>
              </a:defRPr>
            </a:pPr>
            <a:r>
              <a:t>   World LEFT block appears on image RIGHT side.</a:t>
            </a:r>
          </a:p>
          <a:p>
            <a:pPr>
              <a:spcAft>
                <a:spcPts val="800"/>
              </a:spcAft>
              <a:defRPr sz="1100">
                <a:solidFill>
                  <a:srgbClr val="000000"/>
                </a:solidFill>
                <a:latin typeface="Calibri"/>
              </a:defRPr>
            </a:pPr>
            <a:r>
              <a:t>   VLM had no perspective info → random mapping.</a:t>
            </a:r>
          </a:p>
          <a:p>
            <a:pPr>
              <a:spcAft>
                <a:spcPts val="800"/>
              </a:spcAft>
              <a:defRPr sz="1100">
                <a:solidFill>
                  <a:srgbClr val="000000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1100">
                <a:solidFill>
                  <a:srgbClr val="000000"/>
                </a:solidFill>
                <a:latin typeface="Calibri"/>
              </a:defRPr>
            </a:pPr>
            <a:r>
              <a:t>2. Prompt was 26,000 characters (XML theory dump)</a:t>
            </a:r>
          </a:p>
          <a:p>
            <a:pPr>
              <a:spcAft>
                <a:spcPts val="800"/>
              </a:spcAft>
              <a:defRPr sz="1100">
                <a:solidFill>
                  <a:srgbClr val="000000"/>
                </a:solidFill>
                <a:latin typeface="Calibri"/>
              </a:defRPr>
            </a:pPr>
            <a:r>
              <a:t>   Overwhelmed the model with abstract framework.</a:t>
            </a:r>
          </a:p>
          <a:p>
            <a:pPr>
              <a:spcAft>
                <a:spcPts val="800"/>
              </a:spcAft>
              <a:defRPr sz="1100">
                <a:solidFill>
                  <a:srgbClr val="000000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1100">
                <a:solidFill>
                  <a:srgbClr val="000000"/>
                </a:solidFill>
                <a:latin typeface="Calibri"/>
              </a:defRPr>
            </a:pPr>
            <a:r>
              <a:t>3. Temperature = 0.7 (too high for perception)</a:t>
            </a:r>
          </a:p>
          <a:p>
            <a:pPr>
              <a:spcAft>
                <a:spcPts val="800"/>
              </a:spcAft>
              <a:defRPr sz="1100">
                <a:solidFill>
                  <a:srgbClr val="000000"/>
                </a:solidFill>
                <a:latin typeface="Calibri"/>
              </a:defRPr>
            </a:pPr>
            <a:r>
              <a:t>   Added random variance to deterministic judgments.</a:t>
            </a:r>
          </a:p>
          <a:p>
            <a:pPr>
              <a:spcAft>
                <a:spcPts val="800"/>
              </a:spcAft>
              <a:defRPr sz="1100">
                <a:solidFill>
                  <a:srgbClr val="000000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1100">
                <a:solidFill>
                  <a:srgbClr val="000000"/>
                </a:solidFill>
                <a:latin typeface="Calibri"/>
              </a:defRPr>
            </a:pPr>
            <a:r>
              <a:t>4. No visual anchoring — raw video only</a:t>
            </a:r>
          </a:p>
          <a:p>
            <a:pPr>
              <a:spcAft>
                <a:spcPts val="800"/>
              </a:spcAft>
              <a:defRPr sz="1100">
                <a:solidFill>
                  <a:srgbClr val="000000"/>
                </a:solidFill>
                <a:latin typeface="Calibri"/>
              </a:defRPr>
            </a:pPr>
            <a:r>
              <a:t>   VLM had to simultaneously locate blocks +</a:t>
            </a:r>
          </a:p>
          <a:p>
            <a:pPr>
              <a:spcAft>
                <a:spcPts val="800"/>
              </a:spcAft>
              <a:defRPr sz="1100">
                <a:solidFill>
                  <a:srgbClr val="000000"/>
                </a:solidFill>
                <a:latin typeface="Calibri"/>
              </a:defRPr>
            </a:pPr>
            <a:r>
              <a:t>   track trajectory + determine direction.</a:t>
            </a:r>
          </a:p>
          <a:p>
            <a:pPr>
              <a:spcAft>
                <a:spcPts val="800"/>
              </a:spcAft>
              <a:defRPr sz="1100">
                <a:solidFill>
                  <a:srgbClr val="000000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1100">
                <a:solidFill>
                  <a:srgbClr val="000000"/>
                </a:solidFill>
                <a:latin typeface="Calibri"/>
              </a:defRPr>
            </a:pPr>
            <a:r>
              <a:t>5. Identical block appearance — both red cubes</a:t>
            </a:r>
          </a:p>
          <a:p>
            <a:pPr>
              <a:spcAft>
                <a:spcPts val="800"/>
              </a:spcAft>
              <a:defRPr sz="1100">
                <a:solidFill>
                  <a:srgbClr val="000000"/>
                </a:solidFill>
                <a:latin typeface="Calibri"/>
              </a:defRPr>
            </a:pPr>
            <a:r>
              <a:t>   14cm apart, indistinguishable by color.</a:t>
            </a:r>
          </a:p>
          <a:p>
            <a:pPr>
              <a:spcAft>
                <a:spcPts val="800"/>
              </a:spcAft>
              <a:defRPr sz="1100">
                <a:solidFill>
                  <a:srgbClr val="000000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1100">
                <a:solidFill>
                  <a:srgbClr val="000000"/>
                </a:solidFill>
                <a:latin typeface="Calibri"/>
              </a:defRPr>
            </a:pPr>
            <a:r>
              <a:t>Result: 18/40 = 45% — exactly random chance.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Decision 8: VLM V2 Fix — 45% → 97.5% Accuracy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9436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DBEAFE"/>
                </a:solidFill>
                <a:latin typeface="Calibri"/>
              </a:defRPr>
            </a:pPr>
            <a:r>
              <a:t>Five targeted fixes resolved all issues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058400" y="182880"/>
            <a:ext cx="1828800" cy="640080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1B2A4A"/>
                </a:solidFill>
                <a:latin typeface="Calibri"/>
              </a:defRPr>
            </a:pPr>
            <a:r>
              <a:t>Phase 7</a:t>
            </a:r>
            <a:br/>
            <a:r>
              <a:t>Feb 28</a:t>
            </a:r>
          </a:p>
        </p:txBody>
      </p:sp>
      <p:pic>
        <p:nvPicPr>
          <p:cNvPr id="6" name="Picture 5" descr="fig6_annotated_fra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188720"/>
            <a:ext cx="5029200" cy="34747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0" y="1188720"/>
            <a:ext cx="640080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000000"/>
                </a:solidFill>
                <a:latin typeface="Calibri"/>
              </a:defRPr>
            </a:pPr>
            <a:r>
              <a:t>V2 Fixes (each targeting one V1 bug):</a:t>
            </a:r>
          </a:p>
          <a:p>
            <a:pPr>
              <a:spcAft>
                <a:spcPts val="800"/>
              </a:spcAft>
              <a:defRPr sz="1100">
                <a:solidFill>
                  <a:srgbClr val="000000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1100">
                <a:solidFill>
                  <a:srgbClr val="000000"/>
                </a:solidFill>
                <a:latin typeface="Calibri"/>
              </a:defRPr>
            </a:pPr>
            <a:r>
              <a:t>1. Annotated reference frame with colored markers</a:t>
            </a:r>
          </a:p>
          <a:p>
            <a:pPr>
              <a:spcAft>
                <a:spcPts val="800"/>
              </a:spcAft>
              <a:defRPr sz="1100">
                <a:solidFill>
                  <a:srgbClr val="000000"/>
                </a:solidFill>
                <a:latin typeface="Calibri"/>
              </a:defRPr>
            </a:pPr>
            <a:r>
              <a:t>   Blue circle = Block A, Green circle = Block B</a:t>
            </a:r>
          </a:p>
          <a:p>
            <a:pPr>
              <a:spcAft>
                <a:spcPts val="800"/>
              </a:spcAft>
              <a:defRPr sz="1100">
                <a:solidFill>
                  <a:srgbClr val="000000"/>
                </a:solidFill>
                <a:latin typeface="Calibri"/>
              </a:defRPr>
            </a:pPr>
            <a:r>
              <a:t>   VLM sees which block is where in the image.</a:t>
            </a:r>
          </a:p>
          <a:p>
            <a:pPr>
              <a:spcAft>
                <a:spcPts val="800"/>
              </a:spcAft>
              <a:defRPr sz="1100">
                <a:solidFill>
                  <a:srgbClr val="000000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1100">
                <a:solidFill>
                  <a:srgbClr val="000000"/>
                </a:solidFill>
                <a:latin typeface="Calibri"/>
              </a:defRPr>
            </a:pPr>
            <a:r>
              <a:t>2. Prompt reduced to 1,180 characters</a:t>
            </a:r>
          </a:p>
          <a:p>
            <a:pPr>
              <a:spcAft>
                <a:spcPts val="800"/>
              </a:spcAft>
              <a:defRPr sz="1100">
                <a:solidFill>
                  <a:srgbClr val="000000"/>
                </a:solidFill>
                <a:latin typeface="Calibri"/>
              </a:defRPr>
            </a:pPr>
            <a:r>
              <a:t>   Concise: describe scene, reference image, ask.</a:t>
            </a:r>
          </a:p>
          <a:p>
            <a:pPr>
              <a:spcAft>
                <a:spcPts val="800"/>
              </a:spcAft>
              <a:defRPr sz="1100">
                <a:solidFill>
                  <a:srgbClr val="000000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1100">
                <a:solidFill>
                  <a:srgbClr val="000000"/>
                </a:solidFill>
                <a:latin typeface="Calibri"/>
              </a:defRPr>
            </a:pPr>
            <a:r>
              <a:t>3. Temperature lowered to 0.1</a:t>
            </a:r>
          </a:p>
          <a:p>
            <a:pPr>
              <a:spcAft>
                <a:spcPts val="800"/>
              </a:spcAft>
              <a:defRPr sz="1100">
                <a:solidFill>
                  <a:srgbClr val="000000"/>
                </a:solidFill>
                <a:latin typeface="Calibri"/>
              </a:defRPr>
            </a:pPr>
            <a:r>
              <a:t>   Near-deterministic perceptual judgments.</a:t>
            </a:r>
          </a:p>
          <a:p>
            <a:pPr>
              <a:spcAft>
                <a:spcPts val="800"/>
              </a:spcAft>
              <a:defRPr sz="1100">
                <a:solidFill>
                  <a:srgbClr val="000000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1100">
                <a:solidFill>
                  <a:srgbClr val="000000"/>
                </a:solidFill>
                <a:latin typeface="Calibri"/>
              </a:defRPr>
            </a:pPr>
            <a:r>
              <a:t>4. Image-space reasoning + coordinate mapping</a:t>
            </a:r>
          </a:p>
          <a:p>
            <a:pPr>
              <a:spcAft>
                <a:spcPts val="800"/>
              </a:spcAft>
              <a:defRPr sz="1100">
                <a:solidFill>
                  <a:srgbClr val="000000"/>
                </a:solidFill>
                <a:latin typeface="Calibri"/>
              </a:defRPr>
            </a:pPr>
            <a:r>
              <a:t>   VLM answers 'Block A or B?' (image space).</a:t>
            </a:r>
          </a:p>
          <a:p>
            <a:pPr>
              <a:spcAft>
                <a:spcPts val="800"/>
              </a:spcAft>
              <a:defRPr sz="1100">
                <a:solidFill>
                  <a:srgbClr val="000000"/>
                </a:solidFill>
                <a:latin typeface="Calibri"/>
              </a:defRPr>
            </a:pPr>
            <a:r>
              <a:t>   Eval harness maps to world space using known</a:t>
            </a:r>
          </a:p>
          <a:p>
            <a:pPr>
              <a:spcAft>
                <a:spcPts val="800"/>
              </a:spcAft>
              <a:defRPr sz="1100">
                <a:solidFill>
                  <a:srgbClr val="000000"/>
                </a:solidFill>
                <a:latin typeface="Calibri"/>
              </a:defRPr>
            </a:pPr>
            <a:r>
              <a:t>   camera calibration: image_left = world_right.</a:t>
            </a:r>
          </a:p>
          <a:p>
            <a:pPr>
              <a:spcAft>
                <a:spcPts val="800"/>
              </a:spcAft>
              <a:defRPr sz="1100">
                <a:solidFill>
                  <a:srgbClr val="000000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1100">
                <a:solidFill>
                  <a:srgbClr val="000000"/>
                </a:solidFill>
                <a:latin typeface="Calibri"/>
              </a:defRPr>
            </a:pPr>
            <a:r>
              <a:t>5. Multi-modal input: annotated frame + video + prompt</a:t>
            </a:r>
          </a:p>
          <a:p>
            <a:pPr>
              <a:spcAft>
                <a:spcPts val="800"/>
              </a:spcAft>
              <a:defRPr sz="1100">
                <a:solidFill>
                  <a:srgbClr val="000000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1100">
                <a:solidFill>
                  <a:srgbClr val="000000"/>
                </a:solidFill>
                <a:latin typeface="Calibri"/>
              </a:defRPr>
            </a:pPr>
            <a:r>
              <a:t>Result: 39/40 = 97.5% accuracy</a:t>
            </a:r>
          </a:p>
          <a:p>
            <a:pPr>
              <a:spcAft>
                <a:spcPts val="800"/>
              </a:spcAft>
              <a:defRPr sz="1100">
                <a:solidFill>
                  <a:srgbClr val="000000"/>
                </a:solidFill>
                <a:latin typeface="Calibri"/>
              </a:defRPr>
            </a:pPr>
            <a:r>
              <a:t>  LEFT:  19/20 (95%)  |  RIGHT: 20/20 (100%)</a:t>
            </a:r>
          </a:p>
        </p:txBody>
      </p:sp>
      <p:pic>
        <p:nvPicPr>
          <p:cNvPr id="8" name="Picture 7" descr="fig4_v2_eval_i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4846320"/>
            <a:ext cx="5029200" cy="1645920"/>
          </a:xfrm>
          <a:prstGeom prst="rect">
            <a:avLst/>
          </a:prstGeom>
        </p:spPr>
      </p:pic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669280" y="5029200"/>
          <a:ext cx="320040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66800"/>
                <a:gridCol w="1066800"/>
                <a:gridCol w="1066800"/>
              </a:tblGrid>
              <a:tr h="457200"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</a:p>
                  </a:txBody>
                  <a:tcPr anchor="ctr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Pred LEFT</a:t>
                      </a:r>
                    </a:p>
                  </a:txBody>
                  <a:tcPr anchor="ctr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Pred RIGHT</a:t>
                      </a:r>
                    </a:p>
                  </a:txBody>
                  <a:tcPr anchor="ctr">
                    <a:solidFill>
                      <a:srgbClr val="1B2A4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100">
                          <a:latin typeface="Calibri"/>
                        </a:defRPr>
                      </a:pPr>
                      <a:r>
                        <a:t>GT LEFT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Calibri"/>
                        </a:defRPr>
                      </a:pPr>
                      <a:r>
                        <a:t>19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Calibri"/>
                        </a:defRPr>
                      </a:pPr>
                      <a:r>
                        <a:t>1</a:t>
                      </a:r>
                    </a:p>
                  </a:txBody>
                  <a:tcPr anchor="ctr"/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100">
                          <a:latin typeface="Calibri"/>
                        </a:defRPr>
                      </a:pPr>
                      <a:r>
                        <a:t>GT RIGHT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Calibri"/>
                        </a:defRPr>
                      </a:pPr>
                      <a:r>
                        <a:t>0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Calibri"/>
                        </a:defRPr>
                      </a:pPr>
                      <a:r>
                        <a:t>20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9144000" y="5029200"/>
            <a:ext cx="2743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6B7280"/>
                </a:solidFill>
                <a:latin typeface="Calibri"/>
              </a:defRPr>
            </a:pPr>
            <a:r>
              <a:t>Key insight: The VLM's</a:t>
            </a:r>
            <a:br/>
            <a:r>
              <a:t>perception was never the</a:t>
            </a:r>
            <a:br/>
            <a:r>
              <a:t>bottleneck — the failure</a:t>
            </a:r>
            <a:br/>
            <a:r>
              <a:t>was entirely a grounding</a:t>
            </a:r>
            <a:br/>
            <a:r>
              <a:t>problem.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The VLM Debug Marathon — 23 Runs in One Day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9436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DBEAFE"/>
                </a:solidFill>
                <a:latin typeface="Calibri"/>
              </a:defRPr>
            </a:pPr>
            <a:r>
              <a:t>Feb 28: Systematic testing to understand why overhead camera struggles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058400" y="182880"/>
            <a:ext cx="1828800" cy="640080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1B2A4A"/>
                </a:solidFill>
                <a:latin typeface="Calibri"/>
              </a:defRPr>
            </a:pPr>
            <a:r>
              <a:t>Phase 7</a:t>
            </a:r>
            <a:br/>
            <a:r>
              <a:t>Feb 28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188720"/>
            <a:ext cx="1143000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>
                <a:solidFill>
                  <a:srgbClr val="000000"/>
                </a:solidFill>
                <a:latin typeface="Calibri"/>
              </a:defRPr>
            </a:pPr>
            <a:r>
              <a:t>After V2 evaluator reached 97.5%, we tested how well it could differentiate</a:t>
            </a:r>
            <a:br/>
            <a:r>
              <a:t>between arc magnitudes (not just left vs right).</a:t>
            </a:r>
          </a:p>
          <a:p>
            <a:pPr>
              <a:spcAft>
                <a:spcPts val="800"/>
              </a:spcAft>
              <a:defRPr sz="1300">
                <a:solidFill>
                  <a:srgbClr val="000000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1300">
                <a:solidFill>
                  <a:srgbClr val="000000"/>
                </a:solidFill>
                <a:latin typeface="Calibri"/>
              </a:defRPr>
            </a:pPr>
            <a:r>
              <a:t>23 debug runs (vlm_debug_20260228_*) explored:</a:t>
            </a:r>
          </a:p>
          <a:p>
            <a:pPr>
              <a:spcAft>
                <a:spcPts val="800"/>
              </a:spcAft>
              <a:defRPr sz="1300">
                <a:solidFill>
                  <a:srgbClr val="000000"/>
                </a:solidFill>
                <a:latin typeface="Calibri"/>
              </a:defRPr>
            </a:pPr>
            <a:r>
              <a:t>  • Different camera viewpoints (overhead, angled, front)</a:t>
            </a:r>
          </a:p>
          <a:p>
            <a:pPr>
              <a:spcAft>
                <a:spcPts val="800"/>
              </a:spcAft>
              <a:defRPr sz="1300">
                <a:solidFill>
                  <a:srgbClr val="000000"/>
                </a:solidFill>
                <a:latin typeface="Calibri"/>
              </a:defRPr>
            </a:pPr>
            <a:r>
              <a:t>  • Different arc class pairs (arc04 vs arc10, arc04 vs arc15, arc10 vs arc15)</a:t>
            </a:r>
          </a:p>
          <a:p>
            <a:pPr>
              <a:spcAft>
                <a:spcPts val="800"/>
              </a:spcAft>
              <a:defRPr sz="1300">
                <a:solidFill>
                  <a:srgbClr val="000000"/>
                </a:solidFill>
                <a:latin typeface="Calibri"/>
              </a:defRPr>
            </a:pPr>
            <a:r>
              <a:t>  • Different temporal sampling (t=1s, 2s, 3s, 4s, 5s, 6s)</a:t>
            </a:r>
          </a:p>
          <a:p>
            <a:pPr>
              <a:spcAft>
                <a:spcPts val="800"/>
              </a:spcAft>
              <a:defRPr sz="1300">
                <a:solidFill>
                  <a:srgbClr val="000000"/>
                </a:solidFill>
                <a:latin typeface="Calibri"/>
              </a:defRPr>
            </a:pPr>
            <a:r>
              <a:t>  • Pairwise perception tests with side-by-side image comparisons</a:t>
            </a:r>
          </a:p>
          <a:p>
            <a:pPr>
              <a:spcAft>
                <a:spcPts val="800"/>
              </a:spcAft>
              <a:defRPr sz="1300">
                <a:solidFill>
                  <a:srgbClr val="000000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1300">
                <a:solidFill>
                  <a:srgbClr val="000000"/>
                </a:solidFill>
                <a:latin typeface="Calibri"/>
              </a:defRPr>
            </a:pPr>
            <a:r>
              <a:t>Key finding: The overhead camera (yaw=135°) compresses lateral displacement.</a:t>
            </a:r>
          </a:p>
          <a:p>
            <a:pPr>
              <a:spcAft>
                <a:spcPts val="800"/>
              </a:spcAft>
              <a:defRPr sz="1300">
                <a:solidFill>
                  <a:srgbClr val="000000"/>
                </a:solidFill>
                <a:latin typeface="Calibri"/>
              </a:defRPr>
            </a:pPr>
            <a:r>
              <a:t>Arc 04 vs arc 15 look very similar from above. The VLM can distinguish</a:t>
            </a:r>
          </a:p>
          <a:p>
            <a:pPr>
              <a:spcAft>
                <a:spcPts val="800"/>
              </a:spcAft>
              <a:defRPr sz="1300">
                <a:solidFill>
                  <a:srgbClr val="000000"/>
                </a:solidFill>
                <a:latin typeface="Calibri"/>
              </a:defRPr>
            </a:pPr>
            <a:r>
              <a:t>LEFT vs RIGHT reliably, but cannot rank arc magnitudes precisely.</a:t>
            </a:r>
          </a:p>
          <a:p>
            <a:pPr>
              <a:spcAft>
                <a:spcPts val="800"/>
              </a:spcAft>
              <a:defRPr sz="1300">
                <a:solidFill>
                  <a:srgbClr val="000000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1300">
                <a:solidFill>
                  <a:srgbClr val="000000"/>
                </a:solidFill>
                <a:latin typeface="Calibri"/>
              </a:defRPr>
            </a:pPr>
            <a:r>
              <a:t>This motivated the shift from 'VLM ranks arcs' to 'VLM confirms direction,</a:t>
            </a:r>
            <a:br/>
            <a:r>
              <a:t>geometric metric ranks arc magnitude' — the hybrid approach used in the</a:t>
            </a:r>
          </a:p>
          <a:p>
            <a:pPr>
              <a:spcAft>
                <a:spcPts val="800"/>
              </a:spcAft>
              <a:defRPr sz="1300">
                <a:solidFill>
                  <a:srgbClr val="000000"/>
                </a:solidFill>
                <a:latin typeface="Calibri"/>
              </a:defRPr>
            </a:pPr>
            <a:r>
              <a:t>paired replanning experiments.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Result: Paired Replanning — +69.4% Arc Improvement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9436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DBEAFE"/>
                </a:solidFill>
                <a:latin typeface="Calibri"/>
              </a:defRPr>
            </a:pPr>
            <a:r>
              <a:t>4 paired episodes: same seed, baseline vs VLM-steered, 100% success both sides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058400" y="182880"/>
            <a:ext cx="1828800" cy="640080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1B2A4A"/>
                </a:solidFill>
                <a:latin typeface="Calibri"/>
              </a:defRPr>
            </a:pPr>
            <a:r>
              <a:t>Phase 8</a:t>
            </a:r>
            <a:br/>
            <a:r>
              <a:t>Feb 28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188720"/>
          <a:ext cx="1124712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4520"/>
                <a:gridCol w="1874520"/>
                <a:gridCol w="1874520"/>
                <a:gridCol w="1874520"/>
                <a:gridCol w="1874520"/>
                <a:gridCol w="1874520"/>
              </a:tblGrid>
              <a:tr h="502920"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Pair</a:t>
                      </a:r>
                    </a:p>
                  </a:txBody>
                  <a:tcPr anchor="ctr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Block</a:t>
                      </a:r>
                    </a:p>
                  </a:txBody>
                  <a:tcPr anchor="ctr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Baseline Arc</a:t>
                      </a:r>
                    </a:p>
                  </a:txBody>
                  <a:tcPr anchor="ctr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Guided Arc</a:t>
                      </a:r>
                    </a:p>
                  </a:txBody>
                  <a:tcPr anchor="ctr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Improvement</a:t>
                      </a:r>
                    </a:p>
                  </a:txBody>
                  <a:tcPr anchor="ctr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Legibility</a:t>
                      </a:r>
                    </a:p>
                  </a:txBody>
                  <a:tcPr anchor="ctr">
                    <a:solidFill>
                      <a:srgbClr val="1B2A4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latin typeface="Calibri"/>
                        </a:defRPr>
                      </a:pPr>
                      <a:r>
                        <a:t>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Calibri"/>
                        </a:defRPr>
                      </a:pPr>
                      <a:r>
                        <a:t>RIGHT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Calibri"/>
                        </a:defRPr>
                      </a:pPr>
                      <a:r>
                        <a:t>0.631 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Calibri"/>
                        </a:defRPr>
                      </a:pPr>
                      <a:r>
                        <a:t>0.635 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Calibri"/>
                        </a:defRPr>
                      </a:pPr>
                      <a:r>
                        <a:t>+0.6%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Calibri"/>
                        </a:defRPr>
                      </a:pPr>
                      <a:r>
                        <a:t>1.000</a:t>
                      </a:r>
                    </a:p>
                  </a:txBody>
                  <a:tcPr anchor="ctr"/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latin typeface="Calibri"/>
                        </a:defRPr>
                      </a:pPr>
                      <a:r>
                        <a:t>2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Calibri"/>
                        </a:defRPr>
                      </a:pPr>
                      <a:r>
                        <a:t>RIGHT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Calibri"/>
                        </a:defRPr>
                      </a:pPr>
                      <a:r>
                        <a:t>0.033 m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Calibri"/>
                        </a:defRPr>
                      </a:pPr>
                      <a:r>
                        <a:t>0.750 m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Calibri"/>
                        </a:defRPr>
                      </a:pPr>
                      <a:r>
                        <a:t>+2204%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Calibri"/>
                        </a:defRPr>
                      </a:pPr>
                      <a:r>
                        <a:t>0.990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latin typeface="Calibri"/>
                        </a:defRPr>
                      </a:pPr>
                      <a:r>
                        <a:t>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Calibri"/>
                        </a:defRPr>
                      </a:pPr>
                      <a:r>
                        <a:t>LEFT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Calibri"/>
                        </a:defRPr>
                      </a:pPr>
                      <a:r>
                        <a:t>0.403 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Calibri"/>
                        </a:defRPr>
                      </a:pPr>
                      <a:r>
                        <a:t>0.891 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Calibri"/>
                        </a:defRPr>
                      </a:pPr>
                      <a:r>
                        <a:t>+121%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Calibri"/>
                        </a:defRPr>
                      </a:pPr>
                      <a:r>
                        <a:t>0.850</a:t>
                      </a:r>
                    </a:p>
                  </a:txBody>
                  <a:tcPr anchor="ctr"/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latin typeface="Calibri"/>
                        </a:defRPr>
                      </a:pPr>
                      <a:r>
                        <a:t>4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Calibri"/>
                        </a:defRPr>
                      </a:pPr>
                      <a:r>
                        <a:t>LEFT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Calibri"/>
                        </a:defRPr>
                      </a:pPr>
                      <a:r>
                        <a:t>0.690 m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Calibri"/>
                        </a:defRPr>
                      </a:pPr>
                      <a:r>
                        <a:t>0.701 m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Calibri"/>
                        </a:defRPr>
                      </a:pPr>
                      <a:r>
                        <a:t>+1.5%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Calibri"/>
                        </a:defRPr>
                      </a:pPr>
                      <a:r>
                        <a:t>0.950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latin typeface="Calibri"/>
                        </a:defRPr>
                      </a:pPr>
                      <a:r>
                        <a:t>Mean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Calibri"/>
                        </a:defRPr>
                      </a:pPr>
                      <a:r>
                        <a:t>0.439 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Calibri"/>
                        </a:defRPr>
                      </a:pPr>
                      <a:r>
                        <a:t>0.744 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Calibri"/>
                        </a:defRPr>
                      </a:pPr>
                      <a:r>
                        <a:t>+69.4%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Calibri"/>
                        </a:defRPr>
                      </a:pPr>
                      <a:r>
                        <a:t>0.948</a:t>
                      </a:r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365760" y="4480560"/>
            <a:ext cx="114300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>
                <a:solidFill>
                  <a:srgbClr val="000000"/>
                </a:solidFill>
                <a:latin typeface="Calibri"/>
              </a:defRPr>
            </a:pPr>
            <a:r>
              <a:t>Same-block accuracy: 100% — VLM-guided always matched baseline's target block.</a:t>
            </a:r>
          </a:p>
          <a:p>
            <a:pPr>
              <a:spcAft>
                <a:spcPts val="800"/>
              </a:spcAft>
              <a:defRPr sz="1200">
                <a:solidFill>
                  <a:srgbClr val="000000"/>
                </a:solidFill>
                <a:latin typeface="Calibri"/>
              </a:defRPr>
            </a:pPr>
            <a:r>
              <a:t>Arc-15-19 selection: 100% — all guided trajectories selected legible arcs.</a:t>
            </a:r>
          </a:p>
          <a:p>
            <a:pPr>
              <a:spcAft>
                <a:spcPts val="800"/>
              </a:spcAft>
              <a:defRPr sz="1200">
                <a:solidFill>
                  <a:srgbClr val="000000"/>
                </a:solidFill>
                <a:latin typeface="Calibri"/>
              </a:defRPr>
            </a:pPr>
            <a:r>
              <a:t>Task success: 100% for both baseline and guided (all 8 episodes succeeded).</a:t>
            </a:r>
          </a:p>
          <a:p>
            <a:pPr>
              <a:spcAft>
                <a:spcPts val="800"/>
              </a:spcAft>
              <a:defRPr sz="1200">
                <a:solidFill>
                  <a:srgbClr val="000000"/>
                </a:solidFill>
                <a:latin typeface="Calibri"/>
              </a:defRPr>
            </a:pPr>
            <a:r>
              <a:t>Pair 2 shows the biggest impact: baseline was nearly straight (0.033m),</a:t>
            </a:r>
            <a:br/>
            <a:r>
              <a:t>guided found a strongly curved alternative (0.750m) to the same block.</a:t>
            </a:r>
          </a:p>
          <a:p>
            <a:pPr>
              <a:spcAft>
                <a:spcPts val="800"/>
              </a:spcAft>
              <a:defRPr sz="1200">
                <a:solidFill>
                  <a:srgbClr val="000000"/>
                </a:solidFill>
                <a:latin typeface="Calibri"/>
              </a:defRPr>
            </a:pPr>
            <a:r>
              <a:t>Selection method: arc15_legible — among candidates with VLM legibility ≥ 0.70,</a:t>
            </a:r>
            <a:br/>
            <a:r>
              <a:t>pick the one with highest geometric arc magnitude.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Result: 50-Episode VLM Steering Experiment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9436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DBEAFE"/>
                </a:solidFill>
                <a:latin typeface="Calibri"/>
              </a:defRPr>
            </a:pPr>
            <a:r>
              <a:t>Baseline (no steering) vs VLM-steered (K=10, proxy scorer)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058400" y="182880"/>
            <a:ext cx="1828800" cy="640080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1B2A4A"/>
                </a:solidFill>
                <a:latin typeface="Calibri"/>
              </a:defRPr>
            </a:pPr>
            <a:r>
              <a:t>Phase 8</a:t>
            </a:r>
            <a:br/>
            <a:r>
              <a:t>Mar 1–9</a:t>
            </a:r>
          </a:p>
        </p:txBody>
      </p:sp>
      <p:pic>
        <p:nvPicPr>
          <p:cNvPr id="6" name="Picture 5" descr="vlm_fig1_arc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188720"/>
            <a:ext cx="5669280" cy="3200400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217920" y="1188720"/>
          <a:ext cx="5669280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1417320"/>
                <a:gridCol w="1417320"/>
                <a:gridCol w="1417320"/>
              </a:tblGrid>
              <a:tr h="480060"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Metric</a:t>
                      </a:r>
                    </a:p>
                  </a:txBody>
                  <a:tcPr anchor="ctr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Baseline</a:t>
                      </a:r>
                    </a:p>
                  </a:txBody>
                  <a:tcPr anchor="ctr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VLM-Steered</a:t>
                      </a:r>
                    </a:p>
                  </a:txBody>
                  <a:tcPr anchor="ctr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Change</a:t>
                      </a:r>
                    </a:p>
                  </a:txBody>
                  <a:tcPr anchor="ctr">
                    <a:solidFill>
                      <a:srgbClr val="1B2A4A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pPr algn="ctr">
                        <a:defRPr sz="1100">
                          <a:latin typeface="Calibri"/>
                        </a:defRPr>
                      </a:pPr>
                      <a:r>
                        <a:t>Episodes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Calibri"/>
                        </a:defRPr>
                      </a:pPr>
                      <a:r>
                        <a:t>50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Calibri"/>
                        </a:defRPr>
                      </a:pPr>
                      <a:r>
                        <a:t>50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 anchor="ctr"/>
                </a:tc>
              </a:tr>
              <a:tr h="480060">
                <a:tc>
                  <a:txBody>
                    <a:bodyPr/>
                    <a:lstStyle/>
                    <a:p>
                      <a:pPr algn="ctr">
                        <a:defRPr sz="1100">
                          <a:latin typeface="Calibri"/>
                        </a:defRPr>
                      </a:pPr>
                      <a:r>
                        <a:t>Task Success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Calibri"/>
                        </a:defRPr>
                      </a:pPr>
                      <a:r>
                        <a:t>94% (47/50)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Calibri"/>
                        </a:defRPr>
                      </a:pPr>
                      <a:r>
                        <a:t>98% (proxy)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Calibri"/>
                        </a:defRPr>
                      </a:pPr>
                      <a:r>
                        <a:t>+4%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pPr algn="ctr">
                        <a:defRPr sz="1100">
                          <a:latin typeface="Calibri"/>
                        </a:defRPr>
                      </a:pPr>
                      <a:r>
                        <a:t>Mean Arc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Calibri"/>
                        </a:defRPr>
                      </a:pPr>
                      <a:r>
                        <a:t>0.080 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Calibri"/>
                        </a:defRPr>
                      </a:pPr>
                      <a:r>
                        <a:t>0.114 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Calibri"/>
                        </a:defRPr>
                      </a:pPr>
                      <a:r>
                        <a:t>+42.5%</a:t>
                      </a:r>
                    </a:p>
                  </a:txBody>
                  <a:tcPr anchor="ctr"/>
                </a:tc>
              </a:tr>
              <a:tr h="480060">
                <a:tc>
                  <a:txBody>
                    <a:bodyPr/>
                    <a:lstStyle/>
                    <a:p>
                      <a:pPr algn="ctr">
                        <a:defRPr sz="1100">
                          <a:latin typeface="Calibri"/>
                        </a:defRPr>
                      </a:pPr>
                      <a:r>
                        <a:t>Arc 00–04 (straight)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Calibri"/>
                        </a:defRPr>
                      </a:pPr>
                      <a:r>
                        <a:t>58%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Calibri"/>
                        </a:defRPr>
                      </a:pPr>
                      <a:r>
                        <a:t>20%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Calibri"/>
                        </a:defRPr>
                      </a:pPr>
                      <a:r>
                        <a:t>−38 pp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pPr algn="ctr">
                        <a:defRPr sz="1100">
                          <a:latin typeface="Calibri"/>
                        </a:defRPr>
                      </a:pPr>
                      <a:r>
                        <a:t>Arc 15–19 (strong)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Calibri"/>
                        </a:defRPr>
                      </a:pPr>
                      <a:r>
                        <a:t>6%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Calibri"/>
                        </a:defRPr>
                      </a:pPr>
                      <a:r>
                        <a:t>34%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Calibri"/>
                        </a:defRPr>
                      </a:pPr>
                      <a:r>
                        <a:t>+28 pp</a:t>
                      </a:r>
                    </a:p>
                  </a:txBody>
                  <a:tcPr anchor="ctr"/>
                </a:tc>
              </a:tr>
              <a:tr h="480060">
                <a:tc>
                  <a:txBody>
                    <a:bodyPr/>
                    <a:lstStyle/>
                    <a:p>
                      <a:pPr algn="ctr">
                        <a:defRPr sz="1100">
                          <a:latin typeface="Calibri"/>
                        </a:defRPr>
                      </a:pPr>
                      <a:r>
                        <a:t>VLM Legibility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Calibri"/>
                        </a:defRPr>
                      </a:pPr>
                      <a:r>
                        <a:t>0.604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Calibri"/>
                        </a:defRPr>
                      </a:pPr>
                      <a:r>
                        <a:t>0.946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Calibri"/>
                        </a:defRPr>
                      </a:pPr>
                      <a:r>
                        <a:t>+56.6%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pPr algn="ctr">
                        <a:defRPr sz="1100">
                          <a:latin typeface="Calibri"/>
                        </a:defRPr>
                      </a:pPr>
                      <a:r>
                        <a:t>Steering Acc.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Calibri"/>
                        </a:defRPr>
                      </a:pPr>
                      <a:r>
                        <a:t>100%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365760" y="4754880"/>
            <a:ext cx="11430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000000"/>
                </a:solidFill>
                <a:latin typeface="Calibri"/>
              </a:defRPr>
            </a:pPr>
            <a:r>
              <a:t>Without steering, 58% of trajectories are straight (arc 00–04) and ambiguous. VLM steering shifts the distribution: only 20% straight, 34% strongly curved.</a:t>
            </a:r>
            <a:br/>
            <a:r>
              <a:t>Proxy scorer achieves comparable steering at 98% success vs 70% for pure VLM (because VLM sometimes selects visually legible but task-risky candidates).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Decision 9: The Success–Legibility Trade-off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9436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DBEAFE"/>
                </a:solidFill>
                <a:latin typeface="Calibri"/>
              </a:defRPr>
            </a:pPr>
            <a:r>
              <a:t>Pure VLM steering drops success to 70% — this motivated LegDiff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058400" y="182880"/>
            <a:ext cx="1828800" cy="640080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1B2A4A"/>
                </a:solidFill>
                <a:latin typeface="Calibri"/>
              </a:defRPr>
            </a:pPr>
            <a:r>
              <a:t>Phase 8</a:t>
            </a:r>
            <a:br/>
            <a:r>
              <a:t>Mar 9</a:t>
            </a:r>
          </a:p>
        </p:txBody>
      </p:sp>
      <p:pic>
        <p:nvPicPr>
          <p:cNvPr id="6" name="Picture 5" descr="vlm_fig4_success_legibi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188720"/>
            <a:ext cx="5943600" cy="41148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0" y="1188720"/>
            <a:ext cx="548640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>
                <a:solidFill>
                  <a:srgbClr val="000000"/>
                </a:solidFill>
                <a:latin typeface="Calibri"/>
              </a:defRPr>
            </a:pPr>
            <a:r>
              <a:t>The core problem: Best-of-K VLM steering improves</a:t>
            </a:r>
            <a:br/>
            <a:r>
              <a:t>legibility by +57% but drops success from 94% to 70%.</a:t>
            </a:r>
          </a:p>
          <a:p>
            <a:pPr>
              <a:spcAft>
                <a:spcPts val="800"/>
              </a:spcAft>
              <a:defRPr sz="1200">
                <a:solidFill>
                  <a:srgbClr val="000000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1200">
                <a:solidFill>
                  <a:srgbClr val="000000"/>
                </a:solidFill>
                <a:latin typeface="Calibri"/>
              </a:defRPr>
            </a:pPr>
            <a:r>
              <a:t>Why? The VLM selects candidates that look legible but</a:t>
            </a:r>
            <a:br/>
            <a:r>
              <a:t>may be on the edge of the policy's capability. Strongly</a:t>
            </a:r>
            <a:br/>
            <a:r>
              <a:t>curved arcs are harder to execute successfully.</a:t>
            </a:r>
          </a:p>
          <a:p>
            <a:pPr>
              <a:spcAft>
                <a:spcPts val="800"/>
              </a:spcAft>
              <a:defRPr sz="1200">
                <a:solidFill>
                  <a:srgbClr val="000000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1200">
                <a:solidFill>
                  <a:srgbClr val="000000"/>
                </a:solidFill>
                <a:latin typeface="Calibri"/>
              </a:defRPr>
            </a:pPr>
            <a:r>
              <a:t>Three solutions explored:</a:t>
            </a:r>
          </a:p>
          <a:p>
            <a:pPr>
              <a:spcAft>
                <a:spcPts val="800"/>
              </a:spcAft>
              <a:defRPr sz="1200">
                <a:solidFill>
                  <a:srgbClr val="000000"/>
                </a:solidFill>
                <a:latin typeface="Calibri"/>
              </a:defRPr>
            </a:pPr>
            <a:r>
              <a:t>  1. Proxy scorer (8 geometric features) → 98% success</a:t>
            </a:r>
            <a:br/>
            <a:r>
              <a:t>     but requires environment simulation for candidates</a:t>
            </a:r>
          </a:p>
          <a:p>
            <a:pPr>
              <a:spcAft>
                <a:spcPts val="800"/>
              </a:spcAft>
              <a:defRPr sz="1200">
                <a:solidFill>
                  <a:srgbClr val="000000"/>
                </a:solidFill>
                <a:latin typeface="Calibri"/>
              </a:defRPr>
            </a:pPr>
            <a:r>
              <a:t>  2. Best-of-16 sampling → L_post=0.852 (+10.1%)</a:t>
            </a:r>
            <a:br/>
            <a:r>
              <a:t>     but modest legibility gain, expensive</a:t>
            </a:r>
          </a:p>
          <a:p>
            <a:pPr>
              <a:spcAft>
                <a:spcPts val="800"/>
              </a:spcAft>
              <a:defRPr sz="1200">
                <a:solidFill>
                  <a:srgbClr val="000000"/>
                </a:solidFill>
                <a:latin typeface="Calibri"/>
              </a:defRPr>
            </a:pPr>
            <a:r>
              <a:t>  3. LegDiff with CFG (chosen) → 100% success +</a:t>
            </a:r>
            <a:br/>
            <a:r>
              <a:t>     L_early=0.934 — no trade-off, trains a new model</a:t>
            </a:r>
          </a:p>
          <a:p>
            <a:pPr>
              <a:spcAft>
                <a:spcPts val="800"/>
              </a:spcAft>
              <a:defRPr sz="1200">
                <a:solidFill>
                  <a:srgbClr val="000000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1200">
                <a:solidFill>
                  <a:srgbClr val="000000"/>
                </a:solidFill>
                <a:latin typeface="Calibri"/>
              </a:defRPr>
            </a:pPr>
            <a:r>
              <a:t>Decision: Pursue LegDiff as the principled solution.</a:t>
            </a:r>
            <a:br/>
            <a:r>
              <a:t>It learns goal-conditioned legibility during training,</a:t>
            </a:r>
            <a:br/>
            <a:r>
              <a:t>so inference-time steering doesn't hurt success.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Best-of-K Analysis: How Much Diversity Exists?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9436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DBEAFE"/>
                </a:solidFill>
                <a:latin typeface="Calibri"/>
              </a:defRPr>
            </a:pPr>
            <a:r>
              <a:t>Sampling K candidates from the same observation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058400" y="182880"/>
            <a:ext cx="1828800" cy="640080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1B2A4A"/>
                </a:solidFill>
                <a:latin typeface="Calibri"/>
              </a:defRPr>
            </a:pPr>
            <a:r>
              <a:t>Phase 8</a:t>
            </a:r>
            <a:br/>
            <a:r>
              <a:t>Mar 9</a:t>
            </a:r>
          </a:p>
        </p:txBody>
      </p:sp>
      <p:pic>
        <p:nvPicPr>
          <p:cNvPr id="6" name="Picture 5" descr="vlm_fig5_candidate_sele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188720"/>
            <a:ext cx="5943600" cy="3657600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583680" y="1188720"/>
          <a:ext cx="530352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5880"/>
                <a:gridCol w="1325880"/>
                <a:gridCol w="1325880"/>
                <a:gridCol w="1325880"/>
              </a:tblGrid>
              <a:tr h="457200"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K</a:t>
                      </a:r>
                    </a:p>
                  </a:txBody>
                  <a:tcPr anchor="ctr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L_early</a:t>
                      </a:r>
                    </a:p>
                  </a:txBody>
                  <a:tcPr anchor="ctr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L_posterior</a:t>
                      </a:r>
                    </a:p>
                  </a:txBody>
                  <a:tcPr anchor="ctr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Relative Gain</a:t>
                      </a:r>
                    </a:p>
                  </a:txBody>
                  <a:tcPr anchor="ctr">
                    <a:solidFill>
                      <a:srgbClr val="1B2A4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100">
                          <a:latin typeface="Calibri"/>
                        </a:defRPr>
                      </a:pPr>
                      <a:r>
                        <a:t>1 (baseline)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Calibri"/>
                        </a:defRPr>
                      </a:pPr>
                      <a:r>
                        <a:t>0.732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Calibri"/>
                        </a:defRPr>
                      </a:pPr>
                      <a:r>
                        <a:t>0.789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 anchor="ctr"/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100">
                          <a:latin typeface="Calibri"/>
                        </a:defRPr>
                      </a:pPr>
                      <a:r>
                        <a:t>2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Calibri"/>
                        </a:defRPr>
                      </a:pPr>
                      <a:r>
                        <a:t>0.756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Calibri"/>
                        </a:defRPr>
                      </a:pPr>
                      <a:r>
                        <a:t>0.810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Calibri"/>
                        </a:defRPr>
                      </a:pPr>
                      <a:r>
                        <a:t>+2.7%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100">
                          <a:latin typeface="Calibri"/>
                        </a:defRPr>
                      </a:pPr>
                      <a:r>
                        <a:t>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Calibri"/>
                        </a:defRPr>
                      </a:pPr>
                      <a:r>
                        <a:t>0.778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Calibri"/>
                        </a:defRPr>
                      </a:pPr>
                      <a:r>
                        <a:t>0.831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Calibri"/>
                        </a:defRPr>
                      </a:pPr>
                      <a:r>
                        <a:t>+5.3%</a:t>
                      </a:r>
                    </a:p>
                  </a:txBody>
                  <a:tcPr anchor="ctr"/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100">
                          <a:latin typeface="Calibri"/>
                        </a:defRPr>
                      </a:pPr>
                      <a:r>
                        <a:t>8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Calibri"/>
                        </a:defRPr>
                      </a:pPr>
                      <a:r>
                        <a:t>0.793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Calibri"/>
                        </a:defRPr>
                      </a:pPr>
                      <a:r>
                        <a:t>0.844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Calibri"/>
                        </a:defRPr>
                      </a:pPr>
                      <a:r>
                        <a:t>+7.0%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100">
                          <a:latin typeface="Calibri"/>
                        </a:defRPr>
                      </a:pPr>
                      <a:r>
                        <a:t>16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Calibri"/>
                        </a:defRPr>
                      </a:pPr>
                      <a:r>
                        <a:t>0.806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Calibri"/>
                        </a:defRPr>
                      </a:pPr>
                      <a:r>
                        <a:t>0.852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Calibri"/>
                        </a:defRPr>
                      </a:pPr>
                      <a:r>
                        <a:t>+10.1%</a:t>
                      </a:r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583680" y="4114800"/>
            <a:ext cx="53035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000000"/>
                </a:solidFill>
                <a:latin typeface="Calibri"/>
              </a:defRPr>
            </a:pPr>
            <a:r>
              <a:t>Diminishing returns: Going from K=1 to K=16 only gains 10.1%.</a:t>
            </a:r>
          </a:p>
          <a:p>
            <a:pPr>
              <a:spcAft>
                <a:spcPts val="800"/>
              </a:spcAft>
              <a:defRPr sz="1100">
                <a:solidFill>
                  <a:srgbClr val="000000"/>
                </a:solidFill>
                <a:latin typeface="Calibri"/>
              </a:defRPr>
            </a:pPr>
            <a:r>
              <a:t>The policy's natural diversity is limited — most candidates cluster</a:t>
            </a:r>
          </a:p>
          <a:p>
            <a:pPr>
              <a:spcAft>
                <a:spcPts val="800"/>
              </a:spcAft>
              <a:defRPr sz="1100">
                <a:solidFill>
                  <a:srgbClr val="000000"/>
                </a:solidFill>
                <a:latin typeface="Calibri"/>
              </a:defRPr>
            </a:pPr>
            <a:r>
              <a:t>around similar arc magnitudes for the same observation.</a:t>
            </a:r>
          </a:p>
          <a:p>
            <a:pPr>
              <a:spcAft>
                <a:spcPts val="800"/>
              </a:spcAft>
              <a:defRPr sz="1100">
                <a:solidFill>
                  <a:srgbClr val="000000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1100">
                <a:solidFill>
                  <a:srgbClr val="000000"/>
                </a:solidFill>
                <a:latin typeface="Calibri"/>
              </a:defRPr>
            </a:pPr>
            <a:r>
              <a:t>Arc diversity analysis (100 rollouts): mean_entropy=0.284,</a:t>
            </a:r>
          </a:p>
          <a:p>
            <a:pPr>
              <a:spcAft>
                <a:spcPts val="800"/>
              </a:spcAft>
              <a:defRPr sz="1100">
                <a:solidFill>
                  <a:srgbClr val="000000"/>
                </a:solidFill>
                <a:latin typeface="Calibri"/>
              </a:defRPr>
            </a:pPr>
            <a:r>
              <a:t>87% failure rate, only 13% picked either block reliably.</a:t>
            </a:r>
          </a:p>
          <a:p>
            <a:pPr>
              <a:spcAft>
                <a:spcPts val="800"/>
              </a:spcAft>
              <a:defRPr sz="1100">
                <a:solidFill>
                  <a:srgbClr val="000000"/>
                </a:solidFill>
                <a:latin typeface="Calibri"/>
              </a:defRPr>
            </a:pPr>
            <a:r>
              <a:t>The policy collapsed to producing similar trajectories.</a:t>
            </a:r>
          </a:p>
          <a:p>
            <a:pPr>
              <a:spcAft>
                <a:spcPts val="800"/>
              </a:spcAft>
              <a:defRPr sz="1100">
                <a:solidFill>
                  <a:srgbClr val="000000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1100">
                <a:solidFill>
                  <a:srgbClr val="000000"/>
                </a:solidFill>
                <a:latin typeface="Calibri"/>
              </a:defRPr>
            </a:pPr>
            <a:r>
              <a:t>This showed that post-hoc reranking has a ceiling.</a:t>
            </a:r>
          </a:p>
          <a:p>
            <a:pPr>
              <a:spcAft>
                <a:spcPts val="800"/>
              </a:spcAft>
              <a:defRPr sz="1100">
                <a:solidFill>
                  <a:srgbClr val="000000"/>
                </a:solidFill>
                <a:latin typeface="Calibri"/>
              </a:defRPr>
            </a:pPr>
            <a:r>
              <a:t>For larger legibility gains, we need to modify the</a:t>
            </a:r>
          </a:p>
          <a:p>
            <a:pPr>
              <a:spcAft>
                <a:spcPts val="800"/>
              </a:spcAft>
              <a:defRPr sz="1100">
                <a:solidFill>
                  <a:srgbClr val="000000"/>
                </a:solidFill>
                <a:latin typeface="Calibri"/>
              </a:defRPr>
            </a:pPr>
            <a:r>
              <a:t>generation process itself → LegDiff.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Decision 10: LegDiff — Classifier-Free Guidance for Legibility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9436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DBEAFE"/>
                </a:solidFill>
                <a:latin typeface="Calibri"/>
              </a:defRPr>
            </a:pPr>
            <a:r>
              <a:t>Goal-conditioned diffusion policy with null-goal dropout (p_uncond=0.15)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058400" y="182880"/>
            <a:ext cx="1828800" cy="640080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1B2A4A"/>
                </a:solidFill>
                <a:latin typeface="Calibri"/>
              </a:defRPr>
            </a:pPr>
            <a:r>
              <a:t>Phase 10</a:t>
            </a:r>
            <a:br/>
            <a:r>
              <a:t>Mar 30–31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188720"/>
            <a:ext cx="594360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>
                <a:solidFill>
                  <a:srgbClr val="000000"/>
                </a:solidFill>
                <a:latin typeface="Calibri"/>
              </a:defRPr>
            </a:pPr>
            <a:r>
              <a:t>Architecture: GoalCondDiffusionPolicy</a:t>
            </a:r>
          </a:p>
          <a:p>
            <a:pPr>
              <a:spcAft>
                <a:spcPts val="800"/>
              </a:spcAft>
              <a:defRPr sz="1200">
                <a:solidFill>
                  <a:srgbClr val="000000"/>
                </a:solidFill>
                <a:latin typeface="Calibri"/>
              </a:defRPr>
            </a:pPr>
            <a:r>
              <a:t>  • Same UNet Conv1d backbone as baseline</a:t>
            </a:r>
          </a:p>
          <a:p>
            <a:pPr>
              <a:spcAft>
                <a:spcPts val="800"/>
              </a:spcAft>
              <a:defRPr sz="1200">
                <a:solidFill>
                  <a:srgbClr val="000000"/>
                </a:solidFill>
                <a:latin typeface="Calibri"/>
              </a:defRPr>
            </a:pPr>
            <a:r>
              <a:t>  • Added: Goal embedding (3 tokens: left/right/null)</a:t>
            </a:r>
          </a:p>
          <a:p>
            <a:pPr>
              <a:spcAft>
                <a:spcPts val="800"/>
              </a:spcAft>
              <a:defRPr sz="1200">
                <a:solidFill>
                  <a:srgbClr val="000000"/>
                </a:solidFill>
                <a:latin typeface="Calibri"/>
              </a:defRPr>
            </a:pPr>
            <a:r>
              <a:t>  • During training: 15% of batches use null goal (dropout)</a:t>
            </a:r>
          </a:p>
          <a:p>
            <a:pPr>
              <a:spcAft>
                <a:spcPts val="800"/>
              </a:spcAft>
              <a:defRPr sz="1200">
                <a:solidFill>
                  <a:srgbClr val="000000"/>
                </a:solidFill>
                <a:latin typeface="Calibri"/>
              </a:defRPr>
            </a:pPr>
            <a:r>
              <a:t>  • At inference: CFG formula steers toward specified goal:</a:t>
            </a:r>
          </a:p>
          <a:p>
            <a:pPr>
              <a:spcAft>
                <a:spcPts val="800"/>
              </a:spcAft>
              <a:defRPr sz="1200">
                <a:solidFill>
                  <a:srgbClr val="000000"/>
                </a:solidFill>
                <a:latin typeface="Calibri"/>
              </a:defRPr>
            </a:pPr>
            <a:r>
              <a:t>    ε̃ = ε_uncond + w · (ε_cond − ε_uncond)</a:t>
            </a:r>
          </a:p>
          <a:p>
            <a:pPr>
              <a:spcAft>
                <a:spcPts val="800"/>
              </a:spcAft>
              <a:defRPr sz="1200">
                <a:solidFill>
                  <a:srgbClr val="000000"/>
                </a:solidFill>
                <a:latin typeface="Calibri"/>
              </a:defRPr>
            </a:pPr>
            <a:r>
              <a:t>    where w = 3.0 (guidance scale)</a:t>
            </a:r>
          </a:p>
          <a:p>
            <a:pPr>
              <a:spcAft>
                <a:spcPts val="800"/>
              </a:spcAft>
              <a:defRPr sz="1200">
                <a:solidFill>
                  <a:srgbClr val="000000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1200">
                <a:solidFill>
                  <a:srgbClr val="000000"/>
                </a:solidFill>
                <a:latin typeface="Calibri"/>
              </a:defRPr>
            </a:pPr>
            <a:r>
              <a:t>Training details:</a:t>
            </a:r>
          </a:p>
          <a:p>
            <a:pPr>
              <a:spcAft>
                <a:spcPts val="800"/>
              </a:spcAft>
              <a:defRPr sz="1200">
                <a:solidFill>
                  <a:srgbClr val="000000"/>
                </a:solidFill>
                <a:latin typeface="Calibri"/>
              </a:defRPr>
            </a:pPr>
            <a:r>
              <a:t>  • 150 epochs, batch_size=256, lr=1e-4</a:t>
            </a:r>
          </a:p>
          <a:p>
            <a:pPr>
              <a:spcAft>
                <a:spcPts val="800"/>
              </a:spcAft>
              <a:defRPr sz="1200">
                <a:solidFill>
                  <a:srgbClr val="000000"/>
                </a:solidFill>
                <a:latin typeface="Calibri"/>
              </a:defRPr>
            </a:pPr>
            <a:r>
              <a:t>  • Mirror augmentation (doubles dataset, flips goal labels)</a:t>
            </a:r>
          </a:p>
          <a:p>
            <a:pPr>
              <a:spcAft>
                <a:spcPts val="800"/>
              </a:spcAft>
              <a:defRPr sz="1200">
                <a:solidFill>
                  <a:srgbClr val="000000"/>
                </a:solidFill>
                <a:latin typeface="Calibri"/>
              </a:defRPr>
            </a:pPr>
            <a:r>
              <a:t>  • Weighted sampling (priority on early timesteps t &lt; 10%)</a:t>
            </a:r>
          </a:p>
          <a:p>
            <a:pPr>
              <a:spcAft>
                <a:spcPts val="800"/>
              </a:spcAft>
              <a:defRPr sz="1200">
                <a:solidFill>
                  <a:srgbClr val="000000"/>
                </a:solidFill>
                <a:latin typeface="Calibri"/>
              </a:defRPr>
            </a:pPr>
            <a:r>
              <a:t>  • Loss: 0.047 → 0.0018 (96.3% reduction over 100 epochs)</a:t>
            </a:r>
          </a:p>
          <a:p>
            <a:pPr>
              <a:spcAft>
                <a:spcPts val="800"/>
              </a:spcAft>
              <a:defRPr sz="1200">
                <a:solidFill>
                  <a:srgbClr val="000000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1200">
                <a:solidFill>
                  <a:srgbClr val="000000"/>
                </a:solidFill>
                <a:latin typeface="Calibri"/>
              </a:defRPr>
            </a:pPr>
            <a:r>
              <a:t>Key reference: Bronars et al. (RA-L 2024)</a:t>
            </a:r>
          </a:p>
          <a:p>
            <a:pPr>
              <a:spcAft>
                <a:spcPts val="800"/>
              </a:spcAft>
              <a:defRPr sz="1200">
                <a:solidFill>
                  <a:srgbClr val="000000"/>
                </a:solidFill>
                <a:latin typeface="Calibri"/>
              </a:defRPr>
            </a:pPr>
            <a:r>
              <a:t>  'Legibility Diffuser: Offline Imitation for</a:t>
            </a:r>
          </a:p>
          <a:p>
            <a:pPr>
              <a:spcAft>
                <a:spcPts val="800"/>
              </a:spcAft>
              <a:defRPr sz="1200">
                <a:solidFill>
                  <a:srgbClr val="000000"/>
                </a:solidFill>
                <a:latin typeface="Calibri"/>
              </a:defRPr>
            </a:pPr>
            <a:r>
              <a:t>   Intent-Expressive Motion'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0" y="1188720"/>
            <a:ext cx="530352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6B7280"/>
                </a:solidFill>
                <a:latin typeface="Calibri"/>
              </a:defRPr>
            </a:pPr>
            <a:r>
              <a:t>Model Structure:</a:t>
            </a:r>
          </a:p>
          <a:p>
            <a:pPr>
              <a:spcAft>
                <a:spcPts val="800"/>
              </a:spcAft>
              <a:defRPr sz="1100">
                <a:solidFill>
                  <a:srgbClr val="6B7280"/>
                </a:solidFill>
                <a:latin typeface="Calibri"/>
              </a:defRPr>
            </a:pPr>
            <a:r>
              <a:t>  Time: Sinusoidal(128) → Linear(256)</a:t>
            </a:r>
          </a:p>
          <a:p>
            <a:pPr>
              <a:spcAft>
                <a:spcPts val="800"/>
              </a:spcAft>
              <a:defRPr sz="1100">
                <a:solidFill>
                  <a:srgbClr val="6B7280"/>
                </a:solidFill>
                <a:latin typeface="Calibri"/>
              </a:defRPr>
            </a:pPr>
            <a:r>
              <a:t>  Obs:  Linear(22 → 256)</a:t>
            </a:r>
          </a:p>
          <a:p>
            <a:pPr>
              <a:spcAft>
                <a:spcPts val="800"/>
              </a:spcAft>
              <a:defRPr sz="1100">
                <a:solidFill>
                  <a:srgbClr val="6B7280"/>
                </a:solidFill>
                <a:latin typeface="Calibri"/>
              </a:defRPr>
            </a:pPr>
            <a:r>
              <a:t>  Goal: Embedding(3 → 256)</a:t>
            </a:r>
          </a:p>
          <a:p>
            <a:pPr>
              <a:spcAft>
                <a:spcPts val="800"/>
              </a:spcAft>
              <a:defRPr sz="1100">
                <a:solidFill>
                  <a:srgbClr val="6B7280"/>
                </a:solidFill>
                <a:latin typeface="Calibri"/>
              </a:defRPr>
            </a:pPr>
            <a:r>
              <a:t>  Input: Conv1d(5 → 256)</a:t>
            </a:r>
          </a:p>
          <a:p>
            <a:pPr>
              <a:spcAft>
                <a:spcPts val="800"/>
              </a:spcAft>
              <a:defRPr sz="1100">
                <a:solidFill>
                  <a:srgbClr val="6B7280"/>
                </a:solidFill>
                <a:latin typeface="Calibri"/>
              </a:defRPr>
            </a:pPr>
            <a:r>
              <a:t>  Encoder: ResBlock(256→256) → ResBlock(256→512)</a:t>
            </a:r>
          </a:p>
          <a:p>
            <a:pPr>
              <a:spcAft>
                <a:spcPts val="800"/>
              </a:spcAft>
              <a:defRPr sz="1100">
                <a:solidFill>
                  <a:srgbClr val="6B7280"/>
                </a:solidFill>
                <a:latin typeface="Calibri"/>
              </a:defRPr>
            </a:pPr>
            <a:r>
              <a:t>  Bottleneck: ResBlock(512→512)</a:t>
            </a:r>
          </a:p>
          <a:p>
            <a:pPr>
              <a:spcAft>
                <a:spcPts val="800"/>
              </a:spcAft>
              <a:defRPr sz="1100">
                <a:solidFill>
                  <a:srgbClr val="6B7280"/>
                </a:solidFill>
                <a:latin typeface="Calibri"/>
              </a:defRPr>
            </a:pPr>
            <a:r>
              <a:t>  Decoder: ResBlock(1024→512) → ResBlock(512→256)</a:t>
            </a:r>
          </a:p>
          <a:p>
            <a:pPr>
              <a:spcAft>
                <a:spcPts val="800"/>
              </a:spcAft>
              <a:defRPr sz="1100">
                <a:solidFill>
                  <a:srgbClr val="6B7280"/>
                </a:solidFill>
                <a:latin typeface="Calibri"/>
              </a:defRPr>
            </a:pPr>
            <a:r>
              <a:t>  Output: Conv1d(256 → 5)</a:t>
            </a:r>
          </a:p>
          <a:p>
            <a:pPr>
              <a:spcAft>
                <a:spcPts val="800"/>
              </a:spcAft>
              <a:defRPr sz="1100">
                <a:solidFill>
                  <a:srgbClr val="6B7280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1100">
                <a:solidFill>
                  <a:srgbClr val="6B7280"/>
                </a:solidFill>
                <a:latin typeface="Calibri"/>
              </a:defRPr>
            </a:pPr>
            <a:r>
              <a:t>Checkpoint: 34 MB (vs 101 MB baseline)</a:t>
            </a:r>
          </a:p>
          <a:p>
            <a:pPr>
              <a:spcAft>
                <a:spcPts val="800"/>
              </a:spcAft>
              <a:defRPr sz="1100">
                <a:solidFill>
                  <a:srgbClr val="6B7280"/>
                </a:solidFill>
                <a:latin typeface="Calibri"/>
              </a:defRPr>
            </a:pPr>
            <a:r>
              <a:t>Smaller because no EMA weights saved.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772400" y="4389120"/>
          <a:ext cx="320040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0200"/>
                <a:gridCol w="1600200"/>
              </a:tblGrid>
              <a:tr h="402336"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Epoch</a:t>
                      </a:r>
                    </a:p>
                  </a:txBody>
                  <a:tcPr anchor="ctr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Loss</a:t>
                      </a:r>
                    </a:p>
                  </a:txBody>
                  <a:tcPr anchor="ctr">
                    <a:solidFill>
                      <a:srgbClr val="1B2A4A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>
                        <a:defRPr sz="1100">
                          <a:latin typeface="Calibri"/>
                        </a:defRPr>
                      </a:pPr>
                      <a:r>
                        <a:t>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Calibri"/>
                        </a:defRPr>
                      </a:pPr>
                      <a:r>
                        <a:t>0.0469</a:t>
                      </a:r>
                    </a:p>
                  </a:txBody>
                  <a:tcPr anchor="ctr"/>
                </a:tc>
              </a:tr>
              <a:tr h="402336">
                <a:tc>
                  <a:txBody>
                    <a:bodyPr/>
                    <a:lstStyle/>
                    <a:p>
                      <a:pPr algn="ctr">
                        <a:defRPr sz="1100">
                          <a:latin typeface="Calibri"/>
                        </a:defRPr>
                      </a:pPr>
                      <a:r>
                        <a:t>10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Calibri"/>
                        </a:defRPr>
                      </a:pPr>
                      <a:r>
                        <a:t>0.0075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>
                        <a:defRPr sz="1100">
                          <a:latin typeface="Calibri"/>
                        </a:defRPr>
                      </a:pPr>
                      <a:r>
                        <a:t>50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Calibri"/>
                        </a:defRPr>
                      </a:pPr>
                      <a:r>
                        <a:t>0.0027</a:t>
                      </a:r>
                    </a:p>
                  </a:txBody>
                  <a:tcPr anchor="ctr"/>
                </a:tc>
              </a:tr>
              <a:tr h="402336">
                <a:tc>
                  <a:txBody>
                    <a:bodyPr/>
                    <a:lstStyle/>
                    <a:p>
                      <a:pPr algn="ctr">
                        <a:defRPr sz="1100">
                          <a:latin typeface="Calibri"/>
                        </a:defRPr>
                      </a:pPr>
                      <a:r>
                        <a:t>100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Calibri"/>
                        </a:defRPr>
                      </a:pPr>
                      <a:r>
                        <a:t>0.0018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Result: LegDiff — 100% Success + High Legibility, No Trade-off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9436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DBEAFE"/>
                </a:solidFill>
                <a:latin typeface="Calibri"/>
              </a:defRPr>
            </a:pPr>
            <a:r>
              <a:t>20 episodes (CFG only) + 10 episodes (CFG + VLM K=3)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058400" y="182880"/>
            <a:ext cx="1828800" cy="640080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1B2A4A"/>
                </a:solidFill>
                <a:latin typeface="Calibri"/>
              </a:defRPr>
            </a:pPr>
            <a:r>
              <a:t>Phase 10</a:t>
            </a:r>
            <a:br/>
            <a:r>
              <a:t>Mar 31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188720"/>
          <a:ext cx="1124712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4520"/>
                <a:gridCol w="1874520"/>
                <a:gridCol w="1874520"/>
                <a:gridCol w="1874520"/>
                <a:gridCol w="1874520"/>
                <a:gridCol w="1874520"/>
              </a:tblGrid>
              <a:tr h="502920"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Method</a:t>
                      </a:r>
                    </a:p>
                  </a:txBody>
                  <a:tcPr anchor="ctr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Episodes</a:t>
                      </a:r>
                    </a:p>
                  </a:txBody>
                  <a:tcPr anchor="ctr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Success</a:t>
                      </a:r>
                    </a:p>
                  </a:txBody>
                  <a:tcPr anchor="ctr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L_early (mean)</a:t>
                      </a:r>
                    </a:p>
                  </a:txBody>
                  <a:tcPr anchor="ctr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L_early (std)</a:t>
                      </a:r>
                    </a:p>
                  </a:txBody>
                  <a:tcPr anchor="ctr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Goal Match</a:t>
                      </a:r>
                    </a:p>
                  </a:txBody>
                  <a:tcPr anchor="ctr">
                    <a:solidFill>
                      <a:srgbClr val="1B2A4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latin typeface="Calibri"/>
                        </a:defRPr>
                      </a:pPr>
                      <a:r>
                        <a:t>Baseline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Calibri"/>
                        </a:defRPr>
                      </a:pPr>
                      <a:r>
                        <a:t>20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Calibri"/>
                        </a:defRPr>
                      </a:pPr>
                      <a:r>
                        <a:t>100%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Calibri"/>
                        </a:defRPr>
                      </a:pPr>
                      <a:r>
                        <a:t>0.919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Calibri"/>
                        </a:defRPr>
                      </a:pPr>
                      <a:r>
                        <a:t>±0.029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 anchor="ctr"/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latin typeface="Calibri"/>
                        </a:defRPr>
                      </a:pPr>
                      <a:r>
                        <a:t>LegDiff CFG w=3.0</a:t>
                      </a:r>
                    </a:p>
                  </a:txBody>
                  <a:tcPr anchor="ctr"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Calibri"/>
                        </a:defRPr>
                      </a:pPr>
                      <a:r>
                        <a:t>20</a:t>
                      </a:r>
                    </a:p>
                  </a:txBody>
                  <a:tcPr anchor="ctr"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Calibri"/>
                        </a:defRPr>
                      </a:pPr>
                      <a:r>
                        <a:t>100%</a:t>
                      </a:r>
                    </a:p>
                  </a:txBody>
                  <a:tcPr anchor="ctr"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Calibri"/>
                        </a:defRPr>
                      </a:pPr>
                      <a:r>
                        <a:t>0.935</a:t>
                      </a:r>
                    </a:p>
                  </a:txBody>
                  <a:tcPr anchor="ctr"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Calibri"/>
                        </a:defRPr>
                      </a:pPr>
                      <a:r>
                        <a:t>±0.020</a:t>
                      </a:r>
                    </a:p>
                  </a:txBody>
                  <a:tcPr anchor="ctr"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Calibri"/>
                        </a:defRPr>
                      </a:pPr>
                      <a:r>
                        <a:t>100%</a:t>
                      </a:r>
                    </a:p>
                  </a:txBody>
                  <a:tcPr anchor="ctr">
                    <a:solidFill>
                      <a:srgbClr val="ECFDF5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latin typeface="Calibri"/>
                        </a:defRPr>
                      </a:pPr>
                      <a:r>
                        <a:t>LegDiff + VLM K=3</a:t>
                      </a:r>
                    </a:p>
                  </a:txBody>
                  <a:tcPr anchor="ctr"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Calibri"/>
                        </a:defRPr>
                      </a:pPr>
                      <a:r>
                        <a:t>10</a:t>
                      </a:r>
                    </a:p>
                  </a:txBody>
                  <a:tcPr anchor="ctr"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Calibri"/>
                        </a:defRPr>
                      </a:pPr>
                      <a:r>
                        <a:t>100%</a:t>
                      </a:r>
                    </a:p>
                  </a:txBody>
                  <a:tcPr anchor="ctr"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Calibri"/>
                        </a:defRPr>
                      </a:pPr>
                      <a:r>
                        <a:t>0.955</a:t>
                      </a:r>
                    </a:p>
                  </a:txBody>
                  <a:tcPr anchor="ctr"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Calibri"/>
                        </a:defRPr>
                      </a:pPr>
                      <a:r>
                        <a:t>±0.013</a:t>
                      </a:r>
                    </a:p>
                  </a:txBody>
                  <a:tcPr anchor="ctr"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Calibri"/>
                        </a:defRPr>
                      </a:pPr>
                      <a:r>
                        <a:t>100%</a:t>
                      </a:r>
                    </a:p>
                  </a:txBody>
                  <a:tcPr anchor="ctr">
                    <a:solidFill>
                      <a:srgbClr val="ECFDF5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365760" y="3474720"/>
            <a:ext cx="114300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>
                <a:solidFill>
                  <a:srgbClr val="000000"/>
                </a:solidFill>
                <a:latin typeface="Calibri"/>
              </a:defRPr>
            </a:pPr>
            <a:r>
              <a:t>LegDiff achieves the thesis goal: increased legibility without sacrificing success.</a:t>
            </a:r>
          </a:p>
          <a:p>
            <a:pPr>
              <a:spcAft>
                <a:spcPts val="800"/>
              </a:spcAft>
              <a:defRPr sz="1200">
                <a:solidFill>
                  <a:srgbClr val="000000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1200">
                <a:solidFill>
                  <a:srgbClr val="000000"/>
                </a:solidFill>
                <a:latin typeface="Calibri"/>
              </a:defRPr>
            </a:pPr>
            <a:r>
              <a:t>Comparison to previous best results:</a:t>
            </a:r>
          </a:p>
          <a:p>
            <a:pPr>
              <a:spcAft>
                <a:spcPts val="800"/>
              </a:spcAft>
              <a:defRPr sz="1200">
                <a:solidFill>
                  <a:srgbClr val="000000"/>
                </a:solidFill>
                <a:latin typeface="Calibri"/>
              </a:defRPr>
            </a:pPr>
            <a:r>
              <a:t>  • Online VLM Best-of-K: 70% success, 0.946 VLM legibility — big success drop</a:t>
            </a:r>
          </a:p>
          <a:p>
            <a:pPr>
              <a:spcAft>
                <a:spcPts val="800"/>
              </a:spcAft>
              <a:defRPr sz="1200">
                <a:solidFill>
                  <a:srgbClr val="000000"/>
                </a:solidFill>
                <a:latin typeface="Calibri"/>
              </a:defRPr>
            </a:pPr>
            <a:r>
              <a:t>  • Proxy scorer: 98% success, 100% steering accuracy — good but needs simulator</a:t>
            </a:r>
          </a:p>
          <a:p>
            <a:pPr>
              <a:spcAft>
                <a:spcPts val="800"/>
              </a:spcAft>
              <a:defRPr sz="1200">
                <a:solidFill>
                  <a:srgbClr val="000000"/>
                </a:solidFill>
                <a:latin typeface="Calibri"/>
              </a:defRPr>
            </a:pPr>
            <a:r>
              <a:t>  • LegDiff CFG: 100% success, L_early=0.935 — no trade-off, no simulator needed</a:t>
            </a:r>
          </a:p>
          <a:p>
            <a:pPr>
              <a:spcAft>
                <a:spcPts val="800"/>
              </a:spcAft>
              <a:defRPr sz="1200">
                <a:solidFill>
                  <a:srgbClr val="000000"/>
                </a:solidFill>
                <a:latin typeface="Calibri"/>
              </a:defRPr>
            </a:pPr>
            <a:r>
              <a:t>  • LegDiff + VLM: 100% success, L_early=0.955 — best of all methods</a:t>
            </a:r>
          </a:p>
          <a:p>
            <a:pPr>
              <a:spcAft>
                <a:spcPts val="800"/>
              </a:spcAft>
              <a:defRPr sz="1200">
                <a:solidFill>
                  <a:srgbClr val="000000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1200">
                <a:solidFill>
                  <a:srgbClr val="000000"/>
                </a:solidFill>
                <a:latin typeface="Calibri"/>
              </a:defRPr>
            </a:pPr>
            <a:r>
              <a:t>Why LegDiff resolves the trade-off:</a:t>
            </a:r>
          </a:p>
          <a:p>
            <a:pPr>
              <a:spcAft>
                <a:spcPts val="800"/>
              </a:spcAft>
              <a:defRPr sz="1200">
                <a:solidFill>
                  <a:srgbClr val="000000"/>
                </a:solidFill>
                <a:latin typeface="Calibri"/>
              </a:defRPr>
            </a:pPr>
            <a:r>
              <a:t>  The policy was TRAINED to produce goal-directed legible trajectories.</a:t>
            </a:r>
          </a:p>
          <a:p>
            <a:pPr>
              <a:spcAft>
                <a:spcPts val="800"/>
              </a:spcAft>
              <a:defRPr sz="1200">
                <a:solidFill>
                  <a:srgbClr val="000000"/>
                </a:solidFill>
                <a:latin typeface="Calibri"/>
              </a:defRPr>
            </a:pPr>
            <a:r>
              <a:t>  CFG amplifies the goal signal during denoising, pushing the trajectory</a:t>
            </a:r>
          </a:p>
          <a:p>
            <a:pPr>
              <a:spcAft>
                <a:spcPts val="800"/>
              </a:spcAft>
              <a:defRPr sz="1200">
                <a:solidFill>
                  <a:srgbClr val="000000"/>
                </a:solidFill>
                <a:latin typeface="Calibri"/>
              </a:defRPr>
            </a:pPr>
            <a:r>
              <a:t>  toward one that clearly reveals the intended goal. Because this is baked</a:t>
            </a:r>
          </a:p>
          <a:p>
            <a:pPr>
              <a:spcAft>
                <a:spcPts val="800"/>
              </a:spcAft>
              <a:defRPr sz="1200">
                <a:solidFill>
                  <a:srgbClr val="000000"/>
                </a:solidFill>
                <a:latin typeface="Calibri"/>
              </a:defRPr>
            </a:pPr>
            <a:r>
              <a:t>  into the sampling process, there is no separate selection step that</a:t>
            </a:r>
          </a:p>
          <a:p>
            <a:pPr>
              <a:spcAft>
                <a:spcPts val="800"/>
              </a:spcAft>
              <a:defRPr sz="1200">
                <a:solidFill>
                  <a:srgbClr val="000000"/>
                </a:solidFill>
                <a:latin typeface="Calibri"/>
              </a:defRPr>
            </a:pPr>
            <a:r>
              <a:t>  might pick task-risky candidates.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Complete Results: Every Method Compared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1097280"/>
          <a:ext cx="1161288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35480"/>
                <a:gridCol w="1935480"/>
                <a:gridCol w="1935480"/>
                <a:gridCol w="1935480"/>
                <a:gridCol w="1935480"/>
                <a:gridCol w="1935480"/>
              </a:tblGrid>
              <a:tr h="457200"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#</a:t>
                      </a:r>
                    </a:p>
                  </a:txBody>
                  <a:tcPr anchor="ctr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Method</a:t>
                      </a:r>
                    </a:p>
                  </a:txBody>
                  <a:tcPr anchor="ctr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Date</a:t>
                      </a:r>
                    </a:p>
                  </a:txBody>
                  <a:tcPr anchor="ctr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Success</a:t>
                      </a:r>
                    </a:p>
                  </a:txBody>
                  <a:tcPr anchor="ctr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Legibility</a:t>
                      </a:r>
                    </a:p>
                  </a:txBody>
                  <a:tcPr anchor="ctr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Key Finding</a:t>
                      </a:r>
                    </a:p>
                  </a:txBody>
                  <a:tcPr anchor="ctr">
                    <a:solidFill>
                      <a:srgbClr val="1B2A4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100">
                          <a:latin typeface="Calibri"/>
                        </a:defRPr>
                      </a:pPr>
                      <a:r>
                        <a:t>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Calibri"/>
                        </a:defRPr>
                      </a:pPr>
                      <a:r>
                        <a:t>Base diffusion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Calibri"/>
                        </a:defRPr>
                      </a:pPr>
                      <a:r>
                        <a:t>Feb 22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Calibri"/>
                        </a:defRPr>
                      </a:pPr>
                      <a:r>
                        <a:t>84–96%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Calibri"/>
                        </a:defRPr>
                      </a:pPr>
                      <a:r>
                        <a:t>Working policy after 4 bug fixes</a:t>
                      </a:r>
                    </a:p>
                  </a:txBody>
                  <a:tcPr anchor="ctr"/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100">
                          <a:latin typeface="Calibri"/>
                        </a:defRPr>
                      </a:pPr>
                      <a:r>
                        <a:t>2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Calibri"/>
                        </a:defRPr>
                      </a:pPr>
                      <a:r>
                        <a:t>VLM K=3 (online)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Calibri"/>
                        </a:defRPr>
                      </a:pPr>
                      <a:r>
                        <a:t>Feb 26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Calibri"/>
                        </a:defRPr>
                      </a:pPr>
                      <a:r>
                        <a:t>100% (n=5)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Calibri"/>
                        </a:defRPr>
                      </a:pPr>
                      <a:r>
                        <a:t>0.750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Calibri"/>
                        </a:defRPr>
                      </a:pPr>
                      <a:r>
                        <a:t>Proof of concept, expensive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100">
                          <a:latin typeface="Calibri"/>
                        </a:defRPr>
                      </a:pPr>
                      <a:r>
                        <a:t>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Calibri"/>
                        </a:defRPr>
                      </a:pPr>
                      <a:r>
                        <a:t>VLM v1 evaluator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Calibri"/>
                        </a:defRPr>
                      </a:pPr>
                      <a:r>
                        <a:t>Feb 26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Calibri"/>
                        </a:defRPr>
                      </a:pPr>
                      <a:r>
                        <a:t>45% acc.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Calibri"/>
                        </a:defRPr>
                      </a:pPr>
                      <a:r>
                        <a:t>Random chance — 5 bugs</a:t>
                      </a:r>
                    </a:p>
                  </a:txBody>
                  <a:tcPr anchor="ctr"/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100">
                          <a:latin typeface="Calibri"/>
                        </a:defRPr>
                      </a:pPr>
                      <a:r>
                        <a:t>4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Calibri"/>
                        </a:defRPr>
                      </a:pPr>
                      <a:r>
                        <a:t>VLM v2 evaluator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Calibri"/>
                        </a:defRPr>
                      </a:pPr>
                      <a:r>
                        <a:t>Feb 28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Calibri"/>
                        </a:defRPr>
                      </a:pPr>
                      <a:r>
                        <a:t>97.5% acc.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Calibri"/>
                        </a:defRPr>
                      </a:pPr>
                      <a:r>
                        <a:t>0.919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Calibri"/>
                        </a:defRPr>
                      </a:pPr>
                      <a:r>
                        <a:t>Grounding fix resolved it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100">
                          <a:latin typeface="Calibri"/>
                        </a:defRPr>
                      </a:pPr>
                      <a:r>
                        <a:t>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Calibri"/>
                        </a:defRPr>
                      </a:pPr>
                      <a:r>
                        <a:t>Paired replan (4)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Calibri"/>
                        </a:defRPr>
                      </a:pPr>
                      <a:r>
                        <a:t>Feb 28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Calibri"/>
                        </a:defRPr>
                      </a:pPr>
                      <a:r>
                        <a:t>100%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Calibri"/>
                        </a:defRPr>
                      </a:pPr>
                      <a:r>
                        <a:t>0.948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Calibri"/>
                        </a:defRPr>
                      </a:pPr>
                      <a:r>
                        <a:t>+69.4% arc, same block</a:t>
                      </a:r>
                    </a:p>
                  </a:txBody>
                  <a:tcPr anchor="ctr"/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100">
                          <a:latin typeface="Calibri"/>
                        </a:defRPr>
                      </a:pPr>
                      <a:r>
                        <a:t>6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Calibri"/>
                        </a:defRPr>
                      </a:pPr>
                      <a:r>
                        <a:t>Proxy scorer (50)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Calibri"/>
                        </a:defRPr>
                      </a:pPr>
                      <a:r>
                        <a:t>Mar 1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Calibri"/>
                        </a:defRPr>
                      </a:pPr>
                      <a:r>
                        <a:t>98%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Calibri"/>
                        </a:defRPr>
                      </a:pPr>
                      <a:r>
                        <a:t>100% steer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Calibri"/>
                        </a:defRPr>
                      </a:pPr>
                      <a:r>
                        <a:t>Geom features, &lt;1ms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100">
                          <a:latin typeface="Calibri"/>
                        </a:defRPr>
                      </a:pPr>
                      <a:r>
                        <a:t>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Calibri"/>
                        </a:defRPr>
                      </a:pPr>
                      <a:r>
                        <a:t>Best-of-16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Calibri"/>
                        </a:defRPr>
                      </a:pPr>
                      <a:r>
                        <a:t>Mar 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Calibri"/>
                        </a:defRPr>
                      </a:pPr>
                      <a:r>
                        <a:t>0.852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Calibri"/>
                        </a:defRPr>
                      </a:pPr>
                      <a:r>
                        <a:t>+10.1% — ceiling on diversity</a:t>
                      </a:r>
                    </a:p>
                  </a:txBody>
                  <a:tcPr anchor="ctr"/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100">
                          <a:latin typeface="Calibri"/>
                        </a:defRPr>
                      </a:pPr>
                      <a:r>
                        <a:t>8</a:t>
                      </a:r>
                    </a:p>
                  </a:txBody>
                  <a:tcPr anchor="ctr"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Calibri"/>
                        </a:defRPr>
                      </a:pPr>
                      <a:r>
                        <a:t>LegDiff CFG (20)</a:t>
                      </a:r>
                    </a:p>
                  </a:txBody>
                  <a:tcPr anchor="ctr"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Calibri"/>
                        </a:defRPr>
                      </a:pPr>
                      <a:r>
                        <a:t>Mar 31</a:t>
                      </a:r>
                    </a:p>
                  </a:txBody>
                  <a:tcPr anchor="ctr"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Calibri"/>
                        </a:defRPr>
                      </a:pPr>
                      <a:r>
                        <a:t>100%</a:t>
                      </a:r>
                    </a:p>
                  </a:txBody>
                  <a:tcPr anchor="ctr"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Calibri"/>
                        </a:defRPr>
                      </a:pPr>
                      <a:r>
                        <a:t>0.935</a:t>
                      </a:r>
                    </a:p>
                  </a:txBody>
                  <a:tcPr anchor="ctr"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Calibri"/>
                        </a:defRPr>
                      </a:pPr>
                      <a:r>
                        <a:t>No trade-off!</a:t>
                      </a:r>
                    </a:p>
                  </a:txBody>
                  <a:tcPr anchor="ctr">
                    <a:solidFill>
                      <a:srgbClr val="ECFDF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100">
                          <a:latin typeface="Calibri"/>
                        </a:defRPr>
                      </a:pPr>
                      <a:r>
                        <a:t>9</a:t>
                      </a:r>
                    </a:p>
                  </a:txBody>
                  <a:tcPr anchor="ctr"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Calibri"/>
                        </a:defRPr>
                      </a:pPr>
                      <a:r>
                        <a:t>LegDiff+VLM (10)</a:t>
                      </a:r>
                    </a:p>
                  </a:txBody>
                  <a:tcPr anchor="ctr"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Calibri"/>
                        </a:defRPr>
                      </a:pPr>
                      <a:r>
                        <a:t>Mar 31</a:t>
                      </a:r>
                    </a:p>
                  </a:txBody>
                  <a:tcPr anchor="ctr"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Calibri"/>
                        </a:defRPr>
                      </a:pPr>
                      <a:r>
                        <a:t>100%</a:t>
                      </a:r>
                    </a:p>
                  </a:txBody>
                  <a:tcPr anchor="ctr"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Calibri"/>
                        </a:defRPr>
                      </a:pPr>
                      <a:r>
                        <a:t>0.955</a:t>
                      </a:r>
                    </a:p>
                  </a:txBody>
                  <a:tcPr anchor="ctr"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Calibri"/>
                        </a:defRPr>
                      </a:pPr>
                      <a:r>
                        <a:t>Best overall</a:t>
                      </a:r>
                    </a:p>
                  </a:txBody>
                  <a:tcPr anchor="ctr">
                    <a:solidFill>
                      <a:srgbClr val="ECFDF5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365760" y="594360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66B52"/>
                </a:solidFill>
                <a:latin typeface="Calibri"/>
              </a:defRPr>
            </a:pPr>
            <a:r>
              <a:t>Evolution of the approach: Online VLM → VLM evaluator fix → paired replanning → proxy scorer → diversity ceiling hit → LegDiff resolves the trade-off.</a:t>
            </a:r>
          </a:p>
        </p:txBody>
      </p:sp>
      <p:pic>
        <p:nvPicPr>
          <p:cNvPr id="6" name="Picture 5" descr="fig5_final_resul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12781280" cy="478536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Decision Flow: Why Each Step Led to the Next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097280"/>
            <a:ext cx="11430000" cy="5669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00">
                <a:solidFill>
                  <a:srgbClr val="000000"/>
                </a:solidFill>
                <a:latin typeface="Calibri"/>
              </a:defRPr>
            </a:pPr>
            <a:r>
              <a:t>1. Architecture search (Feb 8–13): 7 failed runs → UNet Conv1d works</a:t>
            </a:r>
          </a:p>
          <a:p>
            <a:pPr>
              <a:spcAft>
                <a:spcPts val="200"/>
              </a:spcAft>
              <a:defRPr sz="1100">
                <a:solidFill>
                  <a:srgbClr val="000000"/>
                </a:solidFill>
                <a:latin typeface="Calibri"/>
              </a:defRPr>
            </a:pPr>
            <a:r>
              <a:t>   WHY: Small MLPs can't represent 400-demo multimodal distribution</a:t>
            </a:r>
          </a:p>
          <a:p>
            <a:pPr>
              <a:spcAft>
                <a:spcPts val="200"/>
              </a:spcAft>
              <a:defRPr sz="1100">
                <a:solidFill>
                  <a:srgbClr val="000000"/>
                </a:solidFill>
                <a:latin typeface="Calibri"/>
              </a:defRPr>
            </a:pPr>
          </a:p>
          <a:p>
            <a:pPr>
              <a:spcAft>
                <a:spcPts val="200"/>
              </a:spcAft>
              <a:defRPr sz="1100">
                <a:solidFill>
                  <a:srgbClr val="000000"/>
                </a:solidFill>
                <a:latin typeface="Calibri"/>
              </a:defRPr>
            </a:pPr>
            <a:r>
              <a:t>2. execute_steps fix (Feb 16): 0% → 50% success</a:t>
            </a:r>
          </a:p>
          <a:p>
            <a:pPr>
              <a:spcAft>
                <a:spcPts val="200"/>
              </a:spcAft>
              <a:defRPr sz="1100">
                <a:solidFill>
                  <a:srgbClr val="000000"/>
                </a:solidFill>
                <a:latin typeface="Calibri"/>
              </a:defRPr>
            </a:pPr>
            <a:r>
              <a:t>   WHY: Training temporal structure must match eval</a:t>
            </a:r>
          </a:p>
          <a:p>
            <a:pPr>
              <a:spcAft>
                <a:spcPts val="200"/>
              </a:spcAft>
              <a:defRPr sz="1100">
                <a:solidFill>
                  <a:srgbClr val="000000"/>
                </a:solidFill>
                <a:latin typeface="Calibri"/>
              </a:defRPr>
            </a:pPr>
          </a:p>
          <a:p>
            <a:pPr>
              <a:spcAft>
                <a:spcPts val="200"/>
              </a:spcAft>
              <a:defRPr sz="1100">
                <a:solidFill>
                  <a:srgbClr val="000000"/>
                </a:solidFill>
                <a:latin typeface="Calibri"/>
              </a:defRPr>
            </a:pPr>
            <a:r>
              <a:t>3. Horizon revert (Feb 17): 0–8% → 14% success</a:t>
            </a:r>
          </a:p>
          <a:p>
            <a:pPr>
              <a:spcAft>
                <a:spcPts val="200"/>
              </a:spcAft>
              <a:defRPr sz="1100">
                <a:solidFill>
                  <a:srgbClr val="000000"/>
                </a:solidFill>
                <a:latin typeface="Calibri"/>
              </a:defRPr>
            </a:pPr>
            <a:r>
              <a:t>   WHY: Changed 3 hyperparams at once, couldn't isolate cause</a:t>
            </a:r>
          </a:p>
          <a:p>
            <a:pPr>
              <a:spcAft>
                <a:spcPts val="200"/>
              </a:spcAft>
              <a:defRPr sz="1100">
                <a:solidFill>
                  <a:srgbClr val="000000"/>
                </a:solidFill>
                <a:latin typeface="Calibri"/>
              </a:defRPr>
            </a:pPr>
          </a:p>
          <a:p>
            <a:pPr>
              <a:spcAft>
                <a:spcPts val="200"/>
              </a:spcAft>
              <a:defRPr sz="1100">
                <a:solidFill>
                  <a:srgbClr val="000000"/>
                </a:solidFill>
                <a:latin typeface="Calibri"/>
              </a:defRPr>
            </a:pPr>
            <a:r>
              <a:t>4. Diffusion bug fixes (Feb 22): 14% → 84–96% success</a:t>
            </a:r>
          </a:p>
          <a:p>
            <a:pPr>
              <a:spcAft>
                <a:spcPts val="200"/>
              </a:spcAft>
              <a:defRPr sz="1100">
                <a:solidFill>
                  <a:srgbClr val="000000"/>
                </a:solidFill>
                <a:latin typeface="Calibri"/>
              </a:defRPr>
            </a:pPr>
            <a:r>
              <a:t>   WHY: tanh on noise, wrong norm, no EMA, bad beta schedule</a:t>
            </a:r>
          </a:p>
          <a:p>
            <a:pPr>
              <a:spcAft>
                <a:spcPts val="200"/>
              </a:spcAft>
              <a:defRPr sz="1100">
                <a:solidFill>
                  <a:srgbClr val="000000"/>
                </a:solidFill>
                <a:latin typeface="Calibri"/>
              </a:defRPr>
            </a:pPr>
          </a:p>
          <a:p>
            <a:pPr>
              <a:spcAft>
                <a:spcPts val="200"/>
              </a:spcAft>
              <a:defRPr sz="1100">
                <a:solidFill>
                  <a:srgbClr val="000000"/>
                </a:solidFill>
                <a:latin typeface="Calibri"/>
              </a:defRPr>
            </a:pPr>
            <a:r>
              <a:t>5. VLM steering (Feb 24): Works but expensive (∼5s/call)</a:t>
            </a:r>
          </a:p>
          <a:p>
            <a:pPr>
              <a:spcAft>
                <a:spcPts val="200"/>
              </a:spcAft>
              <a:defRPr sz="1100">
                <a:solidFill>
                  <a:srgbClr val="000000"/>
                </a:solidFill>
                <a:latin typeface="Calibri"/>
              </a:defRPr>
            </a:pPr>
            <a:r>
              <a:t>   WHY: VLM is non-differentiable, so reranking is the only option</a:t>
            </a:r>
          </a:p>
          <a:p>
            <a:pPr>
              <a:spcAft>
                <a:spcPts val="200"/>
              </a:spcAft>
              <a:defRPr sz="1100">
                <a:solidFill>
                  <a:srgbClr val="000000"/>
                </a:solidFill>
                <a:latin typeface="Calibri"/>
              </a:defRPr>
            </a:pPr>
          </a:p>
          <a:p>
            <a:pPr>
              <a:spcAft>
                <a:spcPts val="200"/>
              </a:spcAft>
              <a:defRPr sz="1100">
                <a:solidFill>
                  <a:srgbClr val="000000"/>
                </a:solidFill>
                <a:latin typeface="Calibri"/>
              </a:defRPr>
            </a:pPr>
            <a:r>
              <a:t>6. VLM evaluator fix (Feb 28): 45% → 97.5% accuracy</a:t>
            </a:r>
          </a:p>
          <a:p>
            <a:pPr>
              <a:spcAft>
                <a:spcPts val="200"/>
              </a:spcAft>
              <a:defRPr sz="1100">
                <a:solidFill>
                  <a:srgbClr val="000000"/>
                </a:solidFill>
                <a:latin typeface="Calibri"/>
              </a:defRPr>
            </a:pPr>
            <a:r>
              <a:t>   WHY: Camera yaw=135° reverses image, needed visual anchoring</a:t>
            </a:r>
          </a:p>
          <a:p>
            <a:pPr>
              <a:spcAft>
                <a:spcPts val="200"/>
              </a:spcAft>
              <a:defRPr sz="1100">
                <a:solidFill>
                  <a:srgbClr val="000000"/>
                </a:solidFill>
                <a:latin typeface="Calibri"/>
              </a:defRPr>
            </a:pPr>
          </a:p>
          <a:p>
            <a:pPr>
              <a:spcAft>
                <a:spcPts val="200"/>
              </a:spcAft>
              <a:defRPr sz="1100">
                <a:solidFill>
                  <a:srgbClr val="000000"/>
                </a:solidFill>
                <a:latin typeface="Calibri"/>
              </a:defRPr>
            </a:pPr>
            <a:r>
              <a:t>7. Paired replanning (Feb 28): +69.4% arc, 0.948 legibility</a:t>
            </a:r>
          </a:p>
          <a:p>
            <a:pPr>
              <a:spcAft>
                <a:spcPts val="200"/>
              </a:spcAft>
              <a:defRPr sz="1100">
                <a:solidFill>
                  <a:srgbClr val="000000"/>
                </a:solidFill>
                <a:latin typeface="Calibri"/>
              </a:defRPr>
            </a:pPr>
            <a:r>
              <a:t>   WHY: Validated steering preserves task while improving legibility</a:t>
            </a:r>
          </a:p>
          <a:p>
            <a:pPr>
              <a:spcAft>
                <a:spcPts val="200"/>
              </a:spcAft>
              <a:defRPr sz="1100">
                <a:solidFill>
                  <a:srgbClr val="000000"/>
                </a:solidFill>
                <a:latin typeface="Calibri"/>
              </a:defRPr>
            </a:pPr>
          </a:p>
          <a:p>
            <a:pPr>
              <a:spcAft>
                <a:spcPts val="200"/>
              </a:spcAft>
              <a:defRPr sz="1100">
                <a:solidFill>
                  <a:srgbClr val="000000"/>
                </a:solidFill>
                <a:latin typeface="Calibri"/>
              </a:defRPr>
            </a:pPr>
            <a:r>
              <a:t>8. Diversity ceiling (Mar 9): Best-of-16 gains only +10.1%</a:t>
            </a:r>
          </a:p>
          <a:p>
            <a:pPr>
              <a:spcAft>
                <a:spcPts val="200"/>
              </a:spcAft>
              <a:defRPr sz="1100">
                <a:solidFill>
                  <a:srgbClr val="000000"/>
                </a:solidFill>
                <a:latin typeface="Calibri"/>
              </a:defRPr>
            </a:pPr>
            <a:r>
              <a:t>   WHY: Policy naturally clusters around similar arcs</a:t>
            </a:r>
          </a:p>
          <a:p>
            <a:pPr>
              <a:spcAft>
                <a:spcPts val="200"/>
              </a:spcAft>
              <a:defRPr sz="1100">
                <a:solidFill>
                  <a:srgbClr val="000000"/>
                </a:solidFill>
                <a:latin typeface="Calibri"/>
              </a:defRPr>
            </a:pPr>
          </a:p>
          <a:p>
            <a:pPr>
              <a:spcAft>
                <a:spcPts val="200"/>
              </a:spcAft>
              <a:defRPr sz="1100">
                <a:solidFill>
                  <a:srgbClr val="000000"/>
                </a:solidFill>
                <a:latin typeface="Calibri"/>
              </a:defRPr>
            </a:pPr>
            <a:r>
              <a:t>9. LegDiff CFG (Mar 30–31): 100% success, 0.935 legibility</a:t>
            </a:r>
          </a:p>
          <a:p>
            <a:pPr>
              <a:spcAft>
                <a:spcPts val="200"/>
              </a:spcAft>
              <a:defRPr sz="1100">
                <a:solidFill>
                  <a:srgbClr val="000000"/>
                </a:solidFill>
                <a:latin typeface="Calibri"/>
              </a:defRPr>
            </a:pPr>
            <a:r>
              <a:t>   WHY: Trains goal-awareness into the model → no reranking needed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Project Timeline: Feb 8 – Mar 31, 2026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1097280"/>
          <a:ext cx="1161288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03220"/>
                <a:gridCol w="2903220"/>
                <a:gridCol w="2903220"/>
                <a:gridCol w="2903220"/>
              </a:tblGrid>
              <a:tr h="457200"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Phase</a:t>
                      </a:r>
                    </a:p>
                  </a:txBody>
                  <a:tcPr anchor="ctr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Dates</a:t>
                      </a:r>
                    </a:p>
                  </a:txBody>
                  <a:tcPr anchor="ctr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Work Done</a:t>
                      </a:r>
                    </a:p>
                  </a:txBody>
                  <a:tcPr anchor="ctr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Key Outcome</a:t>
                      </a:r>
                    </a:p>
                  </a:txBody>
                  <a:tcPr anchor="ctr">
                    <a:solidFill>
                      <a:srgbClr val="1B2A4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100">
                          <a:latin typeface="Calibri"/>
                        </a:defRPr>
                      </a:pPr>
                      <a:r>
                        <a:t>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Calibri"/>
                        </a:defRPr>
                      </a:pPr>
                      <a:r>
                        <a:t>Feb 8–13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Calibri"/>
                        </a:defRPr>
                      </a:pPr>
                      <a:r>
                        <a:t>Demo collection + architecture search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Calibri"/>
                        </a:defRPr>
                      </a:pPr>
                      <a:r>
                        <a:t>400 demos, UNet Conv1d selected</a:t>
                      </a:r>
                    </a:p>
                  </a:txBody>
                  <a:tcPr anchor="ctr"/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100">
                          <a:latin typeface="Calibri"/>
                        </a:defRPr>
                      </a:pPr>
                      <a:r>
                        <a:t>2</a:t>
                      </a:r>
                    </a:p>
                  </a:txBody>
                  <a:tcPr anchor="ctr"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Calibri"/>
                        </a:defRPr>
                      </a:pPr>
                      <a:r>
                        <a:t>Feb 13–16</a:t>
                      </a:r>
                    </a:p>
                  </a:txBody>
                  <a:tcPr anchor="ctr"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Calibri"/>
                        </a:defRPr>
                      </a:pPr>
                      <a:r>
                        <a:t>Action collapse debugging</a:t>
                      </a:r>
                    </a:p>
                  </a:txBody>
                  <a:tcPr anchor="ctr"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Calibri"/>
                        </a:defRPr>
                      </a:pPr>
                      <a:r>
                        <a:t>execute_steps=8 fix, 0→50%</a:t>
                      </a:r>
                    </a:p>
                  </a:txBody>
                  <a:tcPr anchor="ctr">
                    <a:solidFill>
                      <a:srgbClr val="FEE2E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100">
                          <a:latin typeface="Calibri"/>
                        </a:defRPr>
                      </a:pPr>
                      <a:r>
                        <a:t>3</a:t>
                      </a:r>
                    </a:p>
                  </a:txBody>
                  <a:tcPr anchor="ctr"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Calibri"/>
                        </a:defRPr>
                      </a:pPr>
                      <a:r>
                        <a:t>Feb 16–17</a:t>
                      </a:r>
                    </a:p>
                  </a:txBody>
                  <a:tcPr anchor="ctr"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Calibri"/>
                        </a:defRPr>
                      </a:pPr>
                      <a:r>
                        <a:t>Horizon mismatch</a:t>
                      </a:r>
                    </a:p>
                  </a:txBody>
                  <a:tcPr anchor="ctr"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Calibri"/>
                        </a:defRPr>
                      </a:pPr>
                      <a:r>
                        <a:t>Reverted H=32, n=8</a:t>
                      </a:r>
                    </a:p>
                  </a:txBody>
                  <a:tcPr anchor="ctr">
                    <a:solidFill>
                      <a:srgbClr val="FEE2E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100">
                          <a:latin typeface="Calibri"/>
                        </a:defRPr>
                      </a:pPr>
                      <a:r>
                        <a:t>4</a:t>
                      </a:r>
                    </a:p>
                  </a:txBody>
                  <a:tcPr anchor="ctr"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Calibri"/>
                        </a:defRPr>
                      </a:pPr>
                      <a:r>
                        <a:t>Feb 17–22</a:t>
                      </a:r>
                    </a:p>
                  </a:txBody>
                  <a:tcPr anchor="ctr"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Calibri"/>
                        </a:defRPr>
                      </a:pPr>
                      <a:r>
                        <a:t>DDIM + diffusion fixes</a:t>
                      </a:r>
                    </a:p>
                  </a:txBody>
                  <a:tcPr anchor="ctr"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Calibri"/>
                        </a:defRPr>
                      </a:pPr>
                      <a:r>
                        <a:t>4 bugs fixed, 84–96% success</a:t>
                      </a:r>
                    </a:p>
                  </a:txBody>
                  <a:tcPr anchor="ctr">
                    <a:solidFill>
                      <a:srgbClr val="FEE2E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100">
                          <a:latin typeface="Calibri"/>
                        </a:defRPr>
                      </a:pPr>
                      <a:r>
                        <a:t>5</a:t>
                      </a:r>
                    </a:p>
                  </a:txBody>
                  <a:tcPr anchor="ctr"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Calibri"/>
                        </a:defRPr>
                      </a:pPr>
                      <a:r>
                        <a:t>Feb 22–24</a:t>
                      </a:r>
                    </a:p>
                  </a:txBody>
                  <a:tcPr anchor="ctr"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Calibri"/>
                        </a:defRPr>
                      </a:pPr>
                      <a:r>
                        <a:t>VLM steering implementation</a:t>
                      </a:r>
                    </a:p>
                  </a:txBody>
                  <a:tcPr anchor="ctr"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Calibri"/>
                        </a:defRPr>
                      </a:pPr>
                      <a:r>
                        <a:t>Best-of-K, Gemini integration</a:t>
                      </a:r>
                    </a:p>
                  </a:txBody>
                  <a:tcPr anchor="ctr">
                    <a:solidFill>
                      <a:srgbClr val="ECFDF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100">
                          <a:latin typeface="Calibri"/>
                        </a:defRPr>
                      </a:pPr>
                      <a:r>
                        <a:t>6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Calibri"/>
                        </a:defRPr>
                      </a:pPr>
                      <a:r>
                        <a:t>Feb 24–26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Calibri"/>
                        </a:defRPr>
                      </a:pPr>
                      <a:r>
                        <a:t>VLM evaluator V1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Calibri"/>
                        </a:defRPr>
                      </a:pPr>
                      <a:r>
                        <a:t>45% accuracy, 5 bugs found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100">
                          <a:latin typeface="Calibri"/>
                        </a:defRPr>
                      </a:pPr>
                      <a:r>
                        <a:t>7</a:t>
                      </a:r>
                    </a:p>
                  </a:txBody>
                  <a:tcPr anchor="ctr"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Calibri"/>
                        </a:defRPr>
                      </a:pPr>
                      <a:r>
                        <a:t>Feb 26–28</a:t>
                      </a:r>
                    </a:p>
                  </a:txBody>
                  <a:tcPr anchor="ctr"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Calibri"/>
                        </a:defRPr>
                      </a:pPr>
                      <a:r>
                        <a:t>VLM V2 + debug marathon</a:t>
                      </a:r>
                    </a:p>
                  </a:txBody>
                  <a:tcPr anchor="ctr"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Calibri"/>
                        </a:defRPr>
                      </a:pPr>
                      <a:r>
                        <a:t>97.5% accuracy, 23 debug runs</a:t>
                      </a:r>
                    </a:p>
                  </a:txBody>
                  <a:tcPr anchor="ctr">
                    <a:solidFill>
                      <a:srgbClr val="FEE2E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100">
                          <a:latin typeface="Calibri"/>
                        </a:defRPr>
                      </a:pPr>
                      <a:r>
                        <a:t>8</a:t>
                      </a:r>
                    </a:p>
                  </a:txBody>
                  <a:tcPr anchor="ctr"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Calibri"/>
                        </a:defRPr>
                      </a:pPr>
                      <a:r>
                        <a:t>Feb 28–Mar 9</a:t>
                      </a:r>
                    </a:p>
                  </a:txBody>
                  <a:tcPr anchor="ctr"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Calibri"/>
                        </a:defRPr>
                      </a:pPr>
                      <a:r>
                        <a:t>Paired replanning + proxy scorer</a:t>
                      </a:r>
                    </a:p>
                  </a:txBody>
                  <a:tcPr anchor="ctr"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Calibri"/>
                        </a:defRPr>
                      </a:pPr>
                      <a:r>
                        <a:t>+69.4% arc, 98% success</a:t>
                      </a:r>
                    </a:p>
                  </a:txBody>
                  <a:tcPr anchor="ctr">
                    <a:solidFill>
                      <a:srgbClr val="ECFDF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100">
                          <a:latin typeface="Calibri"/>
                        </a:defRPr>
                      </a:pPr>
                      <a:r>
                        <a:t>9</a:t>
                      </a:r>
                    </a:p>
                  </a:txBody>
                  <a:tcPr anchor="ctr"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Calibri"/>
                        </a:defRPr>
                      </a:pPr>
                      <a:r>
                        <a:t>Mar 9</a:t>
                      </a:r>
                    </a:p>
                  </a:txBody>
                  <a:tcPr anchor="ctr"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Calibri"/>
                        </a:defRPr>
                      </a:pPr>
                      <a:r>
                        <a:t>Best-of-K analysis</a:t>
                      </a:r>
                    </a:p>
                  </a:txBody>
                  <a:tcPr anchor="ctr"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Calibri"/>
                        </a:defRPr>
                      </a:pPr>
                      <a:r>
                        <a:t>Diversity ceiling at +10.1%</a:t>
                      </a:r>
                    </a:p>
                  </a:txBody>
                  <a:tcPr anchor="ctr">
                    <a:solidFill>
                      <a:srgbClr val="ECFDF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100">
                          <a:latin typeface="Calibri"/>
                        </a:defRPr>
                      </a:pPr>
                      <a:r>
                        <a:t>10</a:t>
                      </a:r>
                    </a:p>
                  </a:txBody>
                  <a:tcPr anchor="ctr"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Calibri"/>
                        </a:defRPr>
                      </a:pPr>
                      <a:r>
                        <a:t>Mar 30–31</a:t>
                      </a:r>
                    </a:p>
                  </a:txBody>
                  <a:tcPr anchor="ctr"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Calibri"/>
                        </a:defRPr>
                      </a:pPr>
                      <a:r>
                        <a:t>LegDiff CFG training + eval</a:t>
                      </a:r>
                    </a:p>
                  </a:txBody>
                  <a:tcPr anchor="ctr"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Calibri"/>
                        </a:defRPr>
                      </a:pPr>
                      <a:r>
                        <a:t>100% success, L=0.935</a:t>
                      </a:r>
                    </a:p>
                  </a:txBody>
                  <a:tcPr anchor="ctr">
                    <a:solidFill>
                      <a:srgbClr val="ECFDF5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365760" y="630936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B7280"/>
                </a:solidFill>
                <a:latin typeface="Calibri"/>
              </a:defRPr>
            </a:pPr>
            <a:r>
              <a:t>Red = debugging phases  |  Green = implementation &amp; results phases  |  Total: 12 training runs, 30+ VLM debug runs, 67 experiment directories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Honest Assessment: Limitations &amp; Open Questions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188720"/>
            <a:ext cx="1143000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>
                <a:solidFill>
                  <a:srgbClr val="000000"/>
                </a:solidFill>
                <a:latin typeface="Calibri"/>
              </a:defRPr>
            </a:pPr>
            <a:r>
              <a:t>1. Small evaluation scale: LegDiff tested on 20+10 episodes.</a:t>
            </a:r>
            <a:br/>
            <a:r>
              <a:t>   Larger-scale evaluation (100+ episodes) needed for confidence.</a:t>
            </a:r>
          </a:p>
          <a:p>
            <a:pPr>
              <a:spcAft>
                <a:spcPts val="800"/>
              </a:spcAft>
              <a:defRPr sz="1300">
                <a:solidFill>
                  <a:srgbClr val="000000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1300">
                <a:solidFill>
                  <a:srgbClr val="000000"/>
                </a:solidFill>
                <a:latin typeface="Calibri"/>
              </a:defRPr>
            </a:pPr>
            <a:r>
              <a:t>2. Single environment: TwoBlockPick with two identical blocks.</a:t>
            </a:r>
            <a:br/>
            <a:r>
              <a:t>   Generalisation to different objects, more goals, longer</a:t>
            </a:r>
            <a:br/>
            <a:r>
              <a:t>   horizons, or real robot hardware is not yet shown.</a:t>
            </a:r>
          </a:p>
          <a:p>
            <a:pPr>
              <a:spcAft>
                <a:spcPts val="800"/>
              </a:spcAft>
              <a:defRPr sz="1300">
                <a:solidFill>
                  <a:srgbClr val="000000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1300">
                <a:solidFill>
                  <a:srgbClr val="000000"/>
                </a:solidFill>
                <a:latin typeface="Calibri"/>
              </a:defRPr>
            </a:pPr>
            <a:r>
              <a:t>3. Legibility metric is geometric (arc displacement), not</a:t>
            </a:r>
            <a:br/>
            <a:r>
              <a:t>   human-validated. Human studies needed to confirm that</a:t>
            </a:r>
            <a:br/>
            <a:r>
              <a:t>   arced trajectories are actually perceived as more legible.</a:t>
            </a:r>
          </a:p>
          <a:p>
            <a:pPr>
              <a:spcAft>
                <a:spcPts val="800"/>
              </a:spcAft>
              <a:defRPr sz="1300">
                <a:solidFill>
                  <a:srgbClr val="000000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1300">
                <a:solidFill>
                  <a:srgbClr val="000000"/>
                </a:solidFill>
                <a:latin typeface="Calibri"/>
              </a:defRPr>
            </a:pPr>
            <a:r>
              <a:t>4. VLM calls are expensive (∼5s each). The LegDiff approach</a:t>
            </a:r>
            <a:br/>
            <a:r>
              <a:t>   avoids runtime VLM, but training requires goal labels which</a:t>
            </a:r>
            <a:br/>
            <a:r>
              <a:t>   were derived from the demo structure (left/right block).</a:t>
            </a:r>
          </a:p>
          <a:p>
            <a:pPr>
              <a:spcAft>
                <a:spcPts val="800"/>
              </a:spcAft>
              <a:defRPr sz="1300">
                <a:solidFill>
                  <a:srgbClr val="000000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1300">
                <a:solidFill>
                  <a:srgbClr val="000000"/>
                </a:solidFill>
                <a:latin typeface="Calibri"/>
              </a:defRPr>
            </a:pPr>
            <a:r>
              <a:t>5. No real-robot experiments. All results are in PyBullet</a:t>
            </a:r>
            <a:br/>
            <a:r>
              <a:t>   simulation. Sim-to-real transfer is an open question.</a:t>
            </a:r>
          </a:p>
          <a:p>
            <a:pPr>
              <a:spcAft>
                <a:spcPts val="800"/>
              </a:spcAft>
              <a:defRPr sz="1300">
                <a:solidFill>
                  <a:srgbClr val="000000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1300">
                <a:solidFill>
                  <a:srgbClr val="000000"/>
                </a:solidFill>
                <a:latin typeface="Calibri"/>
              </a:defRPr>
            </a:pPr>
            <a:r>
              <a:t>6. CFG scale w=3.0 was chosen based on limited tuning.</a:t>
            </a:r>
            <a:br/>
            <a:r>
              <a:t>   A systematic sweep over w could improve results further.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What Further Work Is Expected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9436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DBEAFE"/>
                </a:solidFill>
                <a:latin typeface="Calibri"/>
              </a:defRPr>
            </a:pPr>
            <a:r>
              <a:t>Concrete next steps toward thesis completion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88720"/>
            <a:ext cx="1143000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>
                <a:solidFill>
                  <a:srgbClr val="000000"/>
                </a:solidFill>
                <a:latin typeface="Calibri"/>
              </a:defRPr>
            </a:pPr>
            <a:r>
              <a:t>1. Large-scale LegDiff evaluation (100+ episodes)</a:t>
            </a:r>
          </a:p>
          <a:p>
            <a:pPr>
              <a:spcAft>
                <a:spcPts val="800"/>
              </a:spcAft>
              <a:defRPr sz="1300">
                <a:solidFill>
                  <a:srgbClr val="000000"/>
                </a:solidFill>
                <a:latin typeface="Calibri"/>
              </a:defRPr>
            </a:pPr>
            <a:r>
              <a:t>   Establish statistically significant results with confidence intervals.</a:t>
            </a:r>
          </a:p>
          <a:p>
            <a:pPr>
              <a:spcAft>
                <a:spcPts val="800"/>
              </a:spcAft>
              <a:defRPr sz="1300">
                <a:solidFill>
                  <a:srgbClr val="000000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1300">
                <a:solidFill>
                  <a:srgbClr val="000000"/>
                </a:solidFill>
                <a:latin typeface="Calibri"/>
              </a:defRPr>
            </a:pPr>
            <a:r>
              <a:t>2. CFG scale sweep (w = 1.0, 2.0, 3.0, 5.0, 7.0)</a:t>
            </a:r>
          </a:p>
          <a:p>
            <a:pPr>
              <a:spcAft>
                <a:spcPts val="800"/>
              </a:spcAft>
              <a:defRPr sz="1300">
                <a:solidFill>
                  <a:srgbClr val="000000"/>
                </a:solidFill>
                <a:latin typeface="Calibri"/>
              </a:defRPr>
            </a:pPr>
            <a:r>
              <a:t>   Characterise the success–legibility Pareto frontier for LegDiff.</a:t>
            </a:r>
          </a:p>
          <a:p>
            <a:pPr>
              <a:spcAft>
                <a:spcPts val="800"/>
              </a:spcAft>
              <a:defRPr sz="1300">
                <a:solidFill>
                  <a:srgbClr val="000000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1300">
                <a:solidFill>
                  <a:srgbClr val="000000"/>
                </a:solidFill>
                <a:latin typeface="Calibri"/>
              </a:defRPr>
            </a:pPr>
            <a:r>
              <a:t>3. Human study</a:t>
            </a:r>
          </a:p>
          <a:p>
            <a:pPr>
              <a:spcAft>
                <a:spcPts val="800"/>
              </a:spcAft>
              <a:defRPr sz="1300">
                <a:solidFill>
                  <a:srgbClr val="000000"/>
                </a:solidFill>
                <a:latin typeface="Calibri"/>
              </a:defRPr>
            </a:pPr>
            <a:r>
              <a:t>   Show trajectory videos to participants; measure time-to-prediction</a:t>
            </a:r>
          </a:p>
          <a:p>
            <a:pPr>
              <a:spcAft>
                <a:spcPts val="800"/>
              </a:spcAft>
              <a:defRPr sz="1300">
                <a:solidFill>
                  <a:srgbClr val="000000"/>
                </a:solidFill>
                <a:latin typeface="Calibri"/>
              </a:defRPr>
            </a:pPr>
            <a:r>
              <a:t>   of the robot's goal. Validate that geometric arc ≈ perceptual legibility.</a:t>
            </a:r>
          </a:p>
          <a:p>
            <a:pPr>
              <a:spcAft>
                <a:spcPts val="800"/>
              </a:spcAft>
              <a:defRPr sz="1300">
                <a:solidFill>
                  <a:srgbClr val="000000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1300">
                <a:solidFill>
                  <a:srgbClr val="000000"/>
                </a:solidFill>
                <a:latin typeface="Calibri"/>
              </a:defRPr>
            </a:pPr>
            <a:r>
              <a:t>4. Additional environments / robot tasks</a:t>
            </a:r>
          </a:p>
          <a:p>
            <a:pPr>
              <a:spcAft>
                <a:spcPts val="800"/>
              </a:spcAft>
              <a:defRPr sz="1300">
                <a:solidFill>
                  <a:srgbClr val="000000"/>
                </a:solidFill>
                <a:latin typeface="Calibri"/>
              </a:defRPr>
            </a:pPr>
            <a:r>
              <a:t>   Test on 3+ objects, different workspaces, or longer-horizon tasks</a:t>
            </a:r>
          </a:p>
          <a:p>
            <a:pPr>
              <a:spcAft>
                <a:spcPts val="800"/>
              </a:spcAft>
              <a:defRPr sz="1300">
                <a:solidFill>
                  <a:srgbClr val="000000"/>
                </a:solidFill>
                <a:latin typeface="Calibri"/>
              </a:defRPr>
            </a:pPr>
            <a:r>
              <a:t>   to assess generality of the approach.</a:t>
            </a:r>
          </a:p>
          <a:p>
            <a:pPr>
              <a:spcAft>
                <a:spcPts val="800"/>
              </a:spcAft>
              <a:defRPr sz="1300">
                <a:solidFill>
                  <a:srgbClr val="000000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1300">
                <a:solidFill>
                  <a:srgbClr val="000000"/>
                </a:solidFill>
                <a:latin typeface="Calibri"/>
              </a:defRPr>
            </a:pPr>
            <a:r>
              <a:t>5. Sim-to-real transfer</a:t>
            </a:r>
          </a:p>
          <a:p>
            <a:pPr>
              <a:spcAft>
                <a:spcPts val="800"/>
              </a:spcAft>
              <a:defRPr sz="1300">
                <a:solidFill>
                  <a:srgbClr val="000000"/>
                </a:solidFill>
                <a:latin typeface="Calibri"/>
              </a:defRPr>
            </a:pPr>
            <a:r>
              <a:t>   Deploy on real Franka Panda (if available) or comparable hardware.</a:t>
            </a:r>
            <a:br/>
            <a:r>
              <a:t>   Verify VLM + LegDiff approach works outside simulation.</a:t>
            </a:r>
          </a:p>
          <a:p>
            <a:pPr>
              <a:spcAft>
                <a:spcPts val="800"/>
              </a:spcAft>
              <a:defRPr sz="1300">
                <a:solidFill>
                  <a:srgbClr val="000000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1300">
                <a:solidFill>
                  <a:srgbClr val="000000"/>
                </a:solidFill>
                <a:latin typeface="Calibri"/>
              </a:defRPr>
            </a:pPr>
            <a:r>
              <a:t>6. Thesis writing</a:t>
            </a:r>
          </a:p>
          <a:p>
            <a:pPr>
              <a:spcAft>
                <a:spcPts val="800"/>
              </a:spcAft>
              <a:defRPr sz="1300">
                <a:solidFill>
                  <a:srgbClr val="000000"/>
                </a:solidFill>
                <a:latin typeface="Calibri"/>
              </a:defRPr>
            </a:pPr>
            <a:r>
              <a:t>   Draft chapters: Background, Methodology, Experiments, Analysis.</a:t>
            </a:r>
          </a:p>
          <a:p>
            <a:pPr>
              <a:spcAft>
                <a:spcPts val="800"/>
              </a:spcAft>
              <a:defRPr sz="1300">
                <a:solidFill>
                  <a:srgbClr val="000000"/>
                </a:solidFill>
                <a:latin typeface="Calibri"/>
              </a:defRPr>
            </a:pPr>
            <a:r>
              <a:t>   All experimental infrastructure and results exist to support writing.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5720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Summary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0" y="1188720"/>
            <a:ext cx="4876495" cy="381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55448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400">
                <a:solidFill>
                  <a:srgbClr val="FFFFFF"/>
                </a:solidFill>
                <a:latin typeface="Calibri"/>
              </a:defRPr>
            </a:pPr>
            <a:r>
              <a:t>1.  Built a working diffusion policy for TwoBlockPick (84–96% success)</a:t>
            </a:r>
            <a:br/>
            <a:r>
              <a:t>     after fixing 4 critical bugs in the diffusion implementation.</a:t>
            </a:r>
          </a:p>
          <a:p>
            <a:pPr>
              <a:spcAft>
                <a:spcPts val="300"/>
              </a:spcAft>
              <a:defRPr sz="1400">
                <a:solidFill>
                  <a:srgbClr val="FFFFFF"/>
                </a:solidFill>
                <a:latin typeface="Calibri"/>
              </a:defRPr>
            </a:pPr>
          </a:p>
          <a:p>
            <a:pPr>
              <a:spcAft>
                <a:spcPts val="300"/>
              </a:spcAft>
              <a:defRPr sz="1400">
                <a:solidFill>
                  <a:srgbClr val="FFFFFF"/>
                </a:solidFill>
                <a:latin typeface="Calibri"/>
              </a:defRPr>
            </a:pPr>
            <a:r>
              <a:t>2.  Implemented VLM-based trajectory evaluation and steering,</a:t>
            </a:r>
            <a:br/>
            <a:r>
              <a:t>     fixing the evaluator from 45% → 97.5% accuracy along the way.</a:t>
            </a:r>
          </a:p>
          <a:p>
            <a:pPr>
              <a:spcAft>
                <a:spcPts val="300"/>
              </a:spcAft>
              <a:defRPr sz="1400">
                <a:solidFill>
                  <a:srgbClr val="FFFFFF"/>
                </a:solidFill>
                <a:latin typeface="Calibri"/>
              </a:defRPr>
            </a:pPr>
          </a:p>
          <a:p>
            <a:pPr>
              <a:spcAft>
                <a:spcPts val="300"/>
              </a:spcAft>
              <a:defRPr sz="1400">
                <a:solidFill>
                  <a:srgbClr val="FFFFFF"/>
                </a:solidFill>
                <a:latin typeface="Calibri"/>
              </a:defRPr>
            </a:pPr>
            <a:r>
              <a:t>3.  Demonstrated that Best-of-K VLM steering improves legibility (+57%)</a:t>
            </a:r>
            <a:br/>
            <a:r>
              <a:t>     but has a success–legibility trade-off (100% → 70% success).</a:t>
            </a:r>
          </a:p>
          <a:p>
            <a:pPr>
              <a:spcAft>
                <a:spcPts val="300"/>
              </a:spcAft>
              <a:defRPr sz="1400">
                <a:solidFill>
                  <a:srgbClr val="FFFFFF"/>
                </a:solidFill>
                <a:latin typeface="Calibri"/>
              </a:defRPr>
            </a:pPr>
          </a:p>
          <a:p>
            <a:pPr>
              <a:spcAft>
                <a:spcPts val="300"/>
              </a:spcAft>
              <a:defRPr sz="1400">
                <a:solidFill>
                  <a:srgbClr val="FFFFFF"/>
                </a:solidFill>
                <a:latin typeface="Calibri"/>
              </a:defRPr>
            </a:pPr>
            <a:r>
              <a:t>4.  Identified a diversity ceiling (best-of-16 gains only +10.1%),</a:t>
            </a:r>
            <a:br/>
            <a:r>
              <a:t>     motivating a fundamentally different approach.</a:t>
            </a:r>
          </a:p>
          <a:p>
            <a:pPr>
              <a:spcAft>
                <a:spcPts val="300"/>
              </a:spcAft>
              <a:defRPr sz="1400">
                <a:solidFill>
                  <a:srgbClr val="FFFFFF"/>
                </a:solidFill>
                <a:latin typeface="Calibri"/>
              </a:defRPr>
            </a:pPr>
          </a:p>
          <a:p>
            <a:pPr>
              <a:spcAft>
                <a:spcPts val="300"/>
              </a:spcAft>
              <a:defRPr sz="1400">
                <a:solidFill>
                  <a:srgbClr val="FFFFFF"/>
                </a:solidFill>
                <a:latin typeface="Calibri"/>
              </a:defRPr>
            </a:pPr>
            <a:r>
              <a:t>5.  LegDiff (Classifier-Free Guidance) resolves the trade-off:</a:t>
            </a:r>
            <a:br/>
            <a:r>
              <a:t>     100% success + L_early = 0.935 (CFG) / 0.955 (CFG + VLM).</a:t>
            </a:r>
            <a:br/>
            <a:r>
              <a:t>     No runtime VLM needed, no simulator needed, no success drop.</a:t>
            </a:r>
          </a:p>
          <a:p>
            <a:pPr>
              <a:spcAft>
                <a:spcPts val="300"/>
              </a:spcAft>
              <a:defRPr sz="1400">
                <a:solidFill>
                  <a:srgbClr val="FFFFFF"/>
                </a:solidFill>
                <a:latin typeface="Calibri"/>
              </a:defRPr>
            </a:pPr>
          </a:p>
          <a:p>
            <a:pPr>
              <a:spcAft>
                <a:spcPts val="300"/>
              </a:spcAft>
              <a:defRPr sz="1400">
                <a:solidFill>
                  <a:srgbClr val="FFFFFF"/>
                </a:solidFill>
                <a:latin typeface="Calibri"/>
              </a:defRPr>
            </a:pPr>
            <a:r>
              <a:t>6.  Complete experimental pipeline built: 67 run directories,</a:t>
            </a:r>
            <a:br/>
            <a:r>
              <a:t>     13 JSON result files, 16 publication-ready figures, CLI tooling.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