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72" r:id="rId10"/>
    <p:sldId id="279" r:id="rId11"/>
    <p:sldId id="271" r:id="rId12"/>
    <p:sldId id="277" r:id="rId13"/>
    <p:sldId id="270" r:id="rId14"/>
    <p:sldId id="269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1.png"/><Relationship Id="rId5" Type="http://schemas.microsoft.com/office/2007/relationships/media" Target="../media/media3.mp4"/><Relationship Id="rId10" Type="http://schemas.openxmlformats.org/officeDocument/2006/relationships/image" Target="../media/image2.pn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VLM-Steered Legibility in</a:t>
            </a:r>
            <a:br/>
            <a:r>
              <a:t>Diffusion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BEAFE"/>
                </a:solidFill>
                <a:latin typeface="Calibri"/>
              </a:defRPr>
            </a:pPr>
            <a:r>
              <a:t>Inference-Time Steering of Robot Trajectories</a:t>
            </a:r>
            <a:br/>
            <a:r>
              <a:t>for Legible Motion via Vision-Language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931920"/>
            <a:ext cx="48764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  <a:latin typeface="Calibri"/>
              </a:defRPr>
            </a:pPr>
            <a:r>
              <a:t>TwoBlockPick Environment  •  Diffusion Policy  •  Gemini 2.5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rPr lang="en-US" dirty="0"/>
              <a:t>Anudeep sai </a:t>
            </a:r>
            <a:r>
              <a:rPr lang="en-US" dirty="0" err="1"/>
              <a:t>gottapu</a:t>
            </a:r>
            <a:r>
              <a:rPr lang="en-US" dirty="0"/>
              <a:t> </a:t>
            </a:r>
            <a:r>
              <a:rPr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Problem: Legibility in Robot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Legibility: A trajectory is legible if an observer can predict the robot's goal (which block it will pick) early in the motion.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Direct (straight-line) trajectories are ambiguous — the observer cannot distinguish which block is the target until the robot is very close.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Curved (arcing) trajectories reveal intent earlier — the lateral sweep direction indicates the target block.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Challenge: Diffusion policies learn from demonstrations and tend to produce mostly straight trajectories (58% in arc class 00–04).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Goal: Steer the diffusion policy at inference time to produce more legible (curved) trajectories without retraining the model.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TwoBlockPick environment: table, two coloured blocks, Franka Panda arm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Environment: TwoBlockPick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Franka Panda  •  Two coloured blocks  •  Tabletop pick-and-place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6576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Straight (arc 00)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280160"/>
            <a:ext cx="36576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2336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Moderate arc (arc 10)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280160"/>
            <a:ext cx="36576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Strong arc (arc 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Observation: 22-dim (EE pose 7D + block positions 6D + gripper 2D + joint positions 7D)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Action: 5-dim (Δx, Δy, Δz, Δyaw, gripper)  •  Scale: 0.05 m/step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Camera: yaw=135°, pitch=−30°, distance=0.9 m  •  Resolution: 640×480 @ 30 Hz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Blocks at y = ±0.07 m  •  Episode length: 400 steps (13.3 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Trajectory Arc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Bézier-based demonstrations with varying curvature  (arc index 0 → 19)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606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Class 00–04  (Straight)</a:t>
            </a:r>
            <a:br/>
            <a:r>
              <a:t>arc ≤ 0.079 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4864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2606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Class 05–09  (Slight curve)</a:t>
            </a:r>
            <a:br/>
            <a:r>
              <a:t>0.079 &lt; arc ≤ 0.105 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54864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617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Class 10–14  (Moderate arc)</a:t>
            </a:r>
            <a:br/>
            <a:r>
              <a:t>0.105 &lt; arc ≤ 0.134 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200400"/>
            <a:ext cx="54864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4617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Class 15–19  (Strong arc)</a:t>
            </a:r>
            <a:br/>
            <a:r>
              <a:t>arc &gt; 0.134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Each composite shows 5 evenly-spaced frames from a single demonstration trajectory. Legibility increases with arc magnitude — the observer can predict the target block earlier.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Left vs Right Arcs: Same Curvature, Different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Arc direction indicates which block the robot intends to pick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914400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Calibri"/>
              </a:defRPr>
            </a:pPr>
            <a:r>
              <a:t>Goal: Pick LEFT block  (arc sweeps left)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66160"/>
            <a:ext cx="914400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Calibri"/>
              </a:defRPr>
            </a:pPr>
            <a:r>
              <a:t>Goal: Pick RIGHT block  (arc sweeps 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 human observer watching a strongly-arced trajectory can predict the target block within the first 1–2 seconds. Straight trajectories remain ambiguous until near contact.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Videos: Arc Classes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Click each video to play  (embedded MP4)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188720"/>
            <a:ext cx="5486400" cy="2103120"/>
          </a:xfrm>
          <a:prstGeom prst="rect">
            <a:avLst/>
          </a:prstGeom>
        </p:spPr>
      </p:pic>
      <p:pic>
        <p:nvPicPr>
          <p:cNvPr id="6" name="cfg00_left_arc00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65760" y="1188720"/>
            <a:ext cx="548640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Arc 00 (Straight)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1188720"/>
            <a:ext cx="5486400" cy="2103120"/>
          </a:xfrm>
          <a:prstGeom prst="rect">
            <a:avLst/>
          </a:prstGeom>
        </p:spPr>
      </p:pic>
      <p:pic>
        <p:nvPicPr>
          <p:cNvPr id="9" name="cfg00_left_arc07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035040" y="1188720"/>
            <a:ext cx="548640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Arc 07 (Slight)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3657600"/>
            <a:ext cx="5486400" cy="2103120"/>
          </a:xfrm>
          <a:prstGeom prst="rect">
            <a:avLst/>
          </a:prstGeom>
        </p:spPr>
      </p:pic>
      <p:pic>
        <p:nvPicPr>
          <p:cNvPr id="12" name="cfg00_left_arc12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65760" y="3657600"/>
            <a:ext cx="548640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Arc 12 (Moderate)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040" y="3657600"/>
            <a:ext cx="5486400" cy="2103120"/>
          </a:xfrm>
          <a:prstGeom prst="rect">
            <a:avLst/>
          </a:prstGeom>
        </p:spPr>
      </p:pic>
      <p:pic>
        <p:nvPicPr>
          <p:cNvPr id="15" name="cfg00_left_arc19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035040" y="3657600"/>
            <a:ext cx="548640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Arc 19 (Strong)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the VLM Sees: Annotated Reference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Block markers + timestamp overlay + goal legend</a:t>
            </a:r>
          </a:p>
        </p:txBody>
      </p:sp>
      <p:pic>
        <p:nvPicPr>
          <p:cNvPr id="5" name="Picture 4" descr="fig6_annotated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50292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Left: Annotated first frame sent to Gemini with block markers (A=blue circle, B=green circle). Right: V2 evaluator I/O showing the short prompt and JSON response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Steering Mechanism: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1. Observe current state </a:t>
            </a:r>
            <a:r>
              <a:rPr sz="2400" dirty="0" err="1"/>
              <a:t>ot</a:t>
            </a:r>
            <a:r>
              <a:rPr sz="2400" dirty="0"/>
              <a:t> (22-dim: EE pose, block positions, gripper, joint angles)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2. Sample K = 10 candidate action chunks from the diffusion policy using different random seeds 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3. For each candidate, simulate a 5-second rollout (150 steps at 30 Hz) in the environment to produce a trajectory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4. Capture 6 annotated frames (at t = 0, 1, 2, 3, 4, 5 seconds) with timestamp overlays and goal legend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5. Send annotated frames to Gemini 2.5 Flash VLM, which returns </a:t>
            </a:r>
            <a:r>
              <a:rPr sz="2400" dirty="0" err="1"/>
              <a:t>pA</a:t>
            </a:r>
            <a:r>
              <a:rPr sz="2400" dirty="0"/>
              <a:t>, </a:t>
            </a:r>
            <a:r>
              <a:rPr sz="2400" dirty="0" err="1"/>
              <a:t>pB</a:t>
            </a:r>
            <a:r>
              <a:rPr sz="2400" dirty="0"/>
              <a:t> ∈ [0, 1] — probability of heading toward Goal A / Goal B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6. Compute legibility score = max(</a:t>
            </a:r>
            <a:r>
              <a:rPr sz="2400" dirty="0" err="1"/>
              <a:t>pA</a:t>
            </a:r>
            <a:r>
              <a:rPr sz="2400" dirty="0"/>
              <a:t>, </a:t>
            </a:r>
            <a:r>
              <a:rPr sz="2400" dirty="0" err="1"/>
              <a:t>pB</a:t>
            </a:r>
            <a:r>
              <a:rPr sz="2400" dirty="0"/>
              <a:t>) for each candidate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7. Select the candidate with highest legibility score (argmax) and execute that action chunk in the real environment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8. Repeat from step 1 at the next replan step (closed-loop control)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Baseline vs VLM-Steered: 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Same target block — straight path (baseline) vs curved arc (steered)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154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  <a:latin typeface="Calibri"/>
              </a:defRPr>
            </a:pPr>
            <a:r>
              <a:t>Baseline: Straight path</a:t>
            </a:r>
            <a:br/>
            <a:r>
              <a:t>(ambiguous — could be either block)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9039"/>
            <a:ext cx="1124712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  <a:latin typeface="Calibri"/>
              </a:defRPr>
            </a:pPr>
            <a:r>
              <a:t>VLM-Steered: Strong arc</a:t>
            </a:r>
            <a:br/>
            <a:r>
              <a:t>(clearly heading toward LEFT block)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B469-9EB1-0EF4-6174-14FACEFB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What Enables VLM-Steered Legibility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2EB386-0275-D834-F3B3-D6E9B1A70E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9532" y="1737360"/>
          <a:ext cx="9543794" cy="4535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143">
                  <a:extLst>
                    <a:ext uri="{9D8B030D-6E8A-4147-A177-3AD203B41FA5}">
                      <a16:colId xmlns:a16="http://schemas.microsoft.com/office/drawing/2014/main" val="2444276866"/>
                    </a:ext>
                  </a:extLst>
                </a:gridCol>
                <a:gridCol w="2795143">
                  <a:extLst>
                    <a:ext uri="{9D8B030D-6E8A-4147-A177-3AD203B41FA5}">
                      <a16:colId xmlns:a16="http://schemas.microsoft.com/office/drawing/2014/main" val="1432442543"/>
                    </a:ext>
                  </a:extLst>
                </a:gridCol>
                <a:gridCol w="3953508">
                  <a:extLst>
                    <a:ext uri="{9D8B030D-6E8A-4147-A177-3AD203B41FA5}">
                      <a16:colId xmlns:a16="http://schemas.microsoft.com/office/drawing/2014/main" val="4290993503"/>
                    </a:ext>
                  </a:extLst>
                </a:gridCol>
              </a:tblGrid>
              <a:tr h="320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Component</a:t>
                      </a:r>
                      <a:endParaRPr lang="en-US" sz="1400"/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Role</a:t>
                      </a:r>
                      <a:endParaRPr lang="en-US" sz="1400"/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Detail</a:t>
                      </a:r>
                      <a:endParaRPr lang="en-US" sz="1400"/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2176044616"/>
                  </a:ext>
                </a:extLst>
              </a:tr>
              <a:tr h="539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Diffusion Policy (Denoising)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Action generation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Stochastic sampling from a learned distribution over action chunks (horizon = 16, 5-DoF)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1569446767"/>
                  </a:ext>
                </a:extLst>
              </a:tr>
              <a:tr h="539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Multi-seed Sampling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Diversity source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 = 10 candidates with different random seeds → natural variation in trajectory curvature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3046088418"/>
                  </a:ext>
                </a:extLst>
              </a:tr>
              <a:tr h="539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5-sec Rollout Simulation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Candidate evaluation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Each candidate simulated for 150 steps (30 Hz) → full trajectory available for evaluation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2684483112"/>
                  </a:ext>
                </a:extLst>
              </a:tr>
              <a:tr h="539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Annotated Frame Capture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VLM input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6 frames at t = 0,1,2,3,4,5s with timestamp overlays + goal legend on first frame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2669712961"/>
                  </a:ext>
                </a:extLst>
              </a:tr>
              <a:tr h="758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Gemini 2.5 Flash (VLM)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Legibility scorer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Outputs pA, pB ∈ [0,1]: probability trajectory is heading toward Goal A or B. Legibility = max(pA, pB)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3374661580"/>
                  </a:ext>
                </a:extLst>
              </a:tr>
              <a:tr h="758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Argmax Selection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Steering mechanism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Select candidate with highest VLM legibility score → promotes curved, intent-revealing paths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1436236083"/>
                  </a:ext>
                </a:extLst>
              </a:tr>
              <a:tr h="539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Direction Enforcement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Constraint</a:t>
                      </a:r>
                    </a:p>
                  </a:txBody>
                  <a:tcPr marL="72917" marR="72917" marT="36458" marB="364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First 15 steps forced toward target block → ensures task-relevant candidates</a:t>
                      </a:r>
                    </a:p>
                  </a:txBody>
                  <a:tcPr marL="72917" marR="72917" marT="36458" marB="36458" anchor="ctr"/>
                </a:tc>
                <a:extLst>
                  <a:ext uri="{0D108BD9-81ED-4DB2-BD59-A6C34878D82A}">
                    <a16:rowId xmlns:a16="http://schemas.microsoft.com/office/drawing/2014/main" val="2108549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79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Policy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UNet Diffusion Policy (8.7M parameters)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Training Data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400 Bézier demonstrations (20 arc levels × 2 sides × 10 configs)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Diffusion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100 (DDPM training), 10 (DDIM inference)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Action Horizon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16 steps, 8 executed per chunk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VLM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Gemini 2.5 Flash (temperature = 0.1)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Candidates per Replan (K)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Paired Episodes 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Selection Strategy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legible_max_arc (among legible candidates, pick max arc)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Legibility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0.55 (VLM score ≥ 0.55 considered legible)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Arc Thresholds (Bézier)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T₁=0.079m, T₂=0.105m, T₃=0.134m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Total VLM API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500 (10 × 50)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Experiment Runtime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≈ 43 minutes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E3A2-7CF4-98C1-6E2D-0F448401D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057" y="2521489"/>
            <a:ext cx="7772400" cy="2384066"/>
          </a:xfrm>
        </p:spPr>
        <p:txBody>
          <a:bodyPr>
            <a:noAutofit/>
          </a:bodyPr>
          <a:lstStyle/>
          <a:p>
            <a:r>
              <a:rPr lang="en-US" sz="3200" dirty="0"/>
              <a:t>The results are accurate but the current code is not fully using </a:t>
            </a:r>
            <a:r>
              <a:rPr lang="en-US" sz="3200" dirty="0" err="1"/>
              <a:t>vlm</a:t>
            </a:r>
            <a:r>
              <a:rPr lang="en-US" sz="3200" dirty="0"/>
              <a:t> input but hard coded arc magnitudes in best of k candidates obtained from diffusion policy </a:t>
            </a:r>
          </a:p>
        </p:txBody>
      </p:sp>
    </p:spTree>
    <p:extLst>
      <p:ext uri="{BB962C8B-B14F-4D97-AF65-F5344CB8AC3E}">
        <p14:creationId xmlns:p14="http://schemas.microsoft.com/office/powerpoint/2010/main" val="1257848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Results: Complete Data Table</a:t>
            </a:r>
            <a:r>
              <a:rPr lang="en-US" dirty="0"/>
              <a:t> 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61069"/>
              </p:ext>
            </p:extLst>
          </p:nvPr>
        </p:nvGraphicFramePr>
        <p:xfrm>
          <a:off x="1371600" y="1280160"/>
          <a:ext cx="9418320" cy="461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(No Steering)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VLM-Steered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(K=10)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Episodes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Task Success Rate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100% (50/50)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rPr dirty="0"/>
                        <a:t>70% (35/50)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−30 pp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Mean Arc Magnitude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0.0802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rPr dirty="0"/>
                        <a:t>0.1143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+42.5%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Mean VLM Legibility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0.604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rPr dirty="0"/>
                        <a:t>0.946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+56.6%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Arc 00–04 (Straight)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58% (29)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20% 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−38 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Arc 05–09 (Slight)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28% (14)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12% (6)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−16 pp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Arc 10–14 (Moderate)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8% (4)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34% (17)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+26 pp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Arc 15–19 (Strong)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6% (3)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34% (17)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+28 pp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VLM API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rPr dirty="0"/>
                        <a:t>Runtime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rPr dirty="0"/>
                        <a:t>&lt; 2 min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≈ 43 min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Success–Legibility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VLM steering improves legibility at the cost of task success</a:t>
            </a:r>
          </a:p>
        </p:txBody>
      </p:sp>
      <p:pic>
        <p:nvPicPr>
          <p:cNvPr id="5" name="Picture 4" descr="vlm_fig4_success_le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Dashboard</a:t>
            </a:r>
          </a:p>
        </p:txBody>
      </p:sp>
      <p:pic>
        <p:nvPicPr>
          <p:cNvPr id="4" name="Picture 3" descr="vlm_fig6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1188720"/>
            <a:ext cx="11332809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Success rate drops from 100% to 70% </a:t>
            </a:r>
            <a:r>
              <a:rPr lang="en-US" sz="2000" dirty="0"/>
              <a:t>, </a:t>
            </a:r>
            <a:r>
              <a:rPr sz="2000" dirty="0"/>
              <a:t>the trade-off between legibility and task success is not yet resolved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VLM scoring is expensive: 500 API calls, ~43 min for 50 episodes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Candidate simulation requires environment rollback</a:t>
            </a:r>
            <a:r>
              <a:rPr lang="en-US" sz="2000" dirty="0"/>
              <a:t>, </a:t>
            </a:r>
            <a:r>
              <a:rPr sz="2000" dirty="0"/>
              <a:t>each candidate needs a full 5-sec simulation (150 steps)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Selection relies on VLM accuracy</a:t>
            </a:r>
            <a:r>
              <a:rPr lang="en-US" sz="2000" dirty="0"/>
              <a:t>, </a:t>
            </a:r>
            <a:r>
              <a:rPr sz="2000" dirty="0"/>
              <a:t>any VLM errors propagate to trajectory quality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Current approach uses observation-space simulation</a:t>
            </a:r>
            <a:r>
              <a:rPr lang="en-US" sz="2000" dirty="0"/>
              <a:t>, </a:t>
            </a:r>
            <a:r>
              <a:rPr sz="2000" dirty="0"/>
              <a:t>cannot be directly applied when a simulator is unavailable</a:t>
            </a:r>
            <a:endParaRPr lang="en-US" sz="2000" dirty="0"/>
          </a:p>
          <a:p>
            <a:r>
              <a:rPr lang="en-US" sz="2000" b="1" dirty="0"/>
              <a:t>Potential Mitigations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Train a fast proxy scorer calibrated against the VLM (we built one using 8 geometric features, &lt;1 </a:t>
            </a:r>
            <a:r>
              <a:rPr lang="en-US" sz="2000" dirty="0" err="1"/>
              <a:t>ms</a:t>
            </a:r>
            <a:r>
              <a:rPr lang="en-US" sz="2000" dirty="0"/>
              <a:t> per evaluation)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 number of candidates (K) to lower VLM cost; diminishing returns observed beyond K =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Amortize VLM usage through offline calibration (one-time cost)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endParaRPr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463040"/>
            <a:ext cx="48764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1.  Diffusion policies produce naturally diverse candidates</a:t>
            </a:r>
            <a:r>
              <a:rPr lang="en-US" sz="2400" dirty="0"/>
              <a:t>,</a:t>
            </a:r>
            <a:br>
              <a:rPr sz="2400" dirty="0"/>
            </a:br>
            <a:r>
              <a:rPr sz="2400" dirty="0"/>
              <a:t>     different seeds yield different arc magnitudes from the same observation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2.  VLM (Gemini 2.5 Flash) can reliably score trajectory legibility</a:t>
            </a:r>
            <a:r>
              <a:rPr lang="en-US" sz="2400" dirty="0"/>
              <a:t>,</a:t>
            </a:r>
            <a:br>
              <a:rPr sz="2400" dirty="0"/>
            </a:br>
            <a:r>
              <a:rPr sz="2400" dirty="0"/>
              <a:t>     from annotated video frames 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3.  Best-of-K steering shifts arc distribution toward legible trajectories</a:t>
            </a:r>
            <a:br>
              <a:rPr sz="2400" dirty="0"/>
            </a:br>
            <a:r>
              <a:rPr sz="2400" dirty="0"/>
              <a:t>     without any model retraining (14% → 68% moderate/strong arcs)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4.  Trade-off exists: legibility gain (+57%) comes at a success cost (−30%)</a:t>
            </a:r>
            <a:br>
              <a:rPr lang="en-US" sz="2400" dirty="0"/>
            </a:br>
            <a:r>
              <a:rPr lang="en-US" sz="2400" dirty="0"/>
              <a:t>     </a:t>
            </a:r>
            <a:r>
              <a:rPr sz="2400" dirty="0"/>
              <a:t>a fast proxy scorer can recover success to 98% while maintaining steering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5.  VLM-in-the-loop provides a general framework for inference-time steering</a:t>
            </a:r>
            <a:br>
              <a:rPr sz="2400" dirty="0"/>
            </a:br>
            <a:r>
              <a:rPr sz="2400" dirty="0"/>
              <a:t>     of any </a:t>
            </a:r>
            <a:r>
              <a:rPr sz="2400" dirty="0" err="1"/>
              <a:t>behaviour</a:t>
            </a:r>
            <a:r>
              <a:rPr sz="2400" dirty="0"/>
              <a:t> property that a VLM can evaluate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1479</Words>
  <Application>Microsoft Office PowerPoint</Application>
  <PresentationFormat>Widescreen</PresentationFormat>
  <Paragraphs>173</Paragraphs>
  <Slides>17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Enables VLM-Steered Legibility</vt:lpstr>
      <vt:lpstr>PowerPoint Presentation</vt:lpstr>
      <vt:lpstr>The results are accurate but the current code is not fully using vlm input but hard coded arc magnitudes in best of k candidates obtained from diffusion policy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Anudeep sai G</cp:lastModifiedBy>
  <cp:revision>5</cp:revision>
  <dcterms:created xsi:type="dcterms:W3CDTF">2013-01-27T09:14:16Z</dcterms:created>
  <dcterms:modified xsi:type="dcterms:W3CDTF">2026-03-18T00:13:48Z</dcterms:modified>
  <cp:category/>
</cp:coreProperties>
</file>