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889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Vision-Language Models as Proxies for Human Judgment of Robot Motion Legibility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DDDDDD"/>
                </a:solidFill>
              </a:rPr>
              <a:t>Anudeep Sai Gottapu | Master of Science in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4A261"/>
                </a:solidFill>
              </a:rPr>
              <a:t>Arizona State University | April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DDDDD"/>
                </a:solidFill>
              </a:rPr>
              <a:t>Nakul Gopalan, Chair | Hani Ben Amor | Kunal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From the thesis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14300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Legibility in robot motion refers to how easily an observer infers a robot's intent from its movement.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08760"/>
            <a:ext cx="5669280" cy="1188720"/>
          </a:xfrm>
          <a:prstGeom prst="rect">
            <a:avLst/>
          </a:prstGeom>
          <a:solidFill>
            <a:srgbClr val="EAF4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00200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1A1A2E"/>
                </a:solidFill>
              </a:rPr>
              <a:t>This thesis examines whether a vision-language model can serve as a proxy for human judgment in evaluating robot motion legibility.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83464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Gemini 2.5 Flash is used to analyze cumulative video frames of robot manipulation tasks and infer the intended goal.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200400"/>
            <a:ext cx="5669280" cy="237744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3273552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Human pilot data and Gemini predictions are compared at matched timepoints using accuracy, IoU, and time-to-legibility.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3547872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The results suggest VLMs capture meaningful aspects of human goal inference from partial robot motion.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382219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Humans remain more reliable overall, so the VLM is best treated as a scalable evaluation tool rather than a full replacement.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409651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437083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645151"/>
            <a:ext cx="5449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855"/>
                </a:solidFill>
              </a:rPr>
              <a:t>
         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1508760"/>
            <a:ext cx="5394960" cy="310896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158191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185623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13055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240487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267919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295351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322783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350215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377647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0528" y="4050791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9436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7777"/>
                </a:solidFill>
              </a:rPr>
              <a:t>
            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Thesis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Following the PDF table of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005840" cy="19202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Chapter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618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</a:rPr>
              <a:t>Introduction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Motivation and 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18872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1005840" cy="19202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59" y="141732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126187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61"/>
                </a:solidFill>
              </a:rPr>
              <a:t>Research Questions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164592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Contributions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8328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E8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383280"/>
            <a:ext cx="1005840" cy="19202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36118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Chapter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4564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4855"/>
                </a:solidFill>
              </a:rPr>
              <a:t>Background and Related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84048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Chapter 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38328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383280"/>
            <a:ext cx="1005840" cy="19202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59" y="361188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45643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D6A4F"/>
                </a:solidFill>
              </a:rPr>
              <a:t>Chapter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384048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Results and Discussion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577840"/>
            <a:ext cx="5669280" cy="1920240"/>
          </a:xfrm>
          <a:prstGeom prst="rect">
            <a:avLst/>
          </a:prstGeom>
          <a:solidFill>
            <a:srgbClr val="F5F5F5"/>
          </a:solidFill>
          <a:ln w="38100">
            <a:solidFill>
              <a:srgbClr val="814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5577840"/>
            <a:ext cx="1005840" cy="1920240"/>
          </a:xfrm>
          <a:prstGeom prst="rect">
            <a:avLst/>
          </a:prstGeom>
          <a:solidFill>
            <a:srgbClr val="814E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806440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Chapter 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650992"/>
            <a:ext cx="4480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14EA1"/>
                </a:solidFill>
              </a:rPr>
              <a:t>Conclusion and 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6035040"/>
            <a:ext cx="4434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Motivation, Problem Statement, and Contributions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Thesis framing in presentation 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233172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3444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Motivation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Humans infer intent from partial robot 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9339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Problem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1188720"/>
            <a:ext cx="2331720" cy="10058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0" y="123444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Human-subject legibility studies are costly and hard to 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146304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99339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Can Gemini act as a practical proxy?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4960" y="1188720"/>
            <a:ext cx="233172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0" y="123444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46304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8 videos | 8 participants | matched timepoints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199339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Contribution 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55279" y="1188720"/>
            <a:ext cx="2331720" cy="1005840"/>
          </a:xfrm>
          <a:prstGeom prst="rect">
            <a:avLst/>
          </a:prstGeom>
          <a:solidFill>
            <a:srgbClr val="C7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9" y="123444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Web-based human pilot study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146304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Contribution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9" y="199339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Gemini 2.5 Flash evaluation pipeline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468880"/>
            <a:ext cx="233172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514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Contribution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274320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Matched human-model comparison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27355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Contribution 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34640" y="2468880"/>
            <a:ext cx="2331720" cy="10058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26080" y="2514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Accuracy, IoU, and TTL analysis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74320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27355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
            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94960" y="2468880"/>
            <a:ext cx="233172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0" y="2514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74320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327355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
              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2468880"/>
            <a:ext cx="2331720" cy="1005840"/>
          </a:xfrm>
          <a:prstGeom prst="rect">
            <a:avLst/>
          </a:prstGeom>
          <a:solidFill>
            <a:srgbClr val="C75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19" y="2514600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2743200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327355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
             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749039"/>
            <a:ext cx="2331720" cy="1005840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3794759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02335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55371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
              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34640" y="3749039"/>
            <a:ext cx="2331720" cy="10058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26080" y="3794759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26080" y="402335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926080" y="455371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
             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94960" y="3749039"/>
            <a:ext cx="2331720" cy="1005840"/>
          </a:xfrm>
          <a:prstGeom prst="rect">
            <a:avLst/>
          </a:prstGeom>
          <a:solidFill>
            <a:srgbClr val="E84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0" y="3794759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0" y="402335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0" y="455371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
              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955279" y="3749039"/>
            <a:ext cx="2331720" cy="100584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19" y="3794759"/>
            <a:ext cx="2148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19" y="402335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
             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46719" y="4553712"/>
            <a:ext cx="21488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
            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49834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" y="56235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Exact questions from Chapter 1.3</a:t>
            </a:r>
          </a:p>
        </p:txBody>
      </p:sp>
      <p:pic>
        <p:nvPicPr>
          <p:cNvPr id="5" name="Picture 4" descr="fig1_accuracy_by_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7132320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097280"/>
            <a:ext cx="448056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7807" y="11704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Slides 11-13 answer these directly.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7" y="149047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7" y="176479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7" y="203911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7" y="231343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7" y="25877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7" y="28620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7" y="31363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34107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7" y="36850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7" y="39593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42336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7" y="45079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47823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50566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7" y="53309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7" y="56052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7" y="58795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61539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Overall Thesis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How the thesis is organized for this defense</a:t>
            </a:r>
          </a:p>
        </p:txBody>
      </p:sp>
      <p:pic>
        <p:nvPicPr>
          <p:cNvPr id="5" name="Picture 4" descr="fig2_temporal_dyna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731520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680960" y="1097280"/>
            <a:ext cx="4297680" cy="5303520"/>
          </a:xfrm>
          <a:prstGeom prst="rect">
            <a:avLst/>
          </a:prstGeom>
          <a:solidFill>
            <a:srgbClr val="EAF4FB"/>
          </a:solidFill>
          <a:ln w="190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18872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AB"/>
                </a:solidFill>
              </a:rPr>
              <a:t>Front half</a:t>
            </a:r>
          </a:p>
        </p:txBody>
      </p:sp>
      <p:sp>
        <p:nvSpPr>
          <p:cNvPr id="8" name="Rectangle 7"/>
          <p:cNvSpPr/>
          <p:nvPr/>
        </p:nvSpPr>
        <p:spPr>
          <a:xfrm>
            <a:off x="7726679" y="1600200"/>
            <a:ext cx="4160520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618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Introduction, background, and methodology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618488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86AB"/>
                </a:solidFill>
              </a:rPr>
              <a:t>Center of the defense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1618488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4855"/>
                </a:solidFill>
              </a:rPr>
              <a:t>Pilot study and Gemini-as-proxy 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26679" y="1892807"/>
            <a:ext cx="4160520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18120" y="191109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Reserved later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911095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86AB"/>
                </a:solidFill>
              </a:rPr>
              <a:t>Diffusion-policy methodology and results placeholders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24160" y="1911095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4855"/>
                </a:solidFill>
              </a:rPr>
              <a:t>
        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185415"/>
            <a:ext cx="4160520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18120" y="2203703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203703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86AB"/>
                </a:solidFill>
              </a:rPr>
              <a:t>
  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2203703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4855"/>
                </a:solidFill>
              </a:rPr>
              <a:t>
            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26679" y="2478023"/>
            <a:ext cx="4160520" cy="25603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2496311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2496311"/>
            <a:ext cx="1371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E86AB"/>
                </a:solidFill>
              </a:rPr>
              <a:t>
      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496311"/>
            <a:ext cx="14630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E84855"/>
                </a:solidFill>
              </a:rPr>
              <a:t>
  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18120" y="26517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6213E"/>
                </a:solidFill>
              </a:rPr>
              <a:t>
  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971800"/>
            <a:ext cx="39776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20" y="452628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846320"/>
            <a:ext cx="3977639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444444"/>
                </a:solidFill>
              </a:rPr>
              <a:t>
             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Task Setup and Video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Stimuli used across the pilot study and Gemini evaluation</a:t>
            </a:r>
          </a:p>
        </p:txBody>
      </p:sp>
      <p:pic>
        <p:nvPicPr>
          <p:cNvPr id="5" name="Picture 4" descr="fig3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0467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097280"/>
            <a:ext cx="361188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22207" y="11704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8 videos total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7" y="149047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4 legible + 4 ambiguous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7" y="176479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7" y="203911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Block picking and drawer closing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7" y="231343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7" y="25877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7" y="28620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31363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34107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36850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39593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42336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45079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47823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50566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7" y="53309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56052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58795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61539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7" y="64282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7" y="67025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7" y="69768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Pilot Study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Human study and matched Gemini protocol</a:t>
            </a:r>
          </a:p>
        </p:txBody>
      </p:sp>
      <p:pic>
        <p:nvPicPr>
          <p:cNvPr id="5" name="Picture 4" descr="fig4_time_to_legi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0467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097280"/>
            <a:ext cx="361188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22207" y="11704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Participants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7" y="149047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7" y="176479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Study phases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7" y="203911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Cumulative frame probes and full-video stop-time judgment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7" y="231343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Recorded 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7" y="25877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Goal choice, confidence, cue text, and stop-time judgment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7" y="28620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Matched model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31363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Gemini queried only at the same selected human timepoints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34107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36850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39593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42336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45079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47823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50566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7" y="53309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56052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58795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61539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7" y="64282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7" y="67025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VLM Goal-Inference Evaluation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Methodology used in the thesis</a:t>
            </a:r>
          </a:p>
        </p:txBody>
      </p:sp>
      <p:pic>
        <p:nvPicPr>
          <p:cNvPr id="5" name="Picture 4" descr="fig5_iou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80467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412480" y="1097280"/>
            <a:ext cx="361188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22207" y="11704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213E"/>
                </a:solidFill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22207" y="149047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Cumulative prefix frames at selected timepoints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22207" y="176479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Model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22207" y="203911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Gemini 2.5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22207" y="2313432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Outputs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7" y="25877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Structured goal predictions and supporting fields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22207" y="28620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2207" y="31363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Accuracy, IoU, and time-to-legibility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22207" y="34107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7" y="36850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39593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42336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7" y="45079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22207" y="47823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2207" y="50566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22207" y="53309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7" y="56052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7" y="58795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22207" y="61539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22207" y="642823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22207" y="670255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7" y="697687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7" y="725119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22207" y="7525511"/>
            <a:ext cx="33924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Diffusion-Policy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Reserved blank section</a:t>
            </a:r>
          </a:p>
        </p:txBody>
      </p:sp>
      <p:pic>
        <p:nvPicPr>
          <p:cNvPr id="5" name="Picture 4" descr="fig6_participan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8686800" cy="47548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9235440" y="1097280"/>
            <a:ext cx="2743200" cy="475488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0" y="11887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Keep this section open for the final defense version.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1572768"/>
            <a:ext cx="2514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Can a multimodal vision-language model predict similarly to human judgment from partial robot motion?</a:t>
            </a:r>
          </a:p>
        </p:txBody>
      </p:sp>
      <p:pic>
        <p:nvPicPr>
          <p:cNvPr id="5" name="Picture 4" descr="fig7_manipulation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7132320" cy="53035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097280"/>
            <a:ext cx="4480560" cy="53035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7807" y="117043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6213E"/>
                </a:solidFill>
              </a:rPr>
              <a:t>Human accuracy: 66.7%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7807" y="149047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Gemini accuracy: 64.5%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7807" y="176479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Overall difference: not statistically significant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07807" y="203911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p = 0.966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7" y="2313432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Both human and Gemini are above chance.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7" y="25877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7" y="28620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7" y="31363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7" y="34107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7807" y="36850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07807" y="39593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07807" y="42336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07807" y="45079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07807" y="47823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07807" y="50566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7" y="53309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7" y="56052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7807" y="58795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07807" y="61539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7" y="642823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07807" y="670255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07807" y="697687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07807" y="725119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07807" y="7525511"/>
            <a:ext cx="42611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RQ2: Alignment with Human Judgments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Overall agreement: 74.2% IoU | Main outlier: amb_r_block</a:t>
            </a:r>
          </a:p>
        </p:txBody>
      </p:sp>
      <p:pic>
        <p:nvPicPr>
          <p:cNvPr id="5" name="Picture 4" descr="fig8_summar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5486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Agreement and failure cases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RQ3: Practical Signal for Scalable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Can multimodal vision-language models provide a practical signal for scalable legibility evaluation in robot manipulation tasks?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4572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65176" y="1161288"/>
            <a:ext cx="3840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143000"/>
            <a:ext cx="256032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161288"/>
            <a:ext cx="248716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246120" y="1143000"/>
            <a:ext cx="137160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82696" y="1161288"/>
            <a:ext cx="129844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Why it matters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143000"/>
            <a:ext cx="128016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4296" y="1161288"/>
            <a:ext cx="120700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Matched timepoints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97879" y="1143000"/>
            <a:ext cx="82296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34455" y="1161288"/>
            <a:ext cx="7498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Gemini and humans see the same selected prefixes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20840" y="1143000"/>
            <a:ext cx="82296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57416" y="1161288"/>
            <a:ext cx="749808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Fair proxy comparison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1143000"/>
            <a:ext cx="2103120" cy="4114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0375" y="1161288"/>
            <a:ext cx="2029967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Comparable accuracy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1572768"/>
            <a:ext cx="9418319" cy="62179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5176" y="1609344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66.7% human vs 64.5% Gemini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609344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Near-human screening signal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1609344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Agreement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4296" y="1609344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74.2% IoU overall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34455" y="1609344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Tracks human choices in most cases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57416" y="1609344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Timing sensitivity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5" y="1609344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Legible motion becomes inferable earlier than ambiguous motion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240280"/>
            <a:ext cx="9418319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" y="2276856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Captures legibility as an early signal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" y="2276856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Practical answer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82696" y="2276856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Yes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54296" y="2276856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Useful as a scalable evaluator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34455" y="2276856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Important caveat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57416" y="2276856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Not a replacement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0375" y="2276856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Human validation is still needed on hard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2907791"/>
            <a:ext cx="9418319" cy="62179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" y="2944368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</a:rPr>
              <a:t>
              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" y="2944368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82696" y="2944368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54296" y="2944368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34455" y="2944368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7416" y="2944368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0375" y="2944368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28600" y="3575304"/>
            <a:ext cx="9418319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65176" y="3611880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6AB"/>
                </a:solidFill>
              </a:rPr>
              <a:t>
             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3611880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82696" y="3611880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54296" y="3611880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34455" y="3611880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57416" y="3611880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80375" y="3611880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7C42"/>
                </a:solidFill>
              </a:rPr>
              <a:t>
              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4242816"/>
            <a:ext cx="9418319" cy="621792"/>
          </a:xfrm>
          <a:prstGeom prst="rect">
            <a:avLst/>
          </a:prstGeom>
          <a:solidFill>
            <a:srgbClr val="F5F5F5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65176" y="4279392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4A261"/>
                </a:solidFill>
              </a:rPr>
              <a:t>
             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2376" y="4279392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82696" y="4279392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54296" y="4279392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934455" y="4279392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757416" y="4279392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0375" y="4279392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28600" y="4910328"/>
            <a:ext cx="9418319" cy="621792"/>
          </a:xfrm>
          <a:prstGeom prst="rect">
            <a:avLst/>
          </a:prstGeom>
          <a:solidFill>
            <a:srgbClr val="FFFFFF"/>
          </a:solidFill>
          <a:ln w="381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65176" y="4946904"/>
            <a:ext cx="3840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14EA1"/>
                </a:solidFill>
              </a:rPr>
              <a:t>
              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2376" y="4946904"/>
            <a:ext cx="248716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82696" y="4946904"/>
            <a:ext cx="12984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54296" y="4946904"/>
            <a:ext cx="120700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34455" y="4946904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757416" y="4946904"/>
            <a:ext cx="74980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580375" y="4946904"/>
            <a:ext cx="2029967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A7C42"/>
                </a:solidFill>
              </a:rPr>
              <a:t>
             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28600" y="5806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</a:rPr>
              <a:t>
              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Diffusion-Policy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Reserved blank section from the thesis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1430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07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Qualitative rollouts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Insert final trajectory examples here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430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E84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2070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4855"/>
                </a:solidFill>
              </a:rPr>
              <a:t>Quantitative plots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5544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Insert task-success and legibility comparisons here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5146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578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61"/>
                </a:solidFill>
              </a:rPr>
              <a:t>Key takeaways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9260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Insert final conclusions for the diffusion-policy part here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5146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2D6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5786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D6A4F"/>
                </a:solidFill>
              </a:rPr>
              <a:t>
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9260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8862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814E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950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14EA1"/>
                </a:solidFill>
              </a:rPr>
              <a:t>
            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2976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8862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994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55080" y="39502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94400"/>
                </a:solidFill>
              </a:rPr>
              <a:t>
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2976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52578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2E86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3218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E86AB"/>
                </a:solidFill>
              </a:rPr>
              <a:t>
  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56692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20" y="5257800"/>
            <a:ext cx="5760720" cy="1234440"/>
          </a:xfrm>
          <a:prstGeom prst="rect">
            <a:avLst/>
          </a:prstGeom>
          <a:solidFill>
            <a:srgbClr val="F5F5F5"/>
          </a:solidFill>
          <a:ln w="31750">
            <a:solidFill>
              <a:srgbClr val="1621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80" y="532180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6213E"/>
                </a:solidFill>
              </a:rPr>
              <a:t>
             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5669280"/>
            <a:ext cx="5486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28600" y="45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Discussion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6692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DDDDDD"/>
                </a:solidFill>
              </a:rPr>
              <a:t>What these results support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09728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AB"/>
                </a:solidFill>
              </a:rPr>
              <a:t>Gemini is close enough to human performance to be useful as a proxy evaluator.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5394960" cy="2560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53619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The strongest legibility signal is when the goal becomes clear, not only the final answer.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181051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What these results do not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08483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This pilot does not justify replacing human studies.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35915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Important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63347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Small sample size, limited power per video, and clear hard cases such as amb_r_block.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16052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855"/>
                </a:solidFill>
              </a:rPr>
              <a:t>
             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526280"/>
            <a:ext cx="539496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459943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487375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" y="514807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5422392"/>
            <a:ext cx="5175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0972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4855"/>
                </a:solidFill>
              </a:rPr>
              <a:t>
              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0" y="1463040"/>
            <a:ext cx="5943600" cy="256032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53328" y="153619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181051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53328" y="208483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3328" y="235915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263347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2907791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53328" y="3182111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0" y="41605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4526280"/>
            <a:ext cx="5943600" cy="201168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53328" y="459943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53328" y="487375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53328" y="514807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53328" y="542239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3328" y="5696712"/>
            <a:ext cx="57241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
              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
             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88952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Conclusion and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FFFFF"/>
                </a:solidFill>
              </a:rPr>
              <a:t>Main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Vision-language models can act as useful proxies for human judgment of robot motion legibility.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Larger human studies, more trajectories, stronger temporal prompting, and final diffusion-policy integration.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Human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66.7%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23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Gemini accuracy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64.5%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0" y="4800600"/>
            <a:ext cx="2103120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0" y="48463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DDDDD"/>
                </a:solidFill>
              </a:rPr>
              <a:t>Mean IoU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5230368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4A261"/>
                </a:solidFill>
              </a:rPr>
              <a:t>74.2%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28600" y="65836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DDDDDD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